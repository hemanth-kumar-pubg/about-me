
<file path=[Content_Types].xml><?xml version="1.0" encoding="utf-8"?>
<Types xmlns="http://schemas.openxmlformats.org/package/2006/content-types">
  <Default Extension="jfif" ContentType="image/jpeg"/>
  <Default Extension="jpeg" ContentType="image/jpeg"/>
  <Default Extension="jpg" ContentType="image/jpg"/>
  <Default Extension="png" ContentType="image/png"/>
  <Default Extension="rels" ContentType="application/vnd.openxmlformats-package.relationships+xml"/>
  <Default Extension="svg" ContentType="image/svg+xml"/>
  <Default Extension="webp" ContentType="image/webp"/>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media/image15.jpg" ContentType="image/jpeg"/>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81"/>
  </p:notesMasterIdLst>
  <p:sldIdLst>
    <p:sldId id="256" r:id="rId5"/>
    <p:sldId id="260" r:id="rId6"/>
    <p:sldId id="288" r:id="rId7"/>
    <p:sldId id="262" r:id="rId8"/>
    <p:sldId id="263" r:id="rId9"/>
    <p:sldId id="264" r:id="rId10"/>
    <p:sldId id="266" r:id="rId11"/>
    <p:sldId id="265" r:id="rId12"/>
    <p:sldId id="267" r:id="rId13"/>
    <p:sldId id="268" r:id="rId14"/>
    <p:sldId id="269" r:id="rId15"/>
    <p:sldId id="270" r:id="rId16"/>
    <p:sldId id="271" r:id="rId17"/>
    <p:sldId id="272" r:id="rId18"/>
    <p:sldId id="273" r:id="rId19"/>
    <p:sldId id="276" r:id="rId20"/>
    <p:sldId id="275" r:id="rId21"/>
    <p:sldId id="278" r:id="rId22"/>
    <p:sldId id="279" r:id="rId23"/>
    <p:sldId id="280" r:id="rId24"/>
    <p:sldId id="281" r:id="rId25"/>
    <p:sldId id="282" r:id="rId26"/>
    <p:sldId id="283" r:id="rId27"/>
    <p:sldId id="284" r:id="rId28"/>
    <p:sldId id="285" r:id="rId29"/>
    <p:sldId id="286" r:id="rId30"/>
    <p:sldId id="287" r:id="rId31"/>
    <p:sldId id="289" r:id="rId32"/>
    <p:sldId id="290" r:id="rId33"/>
    <p:sldId id="291" r:id="rId34"/>
    <p:sldId id="292" r:id="rId35"/>
    <p:sldId id="293" r:id="rId36"/>
    <p:sldId id="295" r:id="rId37"/>
    <p:sldId id="294" r:id="rId38"/>
    <p:sldId id="319" r:id="rId39"/>
    <p:sldId id="320" r:id="rId40"/>
    <p:sldId id="321" r:id="rId41"/>
    <p:sldId id="322" r:id="rId42"/>
    <p:sldId id="323" r:id="rId43"/>
    <p:sldId id="324" r:id="rId44"/>
    <p:sldId id="325" r:id="rId45"/>
    <p:sldId id="327" r:id="rId46"/>
    <p:sldId id="326" r:id="rId47"/>
    <p:sldId id="328" r:id="rId48"/>
    <p:sldId id="329" r:id="rId49"/>
    <p:sldId id="330" r:id="rId50"/>
    <p:sldId id="331" r:id="rId51"/>
    <p:sldId id="318" r:id="rId52"/>
    <p:sldId id="317" r:id="rId53"/>
    <p:sldId id="296" r:id="rId54"/>
    <p:sldId id="297" r:id="rId55"/>
    <p:sldId id="298" r:id="rId56"/>
    <p:sldId id="300" r:id="rId57"/>
    <p:sldId id="299" r:id="rId58"/>
    <p:sldId id="301" r:id="rId59"/>
    <p:sldId id="302" r:id="rId60"/>
    <p:sldId id="303" r:id="rId61"/>
    <p:sldId id="304" r:id="rId62"/>
    <p:sldId id="305" r:id="rId63"/>
    <p:sldId id="306" r:id="rId64"/>
    <p:sldId id="307" r:id="rId65"/>
    <p:sldId id="308" r:id="rId66"/>
    <p:sldId id="309" r:id="rId67"/>
    <p:sldId id="310" r:id="rId68"/>
    <p:sldId id="311" r:id="rId69"/>
    <p:sldId id="312" r:id="rId70"/>
    <p:sldId id="313" r:id="rId71"/>
    <p:sldId id="314" r:id="rId72"/>
    <p:sldId id="315" r:id="rId73"/>
    <p:sldId id="316" r:id="rId74"/>
    <p:sldId id="332" r:id="rId75"/>
    <p:sldId id="333" r:id="rId76"/>
    <p:sldId id="334" r:id="rId77"/>
    <p:sldId id="335" r:id="rId78"/>
    <p:sldId id="336" r:id="rId79"/>
    <p:sldId id="338" r:id="rId8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1" autoAdjust="0"/>
    <p:restoredTop sz="94660"/>
  </p:normalViewPr>
  <p:slideViewPr>
    <p:cSldViewPr>
      <p:cViewPr varScale="1">
        <p:scale>
          <a:sx n="91" d="100"/>
          <a:sy n="91" d="100"/>
        </p:scale>
        <p:origin x="322" y="77"/>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9T09:52:34.501"/>
    </inkml:context>
    <inkml:brush xml:id="br0">
      <inkml:brushProperty name="width" value="0.3" units="cm"/>
      <inkml:brushProperty name="height" value="0.6" units="cm"/>
      <inkml:brushProperty name="color" value="#EF0C4D"/>
      <inkml:brushProperty name="tip" value="rectangle"/>
      <inkml:brushProperty name="rasterOp" value="maskPen"/>
      <inkml:brushProperty name="ignorePressure" value="1"/>
    </inkml:brush>
  </inkml:definitions>
  <inkml:trace contextRef="#ctx0" brushRef="#br0">2867 24 0,'-2867'-23'0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09T09:52:37.689"/>
    </inkml:context>
    <inkml:brush xml:id="br0">
      <inkml:brushProperty name="width" value="0.3" units="cm"/>
      <inkml:brushProperty name="height" value="0.6" units="cm"/>
      <inkml:brushProperty name="color" value="#EF0C4D"/>
      <inkml:brushProperty name="tip" value="rectangle"/>
      <inkml:brushProperty name="rasterOp" value="maskPen"/>
      <inkml:brushProperty name="ignorePressure" value="1"/>
    </inkml:brush>
  </inkml:definitions>
  <inkml:trace contextRef="#ctx0" brushRef="#br0">142 1,'-8'0,"-7"0,-8 0,-9 0,-2 0,4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15:26:09.556"/>
    </inkml:context>
    <inkml:brush xml:id="br0">
      <inkml:brushProperty name="width" value="0.35" units="cm"/>
      <inkml:brushProperty name="height" value="0.35" units="cm"/>
      <inkml:brushProperty name="color" value="#1E1E1E"/>
    </inkml:brush>
  </inkml:definitions>
  <inkml:trace contextRef="#ctx0" brushRef="#br0">10160 211 24575,'-2299'0'0,"2317"-1"0,0-1 0,27-7 0,28-2 0,71 8 0,-81 4 0,0-3 0,70-12 0,65-33 0,-66 14 0,15-8 0,-232 39 0,-14 4 0,-182-4 0,233-3 0,-47-12 0,57 8 0,-1 3 0,-65-4 0,-1410 12 0,1513-2 0,-34 3 0,34-3 0,0 0 0,0 0 0,0 0 0,0 0 0,0 1 0,0-1 0,0 0 0,0 1 0,0-1 0,0 1 0,0-1 0,0 1 0,0-1 0,0 1 0,0 0 0,1 0 0,-1-1 0,0 1 0,0 0 0,1 0 0,-1 0 0,1 0 0,-1-1 0,1 1 0,-1 0 0,1 0 0,-1 0 0,1 0 0,0 2 0,0-2 0,0 0 0,0 0 0,1 0 0,-1-1 0,0 1 0,1 0 0,-1 0 0,1 0 0,-1 0 0,1-1 0,0 1 0,-1 0 0,1 0 0,0-1 0,0 1 0,-1 0 0,1-1 0,0 1 0,0-1 0,0 1 0,0-1 0,-1 0 0,1 1 0,0-1 0,0 0 0,0 0 0,0 1 0,1-1 0,32 5 0,-33-5 0,215 24 0,-131-14 0,43 3 0,372-13 0,-232-1 0,-263 1 0,-1 0 0,0 1 0,0-1 0,0 1 0,0 0 0,0 0 0,0 0 0,0 0 0,0 1 0,0 0 0,4 2 0,-6-3 0,-1 0 0,0 0 0,0 0 0,1 1 0,-1-1 0,0 0 0,0 0 0,0 1 0,0-1 0,0 1 0,-1-1 0,1 1 0,0-1 0,-1 1 0,1-1 0,-1 1 0,1 0 0,-1-1 0,0 1 0,0 0 0,0-1 0,0 1 0,0 0 0,0-1 0,0 1 0,0 0 0,-1-1 0,1 1 0,-1 0 0,0 2 0,-1-2 0,1 0 0,0 1 0,-1-1 0,1 0 0,-1 0 0,0 0 0,0-1 0,0 1 0,0 0 0,0-1 0,0 1 0,0-1 0,0 0 0,-1 1 0,1-1 0,-1 0 0,1-1 0,0 1 0,-1 0 0,0-1 0,1 1 0,-5-1 0,-9 2 0,0-1 0,-24-1 0,24-1 0,3 1 0,-257-10 0,225 5 0,1-1 0,0-3 0,0-1 0,-42-17 0,62 19 0,0 1 0,-1 1 0,1 2 0,-46-4 0,-103 9 0,71 1 0,-28-4 0,-143 5 0,249 0 0,-1 1 0,-41 13 0,45-11 0,-1 0 0,1-2 0,-41 4 0,-403-8 0,208-2 0,212 3 0,1-2 0,-77-13 0,93 10 0,-1 1 0,-41 1 0,42 2 0,0-1 0,-46-8 0,14 0 0,-1 3 0,1 2 0,-86 7 0,31-1 0,-4153-2 0,4251 1 0,1 1 0,-32 7 0,30-5 0,-1-1 0,-22 2 0,19-5-1365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2T15:26:13.691"/>
    </inkml:context>
    <inkml:brush xml:id="br0">
      <inkml:brushProperty name="width" value="0.35" units="cm"/>
      <inkml:brushProperty name="height" value="0.35" units="cm"/>
      <inkml:brushProperty name="color" value="#1E1E1E"/>
    </inkml:brush>
  </inkml:definitions>
  <inkml:trace contextRef="#ctx0" brushRef="#br0">1576 72 24575,'-607'0'0,"594"-1"0,1 0 0,-1-1 0,1-1 0,0 0 0,0-1 0,-17-7 0,-32-9 0,55 18 0,-21-5 0,0 2 0,0 0 0,-47-1 0,-37 5 0,-146 4 0,243-2 0,-1 2 0,0 0 0,1 1 0,-20 8 0,21-7 0,0-1 0,-1 0 0,1 0 0,-1-1 0,-19 1 0,-50-5 0,261-1 0,82 4 0,-181 9 0,-52-6 0,50 2 0,993-6 0,-485-3 0,-564 1 0,0-1 0,0-2 0,-1 0 0,26-8 0,-24 5 0,-1 2 0,1 0 0,40-2 0,-27 7 236,-23 1-556,0-1 0,0 0-1,0-1 1,17-3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0T13:36:25.153"/>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7DA83952-F717-4606-BAC1-09D57D58B988}" type="datetimeFigureOut">
              <a:rPr lang="en-IN" smtClean="0"/>
              <a:t>12-12-2025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EEC47D57-7540-4B61-9D9D-E89F8FB4D7A5}" type="slidenum">
              <a:rPr lang="en-IN" smtClean="0"/>
              <a:t>‹#›</a:t>
            </a:fld>
            <a:endParaRPr lang="en-IN"/>
          </a:p>
        </p:txBody>
      </p:sp>
    </p:spTree>
    <p:extLst>
      <p:ext uri="{BB962C8B-B14F-4D97-AF65-F5344CB8AC3E}">
        <p14:creationId xmlns:p14="http://schemas.microsoft.com/office/powerpoint/2010/main" val="3334177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1.jp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0.jp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140178" y="6538884"/>
            <a:ext cx="3166906" cy="111079"/>
          </a:xfrm>
          <a:prstGeom prst="rect">
            <a:avLst/>
          </a:prstGeom>
        </p:spPr>
      </p:pic>
      <p:sp>
        <p:nvSpPr>
          <p:cNvPr id="17" name="bg object 17"/>
          <p:cNvSpPr/>
          <p:nvPr/>
        </p:nvSpPr>
        <p:spPr>
          <a:xfrm>
            <a:off x="6173723" y="6550151"/>
            <a:ext cx="3104515" cy="47625"/>
          </a:xfrm>
          <a:custGeom>
            <a:avLst/>
            <a:gdLst/>
            <a:ahLst/>
            <a:cxnLst/>
            <a:rect l="l" t="t" r="r" b="b"/>
            <a:pathLst>
              <a:path w="3104515" h="47625">
                <a:moveTo>
                  <a:pt x="3104387" y="0"/>
                </a:moveTo>
                <a:lnTo>
                  <a:pt x="0" y="0"/>
                </a:lnTo>
                <a:lnTo>
                  <a:pt x="0" y="47244"/>
                </a:lnTo>
                <a:lnTo>
                  <a:pt x="3104387" y="47244"/>
                </a:lnTo>
                <a:lnTo>
                  <a:pt x="3104387" y="0"/>
                </a:lnTo>
                <a:close/>
              </a:path>
            </a:pathLst>
          </a:custGeom>
          <a:solidFill>
            <a:srgbClr val="76C2E4"/>
          </a:solidFill>
        </p:spPr>
        <p:txBody>
          <a:bodyPr wrap="square" lIns="0" tIns="0" rIns="0" bIns="0" rtlCol="0"/>
          <a:lstStyle/>
          <a:p>
            <a:endParaRPr/>
          </a:p>
        </p:txBody>
      </p:sp>
      <p:pic>
        <p:nvPicPr>
          <p:cNvPr id="18" name="bg object 18"/>
          <p:cNvPicPr/>
          <p:nvPr/>
        </p:nvPicPr>
        <p:blipFill>
          <a:blip r:embed="rId3" cstate="print"/>
          <a:stretch>
            <a:fillRect/>
          </a:stretch>
        </p:blipFill>
        <p:spPr>
          <a:xfrm>
            <a:off x="9168383" y="6530334"/>
            <a:ext cx="3023616" cy="126382"/>
          </a:xfrm>
          <a:prstGeom prst="rect">
            <a:avLst/>
          </a:prstGeom>
        </p:spPr>
      </p:pic>
      <p:sp>
        <p:nvSpPr>
          <p:cNvPr id="19" name="bg object 19"/>
          <p:cNvSpPr/>
          <p:nvPr/>
        </p:nvSpPr>
        <p:spPr>
          <a:xfrm>
            <a:off x="9211055" y="6550151"/>
            <a:ext cx="2979420" cy="45720"/>
          </a:xfrm>
          <a:custGeom>
            <a:avLst/>
            <a:gdLst/>
            <a:ahLst/>
            <a:cxnLst/>
            <a:rect l="l" t="t" r="r" b="b"/>
            <a:pathLst>
              <a:path w="2979420" h="45720">
                <a:moveTo>
                  <a:pt x="2979420" y="0"/>
                </a:moveTo>
                <a:lnTo>
                  <a:pt x="0" y="0"/>
                </a:lnTo>
                <a:lnTo>
                  <a:pt x="0" y="45720"/>
                </a:lnTo>
                <a:lnTo>
                  <a:pt x="2979420" y="45720"/>
                </a:lnTo>
                <a:lnTo>
                  <a:pt x="2979420" y="0"/>
                </a:lnTo>
                <a:close/>
              </a:path>
            </a:pathLst>
          </a:custGeom>
          <a:solidFill>
            <a:srgbClr val="E21C23"/>
          </a:solidFill>
        </p:spPr>
        <p:txBody>
          <a:bodyPr wrap="square" lIns="0" tIns="0" rIns="0" bIns="0" rtlCol="0"/>
          <a:lstStyle/>
          <a:p>
            <a:endParaRPr/>
          </a:p>
        </p:txBody>
      </p:sp>
      <p:pic>
        <p:nvPicPr>
          <p:cNvPr id="20" name="bg object 20"/>
          <p:cNvPicPr/>
          <p:nvPr/>
        </p:nvPicPr>
        <p:blipFill>
          <a:blip r:embed="rId4" cstate="print"/>
          <a:stretch>
            <a:fillRect/>
          </a:stretch>
        </p:blipFill>
        <p:spPr>
          <a:xfrm>
            <a:off x="2735579" y="6530339"/>
            <a:ext cx="3520440" cy="128168"/>
          </a:xfrm>
          <a:prstGeom prst="rect">
            <a:avLst/>
          </a:prstGeom>
        </p:spPr>
      </p:pic>
      <p:sp>
        <p:nvSpPr>
          <p:cNvPr id="21" name="bg object 21"/>
          <p:cNvSpPr/>
          <p:nvPr/>
        </p:nvSpPr>
        <p:spPr>
          <a:xfrm>
            <a:off x="2778251" y="6550151"/>
            <a:ext cx="3439795" cy="47625"/>
          </a:xfrm>
          <a:custGeom>
            <a:avLst/>
            <a:gdLst/>
            <a:ahLst/>
            <a:cxnLst/>
            <a:rect l="l" t="t" r="r" b="b"/>
            <a:pathLst>
              <a:path w="3439795" h="47625">
                <a:moveTo>
                  <a:pt x="3439667" y="0"/>
                </a:moveTo>
                <a:lnTo>
                  <a:pt x="0" y="0"/>
                </a:lnTo>
                <a:lnTo>
                  <a:pt x="0" y="47244"/>
                </a:lnTo>
                <a:lnTo>
                  <a:pt x="3439667" y="47244"/>
                </a:lnTo>
                <a:lnTo>
                  <a:pt x="3439667" y="0"/>
                </a:lnTo>
                <a:close/>
              </a:path>
            </a:pathLst>
          </a:custGeom>
          <a:solidFill>
            <a:srgbClr val="FBAF17"/>
          </a:solidFill>
        </p:spPr>
        <p:txBody>
          <a:bodyPr wrap="square" lIns="0" tIns="0" rIns="0" bIns="0" rtlCol="0"/>
          <a:lstStyle/>
          <a:p>
            <a:endParaRPr/>
          </a:p>
        </p:txBody>
      </p:sp>
      <p:pic>
        <p:nvPicPr>
          <p:cNvPr id="22" name="bg object 22"/>
          <p:cNvPicPr/>
          <p:nvPr/>
        </p:nvPicPr>
        <p:blipFill>
          <a:blip r:embed="rId5" cstate="print"/>
          <a:stretch>
            <a:fillRect/>
          </a:stretch>
        </p:blipFill>
        <p:spPr>
          <a:xfrm>
            <a:off x="5951219" y="6533391"/>
            <a:ext cx="3185160" cy="124913"/>
          </a:xfrm>
          <a:prstGeom prst="rect">
            <a:avLst/>
          </a:prstGeom>
        </p:spPr>
      </p:pic>
      <p:sp>
        <p:nvSpPr>
          <p:cNvPr id="23" name="bg object 23"/>
          <p:cNvSpPr/>
          <p:nvPr/>
        </p:nvSpPr>
        <p:spPr>
          <a:xfrm>
            <a:off x="5993891" y="6553199"/>
            <a:ext cx="3104515" cy="44450"/>
          </a:xfrm>
          <a:custGeom>
            <a:avLst/>
            <a:gdLst/>
            <a:ahLst/>
            <a:cxnLst/>
            <a:rect l="l" t="t" r="r" b="b"/>
            <a:pathLst>
              <a:path w="3104515" h="44450">
                <a:moveTo>
                  <a:pt x="3104388" y="0"/>
                </a:moveTo>
                <a:lnTo>
                  <a:pt x="0" y="0"/>
                </a:lnTo>
                <a:lnTo>
                  <a:pt x="0" y="44196"/>
                </a:lnTo>
                <a:lnTo>
                  <a:pt x="3104388" y="44196"/>
                </a:lnTo>
                <a:lnTo>
                  <a:pt x="3104388" y="0"/>
                </a:lnTo>
                <a:close/>
              </a:path>
            </a:pathLst>
          </a:custGeom>
          <a:solidFill>
            <a:srgbClr val="76C2E4"/>
          </a:solidFill>
        </p:spPr>
        <p:txBody>
          <a:bodyPr wrap="square" lIns="0" tIns="0" rIns="0" bIns="0" rtlCol="0"/>
          <a:lstStyle/>
          <a:p>
            <a:endParaRPr/>
          </a:p>
        </p:txBody>
      </p:sp>
      <p:pic>
        <p:nvPicPr>
          <p:cNvPr id="24" name="bg object 24"/>
          <p:cNvPicPr/>
          <p:nvPr/>
        </p:nvPicPr>
        <p:blipFill>
          <a:blip r:embed="rId6" cstate="print"/>
          <a:stretch>
            <a:fillRect/>
          </a:stretch>
        </p:blipFill>
        <p:spPr>
          <a:xfrm>
            <a:off x="2802635" y="6533391"/>
            <a:ext cx="3229356" cy="124913"/>
          </a:xfrm>
          <a:prstGeom prst="rect">
            <a:avLst/>
          </a:prstGeom>
        </p:spPr>
      </p:pic>
      <p:sp>
        <p:nvSpPr>
          <p:cNvPr id="25" name="bg object 25"/>
          <p:cNvSpPr/>
          <p:nvPr/>
        </p:nvSpPr>
        <p:spPr>
          <a:xfrm>
            <a:off x="2845307" y="6553199"/>
            <a:ext cx="3148965" cy="44450"/>
          </a:xfrm>
          <a:custGeom>
            <a:avLst/>
            <a:gdLst/>
            <a:ahLst/>
            <a:cxnLst/>
            <a:rect l="l" t="t" r="r" b="b"/>
            <a:pathLst>
              <a:path w="3148965" h="44450">
                <a:moveTo>
                  <a:pt x="3148584" y="0"/>
                </a:moveTo>
                <a:lnTo>
                  <a:pt x="0" y="0"/>
                </a:lnTo>
                <a:lnTo>
                  <a:pt x="0" y="44196"/>
                </a:lnTo>
                <a:lnTo>
                  <a:pt x="3148584" y="44196"/>
                </a:lnTo>
                <a:lnTo>
                  <a:pt x="3148584" y="0"/>
                </a:lnTo>
                <a:close/>
              </a:path>
            </a:pathLst>
          </a:custGeom>
          <a:solidFill>
            <a:srgbClr val="FBAF17"/>
          </a:solidFill>
        </p:spPr>
        <p:txBody>
          <a:bodyPr wrap="square" lIns="0" tIns="0" rIns="0" bIns="0" rtlCol="0"/>
          <a:lstStyle/>
          <a:p>
            <a:endParaRPr/>
          </a:p>
        </p:txBody>
      </p:sp>
      <p:pic>
        <p:nvPicPr>
          <p:cNvPr id="26" name="bg object 26"/>
          <p:cNvPicPr/>
          <p:nvPr/>
        </p:nvPicPr>
        <p:blipFill>
          <a:blip r:embed="rId7" cstate="print"/>
          <a:stretch>
            <a:fillRect/>
          </a:stretch>
        </p:blipFill>
        <p:spPr>
          <a:xfrm>
            <a:off x="9044939" y="6533391"/>
            <a:ext cx="3147059" cy="124913"/>
          </a:xfrm>
          <a:prstGeom prst="rect">
            <a:avLst/>
          </a:prstGeom>
        </p:spPr>
      </p:pic>
      <p:sp>
        <p:nvSpPr>
          <p:cNvPr id="27" name="bg object 27"/>
          <p:cNvSpPr/>
          <p:nvPr/>
        </p:nvSpPr>
        <p:spPr>
          <a:xfrm>
            <a:off x="9087611" y="6553199"/>
            <a:ext cx="3103245" cy="44450"/>
          </a:xfrm>
          <a:custGeom>
            <a:avLst/>
            <a:gdLst/>
            <a:ahLst/>
            <a:cxnLst/>
            <a:rect l="l" t="t" r="r" b="b"/>
            <a:pathLst>
              <a:path w="3103245" h="44450">
                <a:moveTo>
                  <a:pt x="3102863" y="0"/>
                </a:moveTo>
                <a:lnTo>
                  <a:pt x="0" y="0"/>
                </a:lnTo>
                <a:lnTo>
                  <a:pt x="0" y="44196"/>
                </a:lnTo>
                <a:lnTo>
                  <a:pt x="3102863" y="44196"/>
                </a:lnTo>
                <a:lnTo>
                  <a:pt x="3102863" y="0"/>
                </a:lnTo>
                <a:close/>
              </a:path>
            </a:pathLst>
          </a:custGeom>
          <a:solidFill>
            <a:srgbClr val="FF0000"/>
          </a:solidFill>
        </p:spPr>
        <p:txBody>
          <a:bodyPr wrap="square" lIns="0" tIns="0" rIns="0" bIns="0" rtlCol="0"/>
          <a:lstStyle/>
          <a:p>
            <a:endParaRPr/>
          </a:p>
        </p:txBody>
      </p:sp>
      <p:pic>
        <p:nvPicPr>
          <p:cNvPr id="28" name="bg object 28"/>
          <p:cNvPicPr/>
          <p:nvPr/>
        </p:nvPicPr>
        <p:blipFill>
          <a:blip r:embed="rId8" cstate="print"/>
          <a:stretch>
            <a:fillRect/>
          </a:stretch>
        </p:blipFill>
        <p:spPr>
          <a:xfrm>
            <a:off x="8839200" y="0"/>
            <a:ext cx="2923031" cy="691896"/>
          </a:xfrm>
          <a:prstGeom prst="rect">
            <a:avLst/>
          </a:prstGeom>
        </p:spPr>
      </p:pic>
      <p:pic>
        <p:nvPicPr>
          <p:cNvPr id="29" name="bg object 29"/>
          <p:cNvPicPr/>
          <p:nvPr/>
        </p:nvPicPr>
        <p:blipFill>
          <a:blip r:embed="rId9" cstate="print"/>
          <a:stretch>
            <a:fillRect/>
          </a:stretch>
        </p:blipFill>
        <p:spPr>
          <a:xfrm>
            <a:off x="3116558" y="1284564"/>
            <a:ext cx="3165391" cy="107068"/>
          </a:xfrm>
          <a:prstGeom prst="rect">
            <a:avLst/>
          </a:prstGeom>
        </p:spPr>
      </p:pic>
      <p:sp>
        <p:nvSpPr>
          <p:cNvPr id="30" name="bg object 30"/>
          <p:cNvSpPr/>
          <p:nvPr/>
        </p:nvSpPr>
        <p:spPr>
          <a:xfrm>
            <a:off x="3150107" y="1295399"/>
            <a:ext cx="3103245" cy="44450"/>
          </a:xfrm>
          <a:custGeom>
            <a:avLst/>
            <a:gdLst/>
            <a:ahLst/>
            <a:cxnLst/>
            <a:rect l="l" t="t" r="r" b="b"/>
            <a:pathLst>
              <a:path w="3103245" h="44450">
                <a:moveTo>
                  <a:pt x="3102864" y="0"/>
                </a:moveTo>
                <a:lnTo>
                  <a:pt x="0" y="0"/>
                </a:lnTo>
                <a:lnTo>
                  <a:pt x="0" y="44196"/>
                </a:lnTo>
                <a:lnTo>
                  <a:pt x="3102864" y="44196"/>
                </a:lnTo>
                <a:lnTo>
                  <a:pt x="3102864" y="0"/>
                </a:lnTo>
                <a:close/>
              </a:path>
            </a:pathLst>
          </a:custGeom>
          <a:solidFill>
            <a:srgbClr val="76C2E4"/>
          </a:solidFill>
        </p:spPr>
        <p:txBody>
          <a:bodyPr wrap="square" lIns="0" tIns="0" rIns="0" bIns="0" rtlCol="0"/>
          <a:lstStyle/>
          <a:p>
            <a:endParaRPr/>
          </a:p>
        </p:txBody>
      </p:sp>
      <p:pic>
        <p:nvPicPr>
          <p:cNvPr id="31" name="bg object 31"/>
          <p:cNvPicPr/>
          <p:nvPr/>
        </p:nvPicPr>
        <p:blipFill>
          <a:blip r:embed="rId10" cstate="print"/>
          <a:stretch>
            <a:fillRect/>
          </a:stretch>
        </p:blipFill>
        <p:spPr>
          <a:xfrm>
            <a:off x="0" y="1275642"/>
            <a:ext cx="3186684" cy="124913"/>
          </a:xfrm>
          <a:prstGeom prst="rect">
            <a:avLst/>
          </a:prstGeom>
        </p:spPr>
      </p:pic>
      <p:sp>
        <p:nvSpPr>
          <p:cNvPr id="32" name="bg object 32"/>
          <p:cNvSpPr/>
          <p:nvPr/>
        </p:nvSpPr>
        <p:spPr>
          <a:xfrm>
            <a:off x="0" y="1295399"/>
            <a:ext cx="3148965" cy="44450"/>
          </a:xfrm>
          <a:custGeom>
            <a:avLst/>
            <a:gdLst/>
            <a:ahLst/>
            <a:cxnLst/>
            <a:rect l="l" t="t" r="r" b="b"/>
            <a:pathLst>
              <a:path w="3148965" h="44450">
                <a:moveTo>
                  <a:pt x="3148584" y="0"/>
                </a:moveTo>
                <a:lnTo>
                  <a:pt x="0" y="0"/>
                </a:lnTo>
                <a:lnTo>
                  <a:pt x="0" y="44196"/>
                </a:lnTo>
                <a:lnTo>
                  <a:pt x="3148584" y="44196"/>
                </a:lnTo>
                <a:lnTo>
                  <a:pt x="3148584" y="0"/>
                </a:lnTo>
                <a:close/>
              </a:path>
            </a:pathLst>
          </a:custGeom>
          <a:solidFill>
            <a:srgbClr val="FBAF17"/>
          </a:solidFill>
        </p:spPr>
        <p:txBody>
          <a:bodyPr wrap="square" lIns="0" tIns="0" rIns="0" bIns="0" rtlCol="0"/>
          <a:lstStyle/>
          <a:p>
            <a:endParaRPr/>
          </a:p>
        </p:txBody>
      </p:sp>
      <p:pic>
        <p:nvPicPr>
          <p:cNvPr id="33" name="bg object 33"/>
          <p:cNvPicPr/>
          <p:nvPr/>
        </p:nvPicPr>
        <p:blipFill>
          <a:blip r:embed="rId5" cstate="print"/>
          <a:stretch>
            <a:fillRect/>
          </a:stretch>
        </p:blipFill>
        <p:spPr>
          <a:xfrm>
            <a:off x="6199632" y="1275642"/>
            <a:ext cx="3185160" cy="124913"/>
          </a:xfrm>
          <a:prstGeom prst="rect">
            <a:avLst/>
          </a:prstGeom>
        </p:spPr>
      </p:pic>
      <p:sp>
        <p:nvSpPr>
          <p:cNvPr id="34" name="bg object 34"/>
          <p:cNvSpPr/>
          <p:nvPr/>
        </p:nvSpPr>
        <p:spPr>
          <a:xfrm>
            <a:off x="6242303" y="1295399"/>
            <a:ext cx="3104515" cy="44450"/>
          </a:xfrm>
          <a:custGeom>
            <a:avLst/>
            <a:gdLst/>
            <a:ahLst/>
            <a:cxnLst/>
            <a:rect l="l" t="t" r="r" b="b"/>
            <a:pathLst>
              <a:path w="3104515" h="44450">
                <a:moveTo>
                  <a:pt x="3104388" y="0"/>
                </a:moveTo>
                <a:lnTo>
                  <a:pt x="0" y="0"/>
                </a:lnTo>
                <a:lnTo>
                  <a:pt x="0" y="44196"/>
                </a:lnTo>
                <a:lnTo>
                  <a:pt x="3104388" y="44196"/>
                </a:lnTo>
                <a:lnTo>
                  <a:pt x="3104388" y="0"/>
                </a:lnTo>
                <a:close/>
              </a:path>
            </a:pathLst>
          </a:custGeom>
          <a:solidFill>
            <a:srgbClr val="FF0000"/>
          </a:solidFill>
        </p:spPr>
        <p:txBody>
          <a:bodyPr wrap="square" lIns="0" tIns="0" rIns="0" bIns="0" rtlCol="0"/>
          <a:lstStyle/>
          <a:p>
            <a:endParaRPr/>
          </a:p>
        </p:txBody>
      </p:sp>
      <p:pic>
        <p:nvPicPr>
          <p:cNvPr id="35" name="bg object 35"/>
          <p:cNvPicPr/>
          <p:nvPr/>
        </p:nvPicPr>
        <p:blipFill>
          <a:blip r:embed="rId11" cstate="print"/>
          <a:stretch>
            <a:fillRect/>
          </a:stretch>
        </p:blipFill>
        <p:spPr>
          <a:xfrm>
            <a:off x="280415" y="1671841"/>
            <a:ext cx="7935462" cy="4124684"/>
          </a:xfrm>
          <a:prstGeom prst="rect">
            <a:avLst/>
          </a:prstGeom>
        </p:spPr>
      </p:pic>
      <p:pic>
        <p:nvPicPr>
          <p:cNvPr id="36" name="bg object 36"/>
          <p:cNvPicPr/>
          <p:nvPr/>
        </p:nvPicPr>
        <p:blipFill>
          <a:blip r:embed="rId12" cstate="print"/>
          <a:stretch>
            <a:fillRect/>
          </a:stretch>
        </p:blipFill>
        <p:spPr>
          <a:xfrm>
            <a:off x="7261097" y="4299966"/>
            <a:ext cx="4747259" cy="1592580"/>
          </a:xfrm>
          <a:prstGeom prst="rect">
            <a:avLst/>
          </a:prstGeom>
        </p:spPr>
      </p:pic>
      <p:sp>
        <p:nvSpPr>
          <p:cNvPr id="37" name="bg object 37"/>
          <p:cNvSpPr/>
          <p:nvPr/>
        </p:nvSpPr>
        <p:spPr>
          <a:xfrm>
            <a:off x="7261097" y="4299966"/>
            <a:ext cx="4747260" cy="1592580"/>
          </a:xfrm>
          <a:custGeom>
            <a:avLst/>
            <a:gdLst/>
            <a:ahLst/>
            <a:cxnLst/>
            <a:rect l="l" t="t" r="r" b="b"/>
            <a:pathLst>
              <a:path w="4747259" h="1592579">
                <a:moveTo>
                  <a:pt x="0" y="265429"/>
                </a:moveTo>
                <a:lnTo>
                  <a:pt x="4277" y="217727"/>
                </a:lnTo>
                <a:lnTo>
                  <a:pt x="16609" y="172826"/>
                </a:lnTo>
                <a:lnTo>
                  <a:pt x="36246" y="131477"/>
                </a:lnTo>
                <a:lnTo>
                  <a:pt x="62437" y="94431"/>
                </a:lnTo>
                <a:lnTo>
                  <a:pt x="94431" y="62437"/>
                </a:lnTo>
                <a:lnTo>
                  <a:pt x="131477" y="36246"/>
                </a:lnTo>
                <a:lnTo>
                  <a:pt x="172826" y="16609"/>
                </a:lnTo>
                <a:lnTo>
                  <a:pt x="217727" y="4277"/>
                </a:lnTo>
                <a:lnTo>
                  <a:pt x="265429" y="0"/>
                </a:lnTo>
                <a:lnTo>
                  <a:pt x="4481830" y="0"/>
                </a:lnTo>
                <a:lnTo>
                  <a:pt x="4529532" y="4277"/>
                </a:lnTo>
                <a:lnTo>
                  <a:pt x="4574433" y="16609"/>
                </a:lnTo>
                <a:lnTo>
                  <a:pt x="4615782" y="36246"/>
                </a:lnTo>
                <a:lnTo>
                  <a:pt x="4652828" y="62437"/>
                </a:lnTo>
                <a:lnTo>
                  <a:pt x="4684822" y="94431"/>
                </a:lnTo>
                <a:lnTo>
                  <a:pt x="4711013" y="131477"/>
                </a:lnTo>
                <a:lnTo>
                  <a:pt x="4730650" y="172826"/>
                </a:lnTo>
                <a:lnTo>
                  <a:pt x="4742982" y="217727"/>
                </a:lnTo>
                <a:lnTo>
                  <a:pt x="4747259" y="265429"/>
                </a:lnTo>
                <a:lnTo>
                  <a:pt x="4747259" y="1327149"/>
                </a:lnTo>
                <a:lnTo>
                  <a:pt x="4742982" y="1374862"/>
                </a:lnTo>
                <a:lnTo>
                  <a:pt x="4730650" y="1419768"/>
                </a:lnTo>
                <a:lnTo>
                  <a:pt x="4711013" y="1461119"/>
                </a:lnTo>
                <a:lnTo>
                  <a:pt x="4684822" y="1498164"/>
                </a:lnTo>
                <a:lnTo>
                  <a:pt x="4652828" y="1530155"/>
                </a:lnTo>
                <a:lnTo>
                  <a:pt x="4615782" y="1556341"/>
                </a:lnTo>
                <a:lnTo>
                  <a:pt x="4574433" y="1575974"/>
                </a:lnTo>
                <a:lnTo>
                  <a:pt x="4529532" y="1588303"/>
                </a:lnTo>
                <a:lnTo>
                  <a:pt x="4481830" y="1592579"/>
                </a:lnTo>
                <a:lnTo>
                  <a:pt x="265429" y="1592579"/>
                </a:lnTo>
                <a:lnTo>
                  <a:pt x="217727" y="1588303"/>
                </a:lnTo>
                <a:lnTo>
                  <a:pt x="172826" y="1575974"/>
                </a:lnTo>
                <a:lnTo>
                  <a:pt x="131477" y="1556341"/>
                </a:lnTo>
                <a:lnTo>
                  <a:pt x="94431" y="1530155"/>
                </a:lnTo>
                <a:lnTo>
                  <a:pt x="62437" y="1498164"/>
                </a:lnTo>
                <a:lnTo>
                  <a:pt x="36246" y="1461119"/>
                </a:lnTo>
                <a:lnTo>
                  <a:pt x="16609" y="1419768"/>
                </a:lnTo>
                <a:lnTo>
                  <a:pt x="4277" y="1374862"/>
                </a:lnTo>
                <a:lnTo>
                  <a:pt x="0" y="1327149"/>
                </a:lnTo>
                <a:lnTo>
                  <a:pt x="0" y="265429"/>
                </a:lnTo>
                <a:close/>
              </a:path>
            </a:pathLst>
          </a:custGeom>
          <a:ln w="25908">
            <a:solidFill>
              <a:srgbClr val="41709C"/>
            </a:solidFill>
          </a:ln>
        </p:spPr>
        <p:txBody>
          <a:bodyPr wrap="square" lIns="0" tIns="0" rIns="0" bIns="0" rtlCol="0"/>
          <a:lstStyle/>
          <a:p>
            <a:endParaRPr/>
          </a:p>
        </p:txBody>
      </p:sp>
      <p:sp>
        <p:nvSpPr>
          <p:cNvPr id="2" name="Holder 2"/>
          <p:cNvSpPr>
            <a:spLocks noGrp="1"/>
          </p:cNvSpPr>
          <p:nvPr>
            <p:ph type="ctrTitle"/>
          </p:nvPr>
        </p:nvSpPr>
        <p:spPr>
          <a:xfrm>
            <a:off x="393903" y="424941"/>
            <a:ext cx="7493000" cy="574040"/>
          </a:xfrm>
          <a:prstGeom prst="rect">
            <a:avLst/>
          </a:prstGeom>
        </p:spPr>
        <p:txBody>
          <a:bodyPr wrap="square" lIns="0" tIns="0" rIns="0" bIns="0">
            <a:spAutoFit/>
          </a:bodyPr>
          <a:lstStyle>
            <a:lvl1pPr>
              <a:defRPr sz="2800" b="1" i="0">
                <a:solidFill>
                  <a:schemeClr val="tx1"/>
                </a:solidFill>
                <a:latin typeface="Arial"/>
                <a:cs typeface="Arial"/>
              </a:defRPr>
            </a:lvl1pPr>
          </a:lstStyle>
          <a:p>
            <a:endParaRPr/>
          </a:p>
        </p:txBody>
      </p:sp>
      <p:sp>
        <p:nvSpPr>
          <p:cNvPr id="3" name="Holder 3"/>
          <p:cNvSpPr>
            <a:spLocks noGrp="1"/>
          </p:cNvSpPr>
          <p:nvPr>
            <p:ph type="subTitle" idx="4"/>
          </p:nvPr>
        </p:nvSpPr>
        <p:spPr>
          <a:xfrm>
            <a:off x="7504556" y="4647641"/>
            <a:ext cx="4260850" cy="8794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0" dirty="0">
                <a:latin typeface="Arial"/>
                <a:cs typeface="Arial"/>
              </a:rPr>
              <a:t> </a:t>
            </a:r>
            <a:r>
              <a:rPr dirty="0"/>
              <a:t>Pilani,</a:t>
            </a:r>
            <a:r>
              <a:rPr spc="-35" dirty="0"/>
              <a:t> </a:t>
            </a:r>
            <a:r>
              <a:rPr dirty="0"/>
              <a:t>Pilani</a:t>
            </a:r>
            <a:r>
              <a:rPr spc="-35" dirty="0"/>
              <a:t> </a:t>
            </a:r>
            <a:r>
              <a:rPr spc="-10" dirty="0"/>
              <a:t>Campus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0" dirty="0">
                <a:latin typeface="Arial"/>
                <a:cs typeface="Arial"/>
              </a:rPr>
              <a:t> </a:t>
            </a:r>
            <a:r>
              <a:rPr dirty="0"/>
              <a:t>Pilani,</a:t>
            </a:r>
            <a:r>
              <a:rPr spc="-35" dirty="0"/>
              <a:t> </a:t>
            </a:r>
            <a:r>
              <a:rPr dirty="0"/>
              <a:t>Pilani</a:t>
            </a:r>
            <a:r>
              <a:rPr spc="-35" dirty="0"/>
              <a:t> </a:t>
            </a:r>
            <a:r>
              <a:rPr spc="-10" dirty="0"/>
              <a:t>Campus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0" dirty="0">
                <a:latin typeface="Arial"/>
                <a:cs typeface="Arial"/>
              </a:rPr>
              <a:t> </a:t>
            </a:r>
            <a:r>
              <a:rPr dirty="0"/>
              <a:t>Pilani,</a:t>
            </a:r>
            <a:r>
              <a:rPr spc="-35" dirty="0"/>
              <a:t> </a:t>
            </a:r>
            <a:r>
              <a:rPr dirty="0"/>
              <a:t>Pilani</a:t>
            </a:r>
            <a:r>
              <a:rPr spc="-35" dirty="0"/>
              <a:t> </a:t>
            </a:r>
            <a:r>
              <a:rPr spc="-10" dirty="0"/>
              <a:t>Campus</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0" dirty="0">
                <a:latin typeface="Arial"/>
                <a:cs typeface="Arial"/>
              </a:rPr>
              <a:t> </a:t>
            </a:r>
            <a:r>
              <a:rPr dirty="0"/>
              <a:t>Pilani,</a:t>
            </a:r>
            <a:r>
              <a:rPr spc="-35" dirty="0"/>
              <a:t> </a:t>
            </a:r>
            <a:r>
              <a:rPr dirty="0"/>
              <a:t>Pilani</a:t>
            </a:r>
            <a:r>
              <a:rPr spc="-35" dirty="0"/>
              <a:t> </a:t>
            </a:r>
            <a:r>
              <a:rPr spc="-10" dirty="0"/>
              <a:t>Campus</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140178" y="6538884"/>
            <a:ext cx="3166906" cy="111079"/>
          </a:xfrm>
          <a:prstGeom prst="rect">
            <a:avLst/>
          </a:prstGeom>
        </p:spPr>
      </p:pic>
      <p:sp>
        <p:nvSpPr>
          <p:cNvPr id="17" name="bg object 17"/>
          <p:cNvSpPr/>
          <p:nvPr/>
        </p:nvSpPr>
        <p:spPr>
          <a:xfrm>
            <a:off x="6173723" y="6550152"/>
            <a:ext cx="3104515" cy="47625"/>
          </a:xfrm>
          <a:custGeom>
            <a:avLst/>
            <a:gdLst/>
            <a:ahLst/>
            <a:cxnLst/>
            <a:rect l="l" t="t" r="r" b="b"/>
            <a:pathLst>
              <a:path w="3104515" h="47625">
                <a:moveTo>
                  <a:pt x="3104387" y="0"/>
                </a:moveTo>
                <a:lnTo>
                  <a:pt x="0" y="0"/>
                </a:lnTo>
                <a:lnTo>
                  <a:pt x="0" y="47244"/>
                </a:lnTo>
                <a:lnTo>
                  <a:pt x="3104387" y="47244"/>
                </a:lnTo>
                <a:lnTo>
                  <a:pt x="3104387" y="0"/>
                </a:lnTo>
                <a:close/>
              </a:path>
            </a:pathLst>
          </a:custGeom>
          <a:solidFill>
            <a:srgbClr val="76C2E4"/>
          </a:solidFill>
        </p:spPr>
        <p:txBody>
          <a:bodyPr wrap="square" lIns="0" tIns="0" rIns="0" bIns="0" rtlCol="0"/>
          <a:lstStyle/>
          <a:p>
            <a:endParaRPr/>
          </a:p>
        </p:txBody>
      </p:sp>
      <p:pic>
        <p:nvPicPr>
          <p:cNvPr id="18" name="bg object 18"/>
          <p:cNvPicPr/>
          <p:nvPr/>
        </p:nvPicPr>
        <p:blipFill>
          <a:blip r:embed="rId3" cstate="print"/>
          <a:stretch>
            <a:fillRect/>
          </a:stretch>
        </p:blipFill>
        <p:spPr>
          <a:xfrm>
            <a:off x="9168383" y="6530334"/>
            <a:ext cx="3023616" cy="126382"/>
          </a:xfrm>
          <a:prstGeom prst="rect">
            <a:avLst/>
          </a:prstGeom>
        </p:spPr>
      </p:pic>
      <p:sp>
        <p:nvSpPr>
          <p:cNvPr id="19" name="bg object 19"/>
          <p:cNvSpPr/>
          <p:nvPr/>
        </p:nvSpPr>
        <p:spPr>
          <a:xfrm>
            <a:off x="9211056" y="6550152"/>
            <a:ext cx="2979420" cy="45720"/>
          </a:xfrm>
          <a:custGeom>
            <a:avLst/>
            <a:gdLst/>
            <a:ahLst/>
            <a:cxnLst/>
            <a:rect l="l" t="t" r="r" b="b"/>
            <a:pathLst>
              <a:path w="2979420" h="45720">
                <a:moveTo>
                  <a:pt x="2979420" y="0"/>
                </a:moveTo>
                <a:lnTo>
                  <a:pt x="0" y="0"/>
                </a:lnTo>
                <a:lnTo>
                  <a:pt x="0" y="45720"/>
                </a:lnTo>
                <a:lnTo>
                  <a:pt x="2979420" y="45720"/>
                </a:lnTo>
                <a:lnTo>
                  <a:pt x="2979420" y="0"/>
                </a:lnTo>
                <a:close/>
              </a:path>
            </a:pathLst>
          </a:custGeom>
          <a:solidFill>
            <a:srgbClr val="E21C23"/>
          </a:solidFill>
        </p:spPr>
        <p:txBody>
          <a:bodyPr wrap="square" lIns="0" tIns="0" rIns="0" bIns="0" rtlCol="0"/>
          <a:lstStyle/>
          <a:p>
            <a:endParaRPr/>
          </a:p>
        </p:txBody>
      </p:sp>
      <p:pic>
        <p:nvPicPr>
          <p:cNvPr id="20" name="bg object 20"/>
          <p:cNvPicPr/>
          <p:nvPr/>
        </p:nvPicPr>
        <p:blipFill>
          <a:blip r:embed="rId4" cstate="print"/>
          <a:stretch>
            <a:fillRect/>
          </a:stretch>
        </p:blipFill>
        <p:spPr>
          <a:xfrm>
            <a:off x="2735579" y="6530340"/>
            <a:ext cx="3520440" cy="128168"/>
          </a:xfrm>
          <a:prstGeom prst="rect">
            <a:avLst/>
          </a:prstGeom>
        </p:spPr>
      </p:pic>
      <p:sp>
        <p:nvSpPr>
          <p:cNvPr id="21" name="bg object 21"/>
          <p:cNvSpPr/>
          <p:nvPr/>
        </p:nvSpPr>
        <p:spPr>
          <a:xfrm>
            <a:off x="2778251" y="6550152"/>
            <a:ext cx="3439795" cy="47625"/>
          </a:xfrm>
          <a:custGeom>
            <a:avLst/>
            <a:gdLst/>
            <a:ahLst/>
            <a:cxnLst/>
            <a:rect l="l" t="t" r="r" b="b"/>
            <a:pathLst>
              <a:path w="3439795" h="47625">
                <a:moveTo>
                  <a:pt x="3439667" y="0"/>
                </a:moveTo>
                <a:lnTo>
                  <a:pt x="0" y="0"/>
                </a:lnTo>
                <a:lnTo>
                  <a:pt x="0" y="47244"/>
                </a:lnTo>
                <a:lnTo>
                  <a:pt x="3439667" y="47244"/>
                </a:lnTo>
                <a:lnTo>
                  <a:pt x="3439667" y="0"/>
                </a:lnTo>
                <a:close/>
              </a:path>
            </a:pathLst>
          </a:custGeom>
          <a:solidFill>
            <a:srgbClr val="FBAF17"/>
          </a:solidFill>
        </p:spPr>
        <p:txBody>
          <a:bodyPr wrap="square" lIns="0" tIns="0" rIns="0" bIns="0" rtlCol="0"/>
          <a:lstStyle/>
          <a:p>
            <a:endParaRPr/>
          </a:p>
        </p:txBody>
      </p:sp>
      <p:pic>
        <p:nvPicPr>
          <p:cNvPr id="22" name="bg object 22"/>
          <p:cNvPicPr/>
          <p:nvPr/>
        </p:nvPicPr>
        <p:blipFill>
          <a:blip r:embed="rId5" cstate="print"/>
          <a:stretch>
            <a:fillRect/>
          </a:stretch>
        </p:blipFill>
        <p:spPr>
          <a:xfrm>
            <a:off x="8839200" y="0"/>
            <a:ext cx="2923031" cy="691896"/>
          </a:xfrm>
          <a:prstGeom prst="rect">
            <a:avLst/>
          </a:prstGeom>
        </p:spPr>
      </p:pic>
      <p:pic>
        <p:nvPicPr>
          <p:cNvPr id="23" name="bg object 23"/>
          <p:cNvPicPr/>
          <p:nvPr/>
        </p:nvPicPr>
        <p:blipFill>
          <a:blip r:embed="rId6" cstate="print"/>
          <a:stretch>
            <a:fillRect/>
          </a:stretch>
        </p:blipFill>
        <p:spPr>
          <a:xfrm>
            <a:off x="5951220" y="6533391"/>
            <a:ext cx="3185160" cy="124913"/>
          </a:xfrm>
          <a:prstGeom prst="rect">
            <a:avLst/>
          </a:prstGeom>
        </p:spPr>
      </p:pic>
      <p:sp>
        <p:nvSpPr>
          <p:cNvPr id="24" name="bg object 24"/>
          <p:cNvSpPr/>
          <p:nvPr/>
        </p:nvSpPr>
        <p:spPr>
          <a:xfrm>
            <a:off x="5993891" y="6553200"/>
            <a:ext cx="3104515" cy="44450"/>
          </a:xfrm>
          <a:custGeom>
            <a:avLst/>
            <a:gdLst/>
            <a:ahLst/>
            <a:cxnLst/>
            <a:rect l="l" t="t" r="r" b="b"/>
            <a:pathLst>
              <a:path w="3104515" h="44450">
                <a:moveTo>
                  <a:pt x="3104388" y="0"/>
                </a:moveTo>
                <a:lnTo>
                  <a:pt x="0" y="0"/>
                </a:lnTo>
                <a:lnTo>
                  <a:pt x="0" y="44196"/>
                </a:lnTo>
                <a:lnTo>
                  <a:pt x="3104388" y="44196"/>
                </a:lnTo>
                <a:lnTo>
                  <a:pt x="3104388" y="0"/>
                </a:lnTo>
                <a:close/>
              </a:path>
            </a:pathLst>
          </a:custGeom>
          <a:solidFill>
            <a:srgbClr val="76C2E4"/>
          </a:solidFill>
        </p:spPr>
        <p:txBody>
          <a:bodyPr wrap="square" lIns="0" tIns="0" rIns="0" bIns="0" rtlCol="0"/>
          <a:lstStyle/>
          <a:p>
            <a:endParaRPr/>
          </a:p>
        </p:txBody>
      </p:sp>
      <p:pic>
        <p:nvPicPr>
          <p:cNvPr id="25" name="bg object 25"/>
          <p:cNvPicPr/>
          <p:nvPr/>
        </p:nvPicPr>
        <p:blipFill>
          <a:blip r:embed="rId7" cstate="print"/>
          <a:stretch>
            <a:fillRect/>
          </a:stretch>
        </p:blipFill>
        <p:spPr>
          <a:xfrm>
            <a:off x="2802635" y="6533391"/>
            <a:ext cx="3229356" cy="124913"/>
          </a:xfrm>
          <a:prstGeom prst="rect">
            <a:avLst/>
          </a:prstGeom>
        </p:spPr>
      </p:pic>
      <p:sp>
        <p:nvSpPr>
          <p:cNvPr id="26" name="bg object 26"/>
          <p:cNvSpPr/>
          <p:nvPr/>
        </p:nvSpPr>
        <p:spPr>
          <a:xfrm>
            <a:off x="2845307" y="6553200"/>
            <a:ext cx="3148965" cy="44450"/>
          </a:xfrm>
          <a:custGeom>
            <a:avLst/>
            <a:gdLst/>
            <a:ahLst/>
            <a:cxnLst/>
            <a:rect l="l" t="t" r="r" b="b"/>
            <a:pathLst>
              <a:path w="3148965" h="44450">
                <a:moveTo>
                  <a:pt x="3148584" y="0"/>
                </a:moveTo>
                <a:lnTo>
                  <a:pt x="0" y="0"/>
                </a:lnTo>
                <a:lnTo>
                  <a:pt x="0" y="44196"/>
                </a:lnTo>
                <a:lnTo>
                  <a:pt x="3148584" y="44196"/>
                </a:lnTo>
                <a:lnTo>
                  <a:pt x="3148584" y="0"/>
                </a:lnTo>
                <a:close/>
              </a:path>
            </a:pathLst>
          </a:custGeom>
          <a:solidFill>
            <a:srgbClr val="FBAF17"/>
          </a:solidFill>
        </p:spPr>
        <p:txBody>
          <a:bodyPr wrap="square" lIns="0" tIns="0" rIns="0" bIns="0" rtlCol="0"/>
          <a:lstStyle/>
          <a:p>
            <a:endParaRPr/>
          </a:p>
        </p:txBody>
      </p:sp>
      <p:pic>
        <p:nvPicPr>
          <p:cNvPr id="27" name="bg object 27"/>
          <p:cNvPicPr/>
          <p:nvPr/>
        </p:nvPicPr>
        <p:blipFill>
          <a:blip r:embed="rId8" cstate="print"/>
          <a:stretch>
            <a:fillRect/>
          </a:stretch>
        </p:blipFill>
        <p:spPr>
          <a:xfrm>
            <a:off x="9044940" y="6533391"/>
            <a:ext cx="3147059" cy="124913"/>
          </a:xfrm>
          <a:prstGeom prst="rect">
            <a:avLst/>
          </a:prstGeom>
        </p:spPr>
      </p:pic>
      <p:sp>
        <p:nvSpPr>
          <p:cNvPr id="28" name="bg object 28"/>
          <p:cNvSpPr/>
          <p:nvPr/>
        </p:nvSpPr>
        <p:spPr>
          <a:xfrm>
            <a:off x="9087611" y="6553200"/>
            <a:ext cx="3103245" cy="44450"/>
          </a:xfrm>
          <a:custGeom>
            <a:avLst/>
            <a:gdLst/>
            <a:ahLst/>
            <a:cxnLst/>
            <a:rect l="l" t="t" r="r" b="b"/>
            <a:pathLst>
              <a:path w="3103245" h="44450">
                <a:moveTo>
                  <a:pt x="3102863" y="0"/>
                </a:moveTo>
                <a:lnTo>
                  <a:pt x="0" y="0"/>
                </a:lnTo>
                <a:lnTo>
                  <a:pt x="0" y="44196"/>
                </a:lnTo>
                <a:lnTo>
                  <a:pt x="3102863" y="44196"/>
                </a:lnTo>
                <a:lnTo>
                  <a:pt x="3102863" y="0"/>
                </a:lnTo>
                <a:close/>
              </a:path>
            </a:pathLst>
          </a:custGeom>
          <a:solidFill>
            <a:srgbClr val="FF0000"/>
          </a:solidFill>
        </p:spPr>
        <p:txBody>
          <a:bodyPr wrap="square" lIns="0" tIns="0" rIns="0" bIns="0" rtlCol="0"/>
          <a:lstStyle/>
          <a:p>
            <a:endParaRPr/>
          </a:p>
        </p:txBody>
      </p:sp>
      <p:pic>
        <p:nvPicPr>
          <p:cNvPr id="29" name="bg object 29"/>
          <p:cNvPicPr/>
          <p:nvPr/>
        </p:nvPicPr>
        <p:blipFill>
          <a:blip r:embed="rId9" cstate="print"/>
          <a:stretch>
            <a:fillRect/>
          </a:stretch>
        </p:blipFill>
        <p:spPr>
          <a:xfrm>
            <a:off x="3116558" y="1284565"/>
            <a:ext cx="3165391" cy="107068"/>
          </a:xfrm>
          <a:prstGeom prst="rect">
            <a:avLst/>
          </a:prstGeom>
        </p:spPr>
      </p:pic>
      <p:sp>
        <p:nvSpPr>
          <p:cNvPr id="30" name="bg object 30"/>
          <p:cNvSpPr/>
          <p:nvPr/>
        </p:nvSpPr>
        <p:spPr>
          <a:xfrm>
            <a:off x="3150107" y="1295400"/>
            <a:ext cx="3103245" cy="44450"/>
          </a:xfrm>
          <a:custGeom>
            <a:avLst/>
            <a:gdLst/>
            <a:ahLst/>
            <a:cxnLst/>
            <a:rect l="l" t="t" r="r" b="b"/>
            <a:pathLst>
              <a:path w="3103245" h="44450">
                <a:moveTo>
                  <a:pt x="3102864" y="0"/>
                </a:moveTo>
                <a:lnTo>
                  <a:pt x="0" y="0"/>
                </a:lnTo>
                <a:lnTo>
                  <a:pt x="0" y="44196"/>
                </a:lnTo>
                <a:lnTo>
                  <a:pt x="3102864" y="44196"/>
                </a:lnTo>
                <a:lnTo>
                  <a:pt x="3102864" y="0"/>
                </a:lnTo>
                <a:close/>
              </a:path>
            </a:pathLst>
          </a:custGeom>
          <a:solidFill>
            <a:srgbClr val="76C2E4"/>
          </a:solidFill>
        </p:spPr>
        <p:txBody>
          <a:bodyPr wrap="square" lIns="0" tIns="0" rIns="0" bIns="0" rtlCol="0"/>
          <a:lstStyle/>
          <a:p>
            <a:endParaRPr/>
          </a:p>
        </p:txBody>
      </p:sp>
      <p:pic>
        <p:nvPicPr>
          <p:cNvPr id="31" name="bg object 31"/>
          <p:cNvPicPr/>
          <p:nvPr/>
        </p:nvPicPr>
        <p:blipFill>
          <a:blip r:embed="rId10" cstate="print"/>
          <a:stretch>
            <a:fillRect/>
          </a:stretch>
        </p:blipFill>
        <p:spPr>
          <a:xfrm>
            <a:off x="0" y="1275642"/>
            <a:ext cx="3186684" cy="124913"/>
          </a:xfrm>
          <a:prstGeom prst="rect">
            <a:avLst/>
          </a:prstGeom>
        </p:spPr>
      </p:pic>
      <p:sp>
        <p:nvSpPr>
          <p:cNvPr id="32" name="bg object 32"/>
          <p:cNvSpPr/>
          <p:nvPr/>
        </p:nvSpPr>
        <p:spPr>
          <a:xfrm>
            <a:off x="0" y="1295400"/>
            <a:ext cx="3148965" cy="44450"/>
          </a:xfrm>
          <a:custGeom>
            <a:avLst/>
            <a:gdLst/>
            <a:ahLst/>
            <a:cxnLst/>
            <a:rect l="l" t="t" r="r" b="b"/>
            <a:pathLst>
              <a:path w="3148965" h="44450">
                <a:moveTo>
                  <a:pt x="3148584" y="0"/>
                </a:moveTo>
                <a:lnTo>
                  <a:pt x="0" y="0"/>
                </a:lnTo>
                <a:lnTo>
                  <a:pt x="0" y="44196"/>
                </a:lnTo>
                <a:lnTo>
                  <a:pt x="3148584" y="44196"/>
                </a:lnTo>
                <a:lnTo>
                  <a:pt x="3148584" y="0"/>
                </a:lnTo>
                <a:close/>
              </a:path>
            </a:pathLst>
          </a:custGeom>
          <a:solidFill>
            <a:srgbClr val="FBAF17"/>
          </a:solidFill>
        </p:spPr>
        <p:txBody>
          <a:bodyPr wrap="square" lIns="0" tIns="0" rIns="0" bIns="0" rtlCol="0"/>
          <a:lstStyle/>
          <a:p>
            <a:endParaRPr/>
          </a:p>
        </p:txBody>
      </p:sp>
      <p:pic>
        <p:nvPicPr>
          <p:cNvPr id="33" name="bg object 33"/>
          <p:cNvPicPr/>
          <p:nvPr/>
        </p:nvPicPr>
        <p:blipFill>
          <a:blip r:embed="rId6" cstate="print"/>
          <a:stretch>
            <a:fillRect/>
          </a:stretch>
        </p:blipFill>
        <p:spPr>
          <a:xfrm>
            <a:off x="6199632" y="1275642"/>
            <a:ext cx="3185160" cy="124913"/>
          </a:xfrm>
          <a:prstGeom prst="rect">
            <a:avLst/>
          </a:prstGeom>
        </p:spPr>
      </p:pic>
      <p:sp>
        <p:nvSpPr>
          <p:cNvPr id="34" name="bg object 34"/>
          <p:cNvSpPr/>
          <p:nvPr/>
        </p:nvSpPr>
        <p:spPr>
          <a:xfrm>
            <a:off x="6242303" y="1295400"/>
            <a:ext cx="3104515" cy="44450"/>
          </a:xfrm>
          <a:custGeom>
            <a:avLst/>
            <a:gdLst/>
            <a:ahLst/>
            <a:cxnLst/>
            <a:rect l="l" t="t" r="r" b="b"/>
            <a:pathLst>
              <a:path w="3104515" h="44450">
                <a:moveTo>
                  <a:pt x="3104388" y="0"/>
                </a:moveTo>
                <a:lnTo>
                  <a:pt x="0" y="0"/>
                </a:lnTo>
                <a:lnTo>
                  <a:pt x="0" y="44196"/>
                </a:lnTo>
                <a:lnTo>
                  <a:pt x="3104388" y="44196"/>
                </a:lnTo>
                <a:lnTo>
                  <a:pt x="3104388" y="0"/>
                </a:lnTo>
                <a:close/>
              </a:path>
            </a:pathLst>
          </a:custGeom>
          <a:solidFill>
            <a:srgbClr val="FF0000"/>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0" dirty="0">
                <a:latin typeface="Arial"/>
                <a:cs typeface="Arial"/>
              </a:rPr>
              <a:t> </a:t>
            </a:r>
            <a:r>
              <a:rPr dirty="0"/>
              <a:t>Pilani,</a:t>
            </a:r>
            <a:r>
              <a:rPr spc="-35" dirty="0"/>
              <a:t> </a:t>
            </a:r>
            <a:r>
              <a:rPr dirty="0"/>
              <a:t>Pilani</a:t>
            </a:r>
            <a:r>
              <a:rPr spc="-35" dirty="0"/>
              <a:t> </a:t>
            </a:r>
            <a:r>
              <a:rPr spc="-10" dirty="0"/>
              <a:t>Campus</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1.png"/><Relationship Id="rId12"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5" Type="http://schemas.openxmlformats.org/officeDocument/2006/relationships/slideLayout" Target="../slideLayouts/slideLayout5.xml"/><Relationship Id="rId15" Type="http://schemas.openxmlformats.org/officeDocument/2006/relationships/image" Target="../media/image9.png"/><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 Id="rId14" Type="http://schemas.openxmlformats.org/officeDocument/2006/relationships/image" Target="../media/image8.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6140178" y="6538884"/>
            <a:ext cx="3166906" cy="111079"/>
          </a:xfrm>
          <a:prstGeom prst="rect">
            <a:avLst/>
          </a:prstGeom>
        </p:spPr>
      </p:pic>
      <p:sp>
        <p:nvSpPr>
          <p:cNvPr id="17" name="bg object 17"/>
          <p:cNvSpPr/>
          <p:nvPr/>
        </p:nvSpPr>
        <p:spPr>
          <a:xfrm>
            <a:off x="6173723" y="6550151"/>
            <a:ext cx="3104515" cy="47625"/>
          </a:xfrm>
          <a:custGeom>
            <a:avLst/>
            <a:gdLst/>
            <a:ahLst/>
            <a:cxnLst/>
            <a:rect l="l" t="t" r="r" b="b"/>
            <a:pathLst>
              <a:path w="3104515" h="47625">
                <a:moveTo>
                  <a:pt x="3104387" y="0"/>
                </a:moveTo>
                <a:lnTo>
                  <a:pt x="0" y="0"/>
                </a:lnTo>
                <a:lnTo>
                  <a:pt x="0" y="47244"/>
                </a:lnTo>
                <a:lnTo>
                  <a:pt x="3104387" y="47244"/>
                </a:lnTo>
                <a:lnTo>
                  <a:pt x="3104387" y="0"/>
                </a:lnTo>
                <a:close/>
              </a:path>
            </a:pathLst>
          </a:custGeom>
          <a:solidFill>
            <a:srgbClr val="76C2E4"/>
          </a:solidFill>
        </p:spPr>
        <p:txBody>
          <a:bodyPr wrap="square" lIns="0" tIns="0" rIns="0" bIns="0" rtlCol="0"/>
          <a:lstStyle/>
          <a:p>
            <a:endParaRPr/>
          </a:p>
        </p:txBody>
      </p:sp>
      <p:pic>
        <p:nvPicPr>
          <p:cNvPr id="18" name="bg object 18"/>
          <p:cNvPicPr/>
          <p:nvPr/>
        </p:nvPicPr>
        <p:blipFill>
          <a:blip r:embed="rId8" cstate="print"/>
          <a:stretch>
            <a:fillRect/>
          </a:stretch>
        </p:blipFill>
        <p:spPr>
          <a:xfrm>
            <a:off x="9168383" y="6530334"/>
            <a:ext cx="3023616" cy="126382"/>
          </a:xfrm>
          <a:prstGeom prst="rect">
            <a:avLst/>
          </a:prstGeom>
        </p:spPr>
      </p:pic>
      <p:sp>
        <p:nvSpPr>
          <p:cNvPr id="19" name="bg object 19"/>
          <p:cNvSpPr/>
          <p:nvPr/>
        </p:nvSpPr>
        <p:spPr>
          <a:xfrm>
            <a:off x="9211055" y="6550151"/>
            <a:ext cx="2979420" cy="45720"/>
          </a:xfrm>
          <a:custGeom>
            <a:avLst/>
            <a:gdLst/>
            <a:ahLst/>
            <a:cxnLst/>
            <a:rect l="l" t="t" r="r" b="b"/>
            <a:pathLst>
              <a:path w="2979420" h="45720">
                <a:moveTo>
                  <a:pt x="2979420" y="0"/>
                </a:moveTo>
                <a:lnTo>
                  <a:pt x="0" y="0"/>
                </a:lnTo>
                <a:lnTo>
                  <a:pt x="0" y="45720"/>
                </a:lnTo>
                <a:lnTo>
                  <a:pt x="2979420" y="45720"/>
                </a:lnTo>
                <a:lnTo>
                  <a:pt x="2979420" y="0"/>
                </a:lnTo>
                <a:close/>
              </a:path>
            </a:pathLst>
          </a:custGeom>
          <a:solidFill>
            <a:srgbClr val="E21C23"/>
          </a:solidFill>
        </p:spPr>
        <p:txBody>
          <a:bodyPr wrap="square" lIns="0" tIns="0" rIns="0" bIns="0" rtlCol="0"/>
          <a:lstStyle/>
          <a:p>
            <a:endParaRPr/>
          </a:p>
        </p:txBody>
      </p:sp>
      <p:pic>
        <p:nvPicPr>
          <p:cNvPr id="20" name="bg object 20"/>
          <p:cNvPicPr/>
          <p:nvPr/>
        </p:nvPicPr>
        <p:blipFill>
          <a:blip r:embed="rId9" cstate="print"/>
          <a:stretch>
            <a:fillRect/>
          </a:stretch>
        </p:blipFill>
        <p:spPr>
          <a:xfrm>
            <a:off x="2735579" y="6530339"/>
            <a:ext cx="3520440" cy="128168"/>
          </a:xfrm>
          <a:prstGeom prst="rect">
            <a:avLst/>
          </a:prstGeom>
        </p:spPr>
      </p:pic>
      <p:sp>
        <p:nvSpPr>
          <p:cNvPr id="21" name="bg object 21"/>
          <p:cNvSpPr/>
          <p:nvPr/>
        </p:nvSpPr>
        <p:spPr>
          <a:xfrm>
            <a:off x="2778251" y="6550151"/>
            <a:ext cx="3439795" cy="47625"/>
          </a:xfrm>
          <a:custGeom>
            <a:avLst/>
            <a:gdLst/>
            <a:ahLst/>
            <a:cxnLst/>
            <a:rect l="l" t="t" r="r" b="b"/>
            <a:pathLst>
              <a:path w="3439795" h="47625">
                <a:moveTo>
                  <a:pt x="3439667" y="0"/>
                </a:moveTo>
                <a:lnTo>
                  <a:pt x="0" y="0"/>
                </a:lnTo>
                <a:lnTo>
                  <a:pt x="0" y="47244"/>
                </a:lnTo>
                <a:lnTo>
                  <a:pt x="3439667" y="47244"/>
                </a:lnTo>
                <a:lnTo>
                  <a:pt x="3439667" y="0"/>
                </a:lnTo>
                <a:close/>
              </a:path>
            </a:pathLst>
          </a:custGeom>
          <a:solidFill>
            <a:srgbClr val="FBAF17"/>
          </a:solidFill>
        </p:spPr>
        <p:txBody>
          <a:bodyPr wrap="square" lIns="0" tIns="0" rIns="0" bIns="0" rtlCol="0"/>
          <a:lstStyle/>
          <a:p>
            <a:endParaRPr/>
          </a:p>
        </p:txBody>
      </p:sp>
      <p:pic>
        <p:nvPicPr>
          <p:cNvPr id="22" name="bg object 22"/>
          <p:cNvPicPr/>
          <p:nvPr/>
        </p:nvPicPr>
        <p:blipFill>
          <a:blip r:embed="rId10" cstate="print"/>
          <a:stretch>
            <a:fillRect/>
          </a:stretch>
        </p:blipFill>
        <p:spPr>
          <a:xfrm>
            <a:off x="5951219" y="6533391"/>
            <a:ext cx="3185160" cy="124913"/>
          </a:xfrm>
          <a:prstGeom prst="rect">
            <a:avLst/>
          </a:prstGeom>
        </p:spPr>
      </p:pic>
      <p:sp>
        <p:nvSpPr>
          <p:cNvPr id="23" name="bg object 23"/>
          <p:cNvSpPr/>
          <p:nvPr/>
        </p:nvSpPr>
        <p:spPr>
          <a:xfrm>
            <a:off x="5993891" y="6553199"/>
            <a:ext cx="3104515" cy="44450"/>
          </a:xfrm>
          <a:custGeom>
            <a:avLst/>
            <a:gdLst/>
            <a:ahLst/>
            <a:cxnLst/>
            <a:rect l="l" t="t" r="r" b="b"/>
            <a:pathLst>
              <a:path w="3104515" h="44450">
                <a:moveTo>
                  <a:pt x="3104388" y="0"/>
                </a:moveTo>
                <a:lnTo>
                  <a:pt x="0" y="0"/>
                </a:lnTo>
                <a:lnTo>
                  <a:pt x="0" y="44196"/>
                </a:lnTo>
                <a:lnTo>
                  <a:pt x="3104388" y="44196"/>
                </a:lnTo>
                <a:lnTo>
                  <a:pt x="3104388" y="0"/>
                </a:lnTo>
                <a:close/>
              </a:path>
            </a:pathLst>
          </a:custGeom>
          <a:solidFill>
            <a:srgbClr val="76C2E4"/>
          </a:solidFill>
        </p:spPr>
        <p:txBody>
          <a:bodyPr wrap="square" lIns="0" tIns="0" rIns="0" bIns="0" rtlCol="0"/>
          <a:lstStyle/>
          <a:p>
            <a:endParaRPr/>
          </a:p>
        </p:txBody>
      </p:sp>
      <p:pic>
        <p:nvPicPr>
          <p:cNvPr id="24" name="bg object 24"/>
          <p:cNvPicPr/>
          <p:nvPr/>
        </p:nvPicPr>
        <p:blipFill>
          <a:blip r:embed="rId11" cstate="print"/>
          <a:stretch>
            <a:fillRect/>
          </a:stretch>
        </p:blipFill>
        <p:spPr>
          <a:xfrm>
            <a:off x="2802635" y="6533391"/>
            <a:ext cx="3229356" cy="124913"/>
          </a:xfrm>
          <a:prstGeom prst="rect">
            <a:avLst/>
          </a:prstGeom>
        </p:spPr>
      </p:pic>
      <p:sp>
        <p:nvSpPr>
          <p:cNvPr id="25" name="bg object 25"/>
          <p:cNvSpPr/>
          <p:nvPr/>
        </p:nvSpPr>
        <p:spPr>
          <a:xfrm>
            <a:off x="2845307" y="6553199"/>
            <a:ext cx="3148965" cy="44450"/>
          </a:xfrm>
          <a:custGeom>
            <a:avLst/>
            <a:gdLst/>
            <a:ahLst/>
            <a:cxnLst/>
            <a:rect l="l" t="t" r="r" b="b"/>
            <a:pathLst>
              <a:path w="3148965" h="44450">
                <a:moveTo>
                  <a:pt x="3148584" y="0"/>
                </a:moveTo>
                <a:lnTo>
                  <a:pt x="0" y="0"/>
                </a:lnTo>
                <a:lnTo>
                  <a:pt x="0" y="44196"/>
                </a:lnTo>
                <a:lnTo>
                  <a:pt x="3148584" y="44196"/>
                </a:lnTo>
                <a:lnTo>
                  <a:pt x="3148584" y="0"/>
                </a:lnTo>
                <a:close/>
              </a:path>
            </a:pathLst>
          </a:custGeom>
          <a:solidFill>
            <a:srgbClr val="FBAF17"/>
          </a:solidFill>
        </p:spPr>
        <p:txBody>
          <a:bodyPr wrap="square" lIns="0" tIns="0" rIns="0" bIns="0" rtlCol="0"/>
          <a:lstStyle/>
          <a:p>
            <a:endParaRPr/>
          </a:p>
        </p:txBody>
      </p:sp>
      <p:pic>
        <p:nvPicPr>
          <p:cNvPr id="26" name="bg object 26"/>
          <p:cNvPicPr/>
          <p:nvPr/>
        </p:nvPicPr>
        <p:blipFill>
          <a:blip r:embed="rId12" cstate="print"/>
          <a:stretch>
            <a:fillRect/>
          </a:stretch>
        </p:blipFill>
        <p:spPr>
          <a:xfrm>
            <a:off x="9044939" y="6533391"/>
            <a:ext cx="3147059" cy="124913"/>
          </a:xfrm>
          <a:prstGeom prst="rect">
            <a:avLst/>
          </a:prstGeom>
        </p:spPr>
      </p:pic>
      <p:sp>
        <p:nvSpPr>
          <p:cNvPr id="27" name="bg object 27"/>
          <p:cNvSpPr/>
          <p:nvPr/>
        </p:nvSpPr>
        <p:spPr>
          <a:xfrm>
            <a:off x="9087611" y="6553199"/>
            <a:ext cx="3103245" cy="44450"/>
          </a:xfrm>
          <a:custGeom>
            <a:avLst/>
            <a:gdLst/>
            <a:ahLst/>
            <a:cxnLst/>
            <a:rect l="l" t="t" r="r" b="b"/>
            <a:pathLst>
              <a:path w="3103245" h="44450">
                <a:moveTo>
                  <a:pt x="3102863" y="0"/>
                </a:moveTo>
                <a:lnTo>
                  <a:pt x="0" y="0"/>
                </a:lnTo>
                <a:lnTo>
                  <a:pt x="0" y="44196"/>
                </a:lnTo>
                <a:lnTo>
                  <a:pt x="3102863" y="44196"/>
                </a:lnTo>
                <a:lnTo>
                  <a:pt x="3102863" y="0"/>
                </a:lnTo>
                <a:close/>
              </a:path>
            </a:pathLst>
          </a:custGeom>
          <a:solidFill>
            <a:srgbClr val="FF0000"/>
          </a:solidFill>
        </p:spPr>
        <p:txBody>
          <a:bodyPr wrap="square" lIns="0" tIns="0" rIns="0" bIns="0" rtlCol="0"/>
          <a:lstStyle/>
          <a:p>
            <a:endParaRPr/>
          </a:p>
        </p:txBody>
      </p:sp>
      <p:sp>
        <p:nvSpPr>
          <p:cNvPr id="28" name="bg object 28"/>
          <p:cNvSpPr/>
          <p:nvPr/>
        </p:nvSpPr>
        <p:spPr>
          <a:xfrm>
            <a:off x="6173723" y="6550151"/>
            <a:ext cx="3104515" cy="48895"/>
          </a:xfrm>
          <a:custGeom>
            <a:avLst/>
            <a:gdLst/>
            <a:ahLst/>
            <a:cxnLst/>
            <a:rect l="l" t="t" r="r" b="b"/>
            <a:pathLst>
              <a:path w="3104515" h="48895">
                <a:moveTo>
                  <a:pt x="3104387" y="0"/>
                </a:moveTo>
                <a:lnTo>
                  <a:pt x="0" y="0"/>
                </a:lnTo>
                <a:lnTo>
                  <a:pt x="0" y="48768"/>
                </a:lnTo>
                <a:lnTo>
                  <a:pt x="3104387" y="48768"/>
                </a:lnTo>
                <a:lnTo>
                  <a:pt x="3104387" y="0"/>
                </a:lnTo>
                <a:close/>
              </a:path>
            </a:pathLst>
          </a:custGeom>
          <a:solidFill>
            <a:srgbClr val="76C2E4"/>
          </a:solidFill>
        </p:spPr>
        <p:txBody>
          <a:bodyPr wrap="square" lIns="0" tIns="0" rIns="0" bIns="0" rtlCol="0"/>
          <a:lstStyle/>
          <a:p>
            <a:endParaRPr/>
          </a:p>
        </p:txBody>
      </p:sp>
      <p:sp>
        <p:nvSpPr>
          <p:cNvPr id="29" name="bg object 29"/>
          <p:cNvSpPr/>
          <p:nvPr/>
        </p:nvSpPr>
        <p:spPr>
          <a:xfrm>
            <a:off x="9211055" y="6550151"/>
            <a:ext cx="2981325" cy="45720"/>
          </a:xfrm>
          <a:custGeom>
            <a:avLst/>
            <a:gdLst/>
            <a:ahLst/>
            <a:cxnLst/>
            <a:rect l="l" t="t" r="r" b="b"/>
            <a:pathLst>
              <a:path w="2981325" h="45720">
                <a:moveTo>
                  <a:pt x="2980944" y="0"/>
                </a:moveTo>
                <a:lnTo>
                  <a:pt x="0" y="0"/>
                </a:lnTo>
                <a:lnTo>
                  <a:pt x="0" y="45720"/>
                </a:lnTo>
                <a:lnTo>
                  <a:pt x="2980944" y="45720"/>
                </a:lnTo>
                <a:lnTo>
                  <a:pt x="2980944" y="0"/>
                </a:lnTo>
                <a:close/>
              </a:path>
            </a:pathLst>
          </a:custGeom>
          <a:solidFill>
            <a:srgbClr val="E21C23"/>
          </a:solidFill>
        </p:spPr>
        <p:txBody>
          <a:bodyPr wrap="square" lIns="0" tIns="0" rIns="0" bIns="0" rtlCol="0"/>
          <a:lstStyle/>
          <a:p>
            <a:endParaRPr/>
          </a:p>
        </p:txBody>
      </p:sp>
      <p:sp>
        <p:nvSpPr>
          <p:cNvPr id="30" name="bg object 30"/>
          <p:cNvSpPr/>
          <p:nvPr/>
        </p:nvSpPr>
        <p:spPr>
          <a:xfrm>
            <a:off x="2778251" y="6550151"/>
            <a:ext cx="3441700" cy="48895"/>
          </a:xfrm>
          <a:custGeom>
            <a:avLst/>
            <a:gdLst/>
            <a:ahLst/>
            <a:cxnLst/>
            <a:rect l="l" t="t" r="r" b="b"/>
            <a:pathLst>
              <a:path w="3441700" h="48895">
                <a:moveTo>
                  <a:pt x="3441191" y="0"/>
                </a:moveTo>
                <a:lnTo>
                  <a:pt x="0" y="0"/>
                </a:lnTo>
                <a:lnTo>
                  <a:pt x="0" y="48768"/>
                </a:lnTo>
                <a:lnTo>
                  <a:pt x="3441191" y="48768"/>
                </a:lnTo>
                <a:lnTo>
                  <a:pt x="3441191" y="0"/>
                </a:lnTo>
                <a:close/>
              </a:path>
            </a:pathLst>
          </a:custGeom>
          <a:solidFill>
            <a:srgbClr val="FBAF17"/>
          </a:solidFill>
        </p:spPr>
        <p:txBody>
          <a:bodyPr wrap="square" lIns="0" tIns="0" rIns="0" bIns="0" rtlCol="0"/>
          <a:lstStyle/>
          <a:p>
            <a:endParaRPr/>
          </a:p>
        </p:txBody>
      </p:sp>
      <p:sp>
        <p:nvSpPr>
          <p:cNvPr id="31" name="bg object 31"/>
          <p:cNvSpPr/>
          <p:nvPr/>
        </p:nvSpPr>
        <p:spPr>
          <a:xfrm>
            <a:off x="5993891" y="6553199"/>
            <a:ext cx="3106420" cy="45720"/>
          </a:xfrm>
          <a:custGeom>
            <a:avLst/>
            <a:gdLst/>
            <a:ahLst/>
            <a:cxnLst/>
            <a:rect l="l" t="t" r="r" b="b"/>
            <a:pathLst>
              <a:path w="3106420" h="45720">
                <a:moveTo>
                  <a:pt x="3105912" y="0"/>
                </a:moveTo>
                <a:lnTo>
                  <a:pt x="0" y="0"/>
                </a:lnTo>
                <a:lnTo>
                  <a:pt x="0" y="45720"/>
                </a:lnTo>
                <a:lnTo>
                  <a:pt x="3105912" y="45720"/>
                </a:lnTo>
                <a:lnTo>
                  <a:pt x="3105912" y="0"/>
                </a:lnTo>
                <a:close/>
              </a:path>
            </a:pathLst>
          </a:custGeom>
          <a:solidFill>
            <a:srgbClr val="76C2E4"/>
          </a:solidFill>
        </p:spPr>
        <p:txBody>
          <a:bodyPr wrap="square" lIns="0" tIns="0" rIns="0" bIns="0" rtlCol="0"/>
          <a:lstStyle/>
          <a:p>
            <a:endParaRPr/>
          </a:p>
        </p:txBody>
      </p:sp>
      <p:sp>
        <p:nvSpPr>
          <p:cNvPr id="32" name="bg object 32"/>
          <p:cNvSpPr/>
          <p:nvPr/>
        </p:nvSpPr>
        <p:spPr>
          <a:xfrm>
            <a:off x="2845307" y="6553199"/>
            <a:ext cx="3148965" cy="45720"/>
          </a:xfrm>
          <a:custGeom>
            <a:avLst/>
            <a:gdLst/>
            <a:ahLst/>
            <a:cxnLst/>
            <a:rect l="l" t="t" r="r" b="b"/>
            <a:pathLst>
              <a:path w="3148965" h="45720">
                <a:moveTo>
                  <a:pt x="3148584" y="0"/>
                </a:moveTo>
                <a:lnTo>
                  <a:pt x="0" y="0"/>
                </a:lnTo>
                <a:lnTo>
                  <a:pt x="0" y="45720"/>
                </a:lnTo>
                <a:lnTo>
                  <a:pt x="3148584" y="45720"/>
                </a:lnTo>
                <a:lnTo>
                  <a:pt x="3148584" y="0"/>
                </a:lnTo>
                <a:close/>
              </a:path>
            </a:pathLst>
          </a:custGeom>
          <a:solidFill>
            <a:srgbClr val="FBAF17"/>
          </a:solidFill>
        </p:spPr>
        <p:txBody>
          <a:bodyPr wrap="square" lIns="0" tIns="0" rIns="0" bIns="0" rtlCol="0"/>
          <a:lstStyle/>
          <a:p>
            <a:endParaRPr/>
          </a:p>
        </p:txBody>
      </p:sp>
      <p:sp>
        <p:nvSpPr>
          <p:cNvPr id="33" name="bg object 33"/>
          <p:cNvSpPr/>
          <p:nvPr/>
        </p:nvSpPr>
        <p:spPr>
          <a:xfrm>
            <a:off x="9087611" y="6553199"/>
            <a:ext cx="3104515" cy="45720"/>
          </a:xfrm>
          <a:custGeom>
            <a:avLst/>
            <a:gdLst/>
            <a:ahLst/>
            <a:cxnLst/>
            <a:rect l="l" t="t" r="r" b="b"/>
            <a:pathLst>
              <a:path w="3104515" h="45720">
                <a:moveTo>
                  <a:pt x="3104388" y="0"/>
                </a:moveTo>
                <a:lnTo>
                  <a:pt x="0" y="0"/>
                </a:lnTo>
                <a:lnTo>
                  <a:pt x="0" y="45720"/>
                </a:lnTo>
                <a:lnTo>
                  <a:pt x="3104388" y="45720"/>
                </a:lnTo>
                <a:lnTo>
                  <a:pt x="3104388" y="0"/>
                </a:lnTo>
                <a:close/>
              </a:path>
            </a:pathLst>
          </a:custGeom>
          <a:solidFill>
            <a:srgbClr val="FF0000"/>
          </a:solidFill>
        </p:spPr>
        <p:txBody>
          <a:bodyPr wrap="square" lIns="0" tIns="0" rIns="0" bIns="0" rtlCol="0"/>
          <a:lstStyle/>
          <a:p>
            <a:endParaRPr/>
          </a:p>
        </p:txBody>
      </p:sp>
      <p:pic>
        <p:nvPicPr>
          <p:cNvPr id="34" name="bg object 34"/>
          <p:cNvPicPr/>
          <p:nvPr/>
        </p:nvPicPr>
        <p:blipFill>
          <a:blip r:embed="rId13" cstate="print"/>
          <a:stretch>
            <a:fillRect/>
          </a:stretch>
        </p:blipFill>
        <p:spPr>
          <a:xfrm>
            <a:off x="3116558" y="1284564"/>
            <a:ext cx="3165391" cy="107068"/>
          </a:xfrm>
          <a:prstGeom prst="rect">
            <a:avLst/>
          </a:prstGeom>
        </p:spPr>
      </p:pic>
      <p:sp>
        <p:nvSpPr>
          <p:cNvPr id="35" name="bg object 35"/>
          <p:cNvSpPr/>
          <p:nvPr/>
        </p:nvSpPr>
        <p:spPr>
          <a:xfrm>
            <a:off x="3150107" y="1295399"/>
            <a:ext cx="3103245" cy="44450"/>
          </a:xfrm>
          <a:custGeom>
            <a:avLst/>
            <a:gdLst/>
            <a:ahLst/>
            <a:cxnLst/>
            <a:rect l="l" t="t" r="r" b="b"/>
            <a:pathLst>
              <a:path w="3103245" h="44450">
                <a:moveTo>
                  <a:pt x="3102864" y="0"/>
                </a:moveTo>
                <a:lnTo>
                  <a:pt x="0" y="0"/>
                </a:lnTo>
                <a:lnTo>
                  <a:pt x="0" y="44196"/>
                </a:lnTo>
                <a:lnTo>
                  <a:pt x="3102864" y="44196"/>
                </a:lnTo>
                <a:lnTo>
                  <a:pt x="3102864" y="0"/>
                </a:lnTo>
                <a:close/>
              </a:path>
            </a:pathLst>
          </a:custGeom>
          <a:solidFill>
            <a:srgbClr val="76C2E4"/>
          </a:solidFill>
        </p:spPr>
        <p:txBody>
          <a:bodyPr wrap="square" lIns="0" tIns="0" rIns="0" bIns="0" rtlCol="0"/>
          <a:lstStyle/>
          <a:p>
            <a:endParaRPr/>
          </a:p>
        </p:txBody>
      </p:sp>
      <p:pic>
        <p:nvPicPr>
          <p:cNvPr id="36" name="bg object 36"/>
          <p:cNvPicPr/>
          <p:nvPr/>
        </p:nvPicPr>
        <p:blipFill>
          <a:blip r:embed="rId14" cstate="print"/>
          <a:stretch>
            <a:fillRect/>
          </a:stretch>
        </p:blipFill>
        <p:spPr>
          <a:xfrm>
            <a:off x="0" y="1275642"/>
            <a:ext cx="3186684" cy="124913"/>
          </a:xfrm>
          <a:prstGeom prst="rect">
            <a:avLst/>
          </a:prstGeom>
        </p:spPr>
      </p:pic>
      <p:sp>
        <p:nvSpPr>
          <p:cNvPr id="37" name="bg object 37"/>
          <p:cNvSpPr/>
          <p:nvPr/>
        </p:nvSpPr>
        <p:spPr>
          <a:xfrm>
            <a:off x="0" y="1295399"/>
            <a:ext cx="3148965" cy="44450"/>
          </a:xfrm>
          <a:custGeom>
            <a:avLst/>
            <a:gdLst/>
            <a:ahLst/>
            <a:cxnLst/>
            <a:rect l="l" t="t" r="r" b="b"/>
            <a:pathLst>
              <a:path w="3148965" h="44450">
                <a:moveTo>
                  <a:pt x="3148584" y="0"/>
                </a:moveTo>
                <a:lnTo>
                  <a:pt x="0" y="0"/>
                </a:lnTo>
                <a:lnTo>
                  <a:pt x="0" y="44196"/>
                </a:lnTo>
                <a:lnTo>
                  <a:pt x="3148584" y="44196"/>
                </a:lnTo>
                <a:lnTo>
                  <a:pt x="3148584" y="0"/>
                </a:lnTo>
                <a:close/>
              </a:path>
            </a:pathLst>
          </a:custGeom>
          <a:solidFill>
            <a:srgbClr val="FBAF17"/>
          </a:solidFill>
        </p:spPr>
        <p:txBody>
          <a:bodyPr wrap="square" lIns="0" tIns="0" rIns="0" bIns="0" rtlCol="0"/>
          <a:lstStyle/>
          <a:p>
            <a:endParaRPr/>
          </a:p>
        </p:txBody>
      </p:sp>
      <p:pic>
        <p:nvPicPr>
          <p:cNvPr id="38" name="bg object 38"/>
          <p:cNvPicPr/>
          <p:nvPr/>
        </p:nvPicPr>
        <p:blipFill>
          <a:blip r:embed="rId10" cstate="print"/>
          <a:stretch>
            <a:fillRect/>
          </a:stretch>
        </p:blipFill>
        <p:spPr>
          <a:xfrm>
            <a:off x="6199632" y="1275642"/>
            <a:ext cx="3185160" cy="124913"/>
          </a:xfrm>
          <a:prstGeom prst="rect">
            <a:avLst/>
          </a:prstGeom>
        </p:spPr>
      </p:pic>
      <p:sp>
        <p:nvSpPr>
          <p:cNvPr id="39" name="bg object 39"/>
          <p:cNvSpPr/>
          <p:nvPr/>
        </p:nvSpPr>
        <p:spPr>
          <a:xfrm>
            <a:off x="6242303" y="1295399"/>
            <a:ext cx="3104515" cy="44450"/>
          </a:xfrm>
          <a:custGeom>
            <a:avLst/>
            <a:gdLst/>
            <a:ahLst/>
            <a:cxnLst/>
            <a:rect l="l" t="t" r="r" b="b"/>
            <a:pathLst>
              <a:path w="3104515" h="44450">
                <a:moveTo>
                  <a:pt x="3104388" y="0"/>
                </a:moveTo>
                <a:lnTo>
                  <a:pt x="0" y="0"/>
                </a:lnTo>
                <a:lnTo>
                  <a:pt x="0" y="44196"/>
                </a:lnTo>
                <a:lnTo>
                  <a:pt x="3104388" y="44196"/>
                </a:lnTo>
                <a:lnTo>
                  <a:pt x="3104388" y="0"/>
                </a:lnTo>
                <a:close/>
              </a:path>
            </a:pathLst>
          </a:custGeom>
          <a:solidFill>
            <a:srgbClr val="FF0000"/>
          </a:solidFill>
        </p:spPr>
        <p:txBody>
          <a:bodyPr wrap="square" lIns="0" tIns="0" rIns="0" bIns="0" rtlCol="0"/>
          <a:lstStyle/>
          <a:p>
            <a:endParaRPr/>
          </a:p>
        </p:txBody>
      </p:sp>
      <p:sp>
        <p:nvSpPr>
          <p:cNvPr id="40" name="bg object 40"/>
          <p:cNvSpPr/>
          <p:nvPr/>
        </p:nvSpPr>
        <p:spPr>
          <a:xfrm>
            <a:off x="3150107" y="1295399"/>
            <a:ext cx="3104515" cy="45720"/>
          </a:xfrm>
          <a:custGeom>
            <a:avLst/>
            <a:gdLst/>
            <a:ahLst/>
            <a:cxnLst/>
            <a:rect l="l" t="t" r="r" b="b"/>
            <a:pathLst>
              <a:path w="3104515" h="45719">
                <a:moveTo>
                  <a:pt x="3104388" y="0"/>
                </a:moveTo>
                <a:lnTo>
                  <a:pt x="0" y="0"/>
                </a:lnTo>
                <a:lnTo>
                  <a:pt x="0" y="45720"/>
                </a:lnTo>
                <a:lnTo>
                  <a:pt x="3104388" y="45720"/>
                </a:lnTo>
                <a:lnTo>
                  <a:pt x="3104388" y="0"/>
                </a:lnTo>
                <a:close/>
              </a:path>
            </a:pathLst>
          </a:custGeom>
          <a:solidFill>
            <a:srgbClr val="76C2E4"/>
          </a:solidFill>
        </p:spPr>
        <p:txBody>
          <a:bodyPr wrap="square" lIns="0" tIns="0" rIns="0" bIns="0" rtlCol="0"/>
          <a:lstStyle/>
          <a:p>
            <a:endParaRPr/>
          </a:p>
        </p:txBody>
      </p:sp>
      <p:sp>
        <p:nvSpPr>
          <p:cNvPr id="41" name="bg object 41"/>
          <p:cNvSpPr/>
          <p:nvPr/>
        </p:nvSpPr>
        <p:spPr>
          <a:xfrm>
            <a:off x="0" y="1295399"/>
            <a:ext cx="3150235" cy="45720"/>
          </a:xfrm>
          <a:custGeom>
            <a:avLst/>
            <a:gdLst/>
            <a:ahLst/>
            <a:cxnLst/>
            <a:rect l="l" t="t" r="r" b="b"/>
            <a:pathLst>
              <a:path w="3150235" h="45719">
                <a:moveTo>
                  <a:pt x="3150108" y="0"/>
                </a:moveTo>
                <a:lnTo>
                  <a:pt x="0" y="0"/>
                </a:lnTo>
                <a:lnTo>
                  <a:pt x="0" y="45720"/>
                </a:lnTo>
                <a:lnTo>
                  <a:pt x="3150108" y="45720"/>
                </a:lnTo>
                <a:lnTo>
                  <a:pt x="3150108" y="0"/>
                </a:lnTo>
                <a:close/>
              </a:path>
            </a:pathLst>
          </a:custGeom>
          <a:solidFill>
            <a:srgbClr val="FBAF17"/>
          </a:solidFill>
        </p:spPr>
        <p:txBody>
          <a:bodyPr wrap="square" lIns="0" tIns="0" rIns="0" bIns="0" rtlCol="0"/>
          <a:lstStyle/>
          <a:p>
            <a:endParaRPr/>
          </a:p>
        </p:txBody>
      </p:sp>
      <p:sp>
        <p:nvSpPr>
          <p:cNvPr id="42" name="bg object 42"/>
          <p:cNvSpPr/>
          <p:nvPr/>
        </p:nvSpPr>
        <p:spPr>
          <a:xfrm>
            <a:off x="6242303" y="1295399"/>
            <a:ext cx="3104515" cy="45720"/>
          </a:xfrm>
          <a:custGeom>
            <a:avLst/>
            <a:gdLst/>
            <a:ahLst/>
            <a:cxnLst/>
            <a:rect l="l" t="t" r="r" b="b"/>
            <a:pathLst>
              <a:path w="3104515" h="45719">
                <a:moveTo>
                  <a:pt x="3104388" y="0"/>
                </a:moveTo>
                <a:lnTo>
                  <a:pt x="0" y="0"/>
                </a:lnTo>
                <a:lnTo>
                  <a:pt x="0" y="45720"/>
                </a:lnTo>
                <a:lnTo>
                  <a:pt x="3104388" y="45720"/>
                </a:lnTo>
                <a:lnTo>
                  <a:pt x="3104388" y="0"/>
                </a:lnTo>
                <a:close/>
              </a:path>
            </a:pathLst>
          </a:custGeom>
          <a:solidFill>
            <a:srgbClr val="FF0000"/>
          </a:solidFill>
        </p:spPr>
        <p:txBody>
          <a:bodyPr wrap="square" lIns="0" tIns="0" rIns="0" bIns="0" rtlCol="0"/>
          <a:lstStyle/>
          <a:p>
            <a:endParaRPr/>
          </a:p>
        </p:txBody>
      </p:sp>
      <p:pic>
        <p:nvPicPr>
          <p:cNvPr id="43" name="bg object 43"/>
          <p:cNvPicPr/>
          <p:nvPr/>
        </p:nvPicPr>
        <p:blipFill>
          <a:blip r:embed="rId15" cstate="print"/>
          <a:stretch>
            <a:fillRect/>
          </a:stretch>
        </p:blipFill>
        <p:spPr>
          <a:xfrm>
            <a:off x="8839200" y="0"/>
            <a:ext cx="2924555" cy="693420"/>
          </a:xfrm>
          <a:prstGeom prst="rect">
            <a:avLst/>
          </a:prstGeom>
        </p:spPr>
      </p:pic>
      <p:sp>
        <p:nvSpPr>
          <p:cNvPr id="2" name="Holder 2"/>
          <p:cNvSpPr>
            <a:spLocks noGrp="1"/>
          </p:cNvSpPr>
          <p:nvPr>
            <p:ph type="title"/>
          </p:nvPr>
        </p:nvSpPr>
        <p:spPr>
          <a:xfrm>
            <a:off x="102819" y="334467"/>
            <a:ext cx="9343567" cy="854507"/>
          </a:xfrm>
          <a:prstGeom prst="rect">
            <a:avLst/>
          </a:prstGeom>
        </p:spPr>
        <p:txBody>
          <a:bodyPr wrap="square" lIns="0" tIns="0" rIns="0" bIns="0">
            <a:spAutoFit/>
          </a:bodyPr>
          <a:lstStyle>
            <a:lvl1pPr>
              <a:defRPr sz="2800" b="1" i="0">
                <a:solidFill>
                  <a:schemeClr val="tx1"/>
                </a:solidFill>
                <a:latin typeface="Arial"/>
                <a:cs typeface="Arial"/>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0407777" y="6638544"/>
            <a:ext cx="1706879" cy="182879"/>
          </a:xfrm>
          <a:prstGeom prst="rect">
            <a:avLst/>
          </a:prstGeom>
        </p:spPr>
        <p:txBody>
          <a:bodyPr wrap="square" lIns="0" tIns="0" rIns="0" bIns="0">
            <a:spAutoFit/>
          </a:bodyPr>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0" dirty="0">
                <a:latin typeface="Arial"/>
                <a:cs typeface="Arial"/>
              </a:rPr>
              <a:t> </a:t>
            </a:r>
            <a:r>
              <a:rPr dirty="0"/>
              <a:t>Pilani,</a:t>
            </a:r>
            <a:r>
              <a:rPr spc="-35" dirty="0"/>
              <a:t> </a:t>
            </a:r>
            <a:r>
              <a:rPr dirty="0"/>
              <a:t>Pilani</a:t>
            </a:r>
            <a:r>
              <a:rPr spc="-35" dirty="0"/>
              <a:t> </a:t>
            </a:r>
            <a:r>
              <a:rPr spc="-10" dirty="0"/>
              <a:t>Campus</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12/12/2025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git-scm.com/download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35.jf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download.pytorch.org/whl/cpu" TargetMode="External"/><Relationship Id="rId2" Type="http://schemas.openxmlformats.org/officeDocument/2006/relationships/hyperlink" Target="https://download.pytorch.org/whl/cu121" TargetMode="Externa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8.webp"/><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slideLayout" Target="../slideLayouts/slideLayout2.xml"/><Relationship Id="rId5" Type="http://schemas.openxmlformats.org/officeDocument/2006/relationships/image" Target="../media/image63.jpeg"/><Relationship Id="rId4" Type="http://schemas.openxmlformats.org/officeDocument/2006/relationships/image" Target="../media/image62.jpeg"/></Relationships>
</file>

<file path=ppt/slides/_rels/slide5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490.png"/><Relationship Id="rId5" Type="http://schemas.openxmlformats.org/officeDocument/2006/relationships/customXml" Target="../ink/ink2.xml"/><Relationship Id="rId4" Type="http://schemas.openxmlformats.org/officeDocument/2006/relationships/image" Target="../media/image480.png"/></Relationships>
</file>

<file path=ppt/slides/_rels/slide5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5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6.svg"/><Relationship Id="rId2" Type="http://schemas.openxmlformats.org/officeDocument/2006/relationships/image" Target="../media/image75.png"/><Relationship Id="rId1" Type="http://schemas.openxmlformats.org/officeDocument/2006/relationships/slideLayout" Target="../slideLayouts/slideLayout2.xml"/><Relationship Id="rId5" Type="http://schemas.openxmlformats.org/officeDocument/2006/relationships/image" Target="../media/image78.svg"/><Relationship Id="rId4" Type="http://schemas.openxmlformats.org/officeDocument/2006/relationships/image" Target="../media/image77.png"/></Relationships>
</file>

<file path=ppt/slides/_rels/slide6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82.png"/><Relationship Id="rId2"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customXml" Target="../ink/ink4.xml"/><Relationship Id="rId5" Type="http://schemas.openxmlformats.org/officeDocument/2006/relationships/image" Target="../media/image81.png"/><Relationship Id="rId4" Type="http://schemas.openxmlformats.org/officeDocument/2006/relationships/customXml" Target="../ink/ink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6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88.png"/><Relationship Id="rId1" Type="http://schemas.openxmlformats.org/officeDocument/2006/relationships/slideLayout" Target="../slideLayouts/slideLayout2.xml"/><Relationship Id="rId4" Type="http://schemas.openxmlformats.org/officeDocument/2006/relationships/image" Target="../media/image730.png"/></Relationships>
</file>

<file path=ppt/slides/_rels/slide7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90.webp"/><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5436" y="-304800"/>
            <a:ext cx="12267820" cy="7772400"/>
            <a:chOff x="-70453" y="-304800"/>
            <a:chExt cx="12267820" cy="7772400"/>
          </a:xfrm>
        </p:grpSpPr>
        <p:pic>
          <p:nvPicPr>
            <p:cNvPr id="3" name="object 3"/>
            <p:cNvPicPr/>
            <p:nvPr/>
          </p:nvPicPr>
          <p:blipFill>
            <a:blip r:embed="rId2" cstate="print"/>
            <a:stretch>
              <a:fillRect/>
            </a:stretch>
          </p:blipFill>
          <p:spPr>
            <a:xfrm>
              <a:off x="-70453" y="-304800"/>
              <a:ext cx="12267820" cy="7772400"/>
            </a:xfrm>
            <a:prstGeom prst="rect">
              <a:avLst/>
            </a:prstGeom>
          </p:spPr>
        </p:pic>
        <p:sp>
          <p:nvSpPr>
            <p:cNvPr id="23" name="object 23"/>
            <p:cNvSpPr/>
            <p:nvPr/>
          </p:nvSpPr>
          <p:spPr>
            <a:xfrm>
              <a:off x="-45017" y="3352800"/>
              <a:ext cx="11582400" cy="2743200"/>
            </a:xfrm>
            <a:custGeom>
              <a:avLst/>
              <a:gdLst/>
              <a:ahLst/>
              <a:cxnLst/>
              <a:rect l="l" t="t" r="r" b="b"/>
              <a:pathLst>
                <a:path w="11582400" h="2743200">
                  <a:moveTo>
                    <a:pt x="11582400" y="0"/>
                  </a:moveTo>
                  <a:lnTo>
                    <a:pt x="0" y="0"/>
                  </a:lnTo>
                  <a:lnTo>
                    <a:pt x="0" y="2743200"/>
                  </a:lnTo>
                  <a:lnTo>
                    <a:pt x="11582400" y="2743200"/>
                  </a:lnTo>
                  <a:lnTo>
                    <a:pt x="11582400" y="0"/>
                  </a:lnTo>
                  <a:close/>
                </a:path>
              </a:pathLst>
            </a:custGeom>
            <a:solidFill>
              <a:srgbClr val="0F1141"/>
            </a:solidFill>
          </p:spPr>
          <p:txBody>
            <a:bodyPr wrap="square" lIns="0" tIns="0" rIns="0" bIns="0" rtlCol="0"/>
            <a:lstStyle/>
            <a:p>
              <a:endParaRPr dirty="0"/>
            </a:p>
          </p:txBody>
        </p:sp>
        <p:sp>
          <p:nvSpPr>
            <p:cNvPr id="24" name="object 24"/>
            <p:cNvSpPr/>
            <p:nvPr/>
          </p:nvSpPr>
          <p:spPr>
            <a:xfrm>
              <a:off x="3860291" y="6096000"/>
              <a:ext cx="3862070" cy="76200"/>
            </a:xfrm>
            <a:custGeom>
              <a:avLst/>
              <a:gdLst/>
              <a:ahLst/>
              <a:cxnLst/>
              <a:rect l="l" t="t" r="r" b="b"/>
              <a:pathLst>
                <a:path w="3862070" h="76200">
                  <a:moveTo>
                    <a:pt x="3861816" y="0"/>
                  </a:moveTo>
                  <a:lnTo>
                    <a:pt x="0" y="0"/>
                  </a:lnTo>
                  <a:lnTo>
                    <a:pt x="0" y="76200"/>
                  </a:lnTo>
                  <a:lnTo>
                    <a:pt x="3861816" y="76200"/>
                  </a:lnTo>
                  <a:lnTo>
                    <a:pt x="3861816" y="0"/>
                  </a:lnTo>
                  <a:close/>
                </a:path>
              </a:pathLst>
            </a:custGeom>
            <a:solidFill>
              <a:srgbClr val="76C2E4"/>
            </a:solidFill>
          </p:spPr>
          <p:txBody>
            <a:bodyPr wrap="square" lIns="0" tIns="0" rIns="0" bIns="0" rtlCol="0"/>
            <a:lstStyle/>
            <a:p>
              <a:endParaRPr/>
            </a:p>
          </p:txBody>
        </p:sp>
        <p:sp>
          <p:nvSpPr>
            <p:cNvPr id="25" name="object 25"/>
            <p:cNvSpPr/>
            <p:nvPr/>
          </p:nvSpPr>
          <p:spPr>
            <a:xfrm>
              <a:off x="0" y="6096000"/>
              <a:ext cx="3860800" cy="76200"/>
            </a:xfrm>
            <a:custGeom>
              <a:avLst/>
              <a:gdLst/>
              <a:ahLst/>
              <a:cxnLst/>
              <a:rect l="l" t="t" r="r" b="b"/>
              <a:pathLst>
                <a:path w="3860800" h="76200">
                  <a:moveTo>
                    <a:pt x="3860291" y="0"/>
                  </a:moveTo>
                  <a:lnTo>
                    <a:pt x="0" y="0"/>
                  </a:lnTo>
                  <a:lnTo>
                    <a:pt x="0" y="76200"/>
                  </a:lnTo>
                  <a:lnTo>
                    <a:pt x="3860291" y="76200"/>
                  </a:lnTo>
                  <a:lnTo>
                    <a:pt x="3860291" y="0"/>
                  </a:lnTo>
                  <a:close/>
                </a:path>
              </a:pathLst>
            </a:custGeom>
            <a:solidFill>
              <a:srgbClr val="FBAF17"/>
            </a:solidFill>
          </p:spPr>
          <p:txBody>
            <a:bodyPr wrap="square" lIns="0" tIns="0" rIns="0" bIns="0" rtlCol="0"/>
            <a:lstStyle/>
            <a:p>
              <a:endParaRPr/>
            </a:p>
          </p:txBody>
        </p:sp>
        <p:sp>
          <p:nvSpPr>
            <p:cNvPr id="26" name="object 26"/>
            <p:cNvSpPr/>
            <p:nvPr/>
          </p:nvSpPr>
          <p:spPr>
            <a:xfrm>
              <a:off x="7722107" y="6096000"/>
              <a:ext cx="3860800" cy="76200"/>
            </a:xfrm>
            <a:custGeom>
              <a:avLst/>
              <a:gdLst/>
              <a:ahLst/>
              <a:cxnLst/>
              <a:rect l="l" t="t" r="r" b="b"/>
              <a:pathLst>
                <a:path w="3860800" h="76200">
                  <a:moveTo>
                    <a:pt x="3860292" y="0"/>
                  </a:moveTo>
                  <a:lnTo>
                    <a:pt x="0" y="0"/>
                  </a:lnTo>
                  <a:lnTo>
                    <a:pt x="0" y="76200"/>
                  </a:lnTo>
                  <a:lnTo>
                    <a:pt x="3860292" y="76200"/>
                  </a:lnTo>
                  <a:lnTo>
                    <a:pt x="3860292" y="0"/>
                  </a:lnTo>
                  <a:close/>
                </a:path>
              </a:pathLst>
            </a:custGeom>
            <a:solidFill>
              <a:srgbClr val="FF0000"/>
            </a:solidFill>
          </p:spPr>
          <p:txBody>
            <a:bodyPr wrap="square" lIns="0" tIns="0" rIns="0" bIns="0" rtlCol="0"/>
            <a:lstStyle/>
            <a:p>
              <a:endParaRPr/>
            </a:p>
          </p:txBody>
        </p:sp>
        <p:pic>
          <p:nvPicPr>
            <p:cNvPr id="27" name="object 27"/>
            <p:cNvPicPr/>
            <p:nvPr/>
          </p:nvPicPr>
          <p:blipFill>
            <a:blip r:embed="rId3" cstate="print"/>
            <a:stretch>
              <a:fillRect/>
            </a:stretch>
          </p:blipFill>
          <p:spPr>
            <a:xfrm>
              <a:off x="102107" y="3161284"/>
              <a:ext cx="2633472" cy="2385060"/>
            </a:xfrm>
            <a:prstGeom prst="rect">
              <a:avLst/>
            </a:prstGeom>
          </p:spPr>
        </p:pic>
      </p:grpSp>
      <p:sp>
        <p:nvSpPr>
          <p:cNvPr id="28" name="object 28"/>
          <p:cNvSpPr txBox="1"/>
          <p:nvPr/>
        </p:nvSpPr>
        <p:spPr>
          <a:xfrm>
            <a:off x="304800" y="5354827"/>
            <a:ext cx="2012314" cy="623570"/>
          </a:xfrm>
          <a:prstGeom prst="rect">
            <a:avLst/>
          </a:prstGeom>
        </p:spPr>
        <p:txBody>
          <a:bodyPr vert="horz" wrap="square" lIns="0" tIns="12700" rIns="0" bIns="0" rtlCol="0">
            <a:spAutoFit/>
          </a:bodyPr>
          <a:lstStyle/>
          <a:p>
            <a:pPr marL="154305">
              <a:lnSpc>
                <a:spcPts val="3370"/>
              </a:lnSpc>
              <a:spcBef>
                <a:spcPts val="100"/>
              </a:spcBef>
            </a:pPr>
            <a:r>
              <a:rPr sz="2900" b="1" dirty="0">
                <a:solidFill>
                  <a:srgbClr val="FFFFFF"/>
                </a:solidFill>
                <a:latin typeface="Arial"/>
                <a:cs typeface="Arial"/>
              </a:rPr>
              <a:t>BITS</a:t>
            </a:r>
            <a:r>
              <a:rPr sz="2900" b="1" spc="-5" dirty="0">
                <a:solidFill>
                  <a:srgbClr val="FFFFFF"/>
                </a:solidFill>
                <a:latin typeface="Arial"/>
                <a:cs typeface="Arial"/>
              </a:rPr>
              <a:t> </a:t>
            </a:r>
            <a:r>
              <a:rPr sz="2900" spc="-10" dirty="0">
                <a:solidFill>
                  <a:srgbClr val="FFFFFF"/>
                </a:solidFill>
                <a:latin typeface="Arial MT"/>
                <a:cs typeface="Arial MT"/>
              </a:rPr>
              <a:t>Pilani</a:t>
            </a:r>
            <a:endParaRPr sz="2900" dirty="0">
              <a:latin typeface="Arial MT"/>
              <a:cs typeface="Arial MT"/>
            </a:endParaRPr>
          </a:p>
          <a:p>
            <a:pPr>
              <a:lnSpc>
                <a:spcPts val="1330"/>
              </a:lnSpc>
            </a:pPr>
            <a:r>
              <a:rPr lang="en-US" sz="1200" dirty="0">
                <a:solidFill>
                  <a:srgbClr val="FFFFFF"/>
                </a:solidFill>
                <a:latin typeface="Arial MT"/>
                <a:cs typeface="Arial MT"/>
              </a:rPr>
              <a:t>    </a:t>
            </a:r>
            <a:r>
              <a:rPr sz="1200" dirty="0">
                <a:solidFill>
                  <a:srgbClr val="FFFFFF"/>
                </a:solidFill>
                <a:latin typeface="Arial MT"/>
                <a:cs typeface="Arial MT"/>
              </a:rPr>
              <a:t>Pilani</a:t>
            </a:r>
            <a:r>
              <a:rPr sz="1200" spc="-30" dirty="0">
                <a:solidFill>
                  <a:srgbClr val="FFFFFF"/>
                </a:solidFill>
                <a:latin typeface="Arial MT"/>
                <a:cs typeface="Arial MT"/>
              </a:rPr>
              <a:t> </a:t>
            </a:r>
            <a:r>
              <a:rPr sz="1200" spc="-10" dirty="0">
                <a:solidFill>
                  <a:srgbClr val="FFFFFF"/>
                </a:solidFill>
                <a:latin typeface="Arial MT"/>
                <a:cs typeface="Arial MT"/>
              </a:rPr>
              <a:t>Campus</a:t>
            </a:r>
            <a:endParaRPr sz="1200" dirty="0">
              <a:latin typeface="Arial MT"/>
              <a:cs typeface="Arial MT"/>
            </a:endParaRPr>
          </a:p>
        </p:txBody>
      </p:sp>
      <p:sp>
        <p:nvSpPr>
          <p:cNvPr id="32" name="object 32"/>
          <p:cNvSpPr txBox="1">
            <a:spLocks noGrp="1"/>
          </p:cNvSpPr>
          <p:nvPr>
            <p:ph type="ftr" sz="quarter" idx="5"/>
          </p:nvPr>
        </p:nvSpPr>
        <p:spPr>
          <a:xfrm>
            <a:off x="9067800" y="7185328"/>
            <a:ext cx="3275456" cy="169277"/>
          </a:xfrm>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50" dirty="0">
                <a:latin typeface="Arial"/>
                <a:cs typeface="Arial"/>
              </a:rPr>
              <a:t> </a:t>
            </a:r>
            <a:r>
              <a:rPr dirty="0"/>
              <a:t>Pilani,</a:t>
            </a:r>
            <a:r>
              <a:rPr spc="-35" dirty="0"/>
              <a:t> </a:t>
            </a:r>
            <a:r>
              <a:rPr dirty="0"/>
              <a:t>Pilani</a:t>
            </a:r>
            <a:r>
              <a:rPr spc="-35" dirty="0"/>
              <a:t> </a:t>
            </a:r>
            <a:r>
              <a:rPr spc="-10" dirty="0"/>
              <a:t>Campus</a:t>
            </a:r>
          </a:p>
        </p:txBody>
      </p:sp>
      <p:sp>
        <p:nvSpPr>
          <p:cNvPr id="29" name="object 29"/>
          <p:cNvSpPr txBox="1"/>
          <p:nvPr/>
        </p:nvSpPr>
        <p:spPr>
          <a:xfrm>
            <a:off x="3734053" y="5354827"/>
            <a:ext cx="5043805" cy="574040"/>
          </a:xfrm>
          <a:prstGeom prst="rect">
            <a:avLst/>
          </a:prstGeom>
        </p:spPr>
        <p:txBody>
          <a:bodyPr vert="horz" wrap="square" lIns="0" tIns="43180" rIns="0" bIns="0" rtlCol="0">
            <a:spAutoFit/>
          </a:bodyPr>
          <a:lstStyle/>
          <a:p>
            <a:pPr>
              <a:lnSpc>
                <a:spcPct val="100000"/>
              </a:lnSpc>
              <a:spcBef>
                <a:spcPts val="340"/>
              </a:spcBef>
            </a:pPr>
            <a:r>
              <a:rPr sz="1600" dirty="0">
                <a:solidFill>
                  <a:srgbClr val="FFFFFF"/>
                </a:solidFill>
                <a:latin typeface="Arial MT"/>
                <a:cs typeface="Arial MT"/>
              </a:rPr>
              <a:t>Dr.</a:t>
            </a:r>
            <a:r>
              <a:rPr sz="1600" spc="-10" dirty="0">
                <a:solidFill>
                  <a:srgbClr val="FFFFFF"/>
                </a:solidFill>
                <a:latin typeface="Arial MT"/>
                <a:cs typeface="Arial MT"/>
              </a:rPr>
              <a:t> </a:t>
            </a:r>
            <a:r>
              <a:rPr sz="1600" dirty="0">
                <a:solidFill>
                  <a:srgbClr val="FFFFFF"/>
                </a:solidFill>
                <a:latin typeface="Arial MT"/>
                <a:cs typeface="Arial MT"/>
              </a:rPr>
              <a:t>Vinay</a:t>
            </a:r>
            <a:r>
              <a:rPr sz="1600" spc="-45" dirty="0">
                <a:solidFill>
                  <a:srgbClr val="FFFFFF"/>
                </a:solidFill>
                <a:latin typeface="Arial MT"/>
                <a:cs typeface="Arial MT"/>
              </a:rPr>
              <a:t> </a:t>
            </a:r>
            <a:r>
              <a:rPr sz="1600" spc="-10" dirty="0">
                <a:solidFill>
                  <a:srgbClr val="FFFFFF"/>
                </a:solidFill>
                <a:latin typeface="Arial MT"/>
                <a:cs typeface="Arial MT"/>
              </a:rPr>
              <a:t>Chamola</a:t>
            </a:r>
            <a:endParaRPr sz="1600">
              <a:latin typeface="Arial MT"/>
              <a:cs typeface="Arial MT"/>
            </a:endParaRPr>
          </a:p>
          <a:p>
            <a:pPr>
              <a:lnSpc>
                <a:spcPct val="100000"/>
              </a:lnSpc>
              <a:spcBef>
                <a:spcPts val="240"/>
              </a:spcBef>
            </a:pPr>
            <a:r>
              <a:rPr sz="1600" dirty="0">
                <a:solidFill>
                  <a:srgbClr val="FFFFFF"/>
                </a:solidFill>
                <a:latin typeface="Arial MT"/>
                <a:cs typeface="Arial MT"/>
              </a:rPr>
              <a:t>Department</a:t>
            </a:r>
            <a:r>
              <a:rPr sz="1600" spc="-15" dirty="0">
                <a:solidFill>
                  <a:srgbClr val="FFFFFF"/>
                </a:solidFill>
                <a:latin typeface="Arial MT"/>
                <a:cs typeface="Arial MT"/>
              </a:rPr>
              <a:t> </a:t>
            </a:r>
            <a:r>
              <a:rPr sz="1600" dirty="0">
                <a:solidFill>
                  <a:srgbClr val="FFFFFF"/>
                </a:solidFill>
                <a:latin typeface="Arial MT"/>
                <a:cs typeface="Arial MT"/>
              </a:rPr>
              <a:t>of</a:t>
            </a:r>
            <a:r>
              <a:rPr sz="1600" spc="-30" dirty="0">
                <a:solidFill>
                  <a:srgbClr val="FFFFFF"/>
                </a:solidFill>
                <a:latin typeface="Arial MT"/>
                <a:cs typeface="Arial MT"/>
              </a:rPr>
              <a:t> </a:t>
            </a:r>
            <a:r>
              <a:rPr sz="1600" dirty="0">
                <a:solidFill>
                  <a:srgbClr val="FFFFFF"/>
                </a:solidFill>
                <a:latin typeface="Arial MT"/>
                <a:cs typeface="Arial MT"/>
              </a:rPr>
              <a:t>Electrical</a:t>
            </a:r>
            <a:r>
              <a:rPr sz="1600" spc="-60" dirty="0">
                <a:solidFill>
                  <a:srgbClr val="FFFFFF"/>
                </a:solidFill>
                <a:latin typeface="Arial MT"/>
                <a:cs typeface="Arial MT"/>
              </a:rPr>
              <a:t> </a:t>
            </a:r>
            <a:r>
              <a:rPr sz="1600" dirty="0">
                <a:solidFill>
                  <a:srgbClr val="FFFFFF"/>
                </a:solidFill>
                <a:latin typeface="Arial MT"/>
                <a:cs typeface="Arial MT"/>
              </a:rPr>
              <a:t>and</a:t>
            </a:r>
            <a:r>
              <a:rPr sz="1600" spc="-25" dirty="0">
                <a:solidFill>
                  <a:srgbClr val="FFFFFF"/>
                </a:solidFill>
                <a:latin typeface="Arial MT"/>
                <a:cs typeface="Arial MT"/>
              </a:rPr>
              <a:t> </a:t>
            </a:r>
            <a:r>
              <a:rPr sz="1600" dirty="0">
                <a:solidFill>
                  <a:srgbClr val="FFFFFF"/>
                </a:solidFill>
                <a:latin typeface="Arial MT"/>
                <a:cs typeface="Arial MT"/>
              </a:rPr>
              <a:t>Electronics,</a:t>
            </a:r>
            <a:r>
              <a:rPr sz="1600" spc="-55" dirty="0">
                <a:solidFill>
                  <a:srgbClr val="FFFFFF"/>
                </a:solidFill>
                <a:latin typeface="Arial MT"/>
                <a:cs typeface="Arial MT"/>
              </a:rPr>
              <a:t> </a:t>
            </a:r>
            <a:r>
              <a:rPr sz="1600" dirty="0">
                <a:solidFill>
                  <a:srgbClr val="FFFFFF"/>
                </a:solidFill>
                <a:latin typeface="Arial MT"/>
                <a:cs typeface="Arial MT"/>
              </a:rPr>
              <a:t>Pilani</a:t>
            </a:r>
            <a:r>
              <a:rPr sz="1600" spc="-65" dirty="0">
                <a:solidFill>
                  <a:srgbClr val="FFFFFF"/>
                </a:solidFill>
                <a:latin typeface="Arial MT"/>
                <a:cs typeface="Arial MT"/>
              </a:rPr>
              <a:t> </a:t>
            </a:r>
            <a:r>
              <a:rPr sz="1600" spc="-10" dirty="0">
                <a:solidFill>
                  <a:srgbClr val="FFFFFF"/>
                </a:solidFill>
                <a:latin typeface="Arial MT"/>
                <a:cs typeface="Arial MT"/>
              </a:rPr>
              <a:t>Campus</a:t>
            </a:r>
            <a:endParaRPr sz="1600">
              <a:latin typeface="Arial MT"/>
              <a:cs typeface="Arial MT"/>
            </a:endParaRPr>
          </a:p>
        </p:txBody>
      </p:sp>
      <p:sp>
        <p:nvSpPr>
          <p:cNvPr id="30" name="object 30"/>
          <p:cNvSpPr txBox="1"/>
          <p:nvPr/>
        </p:nvSpPr>
        <p:spPr>
          <a:xfrm>
            <a:off x="3734053" y="3919850"/>
            <a:ext cx="6247765" cy="751488"/>
          </a:xfrm>
          <a:prstGeom prst="rect">
            <a:avLst/>
          </a:prstGeom>
        </p:spPr>
        <p:txBody>
          <a:bodyPr vert="horz" wrap="square" lIns="0" tIns="12700" rIns="0" bIns="0" rtlCol="0">
            <a:spAutoFit/>
          </a:bodyPr>
          <a:lstStyle/>
          <a:p>
            <a:pPr>
              <a:lnSpc>
                <a:spcPct val="100000"/>
              </a:lnSpc>
              <a:spcBef>
                <a:spcPts val="100"/>
              </a:spcBef>
            </a:pPr>
            <a:r>
              <a:rPr lang="en-US" sz="2400" b="1" spc="-10" dirty="0">
                <a:solidFill>
                  <a:srgbClr val="FFFFFF"/>
                </a:solidFill>
                <a:latin typeface="Arial"/>
                <a:cs typeface="Arial"/>
              </a:rPr>
              <a:t>Communication and Computation for Drones</a:t>
            </a:r>
            <a:endParaRPr sz="2400" dirty="0">
              <a:latin typeface="Arial"/>
              <a:cs typeface="Arial"/>
            </a:endParaRPr>
          </a:p>
        </p:txBody>
      </p:sp>
      <p:sp>
        <p:nvSpPr>
          <p:cNvPr id="31" name="object 31"/>
          <p:cNvSpPr txBox="1"/>
          <p:nvPr/>
        </p:nvSpPr>
        <p:spPr>
          <a:xfrm>
            <a:off x="9314433" y="5640120"/>
            <a:ext cx="2131695" cy="289823"/>
          </a:xfrm>
          <a:prstGeom prst="rect">
            <a:avLst/>
          </a:prstGeom>
        </p:spPr>
        <p:txBody>
          <a:bodyPr vert="horz" wrap="square" lIns="0" tIns="12700" rIns="0" bIns="0" rtlCol="0">
            <a:spAutoFit/>
          </a:bodyPr>
          <a:lstStyle/>
          <a:p>
            <a:pPr>
              <a:lnSpc>
                <a:spcPct val="100000"/>
              </a:lnSpc>
              <a:spcBef>
                <a:spcPts val="100"/>
              </a:spcBef>
            </a:pPr>
            <a:r>
              <a:rPr sz="1800" dirty="0">
                <a:solidFill>
                  <a:srgbClr val="FFFFFF"/>
                </a:solidFill>
                <a:latin typeface="Arial MT"/>
                <a:cs typeface="Arial MT"/>
              </a:rPr>
              <a:t>Date:</a:t>
            </a:r>
            <a:r>
              <a:rPr sz="1800" spc="-15" dirty="0">
                <a:solidFill>
                  <a:srgbClr val="FFFFFF"/>
                </a:solidFill>
                <a:latin typeface="Arial MT"/>
                <a:cs typeface="Arial MT"/>
              </a:rPr>
              <a:t> </a:t>
            </a:r>
            <a:r>
              <a:rPr lang="en-US" spc="-15" dirty="0">
                <a:solidFill>
                  <a:srgbClr val="FFFFFF"/>
                </a:solidFill>
                <a:latin typeface="Arial MT"/>
                <a:cs typeface="Arial MT"/>
              </a:rPr>
              <a:t>1st</a:t>
            </a:r>
            <a:r>
              <a:rPr sz="1800" spc="-15" dirty="0">
                <a:solidFill>
                  <a:srgbClr val="FFFFFF"/>
                </a:solidFill>
                <a:latin typeface="Arial MT"/>
                <a:cs typeface="Arial MT"/>
              </a:rPr>
              <a:t> </a:t>
            </a:r>
            <a:r>
              <a:rPr lang="en-US" spc="-15" dirty="0">
                <a:solidFill>
                  <a:srgbClr val="FFFFFF"/>
                </a:solidFill>
                <a:latin typeface="Arial MT"/>
                <a:cs typeface="Arial MT"/>
              </a:rPr>
              <a:t>Aug</a:t>
            </a:r>
            <a:r>
              <a:rPr sz="1800" dirty="0">
                <a:solidFill>
                  <a:srgbClr val="FFFFFF"/>
                </a:solidFill>
                <a:latin typeface="Arial MT"/>
                <a:cs typeface="Arial MT"/>
              </a:rPr>
              <a:t>,</a:t>
            </a:r>
            <a:r>
              <a:rPr lang="en-US" sz="1800" dirty="0">
                <a:solidFill>
                  <a:srgbClr val="FFFFFF"/>
                </a:solidFill>
                <a:latin typeface="Arial MT"/>
                <a:cs typeface="Arial MT"/>
              </a:rPr>
              <a:t> </a:t>
            </a:r>
            <a:r>
              <a:rPr sz="1800" spc="-20" dirty="0">
                <a:solidFill>
                  <a:srgbClr val="FFFFFF"/>
                </a:solidFill>
                <a:latin typeface="Arial MT"/>
                <a:cs typeface="Arial MT"/>
              </a:rPr>
              <a:t>20</a:t>
            </a:r>
            <a:r>
              <a:rPr lang="en-US" spc="-20" dirty="0">
                <a:solidFill>
                  <a:srgbClr val="FFFFFF"/>
                </a:solidFill>
                <a:latin typeface="Arial MT"/>
                <a:cs typeface="Arial MT"/>
              </a:rPr>
              <a:t>25</a:t>
            </a:r>
            <a:endParaRPr sz="1800" dirty="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C605DE4-DE0C-6BF4-6979-C13FC39D5341}"/>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52521EC5-B90C-70BE-3F8B-509D50B56F8B}"/>
              </a:ext>
            </a:extLst>
          </p:cNvPr>
          <p:cNvGrpSpPr/>
          <p:nvPr/>
        </p:nvGrpSpPr>
        <p:grpSpPr>
          <a:xfrm>
            <a:off x="-25436" y="-304800"/>
            <a:ext cx="12267820" cy="7772400"/>
            <a:chOff x="-70453" y="-304800"/>
            <a:chExt cx="12267820" cy="7772400"/>
          </a:xfrm>
        </p:grpSpPr>
        <p:pic>
          <p:nvPicPr>
            <p:cNvPr id="3" name="object 3">
              <a:extLst>
                <a:ext uri="{FF2B5EF4-FFF2-40B4-BE49-F238E27FC236}">
                  <a16:creationId xmlns:a16="http://schemas.microsoft.com/office/drawing/2014/main" id="{C4E40865-4D74-2D03-9A9E-DB9C2B833E30}"/>
                </a:ext>
              </a:extLst>
            </p:cNvPr>
            <p:cNvPicPr/>
            <p:nvPr/>
          </p:nvPicPr>
          <p:blipFill>
            <a:blip r:embed="rId2" cstate="print"/>
            <a:stretch>
              <a:fillRect/>
            </a:stretch>
          </p:blipFill>
          <p:spPr>
            <a:xfrm>
              <a:off x="-70453" y="-304800"/>
              <a:ext cx="12267820" cy="7772400"/>
            </a:xfrm>
            <a:prstGeom prst="rect">
              <a:avLst/>
            </a:prstGeom>
          </p:spPr>
        </p:pic>
        <p:sp>
          <p:nvSpPr>
            <p:cNvPr id="23" name="object 23">
              <a:extLst>
                <a:ext uri="{FF2B5EF4-FFF2-40B4-BE49-F238E27FC236}">
                  <a16:creationId xmlns:a16="http://schemas.microsoft.com/office/drawing/2014/main" id="{075323ED-FFAE-449A-4774-B83A8E0568FA}"/>
                </a:ext>
              </a:extLst>
            </p:cNvPr>
            <p:cNvSpPr/>
            <p:nvPr/>
          </p:nvSpPr>
          <p:spPr>
            <a:xfrm>
              <a:off x="-45017" y="3352800"/>
              <a:ext cx="11582400" cy="2743200"/>
            </a:xfrm>
            <a:custGeom>
              <a:avLst/>
              <a:gdLst/>
              <a:ahLst/>
              <a:cxnLst/>
              <a:rect l="l" t="t" r="r" b="b"/>
              <a:pathLst>
                <a:path w="11582400" h="2743200">
                  <a:moveTo>
                    <a:pt x="11582400" y="0"/>
                  </a:moveTo>
                  <a:lnTo>
                    <a:pt x="0" y="0"/>
                  </a:lnTo>
                  <a:lnTo>
                    <a:pt x="0" y="2743200"/>
                  </a:lnTo>
                  <a:lnTo>
                    <a:pt x="11582400" y="2743200"/>
                  </a:lnTo>
                  <a:lnTo>
                    <a:pt x="11582400" y="0"/>
                  </a:lnTo>
                  <a:close/>
                </a:path>
              </a:pathLst>
            </a:custGeom>
            <a:solidFill>
              <a:srgbClr val="0F1141"/>
            </a:solidFill>
          </p:spPr>
          <p:txBody>
            <a:bodyPr wrap="square" lIns="0" tIns="0" rIns="0" bIns="0" rtlCol="0"/>
            <a:lstStyle/>
            <a:p>
              <a:endParaRPr dirty="0"/>
            </a:p>
          </p:txBody>
        </p:sp>
        <p:sp>
          <p:nvSpPr>
            <p:cNvPr id="24" name="object 24">
              <a:extLst>
                <a:ext uri="{FF2B5EF4-FFF2-40B4-BE49-F238E27FC236}">
                  <a16:creationId xmlns:a16="http://schemas.microsoft.com/office/drawing/2014/main" id="{6015992F-6C47-3A67-D4B8-C161264069AE}"/>
                </a:ext>
              </a:extLst>
            </p:cNvPr>
            <p:cNvSpPr/>
            <p:nvPr/>
          </p:nvSpPr>
          <p:spPr>
            <a:xfrm>
              <a:off x="3860291" y="6096000"/>
              <a:ext cx="3862070" cy="76200"/>
            </a:xfrm>
            <a:custGeom>
              <a:avLst/>
              <a:gdLst/>
              <a:ahLst/>
              <a:cxnLst/>
              <a:rect l="l" t="t" r="r" b="b"/>
              <a:pathLst>
                <a:path w="3862070" h="76200">
                  <a:moveTo>
                    <a:pt x="3861816" y="0"/>
                  </a:moveTo>
                  <a:lnTo>
                    <a:pt x="0" y="0"/>
                  </a:lnTo>
                  <a:lnTo>
                    <a:pt x="0" y="76200"/>
                  </a:lnTo>
                  <a:lnTo>
                    <a:pt x="3861816" y="76200"/>
                  </a:lnTo>
                  <a:lnTo>
                    <a:pt x="3861816" y="0"/>
                  </a:lnTo>
                  <a:close/>
                </a:path>
              </a:pathLst>
            </a:custGeom>
            <a:solidFill>
              <a:srgbClr val="76C2E4"/>
            </a:solidFill>
          </p:spPr>
          <p:txBody>
            <a:bodyPr wrap="square" lIns="0" tIns="0" rIns="0" bIns="0" rtlCol="0"/>
            <a:lstStyle/>
            <a:p>
              <a:endParaRPr/>
            </a:p>
          </p:txBody>
        </p:sp>
        <p:sp>
          <p:nvSpPr>
            <p:cNvPr id="25" name="object 25">
              <a:extLst>
                <a:ext uri="{FF2B5EF4-FFF2-40B4-BE49-F238E27FC236}">
                  <a16:creationId xmlns:a16="http://schemas.microsoft.com/office/drawing/2014/main" id="{9A9EEC29-3927-AC70-A1AA-3718E2A12872}"/>
                </a:ext>
              </a:extLst>
            </p:cNvPr>
            <p:cNvSpPr/>
            <p:nvPr/>
          </p:nvSpPr>
          <p:spPr>
            <a:xfrm>
              <a:off x="0" y="6096000"/>
              <a:ext cx="3860800" cy="76200"/>
            </a:xfrm>
            <a:custGeom>
              <a:avLst/>
              <a:gdLst/>
              <a:ahLst/>
              <a:cxnLst/>
              <a:rect l="l" t="t" r="r" b="b"/>
              <a:pathLst>
                <a:path w="3860800" h="76200">
                  <a:moveTo>
                    <a:pt x="3860291" y="0"/>
                  </a:moveTo>
                  <a:lnTo>
                    <a:pt x="0" y="0"/>
                  </a:lnTo>
                  <a:lnTo>
                    <a:pt x="0" y="76200"/>
                  </a:lnTo>
                  <a:lnTo>
                    <a:pt x="3860291" y="76200"/>
                  </a:lnTo>
                  <a:lnTo>
                    <a:pt x="3860291" y="0"/>
                  </a:lnTo>
                  <a:close/>
                </a:path>
              </a:pathLst>
            </a:custGeom>
            <a:solidFill>
              <a:srgbClr val="FBAF17"/>
            </a:solidFill>
          </p:spPr>
          <p:txBody>
            <a:bodyPr wrap="square" lIns="0" tIns="0" rIns="0" bIns="0" rtlCol="0"/>
            <a:lstStyle/>
            <a:p>
              <a:endParaRPr/>
            </a:p>
          </p:txBody>
        </p:sp>
        <p:sp>
          <p:nvSpPr>
            <p:cNvPr id="26" name="object 26">
              <a:extLst>
                <a:ext uri="{FF2B5EF4-FFF2-40B4-BE49-F238E27FC236}">
                  <a16:creationId xmlns:a16="http://schemas.microsoft.com/office/drawing/2014/main" id="{D11EC7A3-5974-0C46-EF05-71F8E711008A}"/>
                </a:ext>
              </a:extLst>
            </p:cNvPr>
            <p:cNvSpPr/>
            <p:nvPr/>
          </p:nvSpPr>
          <p:spPr>
            <a:xfrm>
              <a:off x="7722107" y="6096000"/>
              <a:ext cx="3860800" cy="76200"/>
            </a:xfrm>
            <a:custGeom>
              <a:avLst/>
              <a:gdLst/>
              <a:ahLst/>
              <a:cxnLst/>
              <a:rect l="l" t="t" r="r" b="b"/>
              <a:pathLst>
                <a:path w="3860800" h="76200">
                  <a:moveTo>
                    <a:pt x="3860292" y="0"/>
                  </a:moveTo>
                  <a:lnTo>
                    <a:pt x="0" y="0"/>
                  </a:lnTo>
                  <a:lnTo>
                    <a:pt x="0" y="76200"/>
                  </a:lnTo>
                  <a:lnTo>
                    <a:pt x="3860292" y="76200"/>
                  </a:lnTo>
                  <a:lnTo>
                    <a:pt x="3860292" y="0"/>
                  </a:lnTo>
                  <a:close/>
                </a:path>
              </a:pathLst>
            </a:custGeom>
            <a:solidFill>
              <a:srgbClr val="FF0000"/>
            </a:solidFill>
          </p:spPr>
          <p:txBody>
            <a:bodyPr wrap="square" lIns="0" tIns="0" rIns="0" bIns="0" rtlCol="0"/>
            <a:lstStyle/>
            <a:p>
              <a:endParaRPr/>
            </a:p>
          </p:txBody>
        </p:sp>
      </p:grpSp>
      <p:sp>
        <p:nvSpPr>
          <p:cNvPr id="32" name="object 32">
            <a:extLst>
              <a:ext uri="{FF2B5EF4-FFF2-40B4-BE49-F238E27FC236}">
                <a16:creationId xmlns:a16="http://schemas.microsoft.com/office/drawing/2014/main" id="{DF232FEF-B229-159A-403D-A0D753DF1966}"/>
              </a:ext>
            </a:extLst>
          </p:cNvPr>
          <p:cNvSpPr txBox="1">
            <a:spLocks noGrp="1"/>
          </p:cNvSpPr>
          <p:nvPr>
            <p:ph type="ftr" sz="quarter" idx="5"/>
          </p:nvPr>
        </p:nvSpPr>
        <p:spPr>
          <a:xfrm>
            <a:off x="9067800" y="7185328"/>
            <a:ext cx="3275456" cy="169277"/>
          </a:xfrm>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50" dirty="0">
                <a:latin typeface="Arial"/>
                <a:cs typeface="Arial"/>
              </a:rPr>
              <a:t> </a:t>
            </a:r>
            <a:r>
              <a:rPr dirty="0"/>
              <a:t>Pilani,</a:t>
            </a:r>
            <a:r>
              <a:rPr spc="-35" dirty="0"/>
              <a:t> </a:t>
            </a:r>
            <a:r>
              <a:rPr dirty="0"/>
              <a:t>Pilani</a:t>
            </a:r>
            <a:r>
              <a:rPr spc="-35" dirty="0"/>
              <a:t> </a:t>
            </a:r>
            <a:r>
              <a:rPr spc="-10" dirty="0"/>
              <a:t>Campus</a:t>
            </a:r>
          </a:p>
        </p:txBody>
      </p:sp>
      <p:sp>
        <p:nvSpPr>
          <p:cNvPr id="30" name="object 30">
            <a:extLst>
              <a:ext uri="{FF2B5EF4-FFF2-40B4-BE49-F238E27FC236}">
                <a16:creationId xmlns:a16="http://schemas.microsoft.com/office/drawing/2014/main" id="{FE9CB4D4-CB41-8D45-EDD8-B35C5F596E5F}"/>
              </a:ext>
            </a:extLst>
          </p:cNvPr>
          <p:cNvSpPr txBox="1"/>
          <p:nvPr/>
        </p:nvSpPr>
        <p:spPr>
          <a:xfrm>
            <a:off x="2984591" y="3739272"/>
            <a:ext cx="6247765" cy="1515800"/>
          </a:xfrm>
          <a:prstGeom prst="rect">
            <a:avLst/>
          </a:prstGeom>
        </p:spPr>
        <p:txBody>
          <a:bodyPr vert="horz" wrap="square" lIns="0" tIns="12700" rIns="0" bIns="0" rtlCol="0">
            <a:spAutoFit/>
          </a:bodyPr>
          <a:lstStyle/>
          <a:p>
            <a:pPr algn="ctr">
              <a:lnSpc>
                <a:spcPct val="100000"/>
              </a:lnSpc>
              <a:spcBef>
                <a:spcPts val="100"/>
              </a:spcBef>
            </a:pPr>
            <a:r>
              <a:rPr lang="en-US" sz="3200" b="1" spc="-10" dirty="0">
                <a:solidFill>
                  <a:srgbClr val="FFFFFF"/>
                </a:solidFill>
                <a:latin typeface="Arial"/>
                <a:cs typeface="Arial"/>
              </a:rPr>
              <a:t>Module 8</a:t>
            </a:r>
          </a:p>
          <a:p>
            <a:pPr algn="ctr">
              <a:lnSpc>
                <a:spcPct val="100000"/>
              </a:lnSpc>
              <a:spcBef>
                <a:spcPts val="100"/>
              </a:spcBef>
            </a:pPr>
            <a:endParaRPr lang="en-US" sz="3200" b="1" spc="-10" dirty="0">
              <a:solidFill>
                <a:srgbClr val="FFFFFF"/>
              </a:solidFill>
              <a:latin typeface="Arial"/>
              <a:cs typeface="Arial"/>
            </a:endParaRPr>
          </a:p>
          <a:p>
            <a:pPr algn="ctr">
              <a:lnSpc>
                <a:spcPct val="100000"/>
              </a:lnSpc>
              <a:spcBef>
                <a:spcPts val="100"/>
              </a:spcBef>
            </a:pPr>
            <a:r>
              <a:rPr lang="en-US" sz="3200" b="1" spc="-10" dirty="0">
                <a:solidFill>
                  <a:srgbClr val="FFFFFF"/>
                </a:solidFill>
                <a:latin typeface="Arial"/>
                <a:cs typeface="Arial"/>
              </a:rPr>
              <a:t>Artificial Intelligence in Drones</a:t>
            </a:r>
            <a:endParaRPr sz="3200" dirty="0">
              <a:latin typeface="Arial"/>
              <a:cs typeface="Arial"/>
            </a:endParaRPr>
          </a:p>
        </p:txBody>
      </p:sp>
      <p:sp>
        <p:nvSpPr>
          <p:cNvPr id="31" name="object 31">
            <a:extLst>
              <a:ext uri="{FF2B5EF4-FFF2-40B4-BE49-F238E27FC236}">
                <a16:creationId xmlns:a16="http://schemas.microsoft.com/office/drawing/2014/main" id="{2FB5DD62-878C-28B7-4449-9D342FB504B2}"/>
              </a:ext>
            </a:extLst>
          </p:cNvPr>
          <p:cNvSpPr txBox="1"/>
          <p:nvPr/>
        </p:nvSpPr>
        <p:spPr>
          <a:xfrm>
            <a:off x="9314433" y="5640120"/>
            <a:ext cx="2131695" cy="289823"/>
          </a:xfrm>
          <a:prstGeom prst="rect">
            <a:avLst/>
          </a:prstGeom>
        </p:spPr>
        <p:txBody>
          <a:bodyPr vert="horz" wrap="square" lIns="0" tIns="12700" rIns="0" bIns="0" rtlCol="0">
            <a:spAutoFit/>
          </a:bodyPr>
          <a:lstStyle/>
          <a:p>
            <a:pPr>
              <a:lnSpc>
                <a:spcPct val="100000"/>
              </a:lnSpc>
              <a:spcBef>
                <a:spcPts val="100"/>
              </a:spcBef>
            </a:pPr>
            <a:r>
              <a:rPr sz="1800" dirty="0">
                <a:solidFill>
                  <a:srgbClr val="FFFFFF"/>
                </a:solidFill>
                <a:latin typeface="Arial MT"/>
                <a:cs typeface="Arial MT"/>
              </a:rPr>
              <a:t>Date:</a:t>
            </a:r>
            <a:r>
              <a:rPr sz="1800" spc="-15" dirty="0">
                <a:solidFill>
                  <a:srgbClr val="FFFFFF"/>
                </a:solidFill>
                <a:latin typeface="Arial MT"/>
                <a:cs typeface="Arial MT"/>
              </a:rPr>
              <a:t> </a:t>
            </a:r>
            <a:r>
              <a:rPr lang="en-US" spc="-15" dirty="0">
                <a:solidFill>
                  <a:srgbClr val="FFFFFF"/>
                </a:solidFill>
                <a:latin typeface="Arial MT"/>
                <a:cs typeface="Arial MT"/>
              </a:rPr>
              <a:t>1st</a:t>
            </a:r>
            <a:r>
              <a:rPr sz="1800" spc="-15" dirty="0">
                <a:solidFill>
                  <a:srgbClr val="FFFFFF"/>
                </a:solidFill>
                <a:latin typeface="Arial MT"/>
                <a:cs typeface="Arial MT"/>
              </a:rPr>
              <a:t> </a:t>
            </a:r>
            <a:r>
              <a:rPr lang="en-US" spc="-15" dirty="0">
                <a:solidFill>
                  <a:srgbClr val="FFFFFF"/>
                </a:solidFill>
                <a:latin typeface="Arial MT"/>
                <a:cs typeface="Arial MT"/>
              </a:rPr>
              <a:t>Aug</a:t>
            </a:r>
            <a:r>
              <a:rPr sz="1800" dirty="0">
                <a:solidFill>
                  <a:srgbClr val="FFFFFF"/>
                </a:solidFill>
                <a:latin typeface="Arial MT"/>
                <a:cs typeface="Arial MT"/>
              </a:rPr>
              <a:t>,</a:t>
            </a:r>
            <a:r>
              <a:rPr lang="en-US" sz="1800" dirty="0">
                <a:solidFill>
                  <a:srgbClr val="FFFFFF"/>
                </a:solidFill>
                <a:latin typeface="Arial MT"/>
                <a:cs typeface="Arial MT"/>
              </a:rPr>
              <a:t> </a:t>
            </a:r>
            <a:r>
              <a:rPr sz="1800" spc="-20" dirty="0">
                <a:solidFill>
                  <a:srgbClr val="FFFFFF"/>
                </a:solidFill>
                <a:latin typeface="Arial MT"/>
                <a:cs typeface="Arial MT"/>
              </a:rPr>
              <a:t>20</a:t>
            </a:r>
            <a:r>
              <a:rPr lang="en-US" spc="-20" dirty="0">
                <a:solidFill>
                  <a:srgbClr val="FFFFFF"/>
                </a:solidFill>
                <a:latin typeface="Arial MT"/>
                <a:cs typeface="Arial MT"/>
              </a:rPr>
              <a:t>25</a:t>
            </a:r>
            <a:endParaRPr sz="1800" dirty="0">
              <a:latin typeface="Arial MT"/>
              <a:cs typeface="Arial MT"/>
            </a:endParaRPr>
          </a:p>
        </p:txBody>
      </p:sp>
    </p:spTree>
    <p:extLst>
      <p:ext uri="{BB962C8B-B14F-4D97-AF65-F5344CB8AC3E}">
        <p14:creationId xmlns:p14="http://schemas.microsoft.com/office/powerpoint/2010/main" val="1839831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4F45B94-1F8B-82F8-5DA8-3E73C23436DE}"/>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DC0E9ABE-5FD3-4B9C-4656-0662032DF319}"/>
              </a:ext>
            </a:extLst>
          </p:cNvPr>
          <p:cNvGrpSpPr/>
          <p:nvPr/>
        </p:nvGrpSpPr>
        <p:grpSpPr>
          <a:xfrm>
            <a:off x="-25436" y="-304800"/>
            <a:ext cx="12267820" cy="7772400"/>
            <a:chOff x="-70453" y="-304800"/>
            <a:chExt cx="12267820" cy="7772400"/>
          </a:xfrm>
        </p:grpSpPr>
        <p:pic>
          <p:nvPicPr>
            <p:cNvPr id="3" name="object 3">
              <a:extLst>
                <a:ext uri="{FF2B5EF4-FFF2-40B4-BE49-F238E27FC236}">
                  <a16:creationId xmlns:a16="http://schemas.microsoft.com/office/drawing/2014/main" id="{CE3F0DDD-D6B0-4E0B-1E21-2A401A9E3657}"/>
                </a:ext>
              </a:extLst>
            </p:cNvPr>
            <p:cNvPicPr/>
            <p:nvPr/>
          </p:nvPicPr>
          <p:blipFill>
            <a:blip r:embed="rId2" cstate="print"/>
            <a:stretch>
              <a:fillRect/>
            </a:stretch>
          </p:blipFill>
          <p:spPr>
            <a:xfrm>
              <a:off x="-70453" y="-304800"/>
              <a:ext cx="12267820" cy="7772400"/>
            </a:xfrm>
            <a:prstGeom prst="rect">
              <a:avLst/>
            </a:prstGeom>
          </p:spPr>
        </p:pic>
        <p:sp>
          <p:nvSpPr>
            <p:cNvPr id="23" name="object 23">
              <a:extLst>
                <a:ext uri="{FF2B5EF4-FFF2-40B4-BE49-F238E27FC236}">
                  <a16:creationId xmlns:a16="http://schemas.microsoft.com/office/drawing/2014/main" id="{C79257BA-7A15-9333-ADD0-BF73A4FA0F10}"/>
                </a:ext>
              </a:extLst>
            </p:cNvPr>
            <p:cNvSpPr/>
            <p:nvPr/>
          </p:nvSpPr>
          <p:spPr>
            <a:xfrm>
              <a:off x="-45017" y="3352800"/>
              <a:ext cx="11582400" cy="2743200"/>
            </a:xfrm>
            <a:custGeom>
              <a:avLst/>
              <a:gdLst/>
              <a:ahLst/>
              <a:cxnLst/>
              <a:rect l="l" t="t" r="r" b="b"/>
              <a:pathLst>
                <a:path w="11582400" h="2743200">
                  <a:moveTo>
                    <a:pt x="11582400" y="0"/>
                  </a:moveTo>
                  <a:lnTo>
                    <a:pt x="0" y="0"/>
                  </a:lnTo>
                  <a:lnTo>
                    <a:pt x="0" y="2743200"/>
                  </a:lnTo>
                  <a:lnTo>
                    <a:pt x="11582400" y="2743200"/>
                  </a:lnTo>
                  <a:lnTo>
                    <a:pt x="11582400" y="0"/>
                  </a:lnTo>
                  <a:close/>
                </a:path>
              </a:pathLst>
            </a:custGeom>
            <a:solidFill>
              <a:srgbClr val="0F1141"/>
            </a:solidFill>
          </p:spPr>
          <p:txBody>
            <a:bodyPr wrap="square" lIns="0" tIns="0" rIns="0" bIns="0" rtlCol="0"/>
            <a:lstStyle/>
            <a:p>
              <a:endParaRPr dirty="0"/>
            </a:p>
          </p:txBody>
        </p:sp>
        <p:sp>
          <p:nvSpPr>
            <p:cNvPr id="24" name="object 24">
              <a:extLst>
                <a:ext uri="{FF2B5EF4-FFF2-40B4-BE49-F238E27FC236}">
                  <a16:creationId xmlns:a16="http://schemas.microsoft.com/office/drawing/2014/main" id="{79EFA218-9B86-8AF3-7010-D1D491BFABAE}"/>
                </a:ext>
              </a:extLst>
            </p:cNvPr>
            <p:cNvSpPr/>
            <p:nvPr/>
          </p:nvSpPr>
          <p:spPr>
            <a:xfrm>
              <a:off x="3860291" y="6096000"/>
              <a:ext cx="3862070" cy="76200"/>
            </a:xfrm>
            <a:custGeom>
              <a:avLst/>
              <a:gdLst/>
              <a:ahLst/>
              <a:cxnLst/>
              <a:rect l="l" t="t" r="r" b="b"/>
              <a:pathLst>
                <a:path w="3862070" h="76200">
                  <a:moveTo>
                    <a:pt x="3861816" y="0"/>
                  </a:moveTo>
                  <a:lnTo>
                    <a:pt x="0" y="0"/>
                  </a:lnTo>
                  <a:lnTo>
                    <a:pt x="0" y="76200"/>
                  </a:lnTo>
                  <a:lnTo>
                    <a:pt x="3861816" y="76200"/>
                  </a:lnTo>
                  <a:lnTo>
                    <a:pt x="3861816" y="0"/>
                  </a:lnTo>
                  <a:close/>
                </a:path>
              </a:pathLst>
            </a:custGeom>
            <a:solidFill>
              <a:srgbClr val="76C2E4"/>
            </a:solidFill>
          </p:spPr>
          <p:txBody>
            <a:bodyPr wrap="square" lIns="0" tIns="0" rIns="0" bIns="0" rtlCol="0"/>
            <a:lstStyle/>
            <a:p>
              <a:endParaRPr/>
            </a:p>
          </p:txBody>
        </p:sp>
        <p:sp>
          <p:nvSpPr>
            <p:cNvPr id="25" name="object 25">
              <a:extLst>
                <a:ext uri="{FF2B5EF4-FFF2-40B4-BE49-F238E27FC236}">
                  <a16:creationId xmlns:a16="http://schemas.microsoft.com/office/drawing/2014/main" id="{2D196855-1002-2055-AEA5-273CD43028CE}"/>
                </a:ext>
              </a:extLst>
            </p:cNvPr>
            <p:cNvSpPr/>
            <p:nvPr/>
          </p:nvSpPr>
          <p:spPr>
            <a:xfrm>
              <a:off x="0" y="6096000"/>
              <a:ext cx="3860800" cy="76200"/>
            </a:xfrm>
            <a:custGeom>
              <a:avLst/>
              <a:gdLst/>
              <a:ahLst/>
              <a:cxnLst/>
              <a:rect l="l" t="t" r="r" b="b"/>
              <a:pathLst>
                <a:path w="3860800" h="76200">
                  <a:moveTo>
                    <a:pt x="3860291" y="0"/>
                  </a:moveTo>
                  <a:lnTo>
                    <a:pt x="0" y="0"/>
                  </a:lnTo>
                  <a:lnTo>
                    <a:pt x="0" y="76200"/>
                  </a:lnTo>
                  <a:lnTo>
                    <a:pt x="3860291" y="76200"/>
                  </a:lnTo>
                  <a:lnTo>
                    <a:pt x="3860291" y="0"/>
                  </a:lnTo>
                  <a:close/>
                </a:path>
              </a:pathLst>
            </a:custGeom>
            <a:solidFill>
              <a:srgbClr val="FBAF17"/>
            </a:solidFill>
          </p:spPr>
          <p:txBody>
            <a:bodyPr wrap="square" lIns="0" tIns="0" rIns="0" bIns="0" rtlCol="0"/>
            <a:lstStyle/>
            <a:p>
              <a:endParaRPr/>
            </a:p>
          </p:txBody>
        </p:sp>
        <p:sp>
          <p:nvSpPr>
            <p:cNvPr id="26" name="object 26">
              <a:extLst>
                <a:ext uri="{FF2B5EF4-FFF2-40B4-BE49-F238E27FC236}">
                  <a16:creationId xmlns:a16="http://schemas.microsoft.com/office/drawing/2014/main" id="{F6BC2562-39A3-CA2B-6A89-B13B633637FB}"/>
                </a:ext>
              </a:extLst>
            </p:cNvPr>
            <p:cNvSpPr/>
            <p:nvPr/>
          </p:nvSpPr>
          <p:spPr>
            <a:xfrm>
              <a:off x="7722107" y="6096000"/>
              <a:ext cx="3860800" cy="76200"/>
            </a:xfrm>
            <a:custGeom>
              <a:avLst/>
              <a:gdLst/>
              <a:ahLst/>
              <a:cxnLst/>
              <a:rect l="l" t="t" r="r" b="b"/>
              <a:pathLst>
                <a:path w="3860800" h="76200">
                  <a:moveTo>
                    <a:pt x="3860292" y="0"/>
                  </a:moveTo>
                  <a:lnTo>
                    <a:pt x="0" y="0"/>
                  </a:lnTo>
                  <a:lnTo>
                    <a:pt x="0" y="76200"/>
                  </a:lnTo>
                  <a:lnTo>
                    <a:pt x="3860292" y="76200"/>
                  </a:lnTo>
                  <a:lnTo>
                    <a:pt x="3860292" y="0"/>
                  </a:lnTo>
                  <a:close/>
                </a:path>
              </a:pathLst>
            </a:custGeom>
            <a:solidFill>
              <a:srgbClr val="FF0000"/>
            </a:solidFill>
          </p:spPr>
          <p:txBody>
            <a:bodyPr wrap="square" lIns="0" tIns="0" rIns="0" bIns="0" rtlCol="0"/>
            <a:lstStyle/>
            <a:p>
              <a:endParaRPr/>
            </a:p>
          </p:txBody>
        </p:sp>
      </p:grpSp>
      <p:sp>
        <p:nvSpPr>
          <p:cNvPr id="32" name="object 32">
            <a:extLst>
              <a:ext uri="{FF2B5EF4-FFF2-40B4-BE49-F238E27FC236}">
                <a16:creationId xmlns:a16="http://schemas.microsoft.com/office/drawing/2014/main" id="{A3197E48-5E3B-BD52-8BD5-AA3807FC9418}"/>
              </a:ext>
            </a:extLst>
          </p:cNvPr>
          <p:cNvSpPr txBox="1">
            <a:spLocks noGrp="1"/>
          </p:cNvSpPr>
          <p:nvPr>
            <p:ph type="ftr" sz="quarter" idx="5"/>
          </p:nvPr>
        </p:nvSpPr>
        <p:spPr>
          <a:xfrm>
            <a:off x="9067800" y="7185328"/>
            <a:ext cx="3275456" cy="169277"/>
          </a:xfrm>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50" dirty="0">
                <a:latin typeface="Arial"/>
                <a:cs typeface="Arial"/>
              </a:rPr>
              <a:t> </a:t>
            </a:r>
            <a:r>
              <a:rPr dirty="0"/>
              <a:t>Pilani,</a:t>
            </a:r>
            <a:r>
              <a:rPr spc="-35" dirty="0"/>
              <a:t> </a:t>
            </a:r>
            <a:r>
              <a:rPr dirty="0"/>
              <a:t>Pilani</a:t>
            </a:r>
            <a:r>
              <a:rPr spc="-35" dirty="0"/>
              <a:t> </a:t>
            </a:r>
            <a:r>
              <a:rPr spc="-10" dirty="0"/>
              <a:t>Campus</a:t>
            </a:r>
          </a:p>
        </p:txBody>
      </p:sp>
      <p:sp>
        <p:nvSpPr>
          <p:cNvPr id="30" name="object 30">
            <a:extLst>
              <a:ext uri="{FF2B5EF4-FFF2-40B4-BE49-F238E27FC236}">
                <a16:creationId xmlns:a16="http://schemas.microsoft.com/office/drawing/2014/main" id="{5D7F36BD-14F9-DFAC-05A3-6CCBEFDA2AED}"/>
              </a:ext>
            </a:extLst>
          </p:cNvPr>
          <p:cNvSpPr txBox="1"/>
          <p:nvPr/>
        </p:nvSpPr>
        <p:spPr>
          <a:xfrm>
            <a:off x="2984591" y="3739272"/>
            <a:ext cx="6247765" cy="1515800"/>
          </a:xfrm>
          <a:prstGeom prst="rect">
            <a:avLst/>
          </a:prstGeom>
        </p:spPr>
        <p:txBody>
          <a:bodyPr vert="horz" wrap="square" lIns="0" tIns="12700" rIns="0" bIns="0" rtlCol="0">
            <a:spAutoFit/>
          </a:bodyPr>
          <a:lstStyle/>
          <a:p>
            <a:pPr algn="ctr">
              <a:lnSpc>
                <a:spcPct val="100000"/>
              </a:lnSpc>
              <a:spcBef>
                <a:spcPts val="100"/>
              </a:spcBef>
            </a:pPr>
            <a:r>
              <a:rPr lang="en-US" sz="3200" b="1" spc="-10" dirty="0">
                <a:solidFill>
                  <a:srgbClr val="FFFFFF"/>
                </a:solidFill>
                <a:latin typeface="Arial"/>
                <a:cs typeface="Arial"/>
              </a:rPr>
              <a:t>Lecture 35-</a:t>
            </a:r>
          </a:p>
          <a:p>
            <a:pPr algn="ctr">
              <a:lnSpc>
                <a:spcPct val="100000"/>
              </a:lnSpc>
              <a:spcBef>
                <a:spcPts val="100"/>
              </a:spcBef>
            </a:pPr>
            <a:endParaRPr lang="en-US" sz="3200" b="1" spc="-10" dirty="0">
              <a:solidFill>
                <a:srgbClr val="FFFFFF"/>
              </a:solidFill>
              <a:latin typeface="Arial"/>
              <a:cs typeface="Arial"/>
            </a:endParaRPr>
          </a:p>
          <a:p>
            <a:pPr algn="ctr">
              <a:lnSpc>
                <a:spcPct val="100000"/>
              </a:lnSpc>
              <a:spcBef>
                <a:spcPts val="100"/>
              </a:spcBef>
            </a:pPr>
            <a:r>
              <a:rPr lang="en-US" sz="3200" b="1" spc="-10" dirty="0">
                <a:solidFill>
                  <a:srgbClr val="FFFFFF"/>
                </a:solidFill>
                <a:latin typeface="Arial"/>
                <a:cs typeface="Arial"/>
              </a:rPr>
              <a:t>OpenCV – Computer Vision</a:t>
            </a:r>
            <a:endParaRPr sz="3200" dirty="0">
              <a:latin typeface="Arial"/>
              <a:cs typeface="Arial"/>
            </a:endParaRPr>
          </a:p>
        </p:txBody>
      </p:sp>
      <p:sp>
        <p:nvSpPr>
          <p:cNvPr id="31" name="object 31">
            <a:extLst>
              <a:ext uri="{FF2B5EF4-FFF2-40B4-BE49-F238E27FC236}">
                <a16:creationId xmlns:a16="http://schemas.microsoft.com/office/drawing/2014/main" id="{3B49CD76-CAFD-D717-0D8D-92694CA6BF99}"/>
              </a:ext>
            </a:extLst>
          </p:cNvPr>
          <p:cNvSpPr txBox="1"/>
          <p:nvPr/>
        </p:nvSpPr>
        <p:spPr>
          <a:xfrm>
            <a:off x="9314433" y="5640120"/>
            <a:ext cx="2131695" cy="289823"/>
          </a:xfrm>
          <a:prstGeom prst="rect">
            <a:avLst/>
          </a:prstGeom>
        </p:spPr>
        <p:txBody>
          <a:bodyPr vert="horz" wrap="square" lIns="0" tIns="12700" rIns="0" bIns="0" rtlCol="0">
            <a:spAutoFit/>
          </a:bodyPr>
          <a:lstStyle/>
          <a:p>
            <a:pPr>
              <a:lnSpc>
                <a:spcPct val="100000"/>
              </a:lnSpc>
              <a:spcBef>
                <a:spcPts val="100"/>
              </a:spcBef>
            </a:pPr>
            <a:r>
              <a:rPr sz="1800" dirty="0">
                <a:solidFill>
                  <a:srgbClr val="FFFFFF"/>
                </a:solidFill>
                <a:latin typeface="Arial MT"/>
                <a:cs typeface="Arial MT"/>
              </a:rPr>
              <a:t>Date:</a:t>
            </a:r>
            <a:r>
              <a:rPr sz="1800" spc="-15" dirty="0">
                <a:solidFill>
                  <a:srgbClr val="FFFFFF"/>
                </a:solidFill>
                <a:latin typeface="Arial MT"/>
                <a:cs typeface="Arial MT"/>
              </a:rPr>
              <a:t> </a:t>
            </a:r>
            <a:r>
              <a:rPr lang="en-US" spc="-15" dirty="0">
                <a:solidFill>
                  <a:srgbClr val="FFFFFF"/>
                </a:solidFill>
                <a:latin typeface="Arial MT"/>
                <a:cs typeface="Arial MT"/>
              </a:rPr>
              <a:t>1st</a:t>
            </a:r>
            <a:r>
              <a:rPr sz="1800" spc="-15" dirty="0">
                <a:solidFill>
                  <a:srgbClr val="FFFFFF"/>
                </a:solidFill>
                <a:latin typeface="Arial MT"/>
                <a:cs typeface="Arial MT"/>
              </a:rPr>
              <a:t> </a:t>
            </a:r>
            <a:r>
              <a:rPr lang="en-US" spc="-15" dirty="0">
                <a:solidFill>
                  <a:srgbClr val="FFFFFF"/>
                </a:solidFill>
                <a:latin typeface="Arial MT"/>
                <a:cs typeface="Arial MT"/>
              </a:rPr>
              <a:t>Aug</a:t>
            </a:r>
            <a:r>
              <a:rPr sz="1800" dirty="0">
                <a:solidFill>
                  <a:srgbClr val="FFFFFF"/>
                </a:solidFill>
                <a:latin typeface="Arial MT"/>
                <a:cs typeface="Arial MT"/>
              </a:rPr>
              <a:t>,</a:t>
            </a:r>
            <a:r>
              <a:rPr lang="en-US" sz="1800" dirty="0">
                <a:solidFill>
                  <a:srgbClr val="FFFFFF"/>
                </a:solidFill>
                <a:latin typeface="Arial MT"/>
                <a:cs typeface="Arial MT"/>
              </a:rPr>
              <a:t> </a:t>
            </a:r>
            <a:r>
              <a:rPr sz="1800" spc="-20" dirty="0">
                <a:solidFill>
                  <a:srgbClr val="FFFFFF"/>
                </a:solidFill>
                <a:latin typeface="Arial MT"/>
                <a:cs typeface="Arial MT"/>
              </a:rPr>
              <a:t>20</a:t>
            </a:r>
            <a:r>
              <a:rPr lang="en-US" spc="-20" dirty="0">
                <a:solidFill>
                  <a:srgbClr val="FFFFFF"/>
                </a:solidFill>
                <a:latin typeface="Arial MT"/>
                <a:cs typeface="Arial MT"/>
              </a:rPr>
              <a:t>25</a:t>
            </a:r>
            <a:endParaRPr sz="1800" dirty="0">
              <a:latin typeface="Arial MT"/>
              <a:cs typeface="Arial MT"/>
            </a:endParaRPr>
          </a:p>
        </p:txBody>
      </p:sp>
    </p:spTree>
    <p:extLst>
      <p:ext uri="{BB962C8B-B14F-4D97-AF65-F5344CB8AC3E}">
        <p14:creationId xmlns:p14="http://schemas.microsoft.com/office/powerpoint/2010/main" val="1087209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2DF50-0FA9-178A-8A4A-A8195DC434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75ECE-6D89-D0E4-A10A-E136A6BE3BA3}"/>
              </a:ext>
            </a:extLst>
          </p:cNvPr>
          <p:cNvSpPr>
            <a:spLocks noGrp="1"/>
          </p:cNvSpPr>
          <p:nvPr>
            <p:ph type="title"/>
          </p:nvPr>
        </p:nvSpPr>
        <p:spPr>
          <a:xfrm>
            <a:off x="381000" y="754380"/>
            <a:ext cx="9343567" cy="430887"/>
          </a:xfrm>
        </p:spPr>
        <p:txBody>
          <a:bodyPr/>
          <a:lstStyle/>
          <a:p>
            <a:r>
              <a:rPr lang="en-IN" dirty="0"/>
              <a:t>Artificial Intelligence in Drones</a:t>
            </a:r>
          </a:p>
        </p:txBody>
      </p:sp>
      <p:sp>
        <p:nvSpPr>
          <p:cNvPr id="3" name="Text Placeholder 2">
            <a:extLst>
              <a:ext uri="{FF2B5EF4-FFF2-40B4-BE49-F238E27FC236}">
                <a16:creationId xmlns:a16="http://schemas.microsoft.com/office/drawing/2014/main" id="{AE3F7D88-8ADD-4CE5-8539-AB395933B918}"/>
              </a:ext>
            </a:extLst>
          </p:cNvPr>
          <p:cNvSpPr>
            <a:spLocks noGrp="1"/>
          </p:cNvSpPr>
          <p:nvPr>
            <p:ph type="body" idx="1"/>
          </p:nvPr>
        </p:nvSpPr>
        <p:spPr>
          <a:xfrm>
            <a:off x="381000" y="1600200"/>
            <a:ext cx="11201400" cy="1661993"/>
          </a:xfrm>
        </p:spPr>
        <p:txBody>
          <a:bodyPr/>
          <a:lstStyle/>
          <a:p>
            <a:r>
              <a:rPr lang="en-US" b="1" dirty="0"/>
              <a:t>Computer Vision: </a:t>
            </a:r>
            <a:r>
              <a:rPr lang="en-US" dirty="0"/>
              <a:t>Computer Vision is the technology that gives the drone its eyes. It processes images and videos from the onboard camera in real time to help the drone understand its surroundings. Using Python’s OpenCV library, we can extract important information from the live video feed such as detecting faces, objects, or edges and use that information to decide the drone’s next actions.</a:t>
            </a:r>
            <a:br>
              <a:rPr lang="en-US" dirty="0">
                <a:solidFill>
                  <a:schemeClr val="tx1"/>
                </a:solidFill>
              </a:rPr>
            </a:br>
            <a:br>
              <a:rPr lang="en-US" dirty="0">
                <a:solidFill>
                  <a:schemeClr val="tx1"/>
                </a:solidFill>
              </a:rPr>
            </a:br>
            <a:r>
              <a:rPr lang="en-US" dirty="0">
                <a:solidFill>
                  <a:schemeClr val="tx1"/>
                </a:solidFill>
              </a:rPr>
              <a:t>OpenCV (Open-Source Computer Vision) library will be used to analyze the video feed from the camera. </a:t>
            </a:r>
            <a:endParaRPr lang="en-US" dirty="0"/>
          </a:p>
        </p:txBody>
      </p:sp>
      <p:pic>
        <p:nvPicPr>
          <p:cNvPr id="7" name="Picture 6">
            <a:extLst>
              <a:ext uri="{FF2B5EF4-FFF2-40B4-BE49-F238E27FC236}">
                <a16:creationId xmlns:a16="http://schemas.microsoft.com/office/drawing/2014/main" id="{4E36BC56-EF2D-6166-AE17-E448702F01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6100" y="3595808"/>
            <a:ext cx="5791200" cy="2752199"/>
          </a:xfrm>
          <a:prstGeom prst="rect">
            <a:avLst/>
          </a:prstGeom>
        </p:spPr>
      </p:pic>
    </p:spTree>
    <p:extLst>
      <p:ext uri="{BB962C8B-B14F-4D97-AF65-F5344CB8AC3E}">
        <p14:creationId xmlns:p14="http://schemas.microsoft.com/office/powerpoint/2010/main" val="1251387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A1FBB-3A9D-DEE9-FB2A-7E0D22708F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B956CF-CE81-F283-05E9-A8AF2346C117}"/>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AF853B2F-C738-BA71-5C6A-68E6D7C4775E}"/>
              </a:ext>
            </a:extLst>
          </p:cNvPr>
          <p:cNvSpPr>
            <a:spLocks noGrp="1"/>
          </p:cNvSpPr>
          <p:nvPr>
            <p:ph type="body" idx="1"/>
          </p:nvPr>
        </p:nvSpPr>
        <p:spPr>
          <a:xfrm>
            <a:off x="381000" y="1600200"/>
            <a:ext cx="11201400" cy="1938992"/>
          </a:xfrm>
        </p:spPr>
        <p:txBody>
          <a:bodyPr/>
          <a:lstStyle/>
          <a:p>
            <a:r>
              <a:rPr lang="en-US" b="1" dirty="0"/>
              <a:t>Computer Vision: </a:t>
            </a:r>
            <a:r>
              <a:rPr lang="en-US" dirty="0"/>
              <a:t>Now, the prerequisites for computer vision is as follows</a:t>
            </a:r>
          </a:p>
          <a:p>
            <a:endParaRPr lang="en-US" dirty="0">
              <a:solidFill>
                <a:schemeClr val="tx1"/>
              </a:solidFill>
            </a:endParaRPr>
          </a:p>
          <a:p>
            <a:pPr marL="285750" indent="-285750">
              <a:buFont typeface="Arial" panose="020B0604020202020204" pitchFamily="34" charset="0"/>
              <a:buChar char="•"/>
            </a:pPr>
            <a:r>
              <a:rPr lang="en-US" sz="2400" dirty="0">
                <a:solidFill>
                  <a:schemeClr val="tx1"/>
                </a:solidFill>
              </a:rPr>
              <a:t>Any Webcam</a:t>
            </a:r>
          </a:p>
          <a:p>
            <a:pPr marL="285750" indent="-285750">
              <a:buFont typeface="Arial" panose="020B0604020202020204" pitchFamily="34" charset="0"/>
              <a:buChar char="•"/>
            </a:pPr>
            <a:r>
              <a:rPr lang="en-US" sz="2400" dirty="0">
                <a:solidFill>
                  <a:schemeClr val="tx1"/>
                </a:solidFill>
              </a:rPr>
              <a:t>VS Code</a:t>
            </a:r>
          </a:p>
          <a:p>
            <a:pPr marL="285750" indent="-285750">
              <a:buFont typeface="Arial" panose="020B0604020202020204" pitchFamily="34" charset="0"/>
              <a:buChar char="•"/>
            </a:pPr>
            <a:r>
              <a:rPr lang="en-US" sz="2400" dirty="0">
                <a:solidFill>
                  <a:schemeClr val="tx1"/>
                </a:solidFill>
              </a:rPr>
              <a:t>Python Libraries-</a:t>
            </a:r>
            <a:br>
              <a:rPr lang="en-US" dirty="0">
                <a:solidFill>
                  <a:schemeClr val="tx1"/>
                </a:solidFill>
              </a:rPr>
            </a:br>
            <a:endParaRPr lang="en-US" dirty="0"/>
          </a:p>
        </p:txBody>
      </p:sp>
      <p:pic>
        <p:nvPicPr>
          <p:cNvPr id="7" name="Picture 6">
            <a:extLst>
              <a:ext uri="{FF2B5EF4-FFF2-40B4-BE49-F238E27FC236}">
                <a16:creationId xmlns:a16="http://schemas.microsoft.com/office/drawing/2014/main" id="{ADB7F85E-129B-3026-3A2A-904A767CD3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1600" y="3657599"/>
            <a:ext cx="6248400" cy="2752199"/>
          </a:xfrm>
          <a:prstGeom prst="rect">
            <a:avLst/>
          </a:prstGeom>
        </p:spPr>
      </p:pic>
      <p:sp>
        <p:nvSpPr>
          <p:cNvPr id="4" name="TextBox 3">
            <a:extLst>
              <a:ext uri="{FF2B5EF4-FFF2-40B4-BE49-F238E27FC236}">
                <a16:creationId xmlns:a16="http://schemas.microsoft.com/office/drawing/2014/main" id="{E5331700-1052-A8C1-9B23-415DA423A7C9}"/>
              </a:ext>
            </a:extLst>
          </p:cNvPr>
          <p:cNvSpPr txBox="1"/>
          <p:nvPr/>
        </p:nvSpPr>
        <p:spPr>
          <a:xfrm>
            <a:off x="609600" y="3276600"/>
            <a:ext cx="2494594" cy="1200329"/>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t>opencv</a:t>
            </a:r>
            <a:r>
              <a:rPr lang="en-US" sz="2400" dirty="0"/>
              <a:t>-python</a:t>
            </a:r>
          </a:p>
          <a:p>
            <a:pPr marL="285750" indent="-285750">
              <a:buFont typeface="Wingdings" panose="05000000000000000000" pitchFamily="2" charset="2"/>
              <a:buChar char="Ø"/>
            </a:pPr>
            <a:r>
              <a:rPr lang="en-US" sz="2400" dirty="0" err="1"/>
              <a:t>numpy</a:t>
            </a:r>
            <a:endParaRPr lang="en-US" sz="2400" dirty="0"/>
          </a:p>
          <a:p>
            <a:pPr marL="285750" indent="-285750">
              <a:buFont typeface="Wingdings" panose="05000000000000000000" pitchFamily="2" charset="2"/>
              <a:buChar char="Ø"/>
            </a:pPr>
            <a:r>
              <a:rPr lang="en-US" sz="2400" dirty="0" err="1"/>
              <a:t>os</a:t>
            </a:r>
            <a:endParaRPr lang="en-US" sz="2400" dirty="0"/>
          </a:p>
        </p:txBody>
      </p:sp>
      <p:pic>
        <p:nvPicPr>
          <p:cNvPr id="6" name="Picture 5">
            <a:extLst>
              <a:ext uri="{FF2B5EF4-FFF2-40B4-BE49-F238E27FC236}">
                <a16:creationId xmlns:a16="http://schemas.microsoft.com/office/drawing/2014/main" id="{4D17FFD2-92D5-91C2-75BE-F57897EB4F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4319324"/>
            <a:ext cx="3190875" cy="1428750"/>
          </a:xfrm>
          <a:prstGeom prst="rect">
            <a:avLst/>
          </a:prstGeom>
        </p:spPr>
      </p:pic>
      <p:pic>
        <p:nvPicPr>
          <p:cNvPr id="9" name="Picture 8">
            <a:extLst>
              <a:ext uri="{FF2B5EF4-FFF2-40B4-BE49-F238E27FC236}">
                <a16:creationId xmlns:a16="http://schemas.microsoft.com/office/drawing/2014/main" id="{BD04F440-9FCE-F3EF-28A1-8483DFF22C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2600" y="1981200"/>
            <a:ext cx="2143125" cy="2143125"/>
          </a:xfrm>
          <a:prstGeom prst="rect">
            <a:avLst/>
          </a:prstGeom>
        </p:spPr>
      </p:pic>
    </p:spTree>
    <p:extLst>
      <p:ext uri="{BB962C8B-B14F-4D97-AF65-F5344CB8AC3E}">
        <p14:creationId xmlns:p14="http://schemas.microsoft.com/office/powerpoint/2010/main" val="2563096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9D2C2-11FB-5E72-518E-6156C8E1C2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FB0998-F014-22E2-60EC-2875A84C03E4}"/>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FCB39339-4BF4-4060-C2DF-765D52886C0F}"/>
              </a:ext>
            </a:extLst>
          </p:cNvPr>
          <p:cNvSpPr>
            <a:spLocks noGrp="1"/>
          </p:cNvSpPr>
          <p:nvPr>
            <p:ph type="body" idx="1"/>
          </p:nvPr>
        </p:nvSpPr>
        <p:spPr>
          <a:xfrm>
            <a:off x="381000" y="1600200"/>
            <a:ext cx="11201400" cy="2308324"/>
          </a:xfrm>
        </p:spPr>
        <p:txBody>
          <a:bodyPr/>
          <a:lstStyle/>
          <a:p>
            <a:r>
              <a:rPr lang="en-US" b="1" dirty="0"/>
              <a:t>Installations: (Python &amp; Git): </a:t>
            </a:r>
            <a:r>
              <a:rPr lang="en-US" dirty="0"/>
              <a:t>Download Python and Git from the links below </a:t>
            </a:r>
          </a:p>
          <a:p>
            <a:endParaRPr lang="en-US" i="1" u="sng" dirty="0">
              <a:solidFill>
                <a:schemeClr val="accent1">
                  <a:lumMod val="75000"/>
                </a:schemeClr>
              </a:solidFill>
            </a:endParaRPr>
          </a:p>
          <a:p>
            <a:pPr algn="ctr"/>
            <a:r>
              <a:rPr lang="en-US" i="1" u="sng" dirty="0">
                <a:solidFill>
                  <a:srgbClr val="0000FF"/>
                </a:solidFill>
              </a:rPr>
              <a:t>https://www.python.org/downloads</a:t>
            </a:r>
          </a:p>
          <a:p>
            <a:pPr algn="ctr"/>
            <a:r>
              <a:rPr lang="en-US" i="1" u="sng" dirty="0">
                <a:solidFill>
                  <a:schemeClr val="accent1">
                    <a:lumMod val="75000"/>
                  </a:schemeClr>
                </a:solidFill>
                <a:hlinkClick r:id="rId2"/>
              </a:rPr>
              <a:t>https://git-scm.com/downloads</a:t>
            </a:r>
            <a:endParaRPr lang="en-US" i="1" u="sng" dirty="0">
              <a:solidFill>
                <a:schemeClr val="accent1">
                  <a:lumMod val="75000"/>
                </a:schemeClr>
              </a:solidFill>
            </a:endParaRPr>
          </a:p>
          <a:p>
            <a:pPr algn="ctr"/>
            <a:endParaRPr lang="en-US" b="1" dirty="0"/>
          </a:p>
          <a:p>
            <a:r>
              <a:rPr lang="en-US" dirty="0"/>
              <a:t>Open your PowerShell (x86) and run these commands- “</a:t>
            </a:r>
            <a:r>
              <a:rPr lang="en-US" i="1" dirty="0">
                <a:solidFill>
                  <a:srgbClr val="595959"/>
                </a:solidFill>
              </a:rPr>
              <a:t>python --version</a:t>
            </a:r>
            <a:r>
              <a:rPr lang="en-US" dirty="0"/>
              <a:t>“ and “</a:t>
            </a:r>
            <a:r>
              <a:rPr lang="en-US" i="1" dirty="0">
                <a:solidFill>
                  <a:schemeClr val="tx1">
                    <a:lumMod val="65000"/>
                    <a:lumOff val="35000"/>
                  </a:schemeClr>
                </a:solidFill>
              </a:rPr>
              <a:t>git --version</a:t>
            </a:r>
            <a:r>
              <a:rPr lang="en-US" dirty="0"/>
              <a:t>“ </a:t>
            </a:r>
          </a:p>
          <a:p>
            <a:endParaRPr lang="en-US" dirty="0"/>
          </a:p>
          <a:p>
            <a:pPr algn="ctr"/>
            <a:r>
              <a:rPr lang="en-US" sz="2400" dirty="0"/>
              <a:t>If it is installed correctly, it’d show a message like this </a:t>
            </a:r>
          </a:p>
        </p:txBody>
      </p:sp>
      <p:pic>
        <p:nvPicPr>
          <p:cNvPr id="16" name="Picture 15">
            <a:extLst>
              <a:ext uri="{FF2B5EF4-FFF2-40B4-BE49-F238E27FC236}">
                <a16:creationId xmlns:a16="http://schemas.microsoft.com/office/drawing/2014/main" id="{69151F28-EC4D-9823-2274-8C994CA42E11}"/>
              </a:ext>
            </a:extLst>
          </p:cNvPr>
          <p:cNvPicPr>
            <a:picLocks noChangeAspect="1"/>
          </p:cNvPicPr>
          <p:nvPr/>
        </p:nvPicPr>
        <p:blipFill>
          <a:blip r:embed="rId3"/>
          <a:stretch>
            <a:fillRect/>
          </a:stretch>
        </p:blipFill>
        <p:spPr>
          <a:xfrm>
            <a:off x="1676400" y="4020581"/>
            <a:ext cx="8610600" cy="2474437"/>
          </a:xfrm>
          <a:prstGeom prst="rect">
            <a:avLst/>
          </a:prstGeom>
        </p:spPr>
      </p:pic>
    </p:spTree>
    <p:extLst>
      <p:ext uri="{BB962C8B-B14F-4D97-AF65-F5344CB8AC3E}">
        <p14:creationId xmlns:p14="http://schemas.microsoft.com/office/powerpoint/2010/main" val="4183395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1EDC7-B38C-5B42-D3AA-EEAFD4D6B7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999E87-E172-5B46-1ABF-1ECB637DC3B4}"/>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37592F64-FFD1-3F86-CEF2-530217E6DDC1}"/>
              </a:ext>
            </a:extLst>
          </p:cNvPr>
          <p:cNvSpPr>
            <a:spLocks noGrp="1"/>
          </p:cNvSpPr>
          <p:nvPr>
            <p:ph type="body" idx="1"/>
          </p:nvPr>
        </p:nvSpPr>
        <p:spPr>
          <a:xfrm>
            <a:off x="381000" y="1600200"/>
            <a:ext cx="11201400" cy="646331"/>
          </a:xfrm>
        </p:spPr>
        <p:txBody>
          <a:bodyPr/>
          <a:lstStyle/>
          <a:p>
            <a:r>
              <a:rPr lang="en-US" b="1" dirty="0"/>
              <a:t>Installations: (New Directory): </a:t>
            </a:r>
            <a:r>
              <a:rPr lang="en-US" dirty="0"/>
              <a:t>Create a </a:t>
            </a:r>
            <a:r>
              <a:rPr lang="en-US" b="1" dirty="0"/>
              <a:t>New Folder</a:t>
            </a:r>
            <a:r>
              <a:rPr lang="en-US" dirty="0"/>
              <a:t> (any drive on your device), name it and make sure that this folder is opened on your VS Code. This folder will be used from now on to work on the OpenCV. </a:t>
            </a:r>
            <a:endParaRPr lang="en-US" sz="2400" dirty="0"/>
          </a:p>
        </p:txBody>
      </p:sp>
      <p:pic>
        <p:nvPicPr>
          <p:cNvPr id="7" name="Picture 6">
            <a:extLst>
              <a:ext uri="{FF2B5EF4-FFF2-40B4-BE49-F238E27FC236}">
                <a16:creationId xmlns:a16="http://schemas.microsoft.com/office/drawing/2014/main" id="{CF617C02-485F-42D6-82AC-9E940EB92AC0}"/>
              </a:ext>
            </a:extLst>
          </p:cNvPr>
          <p:cNvPicPr>
            <a:picLocks noChangeAspect="1"/>
          </p:cNvPicPr>
          <p:nvPr/>
        </p:nvPicPr>
        <p:blipFill>
          <a:blip r:embed="rId2"/>
          <a:stretch>
            <a:fillRect/>
          </a:stretch>
        </p:blipFill>
        <p:spPr>
          <a:xfrm>
            <a:off x="228600" y="2661464"/>
            <a:ext cx="4063180" cy="3049844"/>
          </a:xfrm>
          <a:prstGeom prst="rect">
            <a:avLst/>
          </a:prstGeom>
        </p:spPr>
      </p:pic>
      <p:sp>
        <p:nvSpPr>
          <p:cNvPr id="8" name="Arrow: Right 7">
            <a:extLst>
              <a:ext uri="{FF2B5EF4-FFF2-40B4-BE49-F238E27FC236}">
                <a16:creationId xmlns:a16="http://schemas.microsoft.com/office/drawing/2014/main" id="{9B95FF75-88F9-BFA6-FE27-B492B2DD523C}"/>
              </a:ext>
            </a:extLst>
          </p:cNvPr>
          <p:cNvSpPr/>
          <p:nvPr/>
        </p:nvSpPr>
        <p:spPr>
          <a:xfrm>
            <a:off x="4572000" y="3962400"/>
            <a:ext cx="1614717" cy="457200"/>
          </a:xfrm>
          <a:prstGeom prst="rightArrow">
            <a:avLst>
              <a:gd name="adj1" fmla="val 50000"/>
              <a:gd name="adj2" fmla="val 84951"/>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Navigate</a:t>
            </a:r>
          </a:p>
        </p:txBody>
      </p:sp>
      <p:pic>
        <p:nvPicPr>
          <p:cNvPr id="10" name="Picture 9">
            <a:extLst>
              <a:ext uri="{FF2B5EF4-FFF2-40B4-BE49-F238E27FC236}">
                <a16:creationId xmlns:a16="http://schemas.microsoft.com/office/drawing/2014/main" id="{988D7E50-753C-63CE-95E3-9DE0E35EFB6C}"/>
              </a:ext>
            </a:extLst>
          </p:cNvPr>
          <p:cNvPicPr>
            <a:picLocks noChangeAspect="1"/>
          </p:cNvPicPr>
          <p:nvPr/>
        </p:nvPicPr>
        <p:blipFill>
          <a:blip r:embed="rId3"/>
          <a:stretch>
            <a:fillRect/>
          </a:stretch>
        </p:blipFill>
        <p:spPr>
          <a:xfrm>
            <a:off x="6400800" y="2661464"/>
            <a:ext cx="5625810" cy="3049845"/>
          </a:xfrm>
          <a:prstGeom prst="rect">
            <a:avLst/>
          </a:prstGeom>
        </p:spPr>
      </p:pic>
    </p:spTree>
    <p:extLst>
      <p:ext uri="{BB962C8B-B14F-4D97-AF65-F5344CB8AC3E}">
        <p14:creationId xmlns:p14="http://schemas.microsoft.com/office/powerpoint/2010/main" val="154902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3F0BD-C299-2368-53B5-D82B99A90E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D11857-B611-E953-299B-3A289FAA5268}"/>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8DABB941-8629-36C8-593D-D00BA0223FB5}"/>
              </a:ext>
            </a:extLst>
          </p:cNvPr>
          <p:cNvSpPr>
            <a:spLocks noGrp="1"/>
          </p:cNvSpPr>
          <p:nvPr>
            <p:ph type="body" idx="1"/>
          </p:nvPr>
        </p:nvSpPr>
        <p:spPr>
          <a:xfrm>
            <a:off x="381000" y="1447800"/>
            <a:ext cx="11582400" cy="1107996"/>
          </a:xfrm>
        </p:spPr>
        <p:txBody>
          <a:bodyPr/>
          <a:lstStyle/>
          <a:p>
            <a:pPr algn="l"/>
            <a:r>
              <a:rPr lang="en-US" b="1" dirty="0"/>
              <a:t>Installations: (Haar-cascades): </a:t>
            </a:r>
            <a:r>
              <a:rPr lang="en-US" dirty="0"/>
              <a:t>Next, </a:t>
            </a:r>
            <a:r>
              <a:rPr lang="en-US" b="1" dirty="0"/>
              <a:t>Haar Cascades</a:t>
            </a:r>
            <a:r>
              <a:rPr lang="en-US" dirty="0"/>
              <a:t> are .XML files that contain pre-trained models used to detect objects like faces, eyes, and other patterns from images or video feeds. These files are needed for </a:t>
            </a:r>
            <a:r>
              <a:rPr lang="en-US" b="1" dirty="0"/>
              <a:t>object detection</a:t>
            </a:r>
            <a:r>
              <a:rPr lang="en-US" dirty="0"/>
              <a:t> tasks in drones, such as recognizing obstacles or tracking targets in real time. The files are available on the OpenCV’s GitHub repository, which you can download by cloning the entire repository using the link- </a:t>
            </a:r>
            <a:r>
              <a:rPr lang="en-US" i="1" u="sng" dirty="0">
                <a:solidFill>
                  <a:srgbClr val="0000FF"/>
                </a:solidFill>
              </a:rPr>
              <a:t>https://github.com/opencv/opencv.git </a:t>
            </a:r>
          </a:p>
        </p:txBody>
      </p:sp>
      <p:pic>
        <p:nvPicPr>
          <p:cNvPr id="7" name="Picture 6">
            <a:extLst>
              <a:ext uri="{FF2B5EF4-FFF2-40B4-BE49-F238E27FC236}">
                <a16:creationId xmlns:a16="http://schemas.microsoft.com/office/drawing/2014/main" id="{DB6CF645-7571-E87D-AC38-6EB12FEDC334}"/>
              </a:ext>
            </a:extLst>
          </p:cNvPr>
          <p:cNvPicPr>
            <a:picLocks noChangeAspect="1"/>
          </p:cNvPicPr>
          <p:nvPr/>
        </p:nvPicPr>
        <p:blipFill>
          <a:blip r:embed="rId2"/>
          <a:stretch>
            <a:fillRect/>
          </a:stretch>
        </p:blipFill>
        <p:spPr>
          <a:xfrm>
            <a:off x="3162297" y="3667803"/>
            <a:ext cx="5867399" cy="1219200"/>
          </a:xfrm>
          <a:prstGeom prst="rect">
            <a:avLst/>
          </a:prstGeom>
        </p:spPr>
      </p:pic>
      <p:sp>
        <p:nvSpPr>
          <p:cNvPr id="8" name="TextBox 7">
            <a:extLst>
              <a:ext uri="{FF2B5EF4-FFF2-40B4-BE49-F238E27FC236}">
                <a16:creationId xmlns:a16="http://schemas.microsoft.com/office/drawing/2014/main" id="{54F4D4F2-0417-BD14-A3CA-A1F6DDCBC1DF}"/>
              </a:ext>
            </a:extLst>
          </p:cNvPr>
          <p:cNvSpPr txBox="1"/>
          <p:nvPr/>
        </p:nvSpPr>
        <p:spPr>
          <a:xfrm>
            <a:off x="1314077" y="2987741"/>
            <a:ext cx="9563837" cy="461665"/>
          </a:xfrm>
          <a:prstGeom prst="rect">
            <a:avLst/>
          </a:prstGeom>
          <a:noFill/>
        </p:spPr>
        <p:txBody>
          <a:bodyPr wrap="none" rtlCol="0">
            <a:spAutoFit/>
          </a:bodyPr>
          <a:lstStyle/>
          <a:p>
            <a:pPr algn="l"/>
            <a:r>
              <a:rPr lang="en-US" sz="2400" dirty="0"/>
              <a:t>Git clone all the OpenCV files in a new folder in your VS Code folder.</a:t>
            </a:r>
          </a:p>
        </p:txBody>
      </p:sp>
      <p:pic>
        <p:nvPicPr>
          <p:cNvPr id="10" name="Picture 9">
            <a:extLst>
              <a:ext uri="{FF2B5EF4-FFF2-40B4-BE49-F238E27FC236}">
                <a16:creationId xmlns:a16="http://schemas.microsoft.com/office/drawing/2014/main" id="{960E7258-FE6D-6480-39C9-FC8EF6CFA259}"/>
              </a:ext>
            </a:extLst>
          </p:cNvPr>
          <p:cNvPicPr>
            <a:picLocks noChangeAspect="1"/>
          </p:cNvPicPr>
          <p:nvPr/>
        </p:nvPicPr>
        <p:blipFill>
          <a:blip r:embed="rId3"/>
          <a:stretch>
            <a:fillRect/>
          </a:stretch>
        </p:blipFill>
        <p:spPr>
          <a:xfrm>
            <a:off x="856039" y="5105400"/>
            <a:ext cx="10479916" cy="1072312"/>
          </a:xfrm>
          <a:prstGeom prst="rect">
            <a:avLst/>
          </a:prstGeom>
        </p:spPr>
      </p:pic>
    </p:spTree>
    <p:extLst>
      <p:ext uri="{BB962C8B-B14F-4D97-AF65-F5344CB8AC3E}">
        <p14:creationId xmlns:p14="http://schemas.microsoft.com/office/powerpoint/2010/main" val="4174040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18C91-9BE2-F9F8-FA9C-B9717619D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54CFB9-F986-6214-1ECF-435B3F9488EF}"/>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C0421B49-8452-6F4D-5E1C-BC322C3EA614}"/>
              </a:ext>
            </a:extLst>
          </p:cNvPr>
          <p:cNvSpPr>
            <a:spLocks noGrp="1"/>
          </p:cNvSpPr>
          <p:nvPr>
            <p:ph type="body" idx="1"/>
          </p:nvPr>
        </p:nvSpPr>
        <p:spPr>
          <a:xfrm>
            <a:off x="381000" y="1447800"/>
            <a:ext cx="11582400" cy="553998"/>
          </a:xfrm>
        </p:spPr>
        <p:txBody>
          <a:bodyPr/>
          <a:lstStyle/>
          <a:p>
            <a:pPr algn="l"/>
            <a:r>
              <a:rPr lang="en-US" b="1" dirty="0"/>
              <a:t>Installations: (Haar-cascades): </a:t>
            </a:r>
            <a:r>
              <a:rPr lang="en-US" dirty="0"/>
              <a:t>If downloaded correctly, the </a:t>
            </a:r>
            <a:r>
              <a:rPr lang="en-US" dirty="0" err="1"/>
              <a:t>openCV</a:t>
            </a:r>
            <a:r>
              <a:rPr lang="en-US" dirty="0"/>
              <a:t> files would be downloaded into the VS Code folder that was open. In that newly cloned folder, we can find the Haar-Cascades in </a:t>
            </a:r>
            <a:r>
              <a:rPr lang="en-US" i="1" u="sng" dirty="0"/>
              <a:t>/data/</a:t>
            </a:r>
            <a:r>
              <a:rPr lang="en-US" i="1" u="sng" dirty="0" err="1"/>
              <a:t>haarcascades</a:t>
            </a:r>
            <a:r>
              <a:rPr lang="en-US" i="1" u="sng" dirty="0"/>
              <a:t>/</a:t>
            </a:r>
            <a:r>
              <a:rPr lang="en-US" dirty="0"/>
              <a:t> </a:t>
            </a:r>
            <a:endParaRPr lang="en-US" i="1" u="sng" dirty="0">
              <a:solidFill>
                <a:srgbClr val="0000FF"/>
              </a:solidFill>
            </a:endParaRPr>
          </a:p>
        </p:txBody>
      </p:sp>
      <p:pic>
        <p:nvPicPr>
          <p:cNvPr id="9" name="Picture 8">
            <a:extLst>
              <a:ext uri="{FF2B5EF4-FFF2-40B4-BE49-F238E27FC236}">
                <a16:creationId xmlns:a16="http://schemas.microsoft.com/office/drawing/2014/main" id="{934F205D-B082-A281-6E25-D7CEF1FE66E8}"/>
              </a:ext>
            </a:extLst>
          </p:cNvPr>
          <p:cNvPicPr>
            <a:picLocks noChangeAspect="1"/>
          </p:cNvPicPr>
          <p:nvPr/>
        </p:nvPicPr>
        <p:blipFill>
          <a:blip r:embed="rId2"/>
          <a:stretch>
            <a:fillRect/>
          </a:stretch>
        </p:blipFill>
        <p:spPr>
          <a:xfrm>
            <a:off x="1285875" y="2185772"/>
            <a:ext cx="9772650" cy="2159606"/>
          </a:xfrm>
          <a:prstGeom prst="rect">
            <a:avLst/>
          </a:prstGeom>
        </p:spPr>
      </p:pic>
      <p:pic>
        <p:nvPicPr>
          <p:cNvPr id="12" name="Picture 11">
            <a:extLst>
              <a:ext uri="{FF2B5EF4-FFF2-40B4-BE49-F238E27FC236}">
                <a16:creationId xmlns:a16="http://schemas.microsoft.com/office/drawing/2014/main" id="{989CFBFD-E756-396E-092A-E0911435798D}"/>
              </a:ext>
            </a:extLst>
          </p:cNvPr>
          <p:cNvPicPr>
            <a:picLocks noChangeAspect="1"/>
          </p:cNvPicPr>
          <p:nvPr/>
        </p:nvPicPr>
        <p:blipFill>
          <a:blip r:embed="rId3"/>
          <a:stretch>
            <a:fillRect/>
          </a:stretch>
        </p:blipFill>
        <p:spPr>
          <a:xfrm>
            <a:off x="952500" y="4412476"/>
            <a:ext cx="10439400" cy="1995448"/>
          </a:xfrm>
          <a:prstGeom prst="rect">
            <a:avLst/>
          </a:prstGeom>
        </p:spPr>
      </p:pic>
      <p:sp>
        <p:nvSpPr>
          <p:cNvPr id="5" name="Arrow: Left 4">
            <a:extLst>
              <a:ext uri="{FF2B5EF4-FFF2-40B4-BE49-F238E27FC236}">
                <a16:creationId xmlns:a16="http://schemas.microsoft.com/office/drawing/2014/main" id="{FE9F947C-5511-6143-C4AF-776B9F7CDFC5}"/>
              </a:ext>
            </a:extLst>
          </p:cNvPr>
          <p:cNvSpPr/>
          <p:nvPr/>
        </p:nvSpPr>
        <p:spPr>
          <a:xfrm>
            <a:off x="7620000" y="2878309"/>
            <a:ext cx="1326293" cy="381000"/>
          </a:xfrm>
          <a:prstGeom prst="leftArrow">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 name="Frame 5">
            <a:extLst>
              <a:ext uri="{FF2B5EF4-FFF2-40B4-BE49-F238E27FC236}">
                <a16:creationId xmlns:a16="http://schemas.microsoft.com/office/drawing/2014/main" id="{0C2A6E17-037A-DA75-66E4-BAE98D166176}"/>
              </a:ext>
            </a:extLst>
          </p:cNvPr>
          <p:cNvSpPr/>
          <p:nvPr/>
        </p:nvSpPr>
        <p:spPr>
          <a:xfrm>
            <a:off x="5410200" y="2971800"/>
            <a:ext cx="2133600" cy="194018"/>
          </a:xfrm>
          <a:prstGeom prst="fram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778040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1AC9F-E772-7E2A-069E-F82409DD4D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28EBA0-0034-7BEF-2B8A-2AABEA01B92B}"/>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115CA81D-2300-C493-F318-23FBAB444846}"/>
              </a:ext>
            </a:extLst>
          </p:cNvPr>
          <p:cNvSpPr>
            <a:spLocks noGrp="1"/>
          </p:cNvSpPr>
          <p:nvPr>
            <p:ph type="body" idx="1"/>
          </p:nvPr>
        </p:nvSpPr>
        <p:spPr>
          <a:xfrm>
            <a:off x="381000" y="1447800"/>
            <a:ext cx="11582400" cy="553998"/>
          </a:xfrm>
        </p:spPr>
        <p:txBody>
          <a:bodyPr/>
          <a:lstStyle/>
          <a:p>
            <a:pPr algn="l"/>
            <a:r>
              <a:rPr lang="en-US" b="1" dirty="0"/>
              <a:t>Installations: (Libraries): </a:t>
            </a:r>
            <a:r>
              <a:rPr lang="en-US" dirty="0"/>
              <a:t>Next, we will be downloading all the python libraries that we will be using in the OpenCV for Drones. In the VS Code terminal, run this command- </a:t>
            </a:r>
            <a:r>
              <a:rPr lang="en-US" i="1" dirty="0"/>
              <a:t>“pip install </a:t>
            </a:r>
            <a:r>
              <a:rPr lang="en-US" i="1" dirty="0" err="1"/>
              <a:t>opencv</a:t>
            </a:r>
            <a:r>
              <a:rPr lang="en-US" i="1" dirty="0"/>
              <a:t>-python </a:t>
            </a:r>
            <a:r>
              <a:rPr lang="en-US" i="1" dirty="0" err="1"/>
              <a:t>numpy</a:t>
            </a:r>
            <a:r>
              <a:rPr lang="en-US" i="1" dirty="0"/>
              <a:t> pandas”</a:t>
            </a:r>
            <a:endParaRPr lang="en-US" i="1" dirty="0">
              <a:solidFill>
                <a:srgbClr val="0000FF"/>
              </a:solidFill>
            </a:endParaRPr>
          </a:p>
        </p:txBody>
      </p:sp>
      <p:pic>
        <p:nvPicPr>
          <p:cNvPr id="5" name="Picture 4">
            <a:extLst>
              <a:ext uri="{FF2B5EF4-FFF2-40B4-BE49-F238E27FC236}">
                <a16:creationId xmlns:a16="http://schemas.microsoft.com/office/drawing/2014/main" id="{B2E46C9D-E616-1FFA-D0C0-2FDCA5950B6B}"/>
              </a:ext>
            </a:extLst>
          </p:cNvPr>
          <p:cNvPicPr>
            <a:picLocks noChangeAspect="1"/>
          </p:cNvPicPr>
          <p:nvPr/>
        </p:nvPicPr>
        <p:blipFill>
          <a:blip r:embed="rId2"/>
          <a:stretch>
            <a:fillRect/>
          </a:stretch>
        </p:blipFill>
        <p:spPr>
          <a:xfrm>
            <a:off x="369617" y="2755305"/>
            <a:ext cx="11452765" cy="1397941"/>
          </a:xfrm>
          <a:prstGeom prst="rect">
            <a:avLst/>
          </a:prstGeom>
        </p:spPr>
      </p:pic>
      <p:sp>
        <p:nvSpPr>
          <p:cNvPr id="6" name="TextBox 5">
            <a:extLst>
              <a:ext uri="{FF2B5EF4-FFF2-40B4-BE49-F238E27FC236}">
                <a16:creationId xmlns:a16="http://schemas.microsoft.com/office/drawing/2014/main" id="{158E52A0-0DA1-629B-FF21-42E3BE87244D}"/>
              </a:ext>
            </a:extLst>
          </p:cNvPr>
          <p:cNvSpPr txBox="1"/>
          <p:nvPr/>
        </p:nvSpPr>
        <p:spPr>
          <a:xfrm>
            <a:off x="680670" y="4927468"/>
            <a:ext cx="10983060" cy="646331"/>
          </a:xfrm>
          <a:prstGeom prst="rect">
            <a:avLst/>
          </a:prstGeom>
          <a:noFill/>
        </p:spPr>
        <p:txBody>
          <a:bodyPr wrap="square" rtlCol="0">
            <a:spAutoFit/>
          </a:bodyPr>
          <a:lstStyle/>
          <a:p>
            <a:pPr algn="ctr"/>
            <a:r>
              <a:rPr lang="en-US" dirty="0"/>
              <a:t>If you are facing errors while running this command even after spell checks, reinstall python on your computer, making sure that while installation process Python was added to the path. (Add Python to Path)</a:t>
            </a:r>
          </a:p>
        </p:txBody>
      </p:sp>
    </p:spTree>
    <p:extLst>
      <p:ext uri="{BB962C8B-B14F-4D97-AF65-F5344CB8AC3E}">
        <p14:creationId xmlns:p14="http://schemas.microsoft.com/office/powerpoint/2010/main" val="3484621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DDB4C-2462-67DE-D960-3C8412902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1D7EAF-7657-F234-3DBB-CC4A48230697}"/>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666E0694-FB4D-6563-6E60-2D947DC1CB92}"/>
              </a:ext>
            </a:extLst>
          </p:cNvPr>
          <p:cNvSpPr>
            <a:spLocks noGrp="1"/>
          </p:cNvSpPr>
          <p:nvPr>
            <p:ph type="body" idx="1"/>
          </p:nvPr>
        </p:nvSpPr>
        <p:spPr>
          <a:xfrm>
            <a:off x="344010" y="1600200"/>
            <a:ext cx="11582400" cy="923330"/>
          </a:xfrm>
        </p:spPr>
        <p:txBody>
          <a:bodyPr/>
          <a:lstStyle/>
          <a:p>
            <a:pPr algn="l"/>
            <a:r>
              <a:rPr lang="en-US" sz="2400" b="1" dirty="0"/>
              <a:t>OpenCV: </a:t>
            </a:r>
            <a:r>
              <a:rPr lang="en-US" dirty="0"/>
              <a:t>This library has few functions that will be used heavily from image detection to video analysis.</a:t>
            </a:r>
          </a:p>
          <a:p>
            <a:pPr algn="l"/>
            <a:endParaRPr lang="en-US" dirty="0"/>
          </a:p>
          <a:p>
            <a:pPr algn="l"/>
            <a:r>
              <a:rPr lang="en-US" dirty="0"/>
              <a:t> </a:t>
            </a:r>
            <a:endParaRPr lang="en-US" i="1" dirty="0">
              <a:solidFill>
                <a:srgbClr val="0000FF"/>
              </a:solidFill>
            </a:endParaRPr>
          </a:p>
        </p:txBody>
      </p:sp>
      <p:sp>
        <p:nvSpPr>
          <p:cNvPr id="4" name="TextBox 3">
            <a:extLst>
              <a:ext uri="{FF2B5EF4-FFF2-40B4-BE49-F238E27FC236}">
                <a16:creationId xmlns:a16="http://schemas.microsoft.com/office/drawing/2014/main" id="{0D762916-3519-D958-3110-A9039035A55A}"/>
              </a:ext>
            </a:extLst>
          </p:cNvPr>
          <p:cNvSpPr txBox="1"/>
          <p:nvPr/>
        </p:nvSpPr>
        <p:spPr>
          <a:xfrm>
            <a:off x="304800" y="2227600"/>
            <a:ext cx="11658600" cy="3970318"/>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sym typeface="Wingdings" panose="05000000000000000000" pitchFamily="2" charset="2"/>
              </a:rPr>
              <a:t> </a:t>
            </a:r>
            <a:r>
              <a:rPr kumimoji="0" lang="en-US" altLang="en-US" b="1" i="0" u="none" strike="noStrike" cap="none" normalizeH="0" baseline="0" dirty="0">
                <a:ln>
                  <a:noFill/>
                </a:ln>
                <a:solidFill>
                  <a:schemeClr val="tx1"/>
                </a:solidFill>
                <a:effectLst/>
                <a:latin typeface="Arial Unicode MS"/>
              </a:rPr>
              <a:t>cv2.imread(‘path’)</a:t>
            </a:r>
            <a:r>
              <a:rPr kumimoji="0" lang="en-US" altLang="en-US" b="0" i="0" u="none" strike="noStrike" cap="none" normalizeH="0" baseline="0" dirty="0">
                <a:ln>
                  <a:noFill/>
                </a:ln>
                <a:solidFill>
                  <a:schemeClr val="tx1"/>
                </a:solidFill>
                <a:effectLst/>
              </a:rPr>
              <a:t> → load an image from the path [ Ex: </a:t>
            </a:r>
            <a:r>
              <a:rPr kumimoji="0" lang="en-US" altLang="en-US" b="0" i="1" u="none" strike="noStrike" cap="none" normalizeH="0" baseline="0" dirty="0">
                <a:ln>
                  <a:noFill/>
                </a:ln>
                <a:solidFill>
                  <a:schemeClr val="tx1"/>
                </a:solidFill>
                <a:effectLst/>
              </a:rPr>
              <a:t>img1 = cv2.imread(‘Photos/Mona_Lisa.jpg‘) </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a:ln>
                  <a:noFill/>
                </a:ln>
                <a:solidFill>
                  <a:schemeClr val="tx1"/>
                </a:solidFill>
                <a:effectLst/>
                <a:latin typeface="Arial Unicode MS"/>
              </a:rPr>
              <a:t>cv2.imshow(‘Window’, </a:t>
            </a:r>
            <a:r>
              <a:rPr kumimoji="0" lang="en-US" altLang="en-US" b="1" i="0" u="none" strike="noStrike" cap="none" normalizeH="0" baseline="0" dirty="0" err="1">
                <a:ln>
                  <a:noFill/>
                </a:ln>
                <a:solidFill>
                  <a:schemeClr val="tx1"/>
                </a:solidFill>
                <a:effectLst/>
                <a:latin typeface="Arial Unicode MS"/>
              </a:rPr>
              <a:t>img</a:t>
            </a:r>
            <a:r>
              <a:rPr kumimoji="0" lang="en-US" altLang="en-US" b="1" i="0" u="none" strike="noStrike" cap="none" normalizeH="0" baseline="0" dirty="0">
                <a:ln>
                  <a:noFill/>
                </a:ln>
                <a:solidFill>
                  <a:schemeClr val="tx1"/>
                </a:solidFill>
                <a:effectLst/>
                <a:latin typeface="Arial Unicode MS"/>
              </a:rPr>
              <a:t>)</a:t>
            </a:r>
            <a:r>
              <a:rPr kumimoji="0" lang="en-US" altLang="en-US" b="0" i="0" u="none" strike="noStrike" cap="none" normalizeH="0" baseline="0" dirty="0">
                <a:ln>
                  <a:noFill/>
                </a:ln>
                <a:solidFill>
                  <a:schemeClr val="tx1"/>
                </a:solidFill>
                <a:effectLst/>
              </a:rPr>
              <a:t> → display the image named “</a:t>
            </a:r>
            <a:r>
              <a:rPr kumimoji="0" lang="en-US" altLang="en-US" b="0" i="0" u="none" strike="noStrike" cap="none" normalizeH="0" baseline="0" dirty="0" err="1">
                <a:ln>
                  <a:noFill/>
                </a:ln>
                <a:solidFill>
                  <a:schemeClr val="tx1"/>
                </a:solidFill>
                <a:effectLst/>
              </a:rPr>
              <a:t>img</a:t>
            </a:r>
            <a:r>
              <a:rPr kumimoji="0" lang="en-US" altLang="en-US" b="0" i="0" u="none" strike="noStrike" cap="none" normalizeH="0" baseline="0" dirty="0">
                <a:ln>
                  <a:noFill/>
                </a:ln>
                <a:solidFill>
                  <a:schemeClr val="tx1"/>
                </a:solidFill>
                <a:effectLst/>
              </a:rPr>
              <a:t>” in the code in a new window named “Window“</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a:ln>
                  <a:noFill/>
                </a:ln>
                <a:solidFill>
                  <a:schemeClr val="tx1"/>
                </a:solidFill>
                <a:effectLst/>
                <a:latin typeface="Arial Unicode MS"/>
              </a:rPr>
              <a:t>cv2.imwrite(‘output.jpg’, </a:t>
            </a:r>
            <a:r>
              <a:rPr kumimoji="0" lang="en-US" altLang="en-US" b="1" i="0" u="none" strike="noStrike" cap="none" normalizeH="0" baseline="0" dirty="0" err="1">
                <a:ln>
                  <a:noFill/>
                </a:ln>
                <a:solidFill>
                  <a:schemeClr val="tx1"/>
                </a:solidFill>
                <a:effectLst/>
                <a:latin typeface="Arial Unicode MS"/>
              </a:rPr>
              <a:t>img</a:t>
            </a:r>
            <a:r>
              <a:rPr kumimoji="0" lang="en-US" altLang="en-US" b="1" i="0" u="none" strike="noStrike" cap="none" normalizeH="0" baseline="0" dirty="0">
                <a:ln>
                  <a:noFill/>
                </a:ln>
                <a:solidFill>
                  <a:schemeClr val="tx1"/>
                </a:solidFill>
                <a:effectLst/>
                <a:latin typeface="Arial Unicode MS"/>
              </a:rPr>
              <a:t>)</a:t>
            </a:r>
            <a:r>
              <a:rPr kumimoji="0" lang="en-US" altLang="en-US" b="0" i="0" u="none" strike="noStrike" cap="none" normalizeH="0" baseline="0" dirty="0">
                <a:ln>
                  <a:noFill/>
                </a:ln>
                <a:solidFill>
                  <a:schemeClr val="tx1"/>
                </a:solidFill>
                <a:effectLst/>
              </a:rPr>
              <a:t> → save an image and name it “output.jpg“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a:ln>
                  <a:noFill/>
                </a:ln>
                <a:solidFill>
                  <a:schemeClr val="tx1"/>
                </a:solidFill>
                <a:effectLst/>
                <a:latin typeface="Arial Unicode MS"/>
              </a:rPr>
              <a:t>cv2.VideoCapture(0)</a:t>
            </a:r>
            <a:r>
              <a:rPr kumimoji="0" lang="en-US" altLang="en-US" b="0" i="0" u="none" strike="noStrike" cap="none" normalizeH="0" baseline="0" dirty="0">
                <a:ln>
                  <a:noFill/>
                </a:ln>
                <a:solidFill>
                  <a:schemeClr val="tx1"/>
                </a:solidFill>
                <a:effectLst/>
              </a:rPr>
              <a:t> → open webcam (or video file later) [ Ex: cap1 = cv2.VideoCapture(0)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a:ln>
                  <a:noFill/>
                </a:ln>
                <a:solidFill>
                  <a:schemeClr val="tx1"/>
                </a:solidFill>
                <a:effectLst/>
                <a:latin typeface="Arial Unicode MS"/>
              </a:rPr>
              <a:t>ret, frame = </a:t>
            </a:r>
            <a:r>
              <a:rPr kumimoji="0" lang="en-US" altLang="en-US" b="1" i="0" u="none" strike="noStrike" cap="none" normalizeH="0" baseline="0" dirty="0" err="1">
                <a:ln>
                  <a:noFill/>
                </a:ln>
                <a:solidFill>
                  <a:schemeClr val="tx1"/>
                </a:solidFill>
                <a:effectLst/>
                <a:latin typeface="Arial Unicode MS"/>
              </a:rPr>
              <a:t>cap.read</a:t>
            </a:r>
            <a:r>
              <a:rPr kumimoji="0" lang="en-US" altLang="en-US" b="1" i="0" u="none" strike="noStrike" cap="none" normalizeH="0" baseline="0" dirty="0">
                <a:ln>
                  <a:noFill/>
                </a:ln>
                <a:solidFill>
                  <a:schemeClr val="tx1"/>
                </a:solidFill>
                <a:effectLst/>
                <a:latin typeface="Arial Unicode MS"/>
              </a:rPr>
              <a:t>()</a:t>
            </a:r>
            <a:r>
              <a:rPr kumimoji="0" lang="en-US" altLang="en-US" b="0" i="0" u="none" strike="noStrike" cap="none" normalizeH="0" baseline="0" dirty="0">
                <a:ln>
                  <a:noFill/>
                </a:ln>
                <a:solidFill>
                  <a:schemeClr val="tx1"/>
                </a:solidFill>
                <a:effectLst/>
              </a:rPr>
              <a:t> → read a frame from video</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a:ln>
                  <a:noFill/>
                </a:ln>
                <a:solidFill>
                  <a:schemeClr val="tx1"/>
                </a:solidFill>
                <a:effectLst/>
                <a:latin typeface="Arial Unicode MS"/>
              </a:rPr>
              <a:t>cv2.waitKey(x)</a:t>
            </a:r>
            <a:r>
              <a:rPr kumimoji="0" lang="en-US" altLang="en-US" b="0" i="0" u="none" strike="noStrike" cap="none" normalizeH="0" baseline="0" dirty="0">
                <a:ln>
                  <a:noFill/>
                </a:ln>
                <a:solidFill>
                  <a:schemeClr val="tx1"/>
                </a:solidFill>
                <a:effectLst/>
              </a:rPr>
              <a:t> → wait for key press “x“ milli-seconds, if 0, then keep it on until a key is pressed.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a:ln>
                  <a:noFill/>
                </a:ln>
                <a:solidFill>
                  <a:schemeClr val="tx1"/>
                </a:solidFill>
                <a:effectLst/>
                <a:latin typeface="Arial Unicode MS"/>
              </a:rPr>
              <a:t>cv2.destroyAllWindows()</a:t>
            </a:r>
            <a:r>
              <a:rPr kumimoji="0" lang="en-US" altLang="en-US" b="0" i="0" u="none" strike="noStrike" cap="none" normalizeH="0" baseline="0" dirty="0">
                <a:ln>
                  <a:noFill/>
                </a:ln>
                <a:solidFill>
                  <a:schemeClr val="tx1"/>
                </a:solidFill>
                <a:effectLst/>
              </a:rPr>
              <a:t> → close all windows that were opened. </a:t>
            </a:r>
            <a:endParaRPr kumimoji="0" lang="en-US" altLang="en-US" b="0" i="0" u="none" strike="noStrike" cap="none" normalizeH="0" baseline="0" dirty="0">
              <a:ln>
                <a:noFill/>
              </a:ln>
              <a:solidFill>
                <a:schemeClr val="tx1"/>
              </a:solidFill>
              <a:effectLst/>
              <a:latin typeface="Arial" panose="020B0604020202020204" pitchFamily="34" charset="0"/>
            </a:endParaRPr>
          </a:p>
          <a:p>
            <a:endParaRPr lang="en-US" dirty="0"/>
          </a:p>
        </p:txBody>
      </p:sp>
    </p:spTree>
    <p:extLst>
      <p:ext uri="{BB962C8B-B14F-4D97-AF65-F5344CB8AC3E}">
        <p14:creationId xmlns:p14="http://schemas.microsoft.com/office/powerpoint/2010/main" val="2522009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B631A-2356-BBF8-F4F0-56F601693C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7BACEB-5012-7816-A33E-CC5B8E6FC8E5}"/>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65759EF7-8F8D-B8F8-58F0-E25874CC90C6}"/>
              </a:ext>
            </a:extLst>
          </p:cNvPr>
          <p:cNvSpPr>
            <a:spLocks noGrp="1"/>
          </p:cNvSpPr>
          <p:nvPr>
            <p:ph type="body" idx="1"/>
          </p:nvPr>
        </p:nvSpPr>
        <p:spPr>
          <a:xfrm>
            <a:off x="304800" y="1600200"/>
            <a:ext cx="11582400" cy="1569660"/>
          </a:xfrm>
        </p:spPr>
        <p:txBody>
          <a:bodyPr/>
          <a:lstStyle/>
          <a:p>
            <a:pPr algn="l"/>
            <a:r>
              <a:rPr lang="en-US" sz="2400" b="1" dirty="0"/>
              <a:t>Image Analysis: </a:t>
            </a:r>
            <a:r>
              <a:rPr lang="en-US" b="1" dirty="0"/>
              <a:t>Basics: </a:t>
            </a:r>
            <a:r>
              <a:rPr lang="en-US" dirty="0"/>
              <a:t>Using the OpenCV library, we can analyze and manipulate the images and video feed. Let’s start with the basic image manipulation using the built-in functions of OpenCV. </a:t>
            </a:r>
          </a:p>
          <a:p>
            <a:pPr algn="l"/>
            <a:endParaRPr lang="en-US" sz="2400" dirty="0"/>
          </a:p>
          <a:p>
            <a:pPr marL="342900" indent="-342900" algn="l">
              <a:buAutoNum type="arabicPeriod"/>
            </a:pPr>
            <a:r>
              <a:rPr lang="en-US" dirty="0"/>
              <a:t>Download an Image into a new “Photos” folder in the root directory of your python folder. </a:t>
            </a:r>
          </a:p>
          <a:p>
            <a:pPr marL="342900" indent="-342900" algn="l">
              <a:buAutoNum type="arabicPeriod"/>
            </a:pPr>
            <a:r>
              <a:rPr lang="en-US" dirty="0"/>
              <a:t>Copy the path of the image. </a:t>
            </a:r>
          </a:p>
        </p:txBody>
      </p:sp>
      <p:pic>
        <p:nvPicPr>
          <p:cNvPr id="8" name="Picture 7">
            <a:extLst>
              <a:ext uri="{FF2B5EF4-FFF2-40B4-BE49-F238E27FC236}">
                <a16:creationId xmlns:a16="http://schemas.microsoft.com/office/drawing/2014/main" id="{10FEA4C0-6517-02AE-40B8-09FA09C35630}"/>
              </a:ext>
            </a:extLst>
          </p:cNvPr>
          <p:cNvPicPr>
            <a:picLocks noChangeAspect="1"/>
          </p:cNvPicPr>
          <p:nvPr/>
        </p:nvPicPr>
        <p:blipFill>
          <a:blip r:embed="rId2"/>
          <a:stretch>
            <a:fillRect/>
          </a:stretch>
        </p:blipFill>
        <p:spPr>
          <a:xfrm>
            <a:off x="3214408" y="3337510"/>
            <a:ext cx="5763183" cy="1859340"/>
          </a:xfrm>
          <a:prstGeom prst="rect">
            <a:avLst/>
          </a:prstGeom>
        </p:spPr>
      </p:pic>
      <p:sp>
        <p:nvSpPr>
          <p:cNvPr id="9" name="TextBox 8">
            <a:extLst>
              <a:ext uri="{FF2B5EF4-FFF2-40B4-BE49-F238E27FC236}">
                <a16:creationId xmlns:a16="http://schemas.microsoft.com/office/drawing/2014/main" id="{C516D7AB-FB56-4537-78FA-D97EDC68AE29}"/>
              </a:ext>
            </a:extLst>
          </p:cNvPr>
          <p:cNvSpPr txBox="1"/>
          <p:nvPr/>
        </p:nvSpPr>
        <p:spPr>
          <a:xfrm>
            <a:off x="3352800" y="5394093"/>
            <a:ext cx="5703342" cy="369332"/>
          </a:xfrm>
          <a:prstGeom prst="rect">
            <a:avLst/>
          </a:prstGeom>
          <a:noFill/>
        </p:spPr>
        <p:txBody>
          <a:bodyPr wrap="square" rtlCol="0">
            <a:spAutoFit/>
          </a:bodyPr>
          <a:lstStyle/>
          <a:p>
            <a:r>
              <a:rPr lang="en-US" dirty="0"/>
              <a:t>For this, the path would be </a:t>
            </a:r>
            <a:r>
              <a:rPr lang="en-US" b="1" dirty="0"/>
              <a:t>“</a:t>
            </a:r>
            <a:r>
              <a:rPr lang="en-US" b="1" i="1" dirty="0"/>
              <a:t>Photos/Mona_Lisa.jpg”</a:t>
            </a:r>
          </a:p>
        </p:txBody>
      </p:sp>
      <p:sp>
        <p:nvSpPr>
          <p:cNvPr id="10" name="TextBox 9">
            <a:extLst>
              <a:ext uri="{FF2B5EF4-FFF2-40B4-BE49-F238E27FC236}">
                <a16:creationId xmlns:a16="http://schemas.microsoft.com/office/drawing/2014/main" id="{FEB8ED24-5173-DE38-ACA1-7A4165B32E27}"/>
              </a:ext>
            </a:extLst>
          </p:cNvPr>
          <p:cNvSpPr txBox="1"/>
          <p:nvPr/>
        </p:nvSpPr>
        <p:spPr>
          <a:xfrm>
            <a:off x="794271" y="5867400"/>
            <a:ext cx="10820400" cy="646331"/>
          </a:xfrm>
          <a:prstGeom prst="rect">
            <a:avLst/>
          </a:prstGeom>
          <a:noFill/>
        </p:spPr>
        <p:txBody>
          <a:bodyPr wrap="square" rtlCol="0">
            <a:spAutoFit/>
          </a:bodyPr>
          <a:lstStyle/>
          <a:p>
            <a:r>
              <a:rPr lang="en-US" b="1" dirty="0">
                <a:solidFill>
                  <a:srgbClr val="FF0000"/>
                </a:solidFill>
              </a:rPr>
              <a:t>NOTE: </a:t>
            </a:r>
            <a:r>
              <a:rPr lang="en-US" dirty="0"/>
              <a:t>If you downloaded the image in a folder that is not in the same folder as your .</a:t>
            </a:r>
            <a:r>
              <a:rPr lang="en-US" dirty="0" err="1"/>
              <a:t>py</a:t>
            </a:r>
            <a:r>
              <a:rPr lang="en-US" dirty="0"/>
              <a:t> file, you would need to give the full path of the image i.e. </a:t>
            </a:r>
            <a:r>
              <a:rPr lang="en-US" b="1" i="1" dirty="0"/>
              <a:t>“</a:t>
            </a:r>
            <a:r>
              <a:rPr lang="fi-FI" b="1" i="1" dirty="0"/>
              <a:t>D:\python\Photos\Mona_Lisa.jpg</a:t>
            </a:r>
            <a:r>
              <a:rPr lang="en-US" b="1" i="1" dirty="0"/>
              <a:t>“</a:t>
            </a:r>
          </a:p>
        </p:txBody>
      </p:sp>
    </p:spTree>
    <p:extLst>
      <p:ext uri="{BB962C8B-B14F-4D97-AF65-F5344CB8AC3E}">
        <p14:creationId xmlns:p14="http://schemas.microsoft.com/office/powerpoint/2010/main" val="41579676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BBE17-4966-1249-3614-C74F619FE6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16BFD2-7649-009D-0C07-6F948BDA09E0}"/>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4127BD78-40BF-F4B7-B30B-746F5C595E96}"/>
              </a:ext>
            </a:extLst>
          </p:cNvPr>
          <p:cNvSpPr>
            <a:spLocks noGrp="1"/>
          </p:cNvSpPr>
          <p:nvPr>
            <p:ph type="body" idx="1"/>
          </p:nvPr>
        </p:nvSpPr>
        <p:spPr>
          <a:xfrm>
            <a:off x="304800" y="1600200"/>
            <a:ext cx="11582400" cy="369332"/>
          </a:xfrm>
        </p:spPr>
        <p:txBody>
          <a:bodyPr/>
          <a:lstStyle/>
          <a:p>
            <a:pPr algn="l"/>
            <a:r>
              <a:rPr lang="en-US" sz="2400" b="1" dirty="0"/>
              <a:t>Image Analysis: </a:t>
            </a:r>
            <a:r>
              <a:rPr lang="en-US" b="1" dirty="0"/>
              <a:t>Basics:</a:t>
            </a:r>
            <a:endParaRPr lang="en-US" dirty="0"/>
          </a:p>
        </p:txBody>
      </p:sp>
      <p:sp>
        <p:nvSpPr>
          <p:cNvPr id="9" name="TextBox 8">
            <a:extLst>
              <a:ext uri="{FF2B5EF4-FFF2-40B4-BE49-F238E27FC236}">
                <a16:creationId xmlns:a16="http://schemas.microsoft.com/office/drawing/2014/main" id="{92905F43-B1DF-7BAB-CAFC-2BBCCDB65D30}"/>
              </a:ext>
            </a:extLst>
          </p:cNvPr>
          <p:cNvSpPr txBox="1"/>
          <p:nvPr/>
        </p:nvSpPr>
        <p:spPr>
          <a:xfrm>
            <a:off x="2041264" y="3276600"/>
            <a:ext cx="8109472" cy="830997"/>
          </a:xfrm>
          <a:prstGeom prst="rect">
            <a:avLst/>
          </a:prstGeom>
          <a:noFill/>
        </p:spPr>
        <p:txBody>
          <a:bodyPr wrap="square" rtlCol="0">
            <a:spAutoFit/>
          </a:bodyPr>
          <a:lstStyle/>
          <a:p>
            <a:pPr algn="ctr"/>
            <a:r>
              <a:rPr lang="en-US" sz="2400" dirty="0"/>
              <a:t>Using the OpenCV library, try to load the image and show it in a window named “Original Image“</a:t>
            </a:r>
            <a:endParaRPr lang="en-US" sz="2400" b="1" i="1" dirty="0"/>
          </a:p>
        </p:txBody>
      </p:sp>
    </p:spTree>
    <p:extLst>
      <p:ext uri="{BB962C8B-B14F-4D97-AF65-F5344CB8AC3E}">
        <p14:creationId xmlns:p14="http://schemas.microsoft.com/office/powerpoint/2010/main" val="2429272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1495C-6714-EFF9-AA52-68389BB9A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CFD60E-E620-C3DF-B047-CE0220AB9A24}"/>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0F1BDC53-B37D-8C81-9DEE-F4BD2DBC747D}"/>
              </a:ext>
            </a:extLst>
          </p:cNvPr>
          <p:cNvSpPr>
            <a:spLocks noGrp="1"/>
          </p:cNvSpPr>
          <p:nvPr>
            <p:ph type="body" idx="1"/>
          </p:nvPr>
        </p:nvSpPr>
        <p:spPr>
          <a:xfrm>
            <a:off x="304800" y="1600200"/>
            <a:ext cx="11582400" cy="3416320"/>
          </a:xfrm>
        </p:spPr>
        <p:txBody>
          <a:bodyPr/>
          <a:lstStyle/>
          <a:p>
            <a:pPr algn="l"/>
            <a:r>
              <a:rPr lang="en-US" sz="2400" b="1" dirty="0"/>
              <a:t>Image Analysis: </a:t>
            </a:r>
            <a:r>
              <a:rPr lang="en-US" b="1" dirty="0"/>
              <a:t>Basics: </a:t>
            </a:r>
            <a:r>
              <a:rPr lang="en-US" dirty="0"/>
              <a:t>Using the OpenCV library, try to load the image and show it in a window named “Original Image“</a:t>
            </a:r>
          </a:p>
          <a:p>
            <a:pPr algn="l"/>
            <a:endParaRPr lang="en-US" b="1" i="1" dirty="0"/>
          </a:p>
          <a:p>
            <a:pPr algn="l"/>
            <a:endParaRPr lang="en-US" b="1" i="1" dirty="0"/>
          </a:p>
          <a:p>
            <a:pPr marL="457200" indent="-457200" algn="l">
              <a:buAutoNum type="arabicPeriod"/>
            </a:pPr>
            <a:r>
              <a:rPr lang="en-US" sz="2400" dirty="0"/>
              <a:t>Import the OpenCV Library</a:t>
            </a:r>
          </a:p>
          <a:p>
            <a:pPr marL="457200" indent="-457200" algn="l">
              <a:buAutoNum type="arabicPeriod"/>
            </a:pPr>
            <a:r>
              <a:rPr lang="en-US" sz="2400" dirty="0"/>
              <a:t>Load the Image into a new variable (Ex: </a:t>
            </a:r>
            <a:r>
              <a:rPr lang="en-US" sz="2400" b="1" i="1" dirty="0"/>
              <a:t>img1 = cv2.imread(‘Photos/Mona_Lisa.jpg’))</a:t>
            </a:r>
          </a:p>
          <a:p>
            <a:pPr marL="457200" indent="-457200" algn="l">
              <a:buAutoNum type="arabicPeriod"/>
            </a:pPr>
            <a:r>
              <a:rPr lang="en-US" sz="2400" dirty="0"/>
              <a:t>Display the Image using the </a:t>
            </a:r>
            <a:r>
              <a:rPr lang="en-US" sz="2400" b="1" i="1" dirty="0"/>
              <a:t>cv2.imshow(‘window name’, image)</a:t>
            </a:r>
            <a:r>
              <a:rPr lang="en-US" sz="2400" dirty="0"/>
              <a:t> function</a:t>
            </a:r>
          </a:p>
          <a:p>
            <a:pPr marL="457200" indent="-457200" algn="l">
              <a:buAutoNum type="arabicPeriod"/>
            </a:pPr>
            <a:r>
              <a:rPr lang="en-US" sz="2400" dirty="0"/>
              <a:t>Add the </a:t>
            </a:r>
            <a:r>
              <a:rPr lang="en-US" sz="2400" b="1" i="1" dirty="0"/>
              <a:t>cv2.waitKey()</a:t>
            </a:r>
            <a:r>
              <a:rPr lang="en-US" sz="2400" dirty="0"/>
              <a:t>, put 0 to display until closed manually. </a:t>
            </a:r>
          </a:p>
          <a:p>
            <a:pPr marL="457200" indent="-457200" algn="l">
              <a:buAutoNum type="arabicPeriod"/>
            </a:pPr>
            <a:endParaRPr lang="en-US" sz="2400" dirty="0"/>
          </a:p>
          <a:p>
            <a:pPr algn="l"/>
            <a:r>
              <a:rPr lang="en-US" sz="2400" dirty="0"/>
              <a:t>      If the image is out of frame, then use the </a:t>
            </a:r>
            <a:r>
              <a:rPr lang="en-US" sz="2400" b="1" i="1" dirty="0"/>
              <a:t>cv2.resize(img1, (</a:t>
            </a:r>
            <a:r>
              <a:rPr lang="en-US" sz="2400" b="1" i="1" dirty="0" err="1"/>
              <a:t>lengpx</a:t>
            </a:r>
            <a:r>
              <a:rPr lang="en-US" sz="2400" b="1" i="1" dirty="0"/>
              <a:t>, </a:t>
            </a:r>
            <a:r>
              <a:rPr lang="en-US" sz="2400" b="1" i="1" dirty="0" err="1"/>
              <a:t>brdthpx</a:t>
            </a:r>
            <a:r>
              <a:rPr lang="en-US" sz="2400" b="1" i="1" dirty="0"/>
              <a:t>))</a:t>
            </a:r>
            <a:r>
              <a:rPr lang="en-US" sz="2400" dirty="0"/>
              <a:t> function</a:t>
            </a:r>
          </a:p>
        </p:txBody>
      </p:sp>
      <p:sp>
        <p:nvSpPr>
          <p:cNvPr id="4" name="TextBox 3">
            <a:extLst>
              <a:ext uri="{FF2B5EF4-FFF2-40B4-BE49-F238E27FC236}">
                <a16:creationId xmlns:a16="http://schemas.microsoft.com/office/drawing/2014/main" id="{95111CCC-0131-5093-C3AB-91229C29E04E}"/>
              </a:ext>
            </a:extLst>
          </p:cNvPr>
          <p:cNvSpPr txBox="1"/>
          <p:nvPr/>
        </p:nvSpPr>
        <p:spPr>
          <a:xfrm>
            <a:off x="1219200" y="5311914"/>
            <a:ext cx="8382000" cy="707886"/>
          </a:xfrm>
          <a:prstGeom prst="rect">
            <a:avLst/>
          </a:prstGeom>
          <a:noFill/>
        </p:spPr>
        <p:txBody>
          <a:bodyPr wrap="square" rtlCol="0">
            <a:spAutoFit/>
          </a:bodyPr>
          <a:lstStyle/>
          <a:p>
            <a:r>
              <a:rPr lang="en-US" sz="2000" dirty="0"/>
              <a:t>Ex: </a:t>
            </a:r>
            <a:r>
              <a:rPr lang="en-US" sz="2000" b="1" dirty="0" err="1"/>
              <a:t>img</a:t>
            </a:r>
            <a:r>
              <a:rPr lang="en-US" sz="2000" b="1" dirty="0"/>
              <a:t> = cv2.resize(img1, (800, 1000))</a:t>
            </a:r>
            <a:r>
              <a:rPr lang="en-US" sz="2000" dirty="0"/>
              <a:t> </a:t>
            </a:r>
            <a:r>
              <a:rPr lang="en-US" sz="2000" dirty="0">
                <a:sym typeface="Wingdings" panose="05000000000000000000" pitchFamily="2" charset="2"/>
              </a:rPr>
              <a:t> Resize to your liking</a:t>
            </a:r>
            <a:endParaRPr lang="en-US" sz="2000" dirty="0"/>
          </a:p>
          <a:p>
            <a:r>
              <a:rPr lang="en-US" sz="2000" b="1" dirty="0"/>
              <a:t>      cv2.imshow(‘Original Image‘, </a:t>
            </a:r>
            <a:r>
              <a:rPr lang="en-US" sz="2000" b="1" dirty="0" err="1"/>
              <a:t>img</a:t>
            </a:r>
            <a:r>
              <a:rPr lang="en-US" sz="2000" b="1" dirty="0"/>
              <a:t>)</a:t>
            </a:r>
          </a:p>
        </p:txBody>
      </p:sp>
      <p:cxnSp>
        <p:nvCxnSpPr>
          <p:cNvPr id="6" name="Connector: Elbow 5">
            <a:extLst>
              <a:ext uri="{FF2B5EF4-FFF2-40B4-BE49-F238E27FC236}">
                <a16:creationId xmlns:a16="http://schemas.microsoft.com/office/drawing/2014/main" id="{1DAE11C0-08EE-2F62-54FB-22EC9D22C4F0}"/>
              </a:ext>
            </a:extLst>
          </p:cNvPr>
          <p:cNvCxnSpPr>
            <a:cxnSpLocks/>
          </p:cNvCxnSpPr>
          <p:nvPr/>
        </p:nvCxnSpPr>
        <p:spPr>
          <a:xfrm rot="16200000" flipH="1">
            <a:off x="793388" y="5051926"/>
            <a:ext cx="470624" cy="381000"/>
          </a:xfrm>
          <a:prstGeom prst="bentConnector2">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90449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1014C-6DE6-8F02-2B00-96487A359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777C0-CAD7-5600-21F4-737099C7949E}"/>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76390086-2D8B-B9E9-95D0-1A5DB89610AA}"/>
              </a:ext>
            </a:extLst>
          </p:cNvPr>
          <p:cNvSpPr>
            <a:spLocks noGrp="1"/>
          </p:cNvSpPr>
          <p:nvPr>
            <p:ph type="body" idx="1"/>
          </p:nvPr>
        </p:nvSpPr>
        <p:spPr>
          <a:xfrm>
            <a:off x="304800" y="1600200"/>
            <a:ext cx="11582400" cy="738664"/>
          </a:xfrm>
        </p:spPr>
        <p:txBody>
          <a:bodyPr/>
          <a:lstStyle/>
          <a:p>
            <a:pPr algn="l"/>
            <a:r>
              <a:rPr lang="en-US" sz="2400" b="1" dirty="0"/>
              <a:t>Image Analysis: </a:t>
            </a:r>
            <a:r>
              <a:rPr lang="en-US" b="1" dirty="0"/>
              <a:t>Basics: </a:t>
            </a:r>
            <a:r>
              <a:rPr lang="en-US" dirty="0"/>
              <a:t>Using the OpenCV library, try to load the image and show it in a window named “Original Image“</a:t>
            </a:r>
            <a:endParaRPr lang="en-US" sz="2400" dirty="0"/>
          </a:p>
        </p:txBody>
      </p:sp>
      <p:pic>
        <p:nvPicPr>
          <p:cNvPr id="11" name="Picture 10">
            <a:extLst>
              <a:ext uri="{FF2B5EF4-FFF2-40B4-BE49-F238E27FC236}">
                <a16:creationId xmlns:a16="http://schemas.microsoft.com/office/drawing/2014/main" id="{61DE942C-0B01-89C1-75B7-768D2E454913}"/>
              </a:ext>
            </a:extLst>
          </p:cNvPr>
          <p:cNvPicPr>
            <a:picLocks noChangeAspect="1"/>
          </p:cNvPicPr>
          <p:nvPr/>
        </p:nvPicPr>
        <p:blipFill>
          <a:blip r:embed="rId2"/>
          <a:stretch>
            <a:fillRect/>
          </a:stretch>
        </p:blipFill>
        <p:spPr>
          <a:xfrm>
            <a:off x="2283389" y="2738735"/>
            <a:ext cx="7625221" cy="2423691"/>
          </a:xfrm>
          <a:prstGeom prst="rect">
            <a:avLst/>
          </a:prstGeom>
        </p:spPr>
      </p:pic>
      <p:sp>
        <p:nvSpPr>
          <p:cNvPr id="12" name="TextBox 11">
            <a:extLst>
              <a:ext uri="{FF2B5EF4-FFF2-40B4-BE49-F238E27FC236}">
                <a16:creationId xmlns:a16="http://schemas.microsoft.com/office/drawing/2014/main" id="{53561957-B2FB-A59C-C817-D68E58EC0AFF}"/>
              </a:ext>
            </a:extLst>
          </p:cNvPr>
          <p:cNvSpPr txBox="1"/>
          <p:nvPr/>
        </p:nvSpPr>
        <p:spPr>
          <a:xfrm>
            <a:off x="1752600" y="5329535"/>
            <a:ext cx="9144000" cy="461665"/>
          </a:xfrm>
          <a:prstGeom prst="rect">
            <a:avLst/>
          </a:prstGeom>
          <a:noFill/>
        </p:spPr>
        <p:txBody>
          <a:bodyPr wrap="square" rtlCol="0">
            <a:spAutoFit/>
          </a:bodyPr>
          <a:lstStyle/>
          <a:p>
            <a:r>
              <a:rPr lang="en-US" sz="2400" dirty="0"/>
              <a:t>This will display the image in a window named “Original Image“</a:t>
            </a:r>
          </a:p>
        </p:txBody>
      </p:sp>
    </p:spTree>
    <p:extLst>
      <p:ext uri="{BB962C8B-B14F-4D97-AF65-F5344CB8AC3E}">
        <p14:creationId xmlns:p14="http://schemas.microsoft.com/office/powerpoint/2010/main" val="2146516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01610-FB50-DA33-8037-C894F597CB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9E3F0F-817E-DFD6-AC9B-8A1CDF61D770}"/>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585E3BC4-2C55-F5CA-38DB-3BAB197D658D}"/>
              </a:ext>
            </a:extLst>
          </p:cNvPr>
          <p:cNvSpPr>
            <a:spLocks noGrp="1"/>
          </p:cNvSpPr>
          <p:nvPr>
            <p:ph type="body" idx="1"/>
          </p:nvPr>
        </p:nvSpPr>
        <p:spPr>
          <a:xfrm>
            <a:off x="344010" y="1600200"/>
            <a:ext cx="11582400" cy="646331"/>
          </a:xfrm>
        </p:spPr>
        <p:txBody>
          <a:bodyPr/>
          <a:lstStyle/>
          <a:p>
            <a:pPr algn="l"/>
            <a:r>
              <a:rPr lang="en-US" sz="2400" b="1" dirty="0"/>
              <a:t>OpenCV (contd.): </a:t>
            </a:r>
            <a:r>
              <a:rPr lang="en-US" dirty="0"/>
              <a:t>Few Important Manipulations of the images. </a:t>
            </a:r>
          </a:p>
          <a:p>
            <a:pPr algn="l"/>
            <a:r>
              <a:rPr lang="en-US" dirty="0"/>
              <a:t> </a:t>
            </a:r>
            <a:endParaRPr lang="en-US" i="1" dirty="0">
              <a:solidFill>
                <a:srgbClr val="0000FF"/>
              </a:solidFill>
            </a:endParaRPr>
          </a:p>
        </p:txBody>
      </p:sp>
      <p:sp>
        <p:nvSpPr>
          <p:cNvPr id="4" name="TextBox 3">
            <a:extLst>
              <a:ext uri="{FF2B5EF4-FFF2-40B4-BE49-F238E27FC236}">
                <a16:creationId xmlns:a16="http://schemas.microsoft.com/office/drawing/2014/main" id="{B5383CA7-1F91-1C5F-D5BC-786A5E247D30}"/>
              </a:ext>
            </a:extLst>
          </p:cNvPr>
          <p:cNvSpPr txBox="1"/>
          <p:nvPr/>
        </p:nvSpPr>
        <p:spPr>
          <a:xfrm>
            <a:off x="305910" y="2743200"/>
            <a:ext cx="11658600" cy="3046988"/>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sym typeface="Wingdings" panose="05000000000000000000" pitchFamily="2" charset="2"/>
              </a:rPr>
              <a:t> </a:t>
            </a:r>
            <a:r>
              <a:rPr kumimoji="0" lang="en-US" altLang="en-US" b="1" i="1" strike="noStrike" cap="none" normalizeH="0" baseline="0" dirty="0">
                <a:ln>
                  <a:noFill/>
                </a:ln>
                <a:solidFill>
                  <a:schemeClr val="tx1"/>
                </a:solidFill>
                <a:effectLst/>
                <a:latin typeface="Arial Unicode MS"/>
                <a:sym typeface="Wingdings" panose="05000000000000000000" pitchFamily="2" charset="2"/>
              </a:rPr>
              <a:t>img0 = </a:t>
            </a:r>
            <a:r>
              <a:rPr kumimoji="0" lang="en-US" altLang="en-US" b="1" i="1" strike="noStrike" cap="none" normalizeH="0" baseline="0" dirty="0">
                <a:ln>
                  <a:noFill/>
                </a:ln>
                <a:solidFill>
                  <a:schemeClr val="tx1"/>
                </a:solidFill>
                <a:effectLst/>
                <a:latin typeface="Arial Unicode MS"/>
              </a:rPr>
              <a:t>cv2.cvtColor(</a:t>
            </a:r>
            <a:r>
              <a:rPr lang="en-US" altLang="en-US" b="1" i="1" dirty="0">
                <a:solidFill>
                  <a:schemeClr val="tx1"/>
                </a:solidFill>
                <a:latin typeface="Arial Unicode MS"/>
              </a:rPr>
              <a:t>img1, cv2.COLOR_BGR2GRAY</a:t>
            </a:r>
            <a:r>
              <a:rPr kumimoji="0" lang="en-US" altLang="en-US" b="1" i="1" strike="noStrike" cap="none" normalizeH="0" baseline="0" dirty="0">
                <a:ln>
                  <a:noFill/>
                </a:ln>
                <a:solidFill>
                  <a:schemeClr val="tx1"/>
                </a:solidFill>
                <a:effectLst/>
                <a:latin typeface="Arial Unicode MS"/>
              </a:rPr>
              <a:t>)</a:t>
            </a:r>
            <a:r>
              <a:rPr kumimoji="0" lang="en-US" altLang="en-US" b="0" i="1" strike="noStrike" cap="none" normalizeH="0" baseline="0" dirty="0">
                <a:ln>
                  <a:noFill/>
                </a:ln>
                <a:solidFill>
                  <a:schemeClr val="tx1"/>
                </a:solidFill>
                <a:effectLst/>
              </a:rPr>
              <a:t> </a:t>
            </a:r>
            <a:r>
              <a:rPr kumimoji="0" lang="en-US" altLang="en-US" b="1" i="0" u="none" strike="noStrike" cap="none" normalizeH="0" baseline="0" dirty="0">
                <a:ln>
                  <a:noFill/>
                </a:ln>
                <a:solidFill>
                  <a:schemeClr val="tx1"/>
                </a:solidFill>
                <a:effectLst/>
              </a:rPr>
              <a:t>→</a:t>
            </a:r>
            <a:r>
              <a:rPr kumimoji="0" lang="en-US" altLang="en-US" b="0" i="0" u="none" strike="noStrike" cap="none" normalizeH="0" baseline="0" dirty="0">
                <a:ln>
                  <a:noFill/>
                </a:ln>
                <a:solidFill>
                  <a:schemeClr val="tx1"/>
                </a:solidFill>
                <a:effectLst/>
              </a:rPr>
              <a:t> </a:t>
            </a:r>
            <a:r>
              <a:rPr kumimoji="0" lang="en-US" altLang="en-US" sz="1600" b="1" i="0" u="none" strike="noStrike" cap="none" normalizeH="0" baseline="0" dirty="0">
                <a:ln>
                  <a:noFill/>
                </a:ln>
                <a:solidFill>
                  <a:schemeClr val="tx1"/>
                </a:solidFill>
                <a:effectLst/>
              </a:rPr>
              <a:t>cv2.COLOR_BGR2GRAY</a:t>
            </a:r>
            <a:r>
              <a:rPr kumimoji="0" lang="en-US" altLang="en-US" sz="1600" b="0" i="0" u="none" strike="noStrike" cap="none" normalizeH="0" baseline="0" dirty="0">
                <a:ln>
                  <a:noFill/>
                </a:ln>
                <a:solidFill>
                  <a:schemeClr val="tx1"/>
                </a:solidFill>
                <a:effectLst/>
              </a:rPr>
              <a:t> for </a:t>
            </a:r>
            <a:r>
              <a:rPr kumimoji="0" lang="en-US" altLang="en-US" sz="1600" b="1" i="0" u="none" strike="noStrike" cap="none" normalizeH="0" baseline="0" dirty="0">
                <a:ln>
                  <a:noFill/>
                </a:ln>
                <a:solidFill>
                  <a:schemeClr val="tx1"/>
                </a:solidFill>
                <a:effectLst/>
              </a:rPr>
              <a:t>grayscale</a:t>
            </a:r>
            <a:r>
              <a:rPr lang="en-US" altLang="en-US" sz="1600" dirty="0">
                <a:solidFill>
                  <a:schemeClr val="tx1"/>
                </a:solidFill>
              </a:rPr>
              <a:t> </a:t>
            </a:r>
            <a:r>
              <a:rPr lang="en-US" altLang="en-US" sz="1600" dirty="0">
                <a:solidFill>
                  <a:schemeClr val="tx1"/>
                </a:solidFill>
                <a:sym typeface="Wingdings" panose="05000000000000000000" pitchFamily="2" charset="2"/>
              </a:rPr>
              <a:t></a:t>
            </a:r>
            <a:r>
              <a:rPr kumimoji="0" lang="en-US" altLang="en-US" sz="1600" b="0" i="0" u="none" strike="noStrike" cap="none" normalizeH="0" baseline="0" dirty="0">
                <a:ln>
                  <a:noFill/>
                </a:ln>
                <a:solidFill>
                  <a:schemeClr val="tx1"/>
                </a:solidFill>
                <a:effectLst/>
              </a:rPr>
              <a:t> color code.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1" strike="noStrike" cap="none" normalizeH="0" baseline="0" dirty="0">
                <a:ln>
                  <a:noFill/>
                </a:ln>
                <a:solidFill>
                  <a:schemeClr val="tx1"/>
                </a:solidFill>
                <a:effectLst/>
                <a:latin typeface="Arial Unicode MS"/>
              </a:rPr>
              <a:t>img0 =</a:t>
            </a:r>
            <a:r>
              <a:rPr kumimoji="0" lang="en-US" altLang="en-US" b="0" i="1" strike="noStrike" cap="none" normalizeH="0" baseline="0" dirty="0">
                <a:ln>
                  <a:noFill/>
                </a:ln>
                <a:solidFill>
                  <a:schemeClr val="tx1"/>
                </a:solidFill>
                <a:effectLst/>
                <a:latin typeface="Arial Unicode MS"/>
              </a:rPr>
              <a:t> </a:t>
            </a:r>
            <a:r>
              <a:rPr kumimoji="0" lang="en-US" altLang="en-US" b="1" i="1" strike="noStrike" cap="none" normalizeH="0" baseline="0" dirty="0">
                <a:ln>
                  <a:noFill/>
                </a:ln>
                <a:solidFill>
                  <a:schemeClr val="tx1"/>
                </a:solidFill>
                <a:effectLst/>
                <a:latin typeface="Arial Unicode MS"/>
              </a:rPr>
              <a:t>cv2.</a:t>
            </a:r>
            <a:r>
              <a:rPr lang="en-US" altLang="en-US" b="1" i="1" dirty="0">
                <a:solidFill>
                  <a:schemeClr val="tx1"/>
                </a:solidFill>
                <a:latin typeface="Arial Unicode MS"/>
              </a:rPr>
              <a:t>GaussianBlur</a:t>
            </a:r>
            <a:r>
              <a:rPr kumimoji="0" lang="en-US" altLang="en-US" b="1" i="1" strike="noStrike" cap="none" normalizeH="0" baseline="0" dirty="0">
                <a:ln>
                  <a:noFill/>
                </a:ln>
                <a:solidFill>
                  <a:schemeClr val="tx1"/>
                </a:solidFill>
                <a:effectLst/>
                <a:latin typeface="Arial Unicode MS"/>
              </a:rPr>
              <a:t>(img1, (</a:t>
            </a:r>
            <a:r>
              <a:rPr kumimoji="0" lang="en-US" altLang="en-US" b="1" i="1" strike="noStrike" cap="none" normalizeH="0" baseline="0" dirty="0" err="1">
                <a:ln>
                  <a:noFill/>
                </a:ln>
                <a:solidFill>
                  <a:schemeClr val="tx1"/>
                </a:solidFill>
                <a:effectLst/>
                <a:latin typeface="Arial Unicode MS"/>
              </a:rPr>
              <a:t>oddnum</a:t>
            </a:r>
            <a:r>
              <a:rPr kumimoji="0" lang="en-US" altLang="en-US" b="1" i="1" strike="noStrike" cap="none" normalizeH="0" baseline="0" dirty="0">
                <a:ln>
                  <a:noFill/>
                </a:ln>
                <a:solidFill>
                  <a:schemeClr val="tx1"/>
                </a:solidFill>
                <a:effectLst/>
                <a:latin typeface="Arial Unicode MS"/>
              </a:rPr>
              <a:t>, </a:t>
            </a:r>
            <a:r>
              <a:rPr kumimoji="0" lang="en-US" altLang="en-US" b="1" i="1" strike="noStrike" cap="none" normalizeH="0" baseline="0" dirty="0" err="1">
                <a:ln>
                  <a:noFill/>
                </a:ln>
                <a:solidFill>
                  <a:schemeClr val="tx1"/>
                </a:solidFill>
                <a:effectLst/>
                <a:latin typeface="Arial Unicode MS"/>
              </a:rPr>
              <a:t>oddnum</a:t>
            </a:r>
            <a:r>
              <a:rPr kumimoji="0" lang="en-US" altLang="en-US" b="1" i="1" strike="noStrike" cap="none" normalizeH="0" baseline="0" dirty="0">
                <a:ln>
                  <a:noFill/>
                </a:ln>
                <a:solidFill>
                  <a:schemeClr val="tx1"/>
                </a:solidFill>
                <a:effectLst/>
                <a:latin typeface="Arial Unicode MS"/>
              </a:rPr>
              <a:t>), cv2.BORDER_DEFAULT)</a:t>
            </a:r>
            <a:r>
              <a:rPr kumimoji="0" lang="en-US" altLang="en-US" b="0" i="1"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rPr>
              <a:t>to </a:t>
            </a:r>
            <a:r>
              <a:rPr kumimoji="0" lang="en-US" altLang="en-US" sz="1600" b="1" i="0" u="none" strike="noStrike" cap="none" normalizeH="0" baseline="0" dirty="0">
                <a:ln>
                  <a:noFill/>
                </a:ln>
                <a:solidFill>
                  <a:schemeClr val="tx1"/>
                </a:solidFill>
                <a:effectLst/>
              </a:rPr>
              <a:t>blur</a:t>
            </a:r>
            <a:r>
              <a:rPr kumimoji="0" lang="en-US" altLang="en-US" sz="1600" b="0" i="0" u="none" strike="noStrike" cap="none" normalizeH="0" baseline="0" dirty="0">
                <a:ln>
                  <a:noFill/>
                </a:ln>
                <a:solidFill>
                  <a:schemeClr val="tx1"/>
                </a:solidFill>
                <a:effectLst/>
              </a:rPr>
              <a:t> the image “img1“, (</a:t>
            </a:r>
            <a:r>
              <a:rPr kumimoji="0" lang="en-US" altLang="en-US" sz="1600" b="0" i="0" u="none" strike="noStrike" cap="none" normalizeH="0" baseline="0" dirty="0" err="1">
                <a:ln>
                  <a:noFill/>
                </a:ln>
                <a:solidFill>
                  <a:schemeClr val="tx1"/>
                </a:solidFill>
                <a:effectLst/>
              </a:rPr>
              <a:t>oddnum</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rPr>
              <a:t>oddnum</a:t>
            </a:r>
            <a:r>
              <a:rPr kumimoji="0" lang="en-US" altLang="en-US" sz="1600" b="0" i="0" u="none" strike="noStrike" cap="none" normalizeH="0" baseline="0" dirty="0">
                <a:ln>
                  <a:noFill/>
                </a:ln>
                <a:solidFill>
                  <a:schemeClr val="tx1"/>
                </a:solidFill>
                <a:effectLst/>
              </a:rPr>
              <a:t>) is called kernel and it should always be an odd number. We need a border type, so we used the default blur border in the cv2 library. </a:t>
            </a:r>
            <a:r>
              <a:rPr kumimoji="0" lang="en-US" altLang="en-US" sz="1600" b="1" i="0" u="none" strike="noStrike" cap="none" normalizeH="0" baseline="0" dirty="0">
                <a:ln>
                  <a:noFill/>
                </a:ln>
                <a:solidFill>
                  <a:schemeClr val="tx1"/>
                </a:solidFill>
                <a:effectLst/>
              </a:rPr>
              <a:t>Higher the Kernel Value, Higher the Blur. </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1" strike="noStrike" cap="none" normalizeH="0" baseline="0" dirty="0">
                <a:ln>
                  <a:noFill/>
                </a:ln>
                <a:solidFill>
                  <a:schemeClr val="tx1"/>
                </a:solidFill>
                <a:effectLst/>
                <a:latin typeface="Arial Unicode MS"/>
              </a:rPr>
              <a:t>img0 = cv2.</a:t>
            </a:r>
            <a:r>
              <a:rPr lang="en-US" altLang="en-US" b="1" i="1" dirty="0">
                <a:solidFill>
                  <a:schemeClr val="tx1"/>
                </a:solidFill>
                <a:latin typeface="Arial Unicode MS"/>
              </a:rPr>
              <a:t>Canny</a:t>
            </a:r>
            <a:r>
              <a:rPr kumimoji="0" lang="en-US" altLang="en-US" b="1" i="1" strike="noStrike" cap="none" normalizeH="0" baseline="0" dirty="0">
                <a:ln>
                  <a:noFill/>
                </a:ln>
                <a:solidFill>
                  <a:schemeClr val="tx1"/>
                </a:solidFill>
                <a:effectLst/>
                <a:latin typeface="Arial Unicode MS"/>
              </a:rPr>
              <a:t>(img1, 125, 175)</a:t>
            </a:r>
            <a:r>
              <a:rPr kumimoji="0" lang="en-US" altLang="en-US" b="0" i="1"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rPr>
              <a:t>To get all the </a:t>
            </a:r>
            <a:r>
              <a:rPr kumimoji="0" lang="en-US" altLang="en-US" sz="1600" b="1" i="0" u="none" strike="noStrike" cap="none" normalizeH="0" baseline="0" dirty="0">
                <a:ln>
                  <a:noFill/>
                </a:ln>
                <a:solidFill>
                  <a:schemeClr val="tx1"/>
                </a:solidFill>
                <a:effectLst/>
              </a:rPr>
              <a:t>edges</a:t>
            </a:r>
            <a:r>
              <a:rPr kumimoji="0" lang="en-US" altLang="en-US" sz="1600" b="0" i="0" u="none" strike="noStrike" cap="none" normalizeH="0" baseline="0" dirty="0">
                <a:ln>
                  <a:noFill/>
                </a:ln>
                <a:solidFill>
                  <a:schemeClr val="tx1"/>
                </a:solidFill>
                <a:effectLst/>
              </a:rPr>
              <a:t> present in an image. (125, 175) are the threshold values. This will be used in </a:t>
            </a:r>
            <a:r>
              <a:rPr kumimoji="0" lang="en-US" altLang="en-US" sz="1600" b="1" i="0" u="none" strike="noStrike" cap="none" normalizeH="0" baseline="0" dirty="0">
                <a:ln>
                  <a:noFill/>
                </a:ln>
                <a:solidFill>
                  <a:schemeClr val="tx1"/>
                </a:solidFill>
                <a:effectLst/>
              </a:rPr>
              <a:t>object detection</a:t>
            </a:r>
            <a:r>
              <a:rPr kumimoji="0" lang="en-US" altLang="en-US" sz="1600" b="0" i="0" u="none" strike="noStrike" cap="none" normalizeH="0" baseline="0" dirty="0">
                <a:ln>
                  <a:noFill/>
                </a:ln>
                <a:solidFill>
                  <a:schemeClr val="tx1"/>
                </a:solidFill>
                <a:effectLst/>
              </a:rPr>
              <a:t> from the video feed. </a:t>
            </a:r>
          </a:p>
          <a:p>
            <a:endParaRPr lang="en-US" dirty="0"/>
          </a:p>
        </p:txBody>
      </p:sp>
    </p:spTree>
    <p:extLst>
      <p:ext uri="{BB962C8B-B14F-4D97-AF65-F5344CB8AC3E}">
        <p14:creationId xmlns:p14="http://schemas.microsoft.com/office/powerpoint/2010/main" val="1248108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E61A9-290D-2FB6-BBC9-DEAF09E1C8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9AD46C-05DE-B046-9C28-F71C74977EEB}"/>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41BE0AD1-E919-7BE9-6DDE-B4A7C108DA4C}"/>
              </a:ext>
            </a:extLst>
          </p:cNvPr>
          <p:cNvSpPr>
            <a:spLocks noGrp="1"/>
          </p:cNvSpPr>
          <p:nvPr>
            <p:ph type="body" idx="1"/>
          </p:nvPr>
        </p:nvSpPr>
        <p:spPr>
          <a:xfrm>
            <a:off x="304800" y="1600200"/>
            <a:ext cx="11582400" cy="369332"/>
          </a:xfrm>
        </p:spPr>
        <p:txBody>
          <a:bodyPr/>
          <a:lstStyle/>
          <a:p>
            <a:pPr algn="l"/>
            <a:r>
              <a:rPr lang="en-US" sz="2400" b="1" dirty="0"/>
              <a:t>Image Analysis: </a:t>
            </a:r>
            <a:r>
              <a:rPr lang="en-US" b="1" dirty="0"/>
              <a:t>Basics:</a:t>
            </a:r>
            <a:endParaRPr lang="en-US" dirty="0"/>
          </a:p>
        </p:txBody>
      </p:sp>
      <p:sp>
        <p:nvSpPr>
          <p:cNvPr id="9" name="TextBox 8">
            <a:extLst>
              <a:ext uri="{FF2B5EF4-FFF2-40B4-BE49-F238E27FC236}">
                <a16:creationId xmlns:a16="http://schemas.microsoft.com/office/drawing/2014/main" id="{B931BB00-F8F1-DEC0-E75E-D175BF15F879}"/>
              </a:ext>
            </a:extLst>
          </p:cNvPr>
          <p:cNvSpPr txBox="1"/>
          <p:nvPr/>
        </p:nvSpPr>
        <p:spPr>
          <a:xfrm>
            <a:off x="1363532" y="2971800"/>
            <a:ext cx="9464936" cy="1569660"/>
          </a:xfrm>
          <a:prstGeom prst="rect">
            <a:avLst/>
          </a:prstGeom>
          <a:noFill/>
        </p:spPr>
        <p:txBody>
          <a:bodyPr wrap="square" rtlCol="0">
            <a:spAutoFit/>
          </a:bodyPr>
          <a:lstStyle/>
          <a:p>
            <a:pPr algn="ctr"/>
            <a:r>
              <a:rPr lang="en-US" sz="2400" dirty="0"/>
              <a:t>Using the OpenCV library, try to </a:t>
            </a:r>
            <a:r>
              <a:rPr lang="en-US" sz="2400" b="1" dirty="0"/>
              <a:t>Blur, Grayscale </a:t>
            </a:r>
            <a:r>
              <a:rPr lang="en-US" sz="2400" dirty="0"/>
              <a:t>and pass </a:t>
            </a:r>
            <a:r>
              <a:rPr lang="en-US" sz="2400" b="1" dirty="0"/>
              <a:t>ALL </a:t>
            </a:r>
            <a:r>
              <a:rPr lang="en-US" sz="2400" dirty="0"/>
              <a:t>of them through </a:t>
            </a:r>
            <a:r>
              <a:rPr lang="en-US" sz="2400" b="1" dirty="0"/>
              <a:t>the Canny Function </a:t>
            </a:r>
            <a:r>
              <a:rPr lang="en-US" sz="2400" dirty="0"/>
              <a:t>and display all of them with appropriate window names.</a:t>
            </a:r>
            <a:endParaRPr lang="en-US" sz="2400" b="1" dirty="0"/>
          </a:p>
          <a:p>
            <a:pPr algn="ctr"/>
            <a:r>
              <a:rPr lang="en-US" sz="2400" dirty="0"/>
              <a:t>(including Canny of the Original Image)</a:t>
            </a:r>
          </a:p>
        </p:txBody>
      </p:sp>
    </p:spTree>
    <p:extLst>
      <p:ext uri="{BB962C8B-B14F-4D97-AF65-F5344CB8AC3E}">
        <p14:creationId xmlns:p14="http://schemas.microsoft.com/office/powerpoint/2010/main" val="4190932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FCA63-799D-B2F6-3545-CA341965E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B365F9-FD30-B866-8B72-2B28C5756D7B}"/>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C32788AE-6927-974B-344D-12007F88F16A}"/>
              </a:ext>
            </a:extLst>
          </p:cNvPr>
          <p:cNvSpPr>
            <a:spLocks noGrp="1"/>
          </p:cNvSpPr>
          <p:nvPr>
            <p:ph type="body" idx="1"/>
          </p:nvPr>
        </p:nvSpPr>
        <p:spPr>
          <a:xfrm>
            <a:off x="304800" y="1600200"/>
            <a:ext cx="11582400" cy="646331"/>
          </a:xfrm>
        </p:spPr>
        <p:txBody>
          <a:bodyPr/>
          <a:lstStyle/>
          <a:p>
            <a:pPr algn="l"/>
            <a:r>
              <a:rPr lang="en-US" sz="2400" b="1" dirty="0"/>
              <a:t>Image Analysis: </a:t>
            </a:r>
            <a:r>
              <a:rPr lang="en-US" b="1" dirty="0"/>
              <a:t>Basics: </a:t>
            </a:r>
            <a:r>
              <a:rPr lang="en-US" dirty="0"/>
              <a:t>Using the OpenCV library, try to </a:t>
            </a:r>
            <a:r>
              <a:rPr lang="en-US" b="1" dirty="0"/>
              <a:t>Blur, Grayscale </a:t>
            </a:r>
            <a:r>
              <a:rPr lang="en-US" dirty="0"/>
              <a:t>and pass </a:t>
            </a:r>
            <a:r>
              <a:rPr lang="en-US" b="1" dirty="0"/>
              <a:t>ALL </a:t>
            </a:r>
            <a:r>
              <a:rPr lang="en-US" dirty="0"/>
              <a:t>of them through </a:t>
            </a:r>
            <a:r>
              <a:rPr lang="en-US" b="1" dirty="0"/>
              <a:t>the Canny Function </a:t>
            </a:r>
            <a:r>
              <a:rPr lang="en-US" dirty="0"/>
              <a:t>and display all of them with appropriate window names.</a:t>
            </a:r>
            <a:r>
              <a:rPr lang="en-US" b="1" dirty="0"/>
              <a:t> </a:t>
            </a:r>
            <a:r>
              <a:rPr lang="en-US" dirty="0"/>
              <a:t>(including Canny of the Original Image)</a:t>
            </a:r>
          </a:p>
        </p:txBody>
      </p:sp>
      <p:pic>
        <p:nvPicPr>
          <p:cNvPr id="5" name="Picture 4">
            <a:extLst>
              <a:ext uri="{FF2B5EF4-FFF2-40B4-BE49-F238E27FC236}">
                <a16:creationId xmlns:a16="http://schemas.microsoft.com/office/drawing/2014/main" id="{8916D4CA-FE2E-959A-1E70-F71EA87805FF}"/>
              </a:ext>
            </a:extLst>
          </p:cNvPr>
          <p:cNvPicPr>
            <a:picLocks noChangeAspect="1"/>
          </p:cNvPicPr>
          <p:nvPr/>
        </p:nvPicPr>
        <p:blipFill>
          <a:blip r:embed="rId2"/>
          <a:stretch>
            <a:fillRect/>
          </a:stretch>
        </p:blipFill>
        <p:spPr>
          <a:xfrm>
            <a:off x="2095500" y="2362200"/>
            <a:ext cx="8001000" cy="3866929"/>
          </a:xfrm>
          <a:prstGeom prst="rect">
            <a:avLst/>
          </a:prstGeom>
        </p:spPr>
      </p:pic>
    </p:spTree>
    <p:extLst>
      <p:ext uri="{BB962C8B-B14F-4D97-AF65-F5344CB8AC3E}">
        <p14:creationId xmlns:p14="http://schemas.microsoft.com/office/powerpoint/2010/main" val="4249084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E2AB7-27A9-277A-F90C-2FA02DED03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27A785-4DF9-E9DB-8996-274310B95899}"/>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0BF3CE19-309C-7DF7-3D7C-58F57718C1C0}"/>
              </a:ext>
            </a:extLst>
          </p:cNvPr>
          <p:cNvSpPr>
            <a:spLocks noGrp="1"/>
          </p:cNvSpPr>
          <p:nvPr>
            <p:ph type="body" idx="1"/>
          </p:nvPr>
        </p:nvSpPr>
        <p:spPr>
          <a:xfrm>
            <a:off x="381000" y="1447800"/>
            <a:ext cx="11887200" cy="369332"/>
          </a:xfrm>
        </p:spPr>
        <p:txBody>
          <a:bodyPr/>
          <a:lstStyle/>
          <a:p>
            <a:pPr algn="l"/>
            <a:r>
              <a:rPr lang="en-US" sz="2400" b="1" dirty="0"/>
              <a:t>Image Analysis: </a:t>
            </a:r>
            <a:r>
              <a:rPr lang="en-US" b="1" dirty="0"/>
              <a:t>Basics: </a:t>
            </a:r>
            <a:r>
              <a:rPr lang="en-US" dirty="0"/>
              <a:t>These are the expected outputs; these windows will pop up when you run the code.</a:t>
            </a:r>
          </a:p>
        </p:txBody>
      </p:sp>
      <p:pic>
        <p:nvPicPr>
          <p:cNvPr id="8" name="Picture 7">
            <a:extLst>
              <a:ext uri="{FF2B5EF4-FFF2-40B4-BE49-F238E27FC236}">
                <a16:creationId xmlns:a16="http://schemas.microsoft.com/office/drawing/2014/main" id="{8E5C14F5-4D98-D807-84AB-094ECBEF41E1}"/>
              </a:ext>
            </a:extLst>
          </p:cNvPr>
          <p:cNvPicPr>
            <a:picLocks noChangeAspect="1"/>
          </p:cNvPicPr>
          <p:nvPr/>
        </p:nvPicPr>
        <p:blipFill>
          <a:blip r:embed="rId2"/>
          <a:stretch>
            <a:fillRect/>
          </a:stretch>
        </p:blipFill>
        <p:spPr>
          <a:xfrm>
            <a:off x="0" y="2703314"/>
            <a:ext cx="3124200" cy="3377514"/>
          </a:xfrm>
          <a:prstGeom prst="rect">
            <a:avLst/>
          </a:prstGeom>
        </p:spPr>
      </p:pic>
      <p:pic>
        <p:nvPicPr>
          <p:cNvPr id="10" name="Picture 9">
            <a:extLst>
              <a:ext uri="{FF2B5EF4-FFF2-40B4-BE49-F238E27FC236}">
                <a16:creationId xmlns:a16="http://schemas.microsoft.com/office/drawing/2014/main" id="{516AE483-3214-9C08-5CDF-8E67E7E91493}"/>
              </a:ext>
            </a:extLst>
          </p:cNvPr>
          <p:cNvPicPr>
            <a:picLocks noChangeAspect="1"/>
          </p:cNvPicPr>
          <p:nvPr/>
        </p:nvPicPr>
        <p:blipFill>
          <a:blip r:embed="rId3"/>
          <a:stretch>
            <a:fillRect/>
          </a:stretch>
        </p:blipFill>
        <p:spPr>
          <a:xfrm>
            <a:off x="3124200" y="2703314"/>
            <a:ext cx="3127328" cy="3377514"/>
          </a:xfrm>
          <a:prstGeom prst="rect">
            <a:avLst/>
          </a:prstGeom>
        </p:spPr>
      </p:pic>
      <p:pic>
        <p:nvPicPr>
          <p:cNvPr id="12" name="Picture 11">
            <a:extLst>
              <a:ext uri="{FF2B5EF4-FFF2-40B4-BE49-F238E27FC236}">
                <a16:creationId xmlns:a16="http://schemas.microsoft.com/office/drawing/2014/main" id="{F5F24E55-B7FA-CD96-0A11-D4F0D8746BB6}"/>
              </a:ext>
            </a:extLst>
          </p:cNvPr>
          <p:cNvPicPr>
            <a:picLocks noChangeAspect="1"/>
          </p:cNvPicPr>
          <p:nvPr/>
        </p:nvPicPr>
        <p:blipFill>
          <a:blip r:embed="rId4"/>
          <a:stretch>
            <a:fillRect/>
          </a:stretch>
        </p:blipFill>
        <p:spPr>
          <a:xfrm>
            <a:off x="6248400" y="2703314"/>
            <a:ext cx="3111691" cy="3377514"/>
          </a:xfrm>
          <a:prstGeom prst="rect">
            <a:avLst/>
          </a:prstGeom>
        </p:spPr>
      </p:pic>
      <p:pic>
        <p:nvPicPr>
          <p:cNvPr id="14" name="Picture 13">
            <a:extLst>
              <a:ext uri="{FF2B5EF4-FFF2-40B4-BE49-F238E27FC236}">
                <a16:creationId xmlns:a16="http://schemas.microsoft.com/office/drawing/2014/main" id="{E9255047-81FA-D4A9-6871-4B71A59C2776}"/>
              </a:ext>
            </a:extLst>
          </p:cNvPr>
          <p:cNvPicPr>
            <a:picLocks noChangeAspect="1"/>
          </p:cNvPicPr>
          <p:nvPr/>
        </p:nvPicPr>
        <p:blipFill>
          <a:blip r:embed="rId5"/>
          <a:stretch>
            <a:fillRect/>
          </a:stretch>
        </p:blipFill>
        <p:spPr>
          <a:xfrm>
            <a:off x="9226729" y="2703314"/>
            <a:ext cx="2965546" cy="3377514"/>
          </a:xfrm>
          <a:prstGeom prst="rect">
            <a:avLst/>
          </a:prstGeom>
        </p:spPr>
      </p:pic>
      <p:sp>
        <p:nvSpPr>
          <p:cNvPr id="15" name="TextBox 14">
            <a:extLst>
              <a:ext uri="{FF2B5EF4-FFF2-40B4-BE49-F238E27FC236}">
                <a16:creationId xmlns:a16="http://schemas.microsoft.com/office/drawing/2014/main" id="{0282AE32-F899-14BD-7BCB-0D616CD6CD8C}"/>
              </a:ext>
            </a:extLst>
          </p:cNvPr>
          <p:cNvSpPr txBox="1"/>
          <p:nvPr/>
        </p:nvSpPr>
        <p:spPr>
          <a:xfrm>
            <a:off x="914400" y="6183868"/>
            <a:ext cx="11598047" cy="369332"/>
          </a:xfrm>
          <a:prstGeom prst="rect">
            <a:avLst/>
          </a:prstGeom>
          <a:noFill/>
        </p:spPr>
        <p:txBody>
          <a:bodyPr wrap="none" rtlCol="0">
            <a:spAutoFit/>
          </a:bodyPr>
          <a:lstStyle/>
          <a:p>
            <a:r>
              <a:rPr lang="en-US" dirty="0"/>
              <a:t>Blurred                                    Grayscale                      Canny (Of Original Image)     Canny (Of Blurred Image)</a:t>
            </a:r>
          </a:p>
        </p:txBody>
      </p:sp>
      <p:sp>
        <p:nvSpPr>
          <p:cNvPr id="16" name="TextBox 15">
            <a:extLst>
              <a:ext uri="{FF2B5EF4-FFF2-40B4-BE49-F238E27FC236}">
                <a16:creationId xmlns:a16="http://schemas.microsoft.com/office/drawing/2014/main" id="{4D3CF1B7-0F7B-5A67-DB26-B5D69EE5F399}"/>
              </a:ext>
            </a:extLst>
          </p:cNvPr>
          <p:cNvSpPr txBox="1"/>
          <p:nvPr/>
        </p:nvSpPr>
        <p:spPr>
          <a:xfrm>
            <a:off x="1733550" y="1954332"/>
            <a:ext cx="9029700" cy="923330"/>
          </a:xfrm>
          <a:prstGeom prst="rect">
            <a:avLst/>
          </a:prstGeom>
          <a:noFill/>
        </p:spPr>
        <p:txBody>
          <a:bodyPr wrap="square" rtlCol="0">
            <a:spAutoFit/>
          </a:bodyPr>
          <a:lstStyle/>
          <a:p>
            <a:pPr algn="ctr"/>
            <a:r>
              <a:rPr lang="en-US" sz="1800" dirty="0"/>
              <a:t>Can you note the difference between the Canny of the Original and the Blurred one?</a:t>
            </a:r>
            <a:r>
              <a:rPr lang="en-US" sz="1800" dirty="0">
                <a:sym typeface="Wingdings" panose="05000000000000000000" pitchFamily="2" charset="2"/>
              </a:rPr>
              <a:t> </a:t>
            </a:r>
            <a:r>
              <a:rPr lang="en-US" sz="1800" b="1" dirty="0">
                <a:sym typeface="Wingdings" panose="05000000000000000000" pitchFamily="2" charset="2"/>
              </a:rPr>
              <a:t>More precise edges, less noise</a:t>
            </a:r>
            <a:endParaRPr lang="en-US" sz="1800" b="1" dirty="0"/>
          </a:p>
          <a:p>
            <a:endParaRPr lang="en-US" dirty="0"/>
          </a:p>
        </p:txBody>
      </p:sp>
    </p:spTree>
    <p:extLst>
      <p:ext uri="{BB962C8B-B14F-4D97-AF65-F5344CB8AC3E}">
        <p14:creationId xmlns:p14="http://schemas.microsoft.com/office/powerpoint/2010/main" val="3776152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0F5F1-D017-E689-D8AF-5B6AED936A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13577F-8F9B-392F-2E5B-E4CC67A69998}"/>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1FBCB516-B753-5DC0-D448-C8D20E269FAB}"/>
              </a:ext>
            </a:extLst>
          </p:cNvPr>
          <p:cNvSpPr>
            <a:spLocks noGrp="1"/>
          </p:cNvSpPr>
          <p:nvPr>
            <p:ph type="body" idx="1"/>
          </p:nvPr>
        </p:nvSpPr>
        <p:spPr>
          <a:xfrm>
            <a:off x="304800" y="1600200"/>
            <a:ext cx="11582400" cy="369332"/>
          </a:xfrm>
        </p:spPr>
        <p:txBody>
          <a:bodyPr/>
          <a:lstStyle/>
          <a:p>
            <a:pPr algn="l"/>
            <a:r>
              <a:rPr lang="en-US" sz="2400" b="1" dirty="0"/>
              <a:t>Image Analysis: </a:t>
            </a:r>
            <a:r>
              <a:rPr lang="en-US" b="1" dirty="0"/>
              <a:t>Basics:</a:t>
            </a:r>
            <a:endParaRPr lang="en-US" dirty="0"/>
          </a:p>
        </p:txBody>
      </p:sp>
      <p:sp>
        <p:nvSpPr>
          <p:cNvPr id="9" name="TextBox 8">
            <a:extLst>
              <a:ext uri="{FF2B5EF4-FFF2-40B4-BE49-F238E27FC236}">
                <a16:creationId xmlns:a16="http://schemas.microsoft.com/office/drawing/2014/main" id="{D8736CE2-8B9D-E09E-891B-03027D45C238}"/>
              </a:ext>
            </a:extLst>
          </p:cNvPr>
          <p:cNvSpPr txBox="1"/>
          <p:nvPr/>
        </p:nvSpPr>
        <p:spPr>
          <a:xfrm>
            <a:off x="1363532" y="3200400"/>
            <a:ext cx="9464936" cy="1569660"/>
          </a:xfrm>
          <a:prstGeom prst="rect">
            <a:avLst/>
          </a:prstGeom>
          <a:noFill/>
        </p:spPr>
        <p:txBody>
          <a:bodyPr wrap="square" rtlCol="0">
            <a:spAutoFit/>
          </a:bodyPr>
          <a:lstStyle/>
          <a:p>
            <a:pPr algn="ctr"/>
            <a:r>
              <a:rPr lang="en-US" sz="2400" dirty="0"/>
              <a:t>Try this again with a photo of a landscape. You can play with the Kernel of the </a:t>
            </a:r>
            <a:r>
              <a:rPr lang="en-US" sz="2400" i="1" dirty="0" err="1"/>
              <a:t>GaussianBlur</a:t>
            </a:r>
            <a:r>
              <a:rPr lang="en-US" sz="2400" i="1" dirty="0"/>
              <a:t>()</a:t>
            </a:r>
          </a:p>
          <a:p>
            <a:pPr algn="ctr"/>
            <a:br>
              <a:rPr lang="en-US" sz="2400" dirty="0"/>
            </a:br>
            <a:r>
              <a:rPr lang="en-US" sz="2400" b="1" dirty="0"/>
              <a:t>Lower the Kernel, more the noise</a:t>
            </a:r>
          </a:p>
        </p:txBody>
      </p:sp>
    </p:spTree>
    <p:extLst>
      <p:ext uri="{BB962C8B-B14F-4D97-AF65-F5344CB8AC3E}">
        <p14:creationId xmlns:p14="http://schemas.microsoft.com/office/powerpoint/2010/main" val="4126878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09B5E-CF73-7D09-F0A3-6D46EDDD0C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27D53F-06B0-29D9-3B83-73C361A4B28A}"/>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7E4FF95F-7594-0FD2-6144-B1C71173E1CD}"/>
              </a:ext>
            </a:extLst>
          </p:cNvPr>
          <p:cNvSpPr>
            <a:spLocks noGrp="1"/>
          </p:cNvSpPr>
          <p:nvPr>
            <p:ph type="body" idx="1"/>
          </p:nvPr>
        </p:nvSpPr>
        <p:spPr>
          <a:xfrm>
            <a:off x="304800" y="1600200"/>
            <a:ext cx="11582400" cy="1569660"/>
          </a:xfrm>
        </p:spPr>
        <p:txBody>
          <a:bodyPr/>
          <a:lstStyle/>
          <a:p>
            <a:pPr algn="l"/>
            <a:r>
              <a:rPr lang="en-US" sz="2400" b="1" dirty="0"/>
              <a:t>Video Analysis: </a:t>
            </a:r>
            <a:r>
              <a:rPr lang="en-US" b="1" dirty="0"/>
              <a:t>Basics: </a:t>
            </a:r>
            <a:r>
              <a:rPr lang="en-US" dirty="0"/>
              <a:t>Using the OpenCV library, we can analyze and manipulate the video feed. Let’s start with the basic video manipulation using the built-in functions of OpenCV. </a:t>
            </a:r>
          </a:p>
          <a:p>
            <a:pPr algn="l"/>
            <a:endParaRPr lang="en-US" sz="2400" dirty="0"/>
          </a:p>
          <a:p>
            <a:pPr marL="342900" indent="-342900" algn="l">
              <a:buAutoNum type="arabicPeriod"/>
            </a:pPr>
            <a:r>
              <a:rPr lang="en-US" dirty="0"/>
              <a:t>Connect the Webcam to your computer or Laptop (If built-in, make sure it is in working condition)</a:t>
            </a:r>
          </a:p>
          <a:p>
            <a:pPr marL="342900" indent="-342900" algn="l">
              <a:buAutoNum type="arabicPeriod"/>
            </a:pPr>
            <a:r>
              <a:rPr lang="en-US" dirty="0"/>
              <a:t>Use the following functions to access the video feed. </a:t>
            </a:r>
          </a:p>
        </p:txBody>
      </p:sp>
      <p:sp>
        <p:nvSpPr>
          <p:cNvPr id="10" name="TextBox 9">
            <a:extLst>
              <a:ext uri="{FF2B5EF4-FFF2-40B4-BE49-F238E27FC236}">
                <a16:creationId xmlns:a16="http://schemas.microsoft.com/office/drawing/2014/main" id="{FC133A95-40AC-A61B-ED6A-7BE0E7FA976B}"/>
              </a:ext>
            </a:extLst>
          </p:cNvPr>
          <p:cNvSpPr txBox="1"/>
          <p:nvPr/>
        </p:nvSpPr>
        <p:spPr>
          <a:xfrm>
            <a:off x="152400" y="3503475"/>
            <a:ext cx="12192000" cy="2308324"/>
          </a:xfrm>
          <a:prstGeom prst="rect">
            <a:avLst/>
          </a:prstGeom>
          <a:noFill/>
        </p:spPr>
        <p:txBody>
          <a:bodyPr wrap="square" rtlCol="0">
            <a:spAutoFit/>
          </a:bodyPr>
          <a:lstStyle/>
          <a:p>
            <a:r>
              <a:rPr lang="en-US" b="1" i="1" dirty="0" err="1"/>
              <a:t>Video_feed</a:t>
            </a:r>
            <a:r>
              <a:rPr lang="en-US" b="1" i="1" dirty="0"/>
              <a:t> = cv2.VideoCapture(0) </a:t>
            </a:r>
            <a:r>
              <a:rPr lang="en-US" dirty="0">
                <a:sym typeface="Wingdings" panose="05000000000000000000" pitchFamily="2" charset="2"/>
              </a:rPr>
              <a:t> Your webcam feed can now be accessed in the script using this new variable</a:t>
            </a:r>
          </a:p>
          <a:p>
            <a:endParaRPr lang="en-US" b="1" i="1" dirty="0">
              <a:sym typeface="Wingdings" panose="05000000000000000000" pitchFamily="2" charset="2"/>
            </a:endParaRPr>
          </a:p>
          <a:p>
            <a:r>
              <a:rPr lang="en-US" b="1" i="1" dirty="0" err="1">
                <a:sym typeface="Wingdings" panose="05000000000000000000" pitchFamily="2" charset="2"/>
              </a:rPr>
              <a:t>Video_feed.isOpened</a:t>
            </a:r>
            <a:r>
              <a:rPr lang="en-US" b="1" i="1" dirty="0">
                <a:sym typeface="Wingdings" panose="05000000000000000000" pitchFamily="2" charset="2"/>
              </a:rPr>
              <a:t>() </a:t>
            </a:r>
            <a:r>
              <a:rPr lang="en-US" dirty="0">
                <a:sym typeface="Wingdings" panose="05000000000000000000" pitchFamily="2" charset="2"/>
              </a:rPr>
              <a:t> To see if the Webcam is available. If not, it will return “False“</a:t>
            </a:r>
            <a:endParaRPr lang="en-US" b="1" i="1" dirty="0">
              <a:sym typeface="Wingdings" panose="05000000000000000000" pitchFamily="2" charset="2"/>
            </a:endParaRPr>
          </a:p>
          <a:p>
            <a:endParaRPr lang="en-US" b="1" i="1" dirty="0">
              <a:sym typeface="Wingdings" panose="05000000000000000000" pitchFamily="2" charset="2"/>
            </a:endParaRPr>
          </a:p>
          <a:p>
            <a:r>
              <a:rPr lang="en-US" b="1" i="1" dirty="0">
                <a:sym typeface="Wingdings" panose="05000000000000000000" pitchFamily="2" charset="2"/>
              </a:rPr>
              <a:t>ret, frame = </a:t>
            </a:r>
            <a:r>
              <a:rPr lang="en-US" b="1" i="1" dirty="0" err="1">
                <a:sym typeface="Wingdings" panose="05000000000000000000" pitchFamily="2" charset="2"/>
              </a:rPr>
              <a:t>Video_feed.read</a:t>
            </a:r>
            <a:r>
              <a:rPr lang="en-US" b="1" i="1" dirty="0">
                <a:sym typeface="Wingdings" panose="05000000000000000000" pitchFamily="2" charset="2"/>
              </a:rPr>
              <a:t>() </a:t>
            </a:r>
            <a:r>
              <a:rPr lang="en-US" dirty="0">
                <a:sym typeface="Wingdings" panose="05000000000000000000" pitchFamily="2" charset="2"/>
              </a:rPr>
              <a:t> </a:t>
            </a:r>
            <a:r>
              <a:rPr lang="en-US" b="1" i="1" dirty="0">
                <a:sym typeface="Wingdings" panose="05000000000000000000" pitchFamily="2" charset="2"/>
              </a:rPr>
              <a:t>“ret”</a:t>
            </a:r>
            <a:r>
              <a:rPr lang="en-US" dirty="0">
                <a:sym typeface="Wingdings" panose="05000000000000000000" pitchFamily="2" charset="2"/>
              </a:rPr>
              <a:t> will become false if no frames are detected, </a:t>
            </a:r>
            <a:r>
              <a:rPr lang="en-US" b="1" i="1" dirty="0">
                <a:sym typeface="Wingdings" panose="05000000000000000000" pitchFamily="2" charset="2"/>
              </a:rPr>
              <a:t>“frame” </a:t>
            </a:r>
            <a:r>
              <a:rPr lang="en-US" dirty="0">
                <a:sym typeface="Wingdings" panose="05000000000000000000" pitchFamily="2" charset="2"/>
              </a:rPr>
              <a:t>is your frame at any given instant. </a:t>
            </a:r>
            <a:endParaRPr lang="en-US" b="1" i="1" dirty="0">
              <a:sym typeface="Wingdings" panose="05000000000000000000" pitchFamily="2" charset="2"/>
            </a:endParaRPr>
          </a:p>
          <a:p>
            <a:endParaRPr lang="en-US" b="1" i="1" dirty="0">
              <a:sym typeface="Wingdings" panose="05000000000000000000" pitchFamily="2" charset="2"/>
            </a:endParaRPr>
          </a:p>
          <a:p>
            <a:r>
              <a:rPr lang="en-US" b="1" i="1" dirty="0" err="1">
                <a:sym typeface="Wingdings" panose="05000000000000000000" pitchFamily="2" charset="2"/>
              </a:rPr>
              <a:t>Video_feed.release</a:t>
            </a:r>
            <a:r>
              <a:rPr lang="en-US" b="1" i="1" dirty="0">
                <a:sym typeface="Wingdings" panose="05000000000000000000" pitchFamily="2" charset="2"/>
              </a:rPr>
              <a:t>() </a:t>
            </a:r>
            <a:r>
              <a:rPr lang="en-US" dirty="0">
                <a:sym typeface="Wingdings" panose="05000000000000000000" pitchFamily="2" charset="2"/>
              </a:rPr>
              <a:t> To release the webcam (at the end of the code)</a:t>
            </a:r>
          </a:p>
        </p:txBody>
      </p:sp>
    </p:spTree>
    <p:extLst>
      <p:ext uri="{BB962C8B-B14F-4D97-AF65-F5344CB8AC3E}">
        <p14:creationId xmlns:p14="http://schemas.microsoft.com/office/powerpoint/2010/main" val="2045682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60A65-9B16-BFF3-AD4D-BBE4C1291D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A0423E-5F77-85DB-A65A-A911A2325C7A}"/>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A26847B9-40CF-3C50-E0A3-DFC116F274EA}"/>
              </a:ext>
            </a:extLst>
          </p:cNvPr>
          <p:cNvSpPr>
            <a:spLocks noGrp="1"/>
          </p:cNvSpPr>
          <p:nvPr>
            <p:ph type="body" idx="1"/>
          </p:nvPr>
        </p:nvSpPr>
        <p:spPr>
          <a:xfrm>
            <a:off x="304800" y="1600200"/>
            <a:ext cx="11582400" cy="2954655"/>
          </a:xfrm>
        </p:spPr>
        <p:txBody>
          <a:bodyPr/>
          <a:lstStyle/>
          <a:p>
            <a:pPr algn="l"/>
            <a:r>
              <a:rPr lang="en-US" sz="2400" b="1" dirty="0"/>
              <a:t>Video Analysis: </a:t>
            </a:r>
            <a:r>
              <a:rPr lang="en-US" b="1" dirty="0"/>
              <a:t>Basics: </a:t>
            </a:r>
            <a:r>
              <a:rPr lang="en-US" dirty="0"/>
              <a:t>Using the OpenCV library, we can analyze and manipulate the video feed. Let’s start with the basic video manipulation using the built-in functions of OpenCV. </a:t>
            </a:r>
          </a:p>
          <a:p>
            <a:pPr algn="l"/>
            <a:endParaRPr lang="en-US" dirty="0"/>
          </a:p>
          <a:p>
            <a:pPr algn="l"/>
            <a:endParaRPr lang="en-US" dirty="0"/>
          </a:p>
          <a:p>
            <a:pPr algn="l"/>
            <a:r>
              <a:rPr lang="en-US" dirty="0"/>
              <a:t>In the video, we manipulate </a:t>
            </a:r>
            <a:r>
              <a:rPr lang="en-US" b="1" dirty="0"/>
              <a:t>each frame </a:t>
            </a:r>
            <a:r>
              <a:rPr lang="en-US" dirty="0"/>
              <a:t>and display each frame as an image, but as this is a video feed, it will have many frames so it becomes </a:t>
            </a:r>
            <a:r>
              <a:rPr lang="en-US" b="1" dirty="0"/>
              <a:t>a continuous slide show of images </a:t>
            </a:r>
            <a:r>
              <a:rPr lang="en-US" dirty="0"/>
              <a:t>which appears as a video to us. </a:t>
            </a:r>
          </a:p>
          <a:p>
            <a:pPr algn="l"/>
            <a:endParaRPr lang="en-US" dirty="0"/>
          </a:p>
          <a:p>
            <a:pPr algn="l"/>
            <a:endParaRPr lang="en-US" dirty="0"/>
          </a:p>
          <a:p>
            <a:pPr algn="l"/>
            <a:endParaRPr lang="en-US" dirty="0"/>
          </a:p>
          <a:p>
            <a:pPr algn="ctr"/>
            <a:r>
              <a:rPr lang="en-US" sz="2400" dirty="0"/>
              <a:t>Let’s try to </a:t>
            </a:r>
            <a:r>
              <a:rPr lang="en-US" sz="2400" b="1" dirty="0"/>
              <a:t>grayscale</a:t>
            </a:r>
            <a:r>
              <a:rPr lang="en-US" sz="2400" dirty="0"/>
              <a:t> the video feed from the webcam in one window and </a:t>
            </a:r>
            <a:r>
              <a:rPr lang="en-US" sz="2400" b="1" dirty="0"/>
              <a:t>blur</a:t>
            </a:r>
            <a:r>
              <a:rPr lang="en-US" sz="2400" dirty="0"/>
              <a:t> in the other.</a:t>
            </a:r>
          </a:p>
        </p:txBody>
      </p:sp>
    </p:spTree>
    <p:extLst>
      <p:ext uri="{BB962C8B-B14F-4D97-AF65-F5344CB8AC3E}">
        <p14:creationId xmlns:p14="http://schemas.microsoft.com/office/powerpoint/2010/main" val="2659915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3401D-4DD1-90A9-4F34-D29B42D76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BAFE88-C614-171E-27A2-F14D531B970A}"/>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BAF50ED5-4A18-5431-902B-0CBCE35651A5}"/>
              </a:ext>
            </a:extLst>
          </p:cNvPr>
          <p:cNvSpPr>
            <a:spLocks noGrp="1"/>
          </p:cNvSpPr>
          <p:nvPr>
            <p:ph type="body" idx="1"/>
          </p:nvPr>
        </p:nvSpPr>
        <p:spPr>
          <a:xfrm>
            <a:off x="304800" y="1600200"/>
            <a:ext cx="11582400" cy="646331"/>
          </a:xfrm>
        </p:spPr>
        <p:txBody>
          <a:bodyPr/>
          <a:lstStyle/>
          <a:p>
            <a:pPr algn="l"/>
            <a:r>
              <a:rPr lang="en-US" sz="2400" b="1" dirty="0"/>
              <a:t>Image Analysis: </a:t>
            </a:r>
            <a:r>
              <a:rPr lang="en-US" b="1" dirty="0"/>
              <a:t>Basics: </a:t>
            </a:r>
            <a:r>
              <a:rPr lang="en-US" dirty="0"/>
              <a:t>Here, the Kernel of the Blur is very strong (7,7) and hence you can see a nice blurry video, try taking the Canny of that feed to see how the noise reduces. </a:t>
            </a:r>
          </a:p>
        </p:txBody>
      </p:sp>
      <p:pic>
        <p:nvPicPr>
          <p:cNvPr id="12" name="Picture 11">
            <a:extLst>
              <a:ext uri="{FF2B5EF4-FFF2-40B4-BE49-F238E27FC236}">
                <a16:creationId xmlns:a16="http://schemas.microsoft.com/office/drawing/2014/main" id="{ACCE7FCB-7B52-962D-8ABB-AEED5CF0DAA4}"/>
              </a:ext>
            </a:extLst>
          </p:cNvPr>
          <p:cNvPicPr>
            <a:picLocks noChangeAspect="1"/>
          </p:cNvPicPr>
          <p:nvPr/>
        </p:nvPicPr>
        <p:blipFill>
          <a:blip r:embed="rId2"/>
          <a:stretch>
            <a:fillRect/>
          </a:stretch>
        </p:blipFill>
        <p:spPr>
          <a:xfrm>
            <a:off x="2400300" y="2286000"/>
            <a:ext cx="7391400" cy="4065532"/>
          </a:xfrm>
          <a:prstGeom prst="rect">
            <a:avLst/>
          </a:prstGeom>
        </p:spPr>
      </p:pic>
    </p:spTree>
    <p:extLst>
      <p:ext uri="{BB962C8B-B14F-4D97-AF65-F5344CB8AC3E}">
        <p14:creationId xmlns:p14="http://schemas.microsoft.com/office/powerpoint/2010/main" val="21426747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C1572-A3A5-5F30-F52A-BD977BF001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2E2CF7-10CE-0404-3ECA-5FE936C2DF23}"/>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39E958EF-A7B3-D188-9136-E8A22A28DAA3}"/>
              </a:ext>
            </a:extLst>
          </p:cNvPr>
          <p:cNvSpPr>
            <a:spLocks noGrp="1"/>
          </p:cNvSpPr>
          <p:nvPr>
            <p:ph type="body" idx="1"/>
          </p:nvPr>
        </p:nvSpPr>
        <p:spPr>
          <a:xfrm>
            <a:off x="381000" y="1447800"/>
            <a:ext cx="11887200" cy="369332"/>
          </a:xfrm>
        </p:spPr>
        <p:txBody>
          <a:bodyPr/>
          <a:lstStyle/>
          <a:p>
            <a:pPr algn="l"/>
            <a:r>
              <a:rPr lang="en-US" sz="2400" b="1" dirty="0"/>
              <a:t>Image Analysis: </a:t>
            </a:r>
            <a:r>
              <a:rPr lang="en-US" b="1" dirty="0"/>
              <a:t>Basics: </a:t>
            </a:r>
            <a:r>
              <a:rPr lang="en-US" dirty="0"/>
              <a:t>These are the three outputs; these windows will pop up when you run the code.</a:t>
            </a:r>
          </a:p>
        </p:txBody>
      </p:sp>
      <p:sp>
        <p:nvSpPr>
          <p:cNvPr id="16" name="TextBox 15">
            <a:extLst>
              <a:ext uri="{FF2B5EF4-FFF2-40B4-BE49-F238E27FC236}">
                <a16:creationId xmlns:a16="http://schemas.microsoft.com/office/drawing/2014/main" id="{3AD28942-5145-9255-ADFE-4A7C09145B63}"/>
              </a:ext>
            </a:extLst>
          </p:cNvPr>
          <p:cNvSpPr txBox="1"/>
          <p:nvPr/>
        </p:nvSpPr>
        <p:spPr>
          <a:xfrm>
            <a:off x="1733550" y="1954332"/>
            <a:ext cx="9029700" cy="646331"/>
          </a:xfrm>
          <a:prstGeom prst="rect">
            <a:avLst/>
          </a:prstGeom>
          <a:noFill/>
        </p:spPr>
        <p:txBody>
          <a:bodyPr wrap="square" rtlCol="0">
            <a:spAutoFit/>
          </a:bodyPr>
          <a:lstStyle/>
          <a:p>
            <a:pPr algn="ctr"/>
            <a:r>
              <a:rPr lang="en-US" dirty="0"/>
              <a:t>The effects are applied in real-time as the frames are being processed and displayed in matter of seconds</a:t>
            </a:r>
          </a:p>
        </p:txBody>
      </p:sp>
      <p:pic>
        <p:nvPicPr>
          <p:cNvPr id="4" name="Picture 3">
            <a:extLst>
              <a:ext uri="{FF2B5EF4-FFF2-40B4-BE49-F238E27FC236}">
                <a16:creationId xmlns:a16="http://schemas.microsoft.com/office/drawing/2014/main" id="{E10E7601-3E1F-C67E-87CE-DA8F4C93ADF0}"/>
              </a:ext>
            </a:extLst>
          </p:cNvPr>
          <p:cNvPicPr>
            <a:picLocks noChangeAspect="1"/>
          </p:cNvPicPr>
          <p:nvPr/>
        </p:nvPicPr>
        <p:blipFill>
          <a:blip r:embed="rId2"/>
          <a:stretch>
            <a:fillRect/>
          </a:stretch>
        </p:blipFill>
        <p:spPr>
          <a:xfrm>
            <a:off x="3314700" y="2667000"/>
            <a:ext cx="5867400" cy="3582718"/>
          </a:xfrm>
          <a:prstGeom prst="rect">
            <a:avLst/>
          </a:prstGeom>
        </p:spPr>
      </p:pic>
    </p:spTree>
    <p:extLst>
      <p:ext uri="{BB962C8B-B14F-4D97-AF65-F5344CB8AC3E}">
        <p14:creationId xmlns:p14="http://schemas.microsoft.com/office/powerpoint/2010/main" val="38374075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87683-0106-C7C4-B61D-EDAACE4FF0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0A137F-2CC0-E17B-B5AD-E0F0FA4FDE4F}"/>
              </a:ext>
            </a:extLst>
          </p:cNvPr>
          <p:cNvSpPr>
            <a:spLocks noGrp="1"/>
          </p:cNvSpPr>
          <p:nvPr>
            <p:ph type="title"/>
          </p:nvPr>
        </p:nvSpPr>
        <p:spPr>
          <a:xfrm>
            <a:off x="381000" y="754380"/>
            <a:ext cx="9343567" cy="430887"/>
          </a:xfrm>
        </p:spPr>
        <p:txBody>
          <a:bodyPr/>
          <a:lstStyle/>
          <a:p>
            <a:r>
              <a:rPr lang="en-IN" dirty="0"/>
              <a:t>Artificial Intelligence in Drones- Computer Vision</a:t>
            </a:r>
          </a:p>
        </p:txBody>
      </p:sp>
      <p:sp>
        <p:nvSpPr>
          <p:cNvPr id="3" name="Text Placeholder 2">
            <a:extLst>
              <a:ext uri="{FF2B5EF4-FFF2-40B4-BE49-F238E27FC236}">
                <a16:creationId xmlns:a16="http://schemas.microsoft.com/office/drawing/2014/main" id="{2051653E-03DB-21AB-B61D-5350AA098316}"/>
              </a:ext>
            </a:extLst>
          </p:cNvPr>
          <p:cNvSpPr>
            <a:spLocks noGrp="1"/>
          </p:cNvSpPr>
          <p:nvPr>
            <p:ph type="body" idx="1"/>
          </p:nvPr>
        </p:nvSpPr>
        <p:spPr>
          <a:xfrm>
            <a:off x="344010" y="1600200"/>
            <a:ext cx="11582400" cy="923330"/>
          </a:xfrm>
        </p:spPr>
        <p:txBody>
          <a:bodyPr/>
          <a:lstStyle/>
          <a:p>
            <a:pPr algn="l"/>
            <a:r>
              <a:rPr lang="en-US" sz="2400" b="1" dirty="0"/>
              <a:t>OpenCV (Detection): </a:t>
            </a:r>
            <a:r>
              <a:rPr lang="en-US" dirty="0"/>
              <a:t>These are the functions that are needed to detect objects, faces, etc.</a:t>
            </a:r>
          </a:p>
          <a:p>
            <a:pPr algn="l"/>
            <a:endParaRPr lang="en-US" dirty="0"/>
          </a:p>
          <a:p>
            <a:pPr algn="l"/>
            <a:r>
              <a:rPr lang="en-US" dirty="0"/>
              <a:t> </a:t>
            </a:r>
            <a:endParaRPr lang="en-US" i="1" dirty="0">
              <a:solidFill>
                <a:srgbClr val="0000FF"/>
              </a:solidFill>
            </a:endParaRPr>
          </a:p>
        </p:txBody>
      </p:sp>
      <p:sp>
        <p:nvSpPr>
          <p:cNvPr id="4" name="TextBox 3">
            <a:extLst>
              <a:ext uri="{FF2B5EF4-FFF2-40B4-BE49-F238E27FC236}">
                <a16:creationId xmlns:a16="http://schemas.microsoft.com/office/drawing/2014/main" id="{47840802-2983-F2D8-FD4E-66D9692EB2AE}"/>
              </a:ext>
            </a:extLst>
          </p:cNvPr>
          <p:cNvSpPr txBox="1"/>
          <p:nvPr/>
        </p:nvSpPr>
        <p:spPr>
          <a:xfrm>
            <a:off x="304800" y="2227600"/>
            <a:ext cx="11658600" cy="313932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sym typeface="Wingdings" panose="05000000000000000000" pitchFamily="2" charset="2"/>
              </a:rPr>
              <a:t> </a:t>
            </a:r>
            <a:r>
              <a:rPr kumimoji="0" lang="en-US" altLang="en-US" b="1" i="0" u="none" strike="noStrike" cap="none" normalizeH="0" baseline="0" dirty="0">
                <a:ln>
                  <a:noFill/>
                </a:ln>
                <a:solidFill>
                  <a:schemeClr val="tx1"/>
                </a:solidFill>
                <a:effectLst/>
                <a:latin typeface="Arial Unicode MS"/>
              </a:rPr>
              <a:t>cv2.cvtColor(</a:t>
            </a:r>
            <a:r>
              <a:rPr kumimoji="0" lang="en-US" altLang="en-US" b="1" i="0" u="none" strike="noStrike" cap="none" normalizeH="0" baseline="0" dirty="0" err="1">
                <a:ln>
                  <a:noFill/>
                </a:ln>
                <a:solidFill>
                  <a:schemeClr val="tx1"/>
                </a:solidFill>
                <a:effectLst/>
                <a:latin typeface="Arial Unicode MS"/>
              </a:rPr>
              <a:t>img</a:t>
            </a:r>
            <a:r>
              <a:rPr kumimoji="0" lang="en-US" altLang="en-US" b="1" i="0" u="none" strike="noStrike" cap="none" normalizeH="0" baseline="0" dirty="0">
                <a:ln>
                  <a:noFill/>
                </a:ln>
                <a:solidFill>
                  <a:schemeClr val="tx1"/>
                </a:solidFill>
                <a:effectLst/>
                <a:latin typeface="Arial Unicode MS"/>
              </a:rPr>
              <a:t>, cv2.COLOR_BGR2HSV) </a:t>
            </a:r>
            <a:r>
              <a:rPr kumimoji="0" lang="en-US" altLang="en-US" i="0" u="none" strike="noStrike" cap="none" normalizeH="0" baseline="0" dirty="0">
                <a:ln>
                  <a:noFill/>
                </a:ln>
                <a:solidFill>
                  <a:schemeClr val="tx1"/>
                </a:solidFill>
                <a:effectLst/>
                <a:latin typeface="Arial Unicode MS"/>
              </a:rPr>
              <a:t>→ convert BGR image to HSV color space</a:t>
            </a:r>
          </a:p>
          <a:p>
            <a:pPr marL="0" marR="0" lvl="0" indent="0" algn="l" defTabSz="914400" rtl="0" eaLnBrk="0" fontAlgn="base" latinLnBrk="0" hangingPunct="0">
              <a:lnSpc>
                <a:spcPct val="100000"/>
              </a:lnSpc>
              <a:spcBef>
                <a:spcPct val="0"/>
              </a:spcBef>
              <a:spcAft>
                <a:spcPct val="0"/>
              </a:spcAft>
              <a:buClrTx/>
              <a:buSzTx/>
              <a:tabLst/>
            </a:pPr>
            <a:r>
              <a:rPr kumimoji="0" lang="en-US" altLang="en-US" i="0" u="none" strike="noStrike" cap="none" normalizeH="0" baseline="0" dirty="0">
                <a:ln>
                  <a:noFill/>
                </a:ln>
                <a:solidFill>
                  <a:schemeClr val="tx1"/>
                </a:solidFill>
                <a:effectLst/>
                <a:latin typeface="Arial Unicode MS"/>
              </a:rPr>
              <a:t>                                      [ Ex: </a:t>
            </a:r>
            <a:r>
              <a:rPr kumimoji="0" lang="en-US" altLang="en-US" i="0" u="none" strike="noStrike" cap="none" normalizeH="0" baseline="0" dirty="0" err="1">
                <a:ln>
                  <a:noFill/>
                </a:ln>
                <a:solidFill>
                  <a:schemeClr val="tx1"/>
                </a:solidFill>
                <a:effectLst/>
                <a:latin typeface="Arial Unicode MS"/>
              </a:rPr>
              <a:t>hsv</a:t>
            </a:r>
            <a:r>
              <a:rPr kumimoji="0" lang="en-US" altLang="en-US" i="0" u="none" strike="noStrike" cap="none" normalizeH="0" baseline="0" dirty="0">
                <a:ln>
                  <a:noFill/>
                </a:ln>
                <a:solidFill>
                  <a:schemeClr val="tx1"/>
                </a:solidFill>
                <a:effectLst/>
                <a:latin typeface="Arial Unicode MS"/>
              </a:rPr>
              <a:t> = cv2.cvtColor(</a:t>
            </a:r>
            <a:r>
              <a:rPr kumimoji="0" lang="en-US" altLang="en-US" i="0" u="none" strike="noStrike" cap="none" normalizeH="0" baseline="0" dirty="0" err="1">
                <a:ln>
                  <a:noFill/>
                </a:ln>
                <a:solidFill>
                  <a:schemeClr val="tx1"/>
                </a:solidFill>
                <a:effectLst/>
                <a:latin typeface="Arial Unicode MS"/>
              </a:rPr>
              <a:t>img</a:t>
            </a:r>
            <a:r>
              <a:rPr kumimoji="0" lang="en-US" altLang="en-US" i="0" u="none" strike="noStrike" cap="none" normalizeH="0" baseline="0" dirty="0">
                <a:ln>
                  <a:noFill/>
                </a:ln>
                <a:solidFill>
                  <a:schemeClr val="tx1"/>
                </a:solidFill>
                <a:effectLst/>
                <a:latin typeface="Arial Unicode MS"/>
              </a:rPr>
              <a:t>, cv2.COLOR_BGR2HSV)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a:ln>
                  <a:noFill/>
                </a:ln>
                <a:solidFill>
                  <a:schemeClr val="tx1"/>
                </a:solidFill>
                <a:effectLst/>
                <a:latin typeface="Arial Unicode MS"/>
              </a:rPr>
              <a:t>cv2.inRange(</a:t>
            </a:r>
            <a:r>
              <a:rPr kumimoji="0" lang="en-US" altLang="en-US" b="1" i="0" u="none" strike="noStrike" cap="none" normalizeH="0" baseline="0" dirty="0" err="1">
                <a:ln>
                  <a:noFill/>
                </a:ln>
                <a:solidFill>
                  <a:schemeClr val="tx1"/>
                </a:solidFill>
                <a:effectLst/>
                <a:latin typeface="Arial Unicode MS"/>
              </a:rPr>
              <a:t>hsv</a:t>
            </a:r>
            <a:r>
              <a:rPr kumimoji="0" lang="en-US" altLang="en-US" b="1" i="0" u="none" strike="noStrike" cap="none" normalizeH="0" baseline="0" dirty="0">
                <a:ln>
                  <a:noFill/>
                </a:ln>
                <a:solidFill>
                  <a:schemeClr val="tx1"/>
                </a:solidFill>
                <a:effectLst/>
                <a:latin typeface="Arial Unicode MS"/>
              </a:rPr>
              <a:t>, lower, upper) </a:t>
            </a:r>
            <a:r>
              <a:rPr kumimoji="0" lang="en-US" altLang="en-US" i="0" u="none" strike="noStrike" cap="none" normalizeH="0" baseline="0" dirty="0">
                <a:ln>
                  <a:noFill/>
                </a:ln>
                <a:solidFill>
                  <a:schemeClr val="tx1"/>
                </a:solidFill>
                <a:effectLst/>
                <a:latin typeface="Arial Unicode MS"/>
              </a:rPr>
              <a:t>→ create a binary mask (black &amp; white) selecting only colors in given HSV range  </a:t>
            </a:r>
          </a:p>
          <a:p>
            <a:pPr marL="0" marR="0" lvl="0" indent="0" algn="ctr" defTabSz="914400" rtl="0" eaLnBrk="0" fontAlgn="base" latinLnBrk="0" hangingPunct="0">
              <a:lnSpc>
                <a:spcPct val="100000"/>
              </a:lnSpc>
              <a:spcBef>
                <a:spcPct val="0"/>
              </a:spcBef>
              <a:spcAft>
                <a:spcPct val="0"/>
              </a:spcAft>
              <a:buClrTx/>
              <a:buSzTx/>
              <a:tabLst/>
            </a:pPr>
            <a:r>
              <a:rPr kumimoji="0" lang="en-US" altLang="en-US" i="0" u="none" strike="noStrike" cap="none" normalizeH="0" baseline="0" dirty="0">
                <a:ln>
                  <a:noFill/>
                </a:ln>
                <a:solidFill>
                  <a:schemeClr val="tx1"/>
                </a:solidFill>
                <a:effectLst/>
                <a:latin typeface="Arial Unicode MS"/>
              </a:rPr>
              <a:t>[ Ex: mask = cv2.inRange(</a:t>
            </a:r>
            <a:r>
              <a:rPr kumimoji="0" lang="en-US" altLang="en-US" i="0" u="none" strike="noStrike" cap="none" normalizeH="0" baseline="0" dirty="0" err="1">
                <a:ln>
                  <a:noFill/>
                </a:ln>
                <a:solidFill>
                  <a:schemeClr val="tx1"/>
                </a:solidFill>
                <a:effectLst/>
                <a:latin typeface="Arial Unicode MS"/>
              </a:rPr>
              <a:t>hsv</a:t>
            </a:r>
            <a:r>
              <a:rPr kumimoji="0" lang="en-US" altLang="en-US" i="0" u="none" strike="noStrike" cap="none" normalizeH="0" baseline="0" dirty="0">
                <a:ln>
                  <a:noFill/>
                </a:ln>
                <a:solidFill>
                  <a:schemeClr val="tx1"/>
                </a:solidFill>
                <a:effectLst/>
                <a:latin typeface="Arial Unicode MS"/>
              </a:rPr>
              <a:t>, (0,120,70), (10,255,255)) ] </a:t>
            </a:r>
            <a:r>
              <a:rPr kumimoji="0" lang="en-US" altLang="en-US" i="0" u="none" strike="noStrike" cap="none" normalizeH="0" baseline="0" dirty="0">
                <a:ln>
                  <a:noFill/>
                </a:ln>
                <a:solidFill>
                  <a:schemeClr val="tx1"/>
                </a:solidFill>
                <a:effectLst/>
                <a:latin typeface="Arial Unicode MS"/>
                <a:sym typeface="Wingdings" panose="05000000000000000000" pitchFamily="2" charset="2"/>
              </a:rPr>
              <a:t> makes the color red white and others black</a:t>
            </a:r>
            <a:endParaRPr kumimoji="0" lang="en-US" altLang="en-US"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a:ln>
                  <a:noFill/>
                </a:ln>
                <a:solidFill>
                  <a:schemeClr val="tx1"/>
                </a:solidFill>
                <a:effectLst/>
                <a:latin typeface="Arial Unicode MS"/>
              </a:rPr>
              <a:t>cv2.bitwise_and(</a:t>
            </a:r>
            <a:r>
              <a:rPr kumimoji="0" lang="en-US" altLang="en-US" b="1" i="0" u="none" strike="noStrike" cap="none" normalizeH="0" baseline="0" dirty="0" err="1">
                <a:ln>
                  <a:noFill/>
                </a:ln>
                <a:solidFill>
                  <a:schemeClr val="tx1"/>
                </a:solidFill>
                <a:effectLst/>
                <a:latin typeface="Arial Unicode MS"/>
              </a:rPr>
              <a:t>img</a:t>
            </a:r>
            <a:r>
              <a:rPr kumimoji="0" lang="en-US" altLang="en-US" b="1" i="0" u="none" strike="noStrike" cap="none" normalizeH="0" baseline="0" dirty="0">
                <a:ln>
                  <a:noFill/>
                </a:ln>
                <a:solidFill>
                  <a:schemeClr val="tx1"/>
                </a:solidFill>
                <a:effectLst/>
                <a:latin typeface="Arial Unicode MS"/>
              </a:rPr>
              <a:t>, </a:t>
            </a:r>
            <a:r>
              <a:rPr kumimoji="0" lang="en-US" altLang="en-US" b="1" i="0" u="none" strike="noStrike" cap="none" normalizeH="0" baseline="0" dirty="0" err="1">
                <a:ln>
                  <a:noFill/>
                </a:ln>
                <a:solidFill>
                  <a:schemeClr val="tx1"/>
                </a:solidFill>
                <a:effectLst/>
                <a:latin typeface="Arial Unicode MS"/>
              </a:rPr>
              <a:t>img</a:t>
            </a:r>
            <a:r>
              <a:rPr kumimoji="0" lang="en-US" altLang="en-US" b="1" i="0" u="none" strike="noStrike" cap="none" normalizeH="0" baseline="0" dirty="0">
                <a:ln>
                  <a:noFill/>
                </a:ln>
                <a:solidFill>
                  <a:schemeClr val="tx1"/>
                </a:solidFill>
                <a:effectLst/>
                <a:latin typeface="Arial Unicode MS"/>
              </a:rPr>
              <a:t>, mask=mask) </a:t>
            </a:r>
            <a:r>
              <a:rPr kumimoji="0" lang="en-US" altLang="en-US" i="0" u="none" strike="noStrike" cap="none" normalizeH="0" baseline="0" dirty="0">
                <a:ln>
                  <a:noFill/>
                </a:ln>
                <a:solidFill>
                  <a:schemeClr val="tx1"/>
                </a:solidFill>
                <a:effectLst/>
                <a:latin typeface="Arial Unicode MS"/>
              </a:rPr>
              <a:t>→ apply the mask on the image/frame, keep only detected regions  </a:t>
            </a:r>
          </a:p>
          <a:p>
            <a:pPr marL="0" marR="0" lvl="0" indent="0" algn="ctr" defTabSz="914400" rtl="0" eaLnBrk="0" fontAlgn="base" latinLnBrk="0" hangingPunct="0">
              <a:lnSpc>
                <a:spcPct val="100000"/>
              </a:lnSpc>
              <a:spcBef>
                <a:spcPct val="0"/>
              </a:spcBef>
              <a:spcAft>
                <a:spcPct val="0"/>
              </a:spcAft>
              <a:buClrTx/>
              <a:buSzTx/>
              <a:tabLst/>
            </a:pPr>
            <a:r>
              <a:rPr kumimoji="0" lang="en-US" altLang="en-US" i="0" u="none" strike="noStrike" cap="none" normalizeH="0" baseline="0" dirty="0">
                <a:ln>
                  <a:noFill/>
                </a:ln>
                <a:solidFill>
                  <a:schemeClr val="tx1"/>
                </a:solidFill>
                <a:effectLst/>
                <a:latin typeface="Arial Unicode MS"/>
              </a:rPr>
              <a:t>[ Ex: result = cv2.bitwise_and(</a:t>
            </a:r>
            <a:r>
              <a:rPr kumimoji="0" lang="en-US" altLang="en-US" i="0" u="none" strike="noStrike" cap="none" normalizeH="0" baseline="0" dirty="0" err="1">
                <a:ln>
                  <a:noFill/>
                </a:ln>
                <a:solidFill>
                  <a:schemeClr val="tx1"/>
                </a:solidFill>
                <a:effectLst/>
                <a:latin typeface="Arial Unicode MS"/>
              </a:rPr>
              <a:t>img</a:t>
            </a:r>
            <a:r>
              <a:rPr kumimoji="0" lang="en-US" altLang="en-US" i="0" u="none" strike="noStrike" cap="none" normalizeH="0" baseline="0" dirty="0">
                <a:ln>
                  <a:noFill/>
                </a:ln>
                <a:solidFill>
                  <a:schemeClr val="tx1"/>
                </a:solidFill>
                <a:effectLst/>
                <a:latin typeface="Arial Unicode MS"/>
              </a:rPr>
              <a:t>, </a:t>
            </a:r>
            <a:r>
              <a:rPr kumimoji="0" lang="en-US" altLang="en-US" i="0" u="none" strike="noStrike" cap="none" normalizeH="0" baseline="0" dirty="0" err="1">
                <a:ln>
                  <a:noFill/>
                </a:ln>
                <a:solidFill>
                  <a:schemeClr val="tx1"/>
                </a:solidFill>
                <a:effectLst/>
                <a:latin typeface="Arial Unicode MS"/>
              </a:rPr>
              <a:t>img</a:t>
            </a:r>
            <a:r>
              <a:rPr kumimoji="0" lang="en-US" altLang="en-US" i="0" u="none" strike="noStrike" cap="none" normalizeH="0" baseline="0" dirty="0">
                <a:ln>
                  <a:noFill/>
                </a:ln>
                <a:solidFill>
                  <a:schemeClr val="tx1"/>
                </a:solidFill>
                <a:effectLst/>
                <a:latin typeface="Arial Unicode MS"/>
              </a:rPr>
              <a:t>, mask=mask) ]  → works for both photos and live webcam frames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26492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F134D1F-CF21-5642-16CF-1726C7549873}"/>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FF72FC17-6DED-CD05-14B0-D36C1DBC2DE0}"/>
              </a:ext>
            </a:extLst>
          </p:cNvPr>
          <p:cNvGrpSpPr/>
          <p:nvPr/>
        </p:nvGrpSpPr>
        <p:grpSpPr>
          <a:xfrm>
            <a:off x="-25436" y="-304800"/>
            <a:ext cx="12267820" cy="7772400"/>
            <a:chOff x="-70453" y="-304800"/>
            <a:chExt cx="12267820" cy="7772400"/>
          </a:xfrm>
        </p:grpSpPr>
        <p:pic>
          <p:nvPicPr>
            <p:cNvPr id="3" name="object 3">
              <a:extLst>
                <a:ext uri="{FF2B5EF4-FFF2-40B4-BE49-F238E27FC236}">
                  <a16:creationId xmlns:a16="http://schemas.microsoft.com/office/drawing/2014/main" id="{FDAA63CB-6E53-2E22-9A23-805BD936A297}"/>
                </a:ext>
              </a:extLst>
            </p:cNvPr>
            <p:cNvPicPr/>
            <p:nvPr/>
          </p:nvPicPr>
          <p:blipFill>
            <a:blip r:embed="rId2" cstate="print"/>
            <a:stretch>
              <a:fillRect/>
            </a:stretch>
          </p:blipFill>
          <p:spPr>
            <a:xfrm>
              <a:off x="-70453" y="-304800"/>
              <a:ext cx="12267820" cy="7772400"/>
            </a:xfrm>
            <a:prstGeom prst="rect">
              <a:avLst/>
            </a:prstGeom>
          </p:spPr>
        </p:pic>
        <p:sp>
          <p:nvSpPr>
            <p:cNvPr id="23" name="object 23">
              <a:extLst>
                <a:ext uri="{FF2B5EF4-FFF2-40B4-BE49-F238E27FC236}">
                  <a16:creationId xmlns:a16="http://schemas.microsoft.com/office/drawing/2014/main" id="{E3CAF5C0-E7B7-A87C-7229-D650427D21B4}"/>
                </a:ext>
              </a:extLst>
            </p:cNvPr>
            <p:cNvSpPr/>
            <p:nvPr/>
          </p:nvSpPr>
          <p:spPr>
            <a:xfrm>
              <a:off x="-45017" y="3352800"/>
              <a:ext cx="11582400" cy="2743200"/>
            </a:xfrm>
            <a:custGeom>
              <a:avLst/>
              <a:gdLst/>
              <a:ahLst/>
              <a:cxnLst/>
              <a:rect l="l" t="t" r="r" b="b"/>
              <a:pathLst>
                <a:path w="11582400" h="2743200">
                  <a:moveTo>
                    <a:pt x="11582400" y="0"/>
                  </a:moveTo>
                  <a:lnTo>
                    <a:pt x="0" y="0"/>
                  </a:lnTo>
                  <a:lnTo>
                    <a:pt x="0" y="2743200"/>
                  </a:lnTo>
                  <a:lnTo>
                    <a:pt x="11582400" y="2743200"/>
                  </a:lnTo>
                  <a:lnTo>
                    <a:pt x="11582400" y="0"/>
                  </a:lnTo>
                  <a:close/>
                </a:path>
              </a:pathLst>
            </a:custGeom>
            <a:solidFill>
              <a:srgbClr val="0F1141"/>
            </a:solidFill>
          </p:spPr>
          <p:txBody>
            <a:bodyPr wrap="square" lIns="0" tIns="0" rIns="0" bIns="0" rtlCol="0"/>
            <a:lstStyle/>
            <a:p>
              <a:endParaRPr dirty="0"/>
            </a:p>
          </p:txBody>
        </p:sp>
        <p:sp>
          <p:nvSpPr>
            <p:cNvPr id="24" name="object 24">
              <a:extLst>
                <a:ext uri="{FF2B5EF4-FFF2-40B4-BE49-F238E27FC236}">
                  <a16:creationId xmlns:a16="http://schemas.microsoft.com/office/drawing/2014/main" id="{FC63E4DB-0997-8F29-1DEC-CFD671A5B027}"/>
                </a:ext>
              </a:extLst>
            </p:cNvPr>
            <p:cNvSpPr/>
            <p:nvPr/>
          </p:nvSpPr>
          <p:spPr>
            <a:xfrm>
              <a:off x="3860291" y="6096000"/>
              <a:ext cx="3862070" cy="76200"/>
            </a:xfrm>
            <a:custGeom>
              <a:avLst/>
              <a:gdLst/>
              <a:ahLst/>
              <a:cxnLst/>
              <a:rect l="l" t="t" r="r" b="b"/>
              <a:pathLst>
                <a:path w="3862070" h="76200">
                  <a:moveTo>
                    <a:pt x="3861816" y="0"/>
                  </a:moveTo>
                  <a:lnTo>
                    <a:pt x="0" y="0"/>
                  </a:lnTo>
                  <a:lnTo>
                    <a:pt x="0" y="76200"/>
                  </a:lnTo>
                  <a:lnTo>
                    <a:pt x="3861816" y="76200"/>
                  </a:lnTo>
                  <a:lnTo>
                    <a:pt x="3861816" y="0"/>
                  </a:lnTo>
                  <a:close/>
                </a:path>
              </a:pathLst>
            </a:custGeom>
            <a:solidFill>
              <a:srgbClr val="76C2E4"/>
            </a:solidFill>
          </p:spPr>
          <p:txBody>
            <a:bodyPr wrap="square" lIns="0" tIns="0" rIns="0" bIns="0" rtlCol="0"/>
            <a:lstStyle/>
            <a:p>
              <a:endParaRPr/>
            </a:p>
          </p:txBody>
        </p:sp>
        <p:sp>
          <p:nvSpPr>
            <p:cNvPr id="25" name="object 25">
              <a:extLst>
                <a:ext uri="{FF2B5EF4-FFF2-40B4-BE49-F238E27FC236}">
                  <a16:creationId xmlns:a16="http://schemas.microsoft.com/office/drawing/2014/main" id="{F3BB1C9B-FD95-AD79-EABE-BE909E819495}"/>
                </a:ext>
              </a:extLst>
            </p:cNvPr>
            <p:cNvSpPr/>
            <p:nvPr/>
          </p:nvSpPr>
          <p:spPr>
            <a:xfrm>
              <a:off x="0" y="6096000"/>
              <a:ext cx="3860800" cy="76200"/>
            </a:xfrm>
            <a:custGeom>
              <a:avLst/>
              <a:gdLst/>
              <a:ahLst/>
              <a:cxnLst/>
              <a:rect l="l" t="t" r="r" b="b"/>
              <a:pathLst>
                <a:path w="3860800" h="76200">
                  <a:moveTo>
                    <a:pt x="3860291" y="0"/>
                  </a:moveTo>
                  <a:lnTo>
                    <a:pt x="0" y="0"/>
                  </a:lnTo>
                  <a:lnTo>
                    <a:pt x="0" y="76200"/>
                  </a:lnTo>
                  <a:lnTo>
                    <a:pt x="3860291" y="76200"/>
                  </a:lnTo>
                  <a:lnTo>
                    <a:pt x="3860291" y="0"/>
                  </a:lnTo>
                  <a:close/>
                </a:path>
              </a:pathLst>
            </a:custGeom>
            <a:solidFill>
              <a:srgbClr val="FBAF17"/>
            </a:solidFill>
          </p:spPr>
          <p:txBody>
            <a:bodyPr wrap="square" lIns="0" tIns="0" rIns="0" bIns="0" rtlCol="0"/>
            <a:lstStyle/>
            <a:p>
              <a:endParaRPr/>
            </a:p>
          </p:txBody>
        </p:sp>
        <p:sp>
          <p:nvSpPr>
            <p:cNvPr id="26" name="object 26">
              <a:extLst>
                <a:ext uri="{FF2B5EF4-FFF2-40B4-BE49-F238E27FC236}">
                  <a16:creationId xmlns:a16="http://schemas.microsoft.com/office/drawing/2014/main" id="{C8AB82E9-4C8C-C603-190B-6F279458C735}"/>
                </a:ext>
              </a:extLst>
            </p:cNvPr>
            <p:cNvSpPr/>
            <p:nvPr/>
          </p:nvSpPr>
          <p:spPr>
            <a:xfrm>
              <a:off x="7722107" y="6096000"/>
              <a:ext cx="3860800" cy="76200"/>
            </a:xfrm>
            <a:custGeom>
              <a:avLst/>
              <a:gdLst/>
              <a:ahLst/>
              <a:cxnLst/>
              <a:rect l="l" t="t" r="r" b="b"/>
              <a:pathLst>
                <a:path w="3860800" h="76200">
                  <a:moveTo>
                    <a:pt x="3860292" y="0"/>
                  </a:moveTo>
                  <a:lnTo>
                    <a:pt x="0" y="0"/>
                  </a:lnTo>
                  <a:lnTo>
                    <a:pt x="0" y="76200"/>
                  </a:lnTo>
                  <a:lnTo>
                    <a:pt x="3860292" y="76200"/>
                  </a:lnTo>
                  <a:lnTo>
                    <a:pt x="3860292" y="0"/>
                  </a:lnTo>
                  <a:close/>
                </a:path>
              </a:pathLst>
            </a:custGeom>
            <a:solidFill>
              <a:srgbClr val="FF0000"/>
            </a:solidFill>
          </p:spPr>
          <p:txBody>
            <a:bodyPr wrap="square" lIns="0" tIns="0" rIns="0" bIns="0" rtlCol="0"/>
            <a:lstStyle/>
            <a:p>
              <a:endParaRPr/>
            </a:p>
          </p:txBody>
        </p:sp>
      </p:grpSp>
      <p:sp>
        <p:nvSpPr>
          <p:cNvPr id="32" name="object 32">
            <a:extLst>
              <a:ext uri="{FF2B5EF4-FFF2-40B4-BE49-F238E27FC236}">
                <a16:creationId xmlns:a16="http://schemas.microsoft.com/office/drawing/2014/main" id="{C89A004C-0BB3-A748-4D88-FD96F6BFA727}"/>
              </a:ext>
            </a:extLst>
          </p:cNvPr>
          <p:cNvSpPr txBox="1">
            <a:spLocks noGrp="1"/>
          </p:cNvSpPr>
          <p:nvPr>
            <p:ph type="ftr" sz="quarter" idx="5"/>
          </p:nvPr>
        </p:nvSpPr>
        <p:spPr>
          <a:xfrm>
            <a:off x="9067800" y="7185328"/>
            <a:ext cx="3275456" cy="169277"/>
          </a:xfrm>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50" dirty="0">
                <a:latin typeface="Arial"/>
                <a:cs typeface="Arial"/>
              </a:rPr>
              <a:t> </a:t>
            </a:r>
            <a:r>
              <a:rPr dirty="0"/>
              <a:t>Pilani,</a:t>
            </a:r>
            <a:r>
              <a:rPr spc="-35" dirty="0"/>
              <a:t> </a:t>
            </a:r>
            <a:r>
              <a:rPr dirty="0"/>
              <a:t>Pilani</a:t>
            </a:r>
            <a:r>
              <a:rPr spc="-35" dirty="0"/>
              <a:t> </a:t>
            </a:r>
            <a:r>
              <a:rPr spc="-10" dirty="0"/>
              <a:t>Campus</a:t>
            </a:r>
          </a:p>
        </p:txBody>
      </p:sp>
      <p:sp>
        <p:nvSpPr>
          <p:cNvPr id="30" name="object 30">
            <a:extLst>
              <a:ext uri="{FF2B5EF4-FFF2-40B4-BE49-F238E27FC236}">
                <a16:creationId xmlns:a16="http://schemas.microsoft.com/office/drawing/2014/main" id="{6C509BFC-1F04-33E7-2DF2-F0AE0A638202}"/>
              </a:ext>
            </a:extLst>
          </p:cNvPr>
          <p:cNvSpPr txBox="1"/>
          <p:nvPr/>
        </p:nvSpPr>
        <p:spPr>
          <a:xfrm>
            <a:off x="2984591" y="3739272"/>
            <a:ext cx="6247765" cy="1515800"/>
          </a:xfrm>
          <a:prstGeom prst="rect">
            <a:avLst/>
          </a:prstGeom>
        </p:spPr>
        <p:txBody>
          <a:bodyPr vert="horz" wrap="square" lIns="0" tIns="12700" rIns="0" bIns="0" rtlCol="0">
            <a:spAutoFit/>
          </a:bodyPr>
          <a:lstStyle/>
          <a:p>
            <a:pPr algn="ctr">
              <a:lnSpc>
                <a:spcPct val="100000"/>
              </a:lnSpc>
              <a:spcBef>
                <a:spcPts val="100"/>
              </a:spcBef>
            </a:pPr>
            <a:r>
              <a:rPr lang="en-US" sz="3200" b="1" spc="-10" dirty="0">
                <a:solidFill>
                  <a:srgbClr val="FFFFFF"/>
                </a:solidFill>
                <a:latin typeface="Arial"/>
                <a:cs typeface="Arial"/>
              </a:rPr>
              <a:t>Lecture XX-</a:t>
            </a:r>
          </a:p>
          <a:p>
            <a:pPr algn="ctr">
              <a:lnSpc>
                <a:spcPct val="100000"/>
              </a:lnSpc>
              <a:spcBef>
                <a:spcPts val="100"/>
              </a:spcBef>
            </a:pPr>
            <a:endParaRPr lang="en-US" sz="3200" b="1" spc="-10" dirty="0">
              <a:solidFill>
                <a:srgbClr val="FFFFFF"/>
              </a:solidFill>
              <a:latin typeface="Arial"/>
              <a:cs typeface="Arial"/>
            </a:endParaRPr>
          </a:p>
          <a:p>
            <a:pPr algn="ctr">
              <a:lnSpc>
                <a:spcPct val="100000"/>
              </a:lnSpc>
              <a:spcBef>
                <a:spcPts val="100"/>
              </a:spcBef>
            </a:pPr>
            <a:r>
              <a:rPr lang="en-US" sz="3200" b="1" spc="-10" dirty="0">
                <a:solidFill>
                  <a:srgbClr val="FFFFFF"/>
                </a:solidFill>
                <a:latin typeface="Arial"/>
                <a:cs typeface="Arial"/>
              </a:rPr>
              <a:t>YOLOv8 – You Only Look Once</a:t>
            </a:r>
            <a:endParaRPr sz="3200" dirty="0">
              <a:latin typeface="Arial"/>
              <a:cs typeface="Arial"/>
            </a:endParaRPr>
          </a:p>
        </p:txBody>
      </p:sp>
      <p:sp>
        <p:nvSpPr>
          <p:cNvPr id="31" name="object 31">
            <a:extLst>
              <a:ext uri="{FF2B5EF4-FFF2-40B4-BE49-F238E27FC236}">
                <a16:creationId xmlns:a16="http://schemas.microsoft.com/office/drawing/2014/main" id="{5ABA75E5-2847-BEEE-6209-E49B5CCE8278}"/>
              </a:ext>
            </a:extLst>
          </p:cNvPr>
          <p:cNvSpPr txBox="1"/>
          <p:nvPr/>
        </p:nvSpPr>
        <p:spPr>
          <a:xfrm>
            <a:off x="9314433" y="5640120"/>
            <a:ext cx="2131695" cy="289823"/>
          </a:xfrm>
          <a:prstGeom prst="rect">
            <a:avLst/>
          </a:prstGeom>
        </p:spPr>
        <p:txBody>
          <a:bodyPr vert="horz" wrap="square" lIns="0" tIns="12700" rIns="0" bIns="0" rtlCol="0">
            <a:spAutoFit/>
          </a:bodyPr>
          <a:lstStyle/>
          <a:p>
            <a:pPr>
              <a:lnSpc>
                <a:spcPct val="100000"/>
              </a:lnSpc>
              <a:spcBef>
                <a:spcPts val="100"/>
              </a:spcBef>
            </a:pPr>
            <a:r>
              <a:rPr sz="1800" dirty="0">
                <a:solidFill>
                  <a:srgbClr val="FFFFFF"/>
                </a:solidFill>
                <a:latin typeface="Arial MT"/>
                <a:cs typeface="Arial MT"/>
              </a:rPr>
              <a:t>Date:</a:t>
            </a:r>
            <a:r>
              <a:rPr sz="1800" spc="-15" dirty="0">
                <a:solidFill>
                  <a:srgbClr val="FFFFFF"/>
                </a:solidFill>
                <a:latin typeface="Arial MT"/>
                <a:cs typeface="Arial MT"/>
              </a:rPr>
              <a:t> </a:t>
            </a:r>
            <a:r>
              <a:rPr lang="en-US" spc="-15" dirty="0">
                <a:solidFill>
                  <a:srgbClr val="FFFFFF"/>
                </a:solidFill>
                <a:latin typeface="Arial MT"/>
                <a:cs typeface="Arial MT"/>
              </a:rPr>
              <a:t>1st</a:t>
            </a:r>
            <a:r>
              <a:rPr sz="1800" spc="-15" dirty="0">
                <a:solidFill>
                  <a:srgbClr val="FFFFFF"/>
                </a:solidFill>
                <a:latin typeface="Arial MT"/>
                <a:cs typeface="Arial MT"/>
              </a:rPr>
              <a:t> </a:t>
            </a:r>
            <a:r>
              <a:rPr lang="en-US" spc="-15" dirty="0">
                <a:solidFill>
                  <a:srgbClr val="FFFFFF"/>
                </a:solidFill>
                <a:latin typeface="Arial MT"/>
                <a:cs typeface="Arial MT"/>
              </a:rPr>
              <a:t>Aug</a:t>
            </a:r>
            <a:r>
              <a:rPr sz="1800" dirty="0">
                <a:solidFill>
                  <a:srgbClr val="FFFFFF"/>
                </a:solidFill>
                <a:latin typeface="Arial MT"/>
                <a:cs typeface="Arial MT"/>
              </a:rPr>
              <a:t>,</a:t>
            </a:r>
            <a:r>
              <a:rPr lang="en-US" sz="1800" dirty="0">
                <a:solidFill>
                  <a:srgbClr val="FFFFFF"/>
                </a:solidFill>
                <a:latin typeface="Arial MT"/>
                <a:cs typeface="Arial MT"/>
              </a:rPr>
              <a:t> </a:t>
            </a:r>
            <a:r>
              <a:rPr sz="1800" spc="-20" dirty="0">
                <a:solidFill>
                  <a:srgbClr val="FFFFFF"/>
                </a:solidFill>
                <a:latin typeface="Arial MT"/>
                <a:cs typeface="Arial MT"/>
              </a:rPr>
              <a:t>20</a:t>
            </a:r>
            <a:r>
              <a:rPr lang="en-US" spc="-20" dirty="0">
                <a:solidFill>
                  <a:srgbClr val="FFFFFF"/>
                </a:solidFill>
                <a:latin typeface="Arial MT"/>
                <a:cs typeface="Arial MT"/>
              </a:rPr>
              <a:t>25</a:t>
            </a:r>
            <a:endParaRPr sz="1800" dirty="0">
              <a:latin typeface="Arial MT"/>
              <a:cs typeface="Arial MT"/>
            </a:endParaRPr>
          </a:p>
        </p:txBody>
      </p:sp>
    </p:spTree>
    <p:extLst>
      <p:ext uri="{BB962C8B-B14F-4D97-AF65-F5344CB8AC3E}">
        <p14:creationId xmlns:p14="http://schemas.microsoft.com/office/powerpoint/2010/main" val="3223275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4F33-AC63-27E8-24AA-6E8531529A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33EBF2-051D-120E-BC5A-A1434E5C08EF}"/>
              </a:ext>
            </a:extLst>
          </p:cNvPr>
          <p:cNvSpPr>
            <a:spLocks noGrp="1"/>
          </p:cNvSpPr>
          <p:nvPr>
            <p:ph type="title"/>
          </p:nvPr>
        </p:nvSpPr>
        <p:spPr>
          <a:xfrm>
            <a:off x="381000" y="754380"/>
            <a:ext cx="9343567" cy="430887"/>
          </a:xfrm>
        </p:spPr>
        <p:txBody>
          <a:bodyPr/>
          <a:lstStyle/>
          <a:p>
            <a:r>
              <a:rPr lang="en-IN" dirty="0"/>
              <a:t>Deep Learning in Drones – YOLOv8</a:t>
            </a:r>
          </a:p>
        </p:txBody>
      </p:sp>
      <p:sp>
        <p:nvSpPr>
          <p:cNvPr id="3" name="Text Placeholder 2">
            <a:extLst>
              <a:ext uri="{FF2B5EF4-FFF2-40B4-BE49-F238E27FC236}">
                <a16:creationId xmlns:a16="http://schemas.microsoft.com/office/drawing/2014/main" id="{2B9E0EE5-3EBB-4CB5-6472-A6BF3D667386}"/>
              </a:ext>
            </a:extLst>
          </p:cNvPr>
          <p:cNvSpPr>
            <a:spLocks noGrp="1"/>
          </p:cNvSpPr>
          <p:nvPr>
            <p:ph type="body" idx="1"/>
          </p:nvPr>
        </p:nvSpPr>
        <p:spPr>
          <a:xfrm>
            <a:off x="381000" y="1600200"/>
            <a:ext cx="11201400" cy="3323987"/>
          </a:xfrm>
        </p:spPr>
        <p:txBody>
          <a:bodyPr/>
          <a:lstStyle/>
          <a:p>
            <a:pPr lvl="0" algn="l" rtl="0" eaLnBrk="0" fontAlgn="base" hangingPunct="0">
              <a:spcBef>
                <a:spcPct val="0"/>
              </a:spcBef>
              <a:spcAft>
                <a:spcPct val="0"/>
              </a:spcAft>
              <a:buFontTx/>
              <a:buChar char="•"/>
            </a:pPr>
            <a:r>
              <a:rPr lang="en-US" b="1" dirty="0"/>
              <a:t>YOLOv8:</a:t>
            </a:r>
            <a:r>
              <a:rPr lang="en-US" dirty="0"/>
              <a:t> You Only Look Once is a Single-shot object detector using deep learning. This is useful in detecting multiple objects in a single look- meaning- we can detect objects in an image or video feed in real-time</a:t>
            </a:r>
            <a:br>
              <a:rPr lang="en-US" dirty="0"/>
            </a:br>
            <a:br>
              <a:rPr lang="en-US" dirty="0"/>
            </a:br>
            <a:r>
              <a:rPr lang="en-US" dirty="0"/>
              <a:t>No need for manual detection pipeline like in OpenCV (HSV </a:t>
            </a:r>
            <a:r>
              <a:rPr lang="en-US" dirty="0">
                <a:sym typeface="Wingdings" panose="05000000000000000000" pitchFamily="2" charset="2"/>
              </a:rPr>
              <a:t> mask  contours</a:t>
            </a:r>
            <a:r>
              <a:rPr lang="en-US" dirty="0"/>
              <a:t>), now we can directly detect with close to no delay. </a:t>
            </a:r>
            <a:br>
              <a:rPr lang="en-US" dirty="0">
                <a:solidFill>
                  <a:schemeClr val="tx1"/>
                </a:solidFill>
              </a:rPr>
            </a:br>
            <a:br>
              <a:rPr lang="en-US" dirty="0">
                <a:solidFill>
                  <a:schemeClr val="tx1"/>
                </a:solidFill>
              </a:rPr>
            </a:br>
            <a:r>
              <a:rPr lang="en-US" dirty="0">
                <a:solidFill>
                  <a:schemeClr val="tx1"/>
                </a:solidFill>
              </a:rPr>
              <a:t>Uses- </a:t>
            </a:r>
          </a:p>
          <a:p>
            <a:pPr lvl="0" algn="l" rtl="0" eaLnBrk="0" fontAlgn="base" hangingPunct="0">
              <a:spcBef>
                <a:spcPct val="0"/>
              </a:spcBef>
              <a:spcAft>
                <a:spcPct val="0"/>
              </a:spcAft>
              <a:buFontTx/>
              <a:buChar char="•"/>
            </a:pPr>
            <a:r>
              <a:rPr lang="en-US" altLang="en-US" dirty="0">
                <a:solidFill>
                  <a:schemeClr val="tx1"/>
                </a:solidFill>
                <a:latin typeface="Arial" panose="020B0604020202020204" pitchFamily="34" charset="0"/>
              </a:rPr>
              <a:t> Detect obstacles or landing zones</a:t>
            </a:r>
          </a:p>
          <a:p>
            <a:pPr lvl="0" algn="l" rtl="0" eaLnBrk="0" fontAlgn="base" hangingPunct="0">
              <a:spcBef>
                <a:spcPct val="0"/>
              </a:spcBef>
              <a:spcAft>
                <a:spcPct val="0"/>
              </a:spcAft>
              <a:buFontTx/>
              <a:buChar char="•"/>
            </a:pPr>
            <a:r>
              <a:rPr lang="en-US" altLang="en-US" dirty="0">
                <a:solidFill>
                  <a:schemeClr val="tx1"/>
                </a:solidFill>
                <a:latin typeface="Arial" panose="020B0604020202020204" pitchFamily="34" charset="0"/>
              </a:rPr>
              <a:t> Follow a colored object/person</a:t>
            </a:r>
          </a:p>
          <a:p>
            <a:pPr lvl="0" algn="l" rtl="0" eaLnBrk="0" fontAlgn="base" hangingPunct="0">
              <a:spcBef>
                <a:spcPct val="0"/>
              </a:spcBef>
              <a:spcAft>
                <a:spcPct val="0"/>
              </a:spcAft>
              <a:buFontTx/>
              <a:buChar char="•"/>
            </a:pPr>
            <a:r>
              <a:rPr lang="en-US" altLang="en-US" dirty="0">
                <a:solidFill>
                  <a:schemeClr val="tx1"/>
                </a:solidFill>
                <a:latin typeface="Arial" panose="020B0604020202020204" pitchFamily="34" charset="0"/>
              </a:rPr>
              <a:t> Fly through hoops or loops autonomously</a:t>
            </a:r>
          </a:p>
          <a:p>
            <a:br>
              <a:rPr lang="en-US" dirty="0">
                <a:solidFill>
                  <a:schemeClr val="tx1"/>
                </a:solidFill>
              </a:rPr>
            </a:br>
            <a:endParaRPr lang="en-US" dirty="0"/>
          </a:p>
        </p:txBody>
      </p:sp>
      <p:pic>
        <p:nvPicPr>
          <p:cNvPr id="9" name="Picture 8">
            <a:extLst>
              <a:ext uri="{FF2B5EF4-FFF2-40B4-BE49-F238E27FC236}">
                <a16:creationId xmlns:a16="http://schemas.microsoft.com/office/drawing/2014/main" id="{B7487C25-1B47-0C37-E617-07B8D767D7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0" y="3262193"/>
            <a:ext cx="5181600" cy="2724519"/>
          </a:xfrm>
          <a:prstGeom prst="rect">
            <a:avLst/>
          </a:prstGeom>
        </p:spPr>
      </p:pic>
    </p:spTree>
    <p:extLst>
      <p:ext uri="{BB962C8B-B14F-4D97-AF65-F5344CB8AC3E}">
        <p14:creationId xmlns:p14="http://schemas.microsoft.com/office/powerpoint/2010/main" val="5069906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C6C12-0DCB-1D60-BA71-AAB345B96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FF1C6C-DC30-8F78-1246-D79D3132D1EB}"/>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79622F6A-5508-E710-CFD0-16D82BF87FC7}"/>
              </a:ext>
            </a:extLst>
          </p:cNvPr>
          <p:cNvSpPr>
            <a:spLocks noGrp="1"/>
          </p:cNvSpPr>
          <p:nvPr>
            <p:ph type="body" idx="1"/>
          </p:nvPr>
        </p:nvSpPr>
        <p:spPr>
          <a:xfrm>
            <a:off x="381000" y="1526024"/>
            <a:ext cx="11201400" cy="6093976"/>
          </a:xfrm>
        </p:spPr>
        <p:txBody>
          <a:bodyPr/>
          <a:lstStyle/>
          <a:p>
            <a:r>
              <a:rPr lang="en-US" b="1" dirty="0"/>
              <a:t>YOLOv8:</a:t>
            </a:r>
            <a:r>
              <a:rPr lang="en-US" dirty="0"/>
              <a:t> follows There are three versions of YOLOv8, each version is tailored for different devices- YOLOv8 is very hardware intensive, hence we need to choose our version before. The syntaxes and functions are the same</a:t>
            </a:r>
          </a:p>
          <a:p>
            <a:endParaRPr lang="en-US" dirty="0">
              <a:solidFill>
                <a:schemeClr val="tx1"/>
              </a:solidFill>
            </a:endParaRPr>
          </a:p>
          <a:p>
            <a:pPr marL="285750" indent="-285750">
              <a:buFont typeface="Arial" panose="020B0604020202020204" pitchFamily="34" charset="0"/>
              <a:buChar char="•"/>
            </a:pPr>
            <a:r>
              <a:rPr lang="en-US" sz="2400" b="1" dirty="0">
                <a:solidFill>
                  <a:schemeClr val="tx1"/>
                </a:solidFill>
              </a:rPr>
              <a:t>YOLOv8n.pt – </a:t>
            </a:r>
            <a:r>
              <a:rPr lang="en-US" dirty="0">
                <a:solidFill>
                  <a:schemeClr val="tx1"/>
                </a:solidFill>
              </a:rPr>
              <a:t>Extremely fast. ‘n‘ stands for nano and ‘.pt’ for pre-trained. Good for Raspberry Pi and            Jetson Nano. </a:t>
            </a:r>
            <a:r>
              <a:rPr lang="en-US" u="sng" dirty="0">
                <a:solidFill>
                  <a:schemeClr val="tx1"/>
                </a:solidFill>
              </a:rPr>
              <a:t>Lowest Accuracy</a:t>
            </a:r>
          </a:p>
          <a:p>
            <a:pPr marL="285750" indent="-285750">
              <a:buFont typeface="Arial" panose="020B0604020202020204" pitchFamily="34" charset="0"/>
              <a:buChar char="•"/>
            </a:pPr>
            <a:endParaRPr lang="en-US" u="sng" dirty="0">
              <a:solidFill>
                <a:schemeClr val="tx1"/>
              </a:solidFill>
            </a:endParaRPr>
          </a:p>
          <a:p>
            <a:pPr marL="285750" indent="-285750">
              <a:buFont typeface="Arial" panose="020B0604020202020204" pitchFamily="34" charset="0"/>
              <a:buChar char="•"/>
            </a:pPr>
            <a:r>
              <a:rPr lang="en-US" sz="2400" b="1" dirty="0">
                <a:solidFill>
                  <a:schemeClr val="tx1"/>
                </a:solidFill>
              </a:rPr>
              <a:t>YOLOv8s.pt – </a:t>
            </a:r>
            <a:r>
              <a:rPr lang="en-US" dirty="0">
                <a:solidFill>
                  <a:schemeClr val="tx1"/>
                </a:solidFill>
              </a:rPr>
              <a:t>Very fast. ‘s‘ stands for small and ‘.pt’ stands for pre-trained. Good for Laptops and Jetson Nano. </a:t>
            </a:r>
            <a:r>
              <a:rPr lang="en-US" u="sng" dirty="0">
                <a:solidFill>
                  <a:schemeClr val="tx1"/>
                </a:solidFill>
              </a:rPr>
              <a:t>Low Accuracy</a:t>
            </a:r>
          </a:p>
          <a:p>
            <a:pPr marL="285750" indent="-285750">
              <a:buFont typeface="Arial" panose="020B0604020202020204" pitchFamily="34" charset="0"/>
              <a:buChar char="•"/>
            </a:pPr>
            <a:endParaRPr lang="en-US" sz="2400" b="1" dirty="0">
              <a:solidFill>
                <a:schemeClr val="tx1"/>
              </a:solidFill>
            </a:endParaRPr>
          </a:p>
          <a:p>
            <a:pPr marL="285750" indent="-285750">
              <a:buFont typeface="Arial" panose="020B0604020202020204" pitchFamily="34" charset="0"/>
              <a:buChar char="•"/>
            </a:pPr>
            <a:r>
              <a:rPr lang="en-US" sz="2400" b="1" dirty="0">
                <a:solidFill>
                  <a:schemeClr val="tx1"/>
                </a:solidFill>
              </a:rPr>
              <a:t>YOLOv8m.pt – </a:t>
            </a:r>
            <a:r>
              <a:rPr lang="en-US" dirty="0">
                <a:solidFill>
                  <a:schemeClr val="tx1"/>
                </a:solidFill>
              </a:rPr>
              <a:t>Fast. ‘ m‘ stands for medium and ‘.pt’ stands for pre-trained. Good for Laptops with a good GPU. </a:t>
            </a:r>
            <a:r>
              <a:rPr lang="en-US" u="sng" dirty="0">
                <a:solidFill>
                  <a:schemeClr val="tx1"/>
                </a:solidFill>
              </a:rPr>
              <a:t>Medium Accuracy</a:t>
            </a:r>
          </a:p>
          <a:p>
            <a:pPr marL="285750" indent="-285750">
              <a:buFont typeface="Arial" panose="020B0604020202020204" pitchFamily="34" charset="0"/>
              <a:buChar char="•"/>
            </a:pPr>
            <a:endParaRPr lang="en-US" sz="2400" b="1" dirty="0">
              <a:solidFill>
                <a:schemeClr val="tx1"/>
              </a:solidFill>
            </a:endParaRPr>
          </a:p>
          <a:p>
            <a:pPr marL="285750" indent="-285750">
              <a:buFont typeface="Arial" panose="020B0604020202020204" pitchFamily="34" charset="0"/>
              <a:buChar char="•"/>
            </a:pPr>
            <a:r>
              <a:rPr lang="en-US" sz="2400" b="1" dirty="0">
                <a:solidFill>
                  <a:schemeClr val="tx1"/>
                </a:solidFill>
              </a:rPr>
              <a:t>YOLOv8l.pt – </a:t>
            </a:r>
            <a:r>
              <a:rPr lang="en-US" dirty="0">
                <a:solidFill>
                  <a:schemeClr val="tx1"/>
                </a:solidFill>
              </a:rPr>
              <a:t>Slow. ‘l‘ stands for large and ‘.pt’ stands for pre-trained. Good with GPUs. </a:t>
            </a:r>
            <a:r>
              <a:rPr lang="en-US" u="sng" dirty="0">
                <a:solidFill>
                  <a:schemeClr val="tx1"/>
                </a:solidFill>
              </a:rPr>
              <a:t>High Accuracy</a:t>
            </a:r>
          </a:p>
          <a:p>
            <a:pPr marL="285750" indent="-285750">
              <a:buFont typeface="Arial" panose="020B0604020202020204" pitchFamily="34" charset="0"/>
              <a:buChar char="•"/>
            </a:pPr>
            <a:endParaRPr lang="en-US" u="sng" dirty="0">
              <a:solidFill>
                <a:schemeClr val="tx1"/>
              </a:solidFill>
            </a:endParaRPr>
          </a:p>
          <a:p>
            <a:pPr marL="285750" indent="-285750">
              <a:buFont typeface="Arial" panose="020B0604020202020204" pitchFamily="34" charset="0"/>
              <a:buChar char="•"/>
            </a:pPr>
            <a:r>
              <a:rPr lang="en-US" sz="2400" b="1" dirty="0">
                <a:solidFill>
                  <a:schemeClr val="tx1"/>
                </a:solidFill>
              </a:rPr>
              <a:t>YOLOv8x.pt – </a:t>
            </a:r>
            <a:r>
              <a:rPr lang="en-US" dirty="0">
                <a:solidFill>
                  <a:schemeClr val="tx1"/>
                </a:solidFill>
              </a:rPr>
              <a:t>Very Slow. ‘x‘ stands for extra large and ‘.pt’ for pre-trained. Best GPUs. </a:t>
            </a:r>
            <a:r>
              <a:rPr lang="en-US" u="sng" dirty="0">
                <a:solidFill>
                  <a:schemeClr val="tx1"/>
                </a:solidFill>
              </a:rPr>
              <a:t>Highest Accuracy. </a:t>
            </a:r>
            <a:endParaRPr lang="en-US" sz="2400" u="sng" dirty="0"/>
          </a:p>
          <a:p>
            <a:pPr marL="285750" indent="-285750">
              <a:buFont typeface="Arial" panose="020B0604020202020204" pitchFamily="34" charset="0"/>
              <a:buChar char="•"/>
            </a:pPr>
            <a:endParaRPr lang="en-US" u="sng" dirty="0"/>
          </a:p>
          <a:p>
            <a:pPr marL="285750" indent="-285750">
              <a:buFont typeface="Arial" panose="020B0604020202020204" pitchFamily="34" charset="0"/>
              <a:buChar char="•"/>
            </a:pPr>
            <a:endParaRPr lang="en-US" sz="2400" u="sng"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16300351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80FEE-3DB1-039F-A922-D044552A5B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4BFB3C-8AEA-4916-3003-46A07973494D}"/>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D4377D0A-FBD8-8943-5B3C-B6A2B4513D4F}"/>
              </a:ext>
            </a:extLst>
          </p:cNvPr>
          <p:cNvSpPr>
            <a:spLocks noGrp="1"/>
          </p:cNvSpPr>
          <p:nvPr>
            <p:ph type="body" idx="1"/>
          </p:nvPr>
        </p:nvSpPr>
        <p:spPr>
          <a:xfrm>
            <a:off x="381000" y="1447800"/>
            <a:ext cx="11582400" cy="553998"/>
          </a:xfrm>
        </p:spPr>
        <p:txBody>
          <a:bodyPr/>
          <a:lstStyle/>
          <a:p>
            <a:r>
              <a:rPr lang="en-US" b="1" dirty="0"/>
              <a:t>Installations: (Libraries): </a:t>
            </a:r>
            <a:r>
              <a:rPr lang="en-US" dirty="0"/>
              <a:t>Next, we will be downloading all the python libraries that we will be using in the YOLOv8 for Drones. In the VS Code terminal, run this command- </a:t>
            </a:r>
            <a:r>
              <a:rPr lang="en-US" b="1" i="1" dirty="0"/>
              <a:t>“pip install </a:t>
            </a:r>
            <a:r>
              <a:rPr lang="en-US" b="1" i="1" dirty="0" err="1"/>
              <a:t>ultralytics</a:t>
            </a:r>
            <a:r>
              <a:rPr lang="en-US" b="1" i="1" dirty="0"/>
              <a:t> torch </a:t>
            </a:r>
            <a:r>
              <a:rPr lang="en-US" b="1" i="1" dirty="0" err="1"/>
              <a:t>torchvision</a:t>
            </a:r>
            <a:r>
              <a:rPr lang="en-US" b="1" i="1" dirty="0"/>
              <a:t>”</a:t>
            </a:r>
            <a:endParaRPr lang="en-US" b="1" i="1" dirty="0">
              <a:solidFill>
                <a:srgbClr val="0000FF"/>
              </a:solidFill>
            </a:endParaRPr>
          </a:p>
        </p:txBody>
      </p:sp>
      <p:sp>
        <p:nvSpPr>
          <p:cNvPr id="6" name="TextBox 5">
            <a:extLst>
              <a:ext uri="{FF2B5EF4-FFF2-40B4-BE49-F238E27FC236}">
                <a16:creationId xmlns:a16="http://schemas.microsoft.com/office/drawing/2014/main" id="{2CCF79CA-42D5-06DE-C14D-D5C89EB26E44}"/>
              </a:ext>
            </a:extLst>
          </p:cNvPr>
          <p:cNvSpPr txBox="1"/>
          <p:nvPr/>
        </p:nvSpPr>
        <p:spPr>
          <a:xfrm>
            <a:off x="604470" y="4572000"/>
            <a:ext cx="10983060" cy="1015663"/>
          </a:xfrm>
          <a:prstGeom prst="rect">
            <a:avLst/>
          </a:prstGeom>
          <a:noFill/>
        </p:spPr>
        <p:txBody>
          <a:bodyPr wrap="square" rtlCol="0">
            <a:spAutoFit/>
          </a:bodyPr>
          <a:lstStyle/>
          <a:p>
            <a:pPr algn="ctr"/>
            <a:r>
              <a:rPr lang="en-US" sz="2000" dirty="0"/>
              <a:t>If GPU is available – “pip install </a:t>
            </a:r>
            <a:r>
              <a:rPr lang="en-US" sz="2000" dirty="0" err="1"/>
              <a:t>torchaudio</a:t>
            </a:r>
            <a:r>
              <a:rPr lang="en-US" sz="2000" dirty="0"/>
              <a:t> --index-</a:t>
            </a:r>
            <a:r>
              <a:rPr lang="en-US" sz="2000" dirty="0" err="1"/>
              <a:t>url</a:t>
            </a:r>
            <a:r>
              <a:rPr lang="en-US" sz="2000" dirty="0"/>
              <a:t> </a:t>
            </a:r>
            <a:r>
              <a:rPr lang="en-US" sz="2000" dirty="0">
                <a:hlinkClick r:id="rId2"/>
              </a:rPr>
              <a:t>https://download.pytorch.org/</a:t>
            </a:r>
            <a:r>
              <a:rPr lang="en-US" sz="2000" dirty="0" err="1">
                <a:hlinkClick r:id="rId2"/>
              </a:rPr>
              <a:t>whl</a:t>
            </a:r>
            <a:r>
              <a:rPr lang="en-US" sz="2000" dirty="0">
                <a:hlinkClick r:id="rId2"/>
              </a:rPr>
              <a:t>/cu121</a:t>
            </a:r>
            <a:r>
              <a:rPr lang="en-US" sz="2000" dirty="0"/>
              <a:t>“</a:t>
            </a:r>
          </a:p>
          <a:p>
            <a:pPr algn="ctr"/>
            <a:endParaRPr lang="en-US" sz="2000" dirty="0"/>
          </a:p>
          <a:p>
            <a:pPr algn="ctr"/>
            <a:r>
              <a:rPr lang="en-US" sz="2000" dirty="0"/>
              <a:t>If GPU is not available – “pip install </a:t>
            </a:r>
            <a:r>
              <a:rPr lang="it-IT" sz="2000" dirty="0"/>
              <a:t>torchaudio --index-url </a:t>
            </a:r>
            <a:r>
              <a:rPr lang="it-IT" sz="2000" dirty="0">
                <a:hlinkClick r:id="rId3"/>
              </a:rPr>
              <a:t>https://download.pytorch.org/whl/cpu</a:t>
            </a:r>
            <a:r>
              <a:rPr lang="en-US" sz="2000" dirty="0"/>
              <a:t>“</a:t>
            </a:r>
          </a:p>
        </p:txBody>
      </p:sp>
      <p:pic>
        <p:nvPicPr>
          <p:cNvPr id="7" name="Picture 6">
            <a:extLst>
              <a:ext uri="{FF2B5EF4-FFF2-40B4-BE49-F238E27FC236}">
                <a16:creationId xmlns:a16="http://schemas.microsoft.com/office/drawing/2014/main" id="{F02F4AA8-ABDA-DD59-077F-5B4C937540D7}"/>
              </a:ext>
            </a:extLst>
          </p:cNvPr>
          <p:cNvPicPr>
            <a:picLocks noChangeAspect="1"/>
          </p:cNvPicPr>
          <p:nvPr/>
        </p:nvPicPr>
        <p:blipFill>
          <a:blip r:embed="rId4"/>
          <a:stretch>
            <a:fillRect/>
          </a:stretch>
        </p:blipFill>
        <p:spPr>
          <a:xfrm>
            <a:off x="1256050" y="2438400"/>
            <a:ext cx="9679900" cy="1371600"/>
          </a:xfrm>
          <a:prstGeom prst="rect">
            <a:avLst/>
          </a:prstGeom>
        </p:spPr>
      </p:pic>
    </p:spTree>
    <p:extLst>
      <p:ext uri="{BB962C8B-B14F-4D97-AF65-F5344CB8AC3E}">
        <p14:creationId xmlns:p14="http://schemas.microsoft.com/office/powerpoint/2010/main" val="3497931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7EAA8-C934-09FB-201C-DB0CF92A1D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633437-E692-CD7A-8A93-FD212ABDA900}"/>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B9092FA7-D1BE-0AF1-C2C1-C943A6DE4B37}"/>
              </a:ext>
            </a:extLst>
          </p:cNvPr>
          <p:cNvSpPr>
            <a:spLocks noGrp="1"/>
          </p:cNvSpPr>
          <p:nvPr>
            <p:ph type="body" idx="1"/>
          </p:nvPr>
        </p:nvSpPr>
        <p:spPr>
          <a:xfrm>
            <a:off x="344010" y="1600200"/>
            <a:ext cx="11582400" cy="923330"/>
          </a:xfrm>
        </p:spPr>
        <p:txBody>
          <a:bodyPr/>
          <a:lstStyle/>
          <a:p>
            <a:pPr algn="l"/>
            <a:r>
              <a:rPr lang="en-US" sz="2400" b="1" u="sng" dirty="0" err="1"/>
              <a:t>Ultralytics</a:t>
            </a:r>
            <a:r>
              <a:rPr lang="en-US" sz="2400" b="1" dirty="0"/>
              <a:t>: </a:t>
            </a:r>
            <a:r>
              <a:rPr lang="en-US" dirty="0"/>
              <a:t>This library has few functions that will be used heavily from image detection to video analysis.</a:t>
            </a:r>
          </a:p>
          <a:p>
            <a:pPr algn="l"/>
            <a:endParaRPr lang="en-US" dirty="0"/>
          </a:p>
          <a:p>
            <a:pPr algn="l"/>
            <a:r>
              <a:rPr lang="en-US" dirty="0"/>
              <a:t> </a:t>
            </a:r>
            <a:endParaRPr lang="en-US" i="1" dirty="0">
              <a:solidFill>
                <a:srgbClr val="0000FF"/>
              </a:solidFill>
            </a:endParaRPr>
          </a:p>
        </p:txBody>
      </p:sp>
      <p:sp>
        <p:nvSpPr>
          <p:cNvPr id="4" name="TextBox 3">
            <a:extLst>
              <a:ext uri="{FF2B5EF4-FFF2-40B4-BE49-F238E27FC236}">
                <a16:creationId xmlns:a16="http://schemas.microsoft.com/office/drawing/2014/main" id="{1067EBB1-00F1-3E16-8C6C-05F396F9AA71}"/>
              </a:ext>
            </a:extLst>
          </p:cNvPr>
          <p:cNvSpPr txBox="1"/>
          <p:nvPr/>
        </p:nvSpPr>
        <p:spPr>
          <a:xfrm>
            <a:off x="304800" y="2250281"/>
            <a:ext cx="11658600" cy="369331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sym typeface="Wingdings" panose="05000000000000000000" pitchFamily="2" charset="2"/>
              </a:rPr>
              <a:t> </a:t>
            </a:r>
            <a:r>
              <a:rPr kumimoji="0" lang="en-US" altLang="en-US" b="1" i="0" u="none" strike="noStrike" cap="none" normalizeH="0" baseline="0" dirty="0">
                <a:ln>
                  <a:noFill/>
                </a:ln>
                <a:solidFill>
                  <a:schemeClr val="tx1"/>
                </a:solidFill>
                <a:effectLst/>
                <a:latin typeface="Arial Unicode MS"/>
              </a:rPr>
              <a:t>from </a:t>
            </a:r>
            <a:r>
              <a:rPr kumimoji="0" lang="en-US" altLang="en-US" b="1" i="0" u="none" strike="noStrike" cap="none" normalizeH="0" baseline="0" dirty="0" err="1">
                <a:ln>
                  <a:noFill/>
                </a:ln>
                <a:solidFill>
                  <a:schemeClr val="tx1"/>
                </a:solidFill>
                <a:effectLst/>
                <a:latin typeface="Arial Unicode MS"/>
              </a:rPr>
              <a:t>ultralytics</a:t>
            </a:r>
            <a:r>
              <a:rPr kumimoji="0" lang="en-US" altLang="en-US" b="1" i="0" u="none" strike="noStrike" cap="none" normalizeH="0" baseline="0" dirty="0">
                <a:ln>
                  <a:noFill/>
                </a:ln>
                <a:solidFill>
                  <a:schemeClr val="tx1"/>
                </a:solidFill>
                <a:effectLst/>
                <a:latin typeface="Arial Unicode MS"/>
              </a:rPr>
              <a:t> import YOLO</a:t>
            </a:r>
            <a:r>
              <a:rPr kumimoji="0" lang="en-US" altLang="en-US" b="0" i="0" u="none" strike="noStrike" cap="none" normalizeH="0" baseline="0" dirty="0">
                <a:ln>
                  <a:noFill/>
                </a:ln>
                <a:solidFill>
                  <a:schemeClr val="tx1"/>
                </a:solidFill>
                <a:effectLst/>
              </a:rPr>
              <a:t> → </a:t>
            </a:r>
            <a:r>
              <a:rPr lang="en-US" altLang="en-US" dirty="0">
                <a:solidFill>
                  <a:schemeClr val="tx1"/>
                </a:solidFill>
              </a:rPr>
              <a:t>importing YOLOv8 from the </a:t>
            </a:r>
            <a:r>
              <a:rPr lang="en-US" altLang="en-US" b="1" dirty="0" err="1">
                <a:solidFill>
                  <a:schemeClr val="tx1"/>
                </a:solidFill>
              </a:rPr>
              <a:t>ultralytics</a:t>
            </a:r>
            <a:r>
              <a:rPr lang="en-US" altLang="en-US" dirty="0">
                <a:solidFill>
                  <a:schemeClr val="tx1"/>
                </a:solidFill>
              </a:rPr>
              <a:t> library.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a:ln>
                  <a:noFill/>
                </a:ln>
                <a:solidFill>
                  <a:schemeClr val="tx1"/>
                </a:solidFill>
                <a:effectLst/>
                <a:latin typeface="Arial Unicode MS"/>
              </a:rPr>
              <a:t>YOLO(“___”)</a:t>
            </a:r>
            <a:r>
              <a:rPr kumimoji="0" lang="en-US" altLang="en-US" b="0" i="0" u="none" strike="noStrike" cap="none" normalizeH="0" baseline="0" dirty="0">
                <a:ln>
                  <a:noFill/>
                </a:ln>
                <a:solidFill>
                  <a:schemeClr val="tx1"/>
                </a:solidFill>
                <a:effectLst/>
              </a:rPr>
              <a:t> → To select which version of YOLOv8 to use. [Ex: </a:t>
            </a:r>
            <a:r>
              <a:rPr kumimoji="0" lang="en-US" altLang="en-US" b="1" i="1" u="none" strike="noStrike" cap="none" normalizeH="0" baseline="0" dirty="0">
                <a:ln>
                  <a:noFill/>
                </a:ln>
                <a:solidFill>
                  <a:schemeClr val="tx1"/>
                </a:solidFill>
                <a:effectLst/>
              </a:rPr>
              <a:t>model = YOLO(“yolov8n.pt”)</a:t>
            </a:r>
            <a:r>
              <a:rPr kumimoji="0" lang="en-US" altLang="en-US" b="1"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sym typeface="Wingdings" panose="05000000000000000000" pitchFamily="2" charset="2"/>
              </a:rPr>
              <a:t> Nano</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a:ln>
                  <a:noFill/>
                </a:ln>
                <a:solidFill>
                  <a:schemeClr val="tx1"/>
                </a:solidFill>
                <a:effectLst/>
                <a:latin typeface="Arial Unicode MS"/>
              </a:rPr>
              <a:t>model(“___.</a:t>
            </a:r>
            <a:r>
              <a:rPr kumimoji="0" lang="en-US" altLang="en-US" b="1" i="0" u="none" strike="noStrike" cap="none" normalizeH="0" baseline="0" dirty="0" err="1">
                <a:ln>
                  <a:noFill/>
                </a:ln>
                <a:solidFill>
                  <a:schemeClr val="tx1"/>
                </a:solidFill>
                <a:effectLst/>
                <a:latin typeface="Arial Unicode MS"/>
              </a:rPr>
              <a:t>xyz</a:t>
            </a:r>
            <a:r>
              <a:rPr kumimoji="0" lang="en-US" altLang="en-US" b="1" i="0" u="none" strike="noStrike" cap="none" normalizeH="0" baseline="0" dirty="0">
                <a:ln>
                  <a:noFill/>
                </a:ln>
                <a:solidFill>
                  <a:schemeClr val="tx1"/>
                </a:solidFill>
                <a:effectLst/>
                <a:latin typeface="Arial Unicode MS"/>
              </a:rPr>
              <a:t>“)</a:t>
            </a:r>
            <a:r>
              <a:rPr kumimoji="0" lang="en-US" altLang="en-US" b="0" i="0" u="none" strike="noStrike" cap="none" normalizeH="0" baseline="0" dirty="0">
                <a:ln>
                  <a:noFill/>
                </a:ln>
                <a:solidFill>
                  <a:schemeClr val="tx1"/>
                </a:solidFill>
                <a:effectLst/>
              </a:rPr>
              <a:t>→ To use the loaded </a:t>
            </a:r>
            <a:r>
              <a:rPr kumimoji="0" lang="en-US" altLang="en-US" b="1" i="0" u="none" strike="noStrike" cap="none" normalizeH="0" baseline="0" dirty="0">
                <a:ln>
                  <a:noFill/>
                </a:ln>
                <a:solidFill>
                  <a:schemeClr val="tx1"/>
                </a:solidFill>
                <a:effectLst/>
              </a:rPr>
              <a:t>model</a:t>
            </a:r>
            <a:r>
              <a:rPr kumimoji="0" lang="en-US" altLang="en-US" b="0" i="0" u="none" strike="noStrike" cap="none" normalizeH="0" baseline="0" dirty="0">
                <a:ln>
                  <a:noFill/>
                </a:ln>
                <a:solidFill>
                  <a:schemeClr val="tx1"/>
                </a:solidFill>
                <a:effectLst/>
              </a:rPr>
              <a:t> on an image or video ( .JPG</a:t>
            </a:r>
            <a:r>
              <a:rPr lang="en-US" altLang="en-US" dirty="0">
                <a:solidFill>
                  <a:schemeClr val="tx1"/>
                </a:solidFill>
              </a:rPr>
              <a:t> or .MP4</a:t>
            </a:r>
            <a:r>
              <a:rPr kumimoji="0" lang="en-US" altLang="en-US" b="0" i="0" u="none" strike="noStrike" cap="none" normalizeH="0" baseline="0" dirty="0">
                <a:ln>
                  <a:noFill/>
                </a:ln>
                <a:solidFill>
                  <a:schemeClr val="tx1"/>
                </a:solidFill>
                <a:effectLst/>
              </a:rPr>
              <a:t> ) returns its analysis of the image or video. [Ex: </a:t>
            </a:r>
            <a:r>
              <a:rPr kumimoji="0" lang="en-US" altLang="en-US" b="1" i="1" u="none" strike="noStrike" cap="none" normalizeH="0" baseline="0" dirty="0" err="1">
                <a:ln>
                  <a:noFill/>
                </a:ln>
                <a:solidFill>
                  <a:schemeClr val="tx1"/>
                </a:solidFill>
                <a:effectLst/>
              </a:rPr>
              <a:t>resultsxyz</a:t>
            </a:r>
            <a:r>
              <a:rPr kumimoji="0" lang="en-US" altLang="en-US" b="1" i="1" u="none" strike="noStrike" cap="none" normalizeH="0" baseline="0" dirty="0">
                <a:ln>
                  <a:noFill/>
                </a:ln>
                <a:solidFill>
                  <a:schemeClr val="tx1"/>
                </a:solidFill>
                <a:effectLst/>
              </a:rPr>
              <a:t> = model(“img.jpg”)</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sym typeface="Wingdings" panose="05000000000000000000" pitchFamily="2" charset="2"/>
              </a:rPr>
              <a:t> gives all its finds to “results“ variable</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algn="l" rtl="0"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a:ln>
                  <a:noFill/>
                </a:ln>
                <a:solidFill>
                  <a:schemeClr val="tx1"/>
                </a:solidFill>
                <a:effectLst/>
                <a:latin typeface="Arial Unicode MS"/>
              </a:rPr>
              <a:t>model(0)</a:t>
            </a:r>
            <a:r>
              <a:rPr kumimoji="0" lang="en-US" altLang="en-US" b="0" i="0" u="none" strike="noStrike" cap="none" normalizeH="0" baseline="0" dirty="0">
                <a:ln>
                  <a:noFill/>
                </a:ln>
                <a:solidFill>
                  <a:schemeClr val="tx1"/>
                </a:solidFill>
                <a:effectLst/>
              </a:rPr>
              <a:t>→ To use the loaded </a:t>
            </a:r>
            <a:r>
              <a:rPr kumimoji="0" lang="en-US" altLang="en-US" b="1" i="0" u="none" strike="noStrike" cap="none" normalizeH="0" baseline="0" dirty="0">
                <a:ln>
                  <a:noFill/>
                </a:ln>
                <a:solidFill>
                  <a:schemeClr val="tx1"/>
                </a:solidFill>
                <a:effectLst/>
              </a:rPr>
              <a:t>model</a:t>
            </a:r>
            <a:r>
              <a:rPr kumimoji="0" lang="en-US" altLang="en-US" b="0" i="0" u="none" strike="noStrike" cap="none" normalizeH="0" baseline="0" dirty="0">
                <a:ln>
                  <a:noFill/>
                </a:ln>
                <a:solidFill>
                  <a:schemeClr val="tx1"/>
                </a:solidFill>
                <a:effectLst/>
              </a:rPr>
              <a:t> on your webcam feed, returns its analysis of the </a:t>
            </a:r>
            <a:r>
              <a:rPr kumimoji="0" lang="en-US" altLang="en-US" b="1" i="0" u="none" strike="noStrike" cap="none" normalizeH="0" baseline="0" dirty="0">
                <a:ln>
                  <a:noFill/>
                </a:ln>
                <a:solidFill>
                  <a:schemeClr val="tx1"/>
                </a:solidFill>
                <a:effectLst/>
              </a:rPr>
              <a:t>webcam live feed</a:t>
            </a:r>
            <a:r>
              <a:rPr kumimoji="0" lang="en-US" altLang="en-US" b="0" i="0" u="none" strike="noStrike" cap="none" normalizeH="0" baseline="0" dirty="0">
                <a:ln>
                  <a:noFill/>
                </a:ln>
                <a:solidFill>
                  <a:schemeClr val="tx1"/>
                </a:solidFill>
                <a:effectLst/>
              </a:rPr>
              <a:t>. </a:t>
            </a:r>
          </a:p>
          <a:p>
            <a:pPr algn="ctr" rtl="0" eaLnBrk="0" fontAlgn="base" hangingPunct="0">
              <a:spcBef>
                <a:spcPct val="0"/>
              </a:spcBef>
              <a:spcAft>
                <a:spcPct val="0"/>
              </a:spcAft>
            </a:pPr>
            <a:r>
              <a:rPr kumimoji="0" lang="en-US" altLang="en-US" b="0" i="0" u="none" strike="noStrike" cap="none" normalizeH="0" baseline="0" dirty="0">
                <a:ln>
                  <a:noFill/>
                </a:ln>
                <a:solidFill>
                  <a:schemeClr val="tx1"/>
                </a:solidFill>
                <a:effectLst/>
              </a:rPr>
              <a:t>[Ex: </a:t>
            </a:r>
            <a:r>
              <a:rPr kumimoji="0" lang="en-US" altLang="en-US" b="1" i="1" u="none" strike="noStrike" cap="none" normalizeH="0" baseline="0" dirty="0" err="1">
                <a:ln>
                  <a:noFill/>
                </a:ln>
                <a:solidFill>
                  <a:schemeClr val="tx1"/>
                </a:solidFill>
                <a:effectLst/>
              </a:rPr>
              <a:t>resultsxyz</a:t>
            </a:r>
            <a:r>
              <a:rPr kumimoji="0" lang="en-US" altLang="en-US" b="1" i="1" u="none" strike="noStrike" cap="none" normalizeH="0" baseline="0" dirty="0">
                <a:ln>
                  <a:noFill/>
                </a:ln>
                <a:solidFill>
                  <a:schemeClr val="tx1"/>
                </a:solidFill>
                <a:effectLst/>
              </a:rPr>
              <a:t> = model(0)</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sym typeface="Wingdings" panose="05000000000000000000" pitchFamily="2" charset="2"/>
              </a:rPr>
              <a:t> gives all its finds to “results“ variable</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err="1">
                <a:ln>
                  <a:noFill/>
                </a:ln>
                <a:solidFill>
                  <a:schemeClr val="tx1"/>
                </a:solidFill>
                <a:effectLst/>
                <a:latin typeface="Arial Unicode MS"/>
              </a:rPr>
              <a:t>resultsxyz</a:t>
            </a:r>
            <a:r>
              <a:rPr kumimoji="0" lang="en-US" altLang="en-US" b="1" i="0" u="none" strike="noStrike" cap="none" normalizeH="0" baseline="0" dirty="0">
                <a:ln>
                  <a:noFill/>
                </a:ln>
                <a:solidFill>
                  <a:schemeClr val="tx1"/>
                </a:solidFill>
                <a:effectLst/>
                <a:latin typeface="Arial Unicode MS"/>
              </a:rPr>
              <a:t>[0].show() </a:t>
            </a:r>
            <a:r>
              <a:rPr kumimoji="0" lang="en-US" altLang="en-US" b="0" i="0" u="none" strike="noStrike" cap="none" normalizeH="0" baseline="0" dirty="0">
                <a:ln>
                  <a:noFill/>
                </a:ln>
                <a:solidFill>
                  <a:schemeClr val="tx1"/>
                </a:solidFill>
                <a:effectLst/>
              </a:rPr>
              <a:t>→ To show the </a:t>
            </a:r>
            <a:r>
              <a:rPr kumimoji="0" lang="en-US" altLang="en-US" b="1" i="0" u="none" strike="noStrike" cap="none" normalizeH="0" baseline="0" dirty="0">
                <a:ln>
                  <a:noFill/>
                </a:ln>
                <a:solidFill>
                  <a:schemeClr val="tx1"/>
                </a:solidFill>
                <a:effectLst/>
              </a:rPr>
              <a:t>annotated image or video</a:t>
            </a:r>
            <a:r>
              <a:rPr kumimoji="0" lang="en-US" altLang="en-US" b="0" i="0" u="none" strike="noStrike" cap="none" normalizeH="0" baseline="0" dirty="0">
                <a:ln>
                  <a:noFill/>
                </a:ln>
                <a:solidFill>
                  <a:schemeClr val="tx1"/>
                </a:solidFill>
                <a:effectLst/>
              </a:rPr>
              <a:t> after the analysis in a </a:t>
            </a:r>
            <a:r>
              <a:rPr kumimoji="0" lang="en-US" altLang="en-US" b="1" i="0" u="sng" strike="noStrike" cap="none" normalizeH="0" baseline="0" dirty="0">
                <a:ln>
                  <a:noFill/>
                </a:ln>
                <a:solidFill>
                  <a:schemeClr val="tx1"/>
                </a:solidFill>
                <a:effectLst/>
              </a:rPr>
              <a:t>temporary window</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err="1">
                <a:ln>
                  <a:noFill/>
                </a:ln>
                <a:solidFill>
                  <a:schemeClr val="tx1"/>
                </a:solidFill>
                <a:effectLst/>
                <a:latin typeface="Arial Unicode MS"/>
              </a:rPr>
              <a:t>resultsxyz</a:t>
            </a:r>
            <a:r>
              <a:rPr kumimoji="0" lang="en-US" altLang="en-US" b="1" i="0" u="none" strike="noStrike" cap="none" normalizeH="0" baseline="0" dirty="0">
                <a:ln>
                  <a:noFill/>
                </a:ln>
                <a:solidFill>
                  <a:schemeClr val="tx1"/>
                </a:solidFill>
                <a:effectLst/>
                <a:latin typeface="Arial Unicode MS"/>
              </a:rPr>
              <a:t>[0].save(“__/__</a:t>
            </a:r>
            <a:r>
              <a:rPr lang="en-US" altLang="en-US" b="1" dirty="0">
                <a:solidFill>
                  <a:schemeClr val="tx1"/>
                </a:solidFill>
                <a:latin typeface="Arial Unicode MS"/>
              </a:rPr>
              <a:t>.</a:t>
            </a:r>
            <a:r>
              <a:rPr lang="en-US" altLang="en-US" b="1" dirty="0" err="1">
                <a:solidFill>
                  <a:schemeClr val="tx1"/>
                </a:solidFill>
                <a:latin typeface="Arial Unicode MS"/>
              </a:rPr>
              <a:t>xyz</a:t>
            </a:r>
            <a:r>
              <a:rPr kumimoji="0" lang="en-US" altLang="en-US" b="1" i="0" u="none" strike="noStrike" cap="none" normalizeH="0" baseline="0" dirty="0">
                <a:ln>
                  <a:noFill/>
                </a:ln>
                <a:solidFill>
                  <a:schemeClr val="tx1"/>
                </a:solidFill>
                <a:effectLst/>
                <a:latin typeface="Arial Unicode MS"/>
              </a:rPr>
              <a:t>") </a:t>
            </a:r>
            <a:r>
              <a:rPr kumimoji="0" lang="en-US" altLang="en-US" b="0" i="0" u="none" strike="noStrike" cap="none" normalizeH="0" baseline="0" dirty="0">
                <a:ln>
                  <a:noFill/>
                </a:ln>
                <a:solidFill>
                  <a:schemeClr val="tx1"/>
                </a:solidFill>
                <a:effectLst/>
              </a:rPr>
              <a:t>→ To save the annotated image or video ( .JPG or .MP4 ) in an address. </a:t>
            </a:r>
            <a:endParaRPr lang="en-US" dirty="0"/>
          </a:p>
        </p:txBody>
      </p:sp>
    </p:spTree>
    <p:extLst>
      <p:ext uri="{BB962C8B-B14F-4D97-AF65-F5344CB8AC3E}">
        <p14:creationId xmlns:p14="http://schemas.microsoft.com/office/powerpoint/2010/main" val="12024275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0D41E-979B-4017-09D7-608EF811A0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C02615-56AD-17AC-38E9-DDFF8319A021}"/>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35F4F2E7-8BAE-0184-AE7C-A64F33828B6E}"/>
              </a:ext>
            </a:extLst>
          </p:cNvPr>
          <p:cNvSpPr>
            <a:spLocks noGrp="1"/>
          </p:cNvSpPr>
          <p:nvPr>
            <p:ph type="body" idx="1"/>
          </p:nvPr>
        </p:nvSpPr>
        <p:spPr>
          <a:xfrm>
            <a:off x="344010" y="1600200"/>
            <a:ext cx="11582400" cy="923330"/>
          </a:xfrm>
        </p:spPr>
        <p:txBody>
          <a:bodyPr/>
          <a:lstStyle/>
          <a:p>
            <a:pPr algn="l"/>
            <a:r>
              <a:rPr lang="en-US" sz="2400" b="1" u="sng" dirty="0"/>
              <a:t>Exercise</a:t>
            </a:r>
            <a:r>
              <a:rPr lang="en-US" sz="2400" b="1" dirty="0"/>
              <a:t>:</a:t>
            </a:r>
            <a:endParaRPr lang="en-US" dirty="0"/>
          </a:p>
          <a:p>
            <a:pPr algn="l"/>
            <a:endParaRPr lang="en-US" dirty="0"/>
          </a:p>
          <a:p>
            <a:pPr algn="l"/>
            <a:r>
              <a:rPr lang="en-US" dirty="0"/>
              <a:t> </a:t>
            </a:r>
            <a:endParaRPr lang="en-US" i="1" dirty="0">
              <a:solidFill>
                <a:srgbClr val="0000FF"/>
              </a:solidFill>
            </a:endParaRPr>
          </a:p>
        </p:txBody>
      </p:sp>
      <p:sp>
        <p:nvSpPr>
          <p:cNvPr id="4" name="TextBox 3">
            <a:extLst>
              <a:ext uri="{FF2B5EF4-FFF2-40B4-BE49-F238E27FC236}">
                <a16:creationId xmlns:a16="http://schemas.microsoft.com/office/drawing/2014/main" id="{EAFA71C1-D764-4C4E-BDC1-2BCB010EA0CB}"/>
              </a:ext>
            </a:extLst>
          </p:cNvPr>
          <p:cNvSpPr txBox="1"/>
          <p:nvPr/>
        </p:nvSpPr>
        <p:spPr>
          <a:xfrm>
            <a:off x="267810" y="2951946"/>
            <a:ext cx="11658600" cy="1384995"/>
          </a:xfrm>
          <a:prstGeom prst="rect">
            <a:avLst/>
          </a:prstGeom>
          <a:noFill/>
        </p:spPr>
        <p:txBody>
          <a:bodyPr wrap="square" rtlCol="0">
            <a:spAutoFit/>
          </a:bodyPr>
          <a:lstStyle/>
          <a:p>
            <a:pPr algn="ctr" rtl="0" eaLnBrk="0" fontAlgn="base" hangingPunct="0">
              <a:spcBef>
                <a:spcPct val="0"/>
              </a:spcBef>
              <a:spcAft>
                <a:spcPct val="0"/>
              </a:spcAft>
            </a:pPr>
            <a:r>
              <a:rPr lang="en-US" sz="2800" dirty="0"/>
              <a:t>Using the </a:t>
            </a:r>
            <a:r>
              <a:rPr lang="en-US" sz="2800" b="1" dirty="0"/>
              <a:t>YOLOv8 nano</a:t>
            </a:r>
            <a:r>
              <a:rPr lang="en-US" sz="2800" dirty="0"/>
              <a:t> model, detect objects using your </a:t>
            </a:r>
            <a:r>
              <a:rPr lang="en-US" sz="2800" b="1" dirty="0"/>
              <a:t>Webcam</a:t>
            </a:r>
            <a:r>
              <a:rPr lang="en-US" sz="2800" dirty="0"/>
              <a:t> and save an image of the annotated frame and show it on the </a:t>
            </a:r>
            <a:r>
              <a:rPr lang="en-US" sz="2800" b="1" dirty="0"/>
              <a:t>temporary window</a:t>
            </a:r>
            <a:r>
              <a:rPr lang="en-US" sz="2800" dirty="0"/>
              <a:t>. </a:t>
            </a:r>
          </a:p>
        </p:txBody>
      </p:sp>
    </p:spTree>
    <p:extLst>
      <p:ext uri="{BB962C8B-B14F-4D97-AF65-F5344CB8AC3E}">
        <p14:creationId xmlns:p14="http://schemas.microsoft.com/office/powerpoint/2010/main" val="34979406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D063D-06EB-2A2A-BA18-F4AC212C41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680F36-E461-69B9-11DD-AD88030DD159}"/>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73F86F7D-3A3B-4527-CBCE-7E26E444EBCC}"/>
              </a:ext>
            </a:extLst>
          </p:cNvPr>
          <p:cNvSpPr>
            <a:spLocks noGrp="1"/>
          </p:cNvSpPr>
          <p:nvPr>
            <p:ph type="body" idx="1"/>
          </p:nvPr>
        </p:nvSpPr>
        <p:spPr>
          <a:xfrm>
            <a:off x="344010" y="1600200"/>
            <a:ext cx="11582400" cy="923330"/>
          </a:xfrm>
        </p:spPr>
        <p:txBody>
          <a:bodyPr/>
          <a:lstStyle/>
          <a:p>
            <a:pPr algn="l"/>
            <a:r>
              <a:rPr lang="en-US" sz="2400" b="1" u="sng" dirty="0"/>
              <a:t>Exercise</a:t>
            </a:r>
            <a:r>
              <a:rPr lang="en-US" sz="2400" b="1" dirty="0"/>
              <a:t>: Solution-</a:t>
            </a:r>
            <a:endParaRPr lang="en-US" dirty="0"/>
          </a:p>
          <a:p>
            <a:pPr algn="l"/>
            <a:endParaRPr lang="en-US" dirty="0"/>
          </a:p>
          <a:p>
            <a:pPr algn="l"/>
            <a:r>
              <a:rPr lang="en-US" dirty="0"/>
              <a:t> </a:t>
            </a:r>
            <a:endParaRPr lang="en-US" i="1" dirty="0">
              <a:solidFill>
                <a:srgbClr val="0000FF"/>
              </a:solidFill>
            </a:endParaRPr>
          </a:p>
        </p:txBody>
      </p:sp>
      <p:pic>
        <p:nvPicPr>
          <p:cNvPr id="8" name="Picture 7">
            <a:extLst>
              <a:ext uri="{FF2B5EF4-FFF2-40B4-BE49-F238E27FC236}">
                <a16:creationId xmlns:a16="http://schemas.microsoft.com/office/drawing/2014/main" id="{2F5B05A6-9228-64FF-C08A-7454F8A6BB2B}"/>
              </a:ext>
            </a:extLst>
          </p:cNvPr>
          <p:cNvPicPr>
            <a:picLocks noChangeAspect="1"/>
          </p:cNvPicPr>
          <p:nvPr/>
        </p:nvPicPr>
        <p:blipFill>
          <a:blip r:embed="rId2"/>
          <a:stretch>
            <a:fillRect/>
          </a:stretch>
        </p:blipFill>
        <p:spPr>
          <a:xfrm>
            <a:off x="1295400" y="2743200"/>
            <a:ext cx="9200845" cy="2343286"/>
          </a:xfrm>
          <a:prstGeom prst="rect">
            <a:avLst/>
          </a:prstGeom>
        </p:spPr>
      </p:pic>
    </p:spTree>
    <p:extLst>
      <p:ext uri="{BB962C8B-B14F-4D97-AF65-F5344CB8AC3E}">
        <p14:creationId xmlns:p14="http://schemas.microsoft.com/office/powerpoint/2010/main" val="5444637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42A4D-04BE-4D12-11F6-69965A1138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CC2423-22A9-0E28-690E-AC5D3051C068}"/>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6E08B2A2-778A-0254-E479-4AECBF82C004}"/>
              </a:ext>
            </a:extLst>
          </p:cNvPr>
          <p:cNvSpPr>
            <a:spLocks noGrp="1"/>
          </p:cNvSpPr>
          <p:nvPr>
            <p:ph type="body" idx="1"/>
          </p:nvPr>
        </p:nvSpPr>
        <p:spPr>
          <a:xfrm>
            <a:off x="344010" y="1600200"/>
            <a:ext cx="11582400" cy="923330"/>
          </a:xfrm>
        </p:spPr>
        <p:txBody>
          <a:bodyPr/>
          <a:lstStyle/>
          <a:p>
            <a:pPr algn="l"/>
            <a:r>
              <a:rPr lang="en-US" sz="2400" b="1" u="sng" dirty="0" err="1"/>
              <a:t>Ultralytics</a:t>
            </a:r>
            <a:r>
              <a:rPr lang="en-US" sz="2400" b="1" dirty="0"/>
              <a:t>: </a:t>
            </a:r>
            <a:r>
              <a:rPr lang="en-US" dirty="0"/>
              <a:t>Below are the functions that are used for getting the boxes and its coordinates for navigation. </a:t>
            </a:r>
          </a:p>
          <a:p>
            <a:pPr algn="l"/>
            <a:endParaRPr lang="en-US" dirty="0"/>
          </a:p>
          <a:p>
            <a:pPr algn="l"/>
            <a:r>
              <a:rPr lang="en-US" dirty="0"/>
              <a:t> </a:t>
            </a:r>
            <a:endParaRPr lang="en-US" i="1" dirty="0">
              <a:solidFill>
                <a:srgbClr val="0000FF"/>
              </a:solidFill>
            </a:endParaRPr>
          </a:p>
        </p:txBody>
      </p:sp>
      <p:sp>
        <p:nvSpPr>
          <p:cNvPr id="4" name="TextBox 3">
            <a:extLst>
              <a:ext uri="{FF2B5EF4-FFF2-40B4-BE49-F238E27FC236}">
                <a16:creationId xmlns:a16="http://schemas.microsoft.com/office/drawing/2014/main" id="{877D9A48-F571-3C97-234C-31AEBD89843A}"/>
              </a:ext>
            </a:extLst>
          </p:cNvPr>
          <p:cNvSpPr txBox="1"/>
          <p:nvPr/>
        </p:nvSpPr>
        <p:spPr>
          <a:xfrm>
            <a:off x="304800" y="2250281"/>
            <a:ext cx="11658600" cy="369331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sym typeface="Wingdings" panose="05000000000000000000" pitchFamily="2" charset="2"/>
              </a:rPr>
              <a:t> </a:t>
            </a:r>
            <a:r>
              <a:rPr kumimoji="0" lang="en-US" altLang="en-US" b="1" i="0" u="none" strike="noStrike" cap="none" normalizeH="0" baseline="0" dirty="0">
                <a:ln>
                  <a:noFill/>
                </a:ln>
                <a:solidFill>
                  <a:schemeClr val="tx1"/>
                </a:solidFill>
                <a:effectLst/>
                <a:latin typeface="Arial Unicode MS"/>
              </a:rPr>
              <a:t>results = model(0)</a:t>
            </a:r>
            <a:r>
              <a:rPr kumimoji="0" lang="en-US" altLang="en-US" b="0" i="0" u="none" strike="noStrike" cap="none" normalizeH="0" baseline="0" dirty="0">
                <a:ln>
                  <a:noFill/>
                </a:ln>
                <a:solidFill>
                  <a:schemeClr val="tx1"/>
                </a:solidFill>
                <a:effectLst/>
              </a:rPr>
              <a:t> → Running YOLO model on webcam and loading the results in the variable “</a:t>
            </a:r>
            <a:r>
              <a:rPr kumimoji="0" lang="en-US" altLang="en-US" b="1" i="1" u="none" strike="noStrike" cap="none" normalizeH="0" baseline="0" dirty="0">
                <a:ln>
                  <a:noFill/>
                </a:ln>
                <a:solidFill>
                  <a:schemeClr val="tx1"/>
                </a:solidFill>
                <a:effectLst/>
              </a:rPr>
              <a:t>results</a:t>
            </a:r>
            <a:r>
              <a:rPr kumimoji="0" lang="en-US" altLang="en-US" b="0" i="0" u="none" strike="noStrike" cap="none" normalizeH="0" baseline="0" dirty="0">
                <a:ln>
                  <a:noFill/>
                </a:ln>
                <a:solidFill>
                  <a:schemeClr val="tx1"/>
                </a:solidFill>
                <a:effectLst/>
              </a:rPr>
              <a:t>“</a:t>
            </a:r>
            <a:r>
              <a:rPr lang="en-US" altLang="en-US" dirty="0">
                <a:solidFill>
                  <a:schemeClr val="tx1"/>
                </a:solidFill>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a:ln>
                  <a:noFill/>
                </a:ln>
                <a:solidFill>
                  <a:schemeClr val="tx1"/>
                </a:solidFill>
                <a:effectLst/>
                <a:latin typeface="Arial Unicode MS"/>
              </a:rPr>
              <a:t>boxes = results[0].boxes</a:t>
            </a:r>
            <a:r>
              <a:rPr kumimoji="0" lang="en-US" altLang="en-US" b="0" i="0" u="none" strike="noStrike" cap="none" normalizeH="0" baseline="0" dirty="0">
                <a:ln>
                  <a:noFill/>
                </a:ln>
                <a:solidFill>
                  <a:schemeClr val="tx1"/>
                </a:solidFill>
                <a:effectLst/>
              </a:rPr>
              <a:t> → gives all the detections found in that frame bounded by boxes.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a:ln>
                  <a:noFill/>
                </a:ln>
                <a:solidFill>
                  <a:schemeClr val="tx1"/>
                </a:solidFill>
                <a:effectLst/>
                <a:latin typeface="Arial Unicode MS"/>
              </a:rPr>
              <a:t>results[0].</a:t>
            </a:r>
            <a:r>
              <a:rPr kumimoji="0" lang="en-US" altLang="en-US" b="1" i="0" u="none" strike="noStrike" cap="none" normalizeH="0" baseline="0" dirty="0" err="1">
                <a:ln>
                  <a:noFill/>
                </a:ln>
                <a:solidFill>
                  <a:schemeClr val="tx1"/>
                </a:solidFill>
                <a:effectLst/>
                <a:latin typeface="Arial Unicode MS"/>
              </a:rPr>
              <a:t>boxes.xyxy</a:t>
            </a:r>
            <a:r>
              <a:rPr kumimoji="0" lang="en-US" altLang="en-US" b="1" i="0" u="none" strike="noStrike" cap="none" normalizeH="0" baseline="0" dirty="0">
                <a:ln>
                  <a:noFill/>
                </a:ln>
                <a:solidFill>
                  <a:schemeClr val="tx1"/>
                </a:solidFill>
                <a:effectLst/>
                <a:latin typeface="Arial Unicode MS"/>
              </a:rPr>
              <a:t> </a:t>
            </a:r>
            <a:r>
              <a:rPr kumimoji="0" lang="en-US" altLang="en-US" b="0" i="0" u="none" strike="noStrike" cap="none" normalizeH="0" baseline="0" dirty="0">
                <a:ln>
                  <a:noFill/>
                </a:ln>
                <a:solidFill>
                  <a:schemeClr val="tx1"/>
                </a:solidFill>
                <a:effectLst/>
              </a:rPr>
              <a:t>→ To get the coordinates of the boxes in the variable “</a:t>
            </a:r>
            <a:r>
              <a:rPr kumimoji="0" lang="en-US" altLang="en-US" b="1" i="1" strike="noStrike" cap="none" normalizeH="0" baseline="0" dirty="0">
                <a:ln>
                  <a:noFill/>
                </a:ln>
                <a:solidFill>
                  <a:schemeClr val="tx1"/>
                </a:solidFill>
                <a:effectLst/>
              </a:rPr>
              <a:t>coordinates</a:t>
            </a:r>
            <a:r>
              <a:rPr kumimoji="0" lang="en-US" altLang="en-US" b="0" i="0" u="none" strike="noStrike" cap="none" normalizeH="0" baseline="0" dirty="0">
                <a:ln>
                  <a:noFill/>
                </a:ln>
                <a:solidFill>
                  <a:schemeClr val="tx1"/>
                </a:solidFill>
                <a:effectLst/>
              </a:rPr>
              <a:t>“ </a:t>
            </a:r>
          </a:p>
          <a:p>
            <a:pPr marL="0" marR="0" lvl="0" indent="0" algn="ctr"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rPr>
              <a:t>[Ex: </a:t>
            </a:r>
            <a:r>
              <a:rPr kumimoji="0" lang="en-US" altLang="en-US" b="1" i="1" u="none" strike="noStrike" cap="none" normalizeH="0" baseline="0" dirty="0">
                <a:ln>
                  <a:noFill/>
                </a:ln>
                <a:solidFill>
                  <a:schemeClr val="tx1"/>
                </a:solidFill>
                <a:effectLst/>
              </a:rPr>
              <a:t>coordinates = </a:t>
            </a:r>
            <a:r>
              <a:rPr kumimoji="0" lang="en-US" altLang="en-US" b="1" i="0" u="none" strike="noStrike" cap="none" normalizeH="0" baseline="0" dirty="0">
                <a:ln>
                  <a:noFill/>
                </a:ln>
                <a:solidFill>
                  <a:schemeClr val="tx1"/>
                </a:solidFill>
                <a:effectLst/>
                <a:latin typeface="Arial Unicode MS"/>
              </a:rPr>
              <a:t>results[0].</a:t>
            </a:r>
            <a:r>
              <a:rPr kumimoji="0" lang="en-US" altLang="en-US" b="1" i="0" u="none" strike="noStrike" cap="none" normalizeH="0" baseline="0" dirty="0" err="1">
                <a:ln>
                  <a:noFill/>
                </a:ln>
                <a:solidFill>
                  <a:schemeClr val="tx1"/>
                </a:solidFill>
                <a:effectLst/>
                <a:latin typeface="Arial Unicode MS"/>
              </a:rPr>
              <a:t>boxes.xyxy</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sym typeface="Wingdings" panose="05000000000000000000" pitchFamily="2" charset="2"/>
              </a:rPr>
              <a:t> gives the coordinates in “</a:t>
            </a:r>
            <a:r>
              <a:rPr kumimoji="0" lang="en-US" altLang="en-US" b="0" i="1" u="none" strike="noStrike" cap="none" normalizeH="0" baseline="0" dirty="0">
                <a:ln>
                  <a:noFill/>
                </a:ln>
                <a:solidFill>
                  <a:schemeClr val="tx1"/>
                </a:solidFill>
                <a:effectLst/>
                <a:sym typeface="Wingdings" panose="05000000000000000000" pitchFamily="2" charset="2"/>
              </a:rPr>
              <a:t>coordinates</a:t>
            </a:r>
            <a:r>
              <a:rPr kumimoji="0" lang="en-US" altLang="en-US" b="0" i="0" u="none" strike="noStrike" cap="none" normalizeH="0" baseline="0" dirty="0">
                <a:ln>
                  <a:noFill/>
                </a:ln>
                <a:solidFill>
                  <a:schemeClr val="tx1"/>
                </a:solidFill>
                <a:effectLst/>
                <a:sym typeface="Wingdings" panose="05000000000000000000" pitchFamily="2" charset="2"/>
              </a:rPr>
              <a:t>“ variable</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a:ln>
                  <a:noFill/>
                </a:ln>
                <a:solidFill>
                  <a:schemeClr val="tx1"/>
                </a:solidFill>
                <a:effectLst/>
                <a:latin typeface="Arial Unicode MS"/>
              </a:rPr>
              <a:t>results[0].</a:t>
            </a:r>
            <a:r>
              <a:rPr kumimoji="0" lang="en-US" altLang="en-US" b="1" i="0" u="none" strike="noStrike" cap="none" normalizeH="0" baseline="0" dirty="0" err="1">
                <a:ln>
                  <a:noFill/>
                </a:ln>
                <a:solidFill>
                  <a:schemeClr val="tx1"/>
                </a:solidFill>
                <a:effectLst/>
                <a:latin typeface="Arial Unicode MS"/>
              </a:rPr>
              <a:t>boxes.conf</a:t>
            </a:r>
            <a:r>
              <a:rPr kumimoji="0" lang="en-US" altLang="en-US" b="1" i="0" u="none" strike="noStrike" cap="none" normalizeH="0" baseline="0" dirty="0">
                <a:ln>
                  <a:noFill/>
                </a:ln>
                <a:solidFill>
                  <a:schemeClr val="tx1"/>
                </a:solidFill>
                <a:effectLst/>
                <a:latin typeface="Arial Unicode MS"/>
              </a:rPr>
              <a:t> </a:t>
            </a:r>
            <a:r>
              <a:rPr kumimoji="0" lang="en-US" altLang="en-US" b="0" i="0" u="none" strike="noStrike" cap="none" normalizeH="0" baseline="0" dirty="0">
                <a:ln>
                  <a:noFill/>
                </a:ln>
                <a:solidFill>
                  <a:schemeClr val="tx1"/>
                </a:solidFill>
                <a:effectLst/>
              </a:rPr>
              <a:t>→ To get the confidence score of the boxes in the variable </a:t>
            </a:r>
          </a:p>
          <a:p>
            <a:pPr marL="0" marR="0" lvl="0" indent="0" algn="ctr"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rPr>
              <a:t>[Ex: </a:t>
            </a:r>
            <a:r>
              <a:rPr kumimoji="0" lang="en-US" altLang="en-US" b="1" i="1" u="none" strike="noStrike" cap="none" normalizeH="0" baseline="0" dirty="0">
                <a:ln>
                  <a:noFill/>
                </a:ln>
                <a:solidFill>
                  <a:schemeClr val="tx1"/>
                </a:solidFill>
                <a:effectLst/>
              </a:rPr>
              <a:t>confidence = </a:t>
            </a:r>
            <a:r>
              <a:rPr kumimoji="0" lang="en-US" altLang="en-US" b="1" i="0" u="none" strike="noStrike" cap="none" normalizeH="0" baseline="0" dirty="0">
                <a:ln>
                  <a:noFill/>
                </a:ln>
                <a:solidFill>
                  <a:schemeClr val="tx1"/>
                </a:solidFill>
                <a:effectLst/>
                <a:latin typeface="Arial Unicode MS"/>
              </a:rPr>
              <a:t>results[0].</a:t>
            </a:r>
            <a:r>
              <a:rPr kumimoji="0" lang="en-US" altLang="en-US" b="1" i="0" u="none" strike="noStrike" cap="none" normalizeH="0" baseline="0" dirty="0" err="1">
                <a:ln>
                  <a:noFill/>
                </a:ln>
                <a:solidFill>
                  <a:schemeClr val="tx1"/>
                </a:solidFill>
                <a:effectLst/>
                <a:latin typeface="Arial Unicode MS"/>
              </a:rPr>
              <a:t>boxes.conf</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sym typeface="Wingdings" panose="05000000000000000000" pitchFamily="2" charset="2"/>
              </a:rPr>
              <a:t> gives the score in “</a:t>
            </a:r>
            <a:r>
              <a:rPr kumimoji="0" lang="en-US" altLang="en-US" b="0" i="1" u="none" strike="noStrike" cap="none" normalizeH="0" baseline="0" dirty="0">
                <a:ln>
                  <a:noFill/>
                </a:ln>
                <a:solidFill>
                  <a:schemeClr val="tx1"/>
                </a:solidFill>
                <a:effectLst/>
                <a:sym typeface="Wingdings" panose="05000000000000000000" pitchFamily="2" charset="2"/>
              </a:rPr>
              <a:t>confidence</a:t>
            </a:r>
            <a:r>
              <a:rPr kumimoji="0" lang="en-US" altLang="en-US" b="0" i="0" u="none" strike="noStrike" cap="none" normalizeH="0" baseline="0" dirty="0">
                <a:ln>
                  <a:noFill/>
                </a:ln>
                <a:solidFill>
                  <a:schemeClr val="tx1"/>
                </a:solidFill>
                <a:effectLst/>
                <a:sym typeface="Wingdings" panose="05000000000000000000" pitchFamily="2" charset="2"/>
              </a:rPr>
              <a:t>“ variable</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err="1">
                <a:ln>
                  <a:noFill/>
                </a:ln>
                <a:solidFill>
                  <a:schemeClr val="tx1"/>
                </a:solidFill>
                <a:effectLst/>
                <a:latin typeface="Arial Unicode MS"/>
              </a:rPr>
              <a:t>resultsxyz</a:t>
            </a:r>
            <a:r>
              <a:rPr kumimoji="0" lang="en-US" altLang="en-US" b="1" i="0" u="none" strike="noStrike" cap="none" normalizeH="0" baseline="0" dirty="0">
                <a:ln>
                  <a:noFill/>
                </a:ln>
                <a:solidFill>
                  <a:schemeClr val="tx1"/>
                </a:solidFill>
                <a:effectLst/>
                <a:latin typeface="Arial Unicode MS"/>
              </a:rPr>
              <a:t>[0].show() </a:t>
            </a:r>
            <a:r>
              <a:rPr kumimoji="0" lang="en-US" altLang="en-US" b="0" i="0" u="none" strike="noStrike" cap="none" normalizeH="0" baseline="0" dirty="0">
                <a:ln>
                  <a:noFill/>
                </a:ln>
                <a:solidFill>
                  <a:schemeClr val="tx1"/>
                </a:solidFill>
                <a:effectLst/>
              </a:rPr>
              <a:t>→ To show the </a:t>
            </a:r>
            <a:r>
              <a:rPr kumimoji="0" lang="en-US" altLang="en-US" b="1" i="0" u="none" strike="noStrike" cap="none" normalizeH="0" baseline="0" dirty="0">
                <a:ln>
                  <a:noFill/>
                </a:ln>
                <a:solidFill>
                  <a:schemeClr val="tx1"/>
                </a:solidFill>
                <a:effectLst/>
              </a:rPr>
              <a:t>annotated image or video</a:t>
            </a:r>
            <a:r>
              <a:rPr kumimoji="0" lang="en-US" altLang="en-US" b="0" i="0" u="none" strike="noStrike" cap="none" normalizeH="0" baseline="0" dirty="0">
                <a:ln>
                  <a:noFill/>
                </a:ln>
                <a:solidFill>
                  <a:schemeClr val="tx1"/>
                </a:solidFill>
                <a:effectLst/>
              </a:rPr>
              <a:t> after the analysis in a </a:t>
            </a:r>
            <a:r>
              <a:rPr kumimoji="0" lang="en-US" altLang="en-US" b="1" i="0" u="sng" strike="noStrike" cap="none" normalizeH="0" baseline="0" dirty="0">
                <a:ln>
                  <a:noFill/>
                </a:ln>
                <a:solidFill>
                  <a:schemeClr val="tx1"/>
                </a:solidFill>
                <a:effectLst/>
              </a:rPr>
              <a:t>temporary window</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err="1">
                <a:ln>
                  <a:noFill/>
                </a:ln>
                <a:solidFill>
                  <a:schemeClr val="tx1"/>
                </a:solidFill>
                <a:effectLst/>
                <a:latin typeface="Arial Unicode MS"/>
              </a:rPr>
              <a:t>resultsxyz</a:t>
            </a:r>
            <a:r>
              <a:rPr kumimoji="0" lang="en-US" altLang="en-US" b="1" i="0" u="none" strike="noStrike" cap="none" normalizeH="0" baseline="0" dirty="0">
                <a:ln>
                  <a:noFill/>
                </a:ln>
                <a:solidFill>
                  <a:schemeClr val="tx1"/>
                </a:solidFill>
                <a:effectLst/>
                <a:latin typeface="Arial Unicode MS"/>
              </a:rPr>
              <a:t>[0].save(“__/__</a:t>
            </a:r>
            <a:r>
              <a:rPr lang="en-US" altLang="en-US" b="1" dirty="0">
                <a:solidFill>
                  <a:schemeClr val="tx1"/>
                </a:solidFill>
                <a:latin typeface="Arial Unicode MS"/>
              </a:rPr>
              <a:t>.</a:t>
            </a:r>
            <a:r>
              <a:rPr lang="en-US" altLang="en-US" b="1" dirty="0" err="1">
                <a:solidFill>
                  <a:schemeClr val="tx1"/>
                </a:solidFill>
                <a:latin typeface="Arial Unicode MS"/>
              </a:rPr>
              <a:t>xyz</a:t>
            </a:r>
            <a:r>
              <a:rPr kumimoji="0" lang="en-US" altLang="en-US" b="1" i="0" u="none" strike="noStrike" cap="none" normalizeH="0" baseline="0" dirty="0">
                <a:ln>
                  <a:noFill/>
                </a:ln>
                <a:solidFill>
                  <a:schemeClr val="tx1"/>
                </a:solidFill>
                <a:effectLst/>
                <a:latin typeface="Arial Unicode MS"/>
              </a:rPr>
              <a:t>") </a:t>
            </a:r>
            <a:r>
              <a:rPr kumimoji="0" lang="en-US" altLang="en-US" b="0" i="0" u="none" strike="noStrike" cap="none" normalizeH="0" baseline="0" dirty="0">
                <a:ln>
                  <a:noFill/>
                </a:ln>
                <a:solidFill>
                  <a:schemeClr val="tx1"/>
                </a:solidFill>
                <a:effectLst/>
              </a:rPr>
              <a:t>→ To save the annotated image or video ( .JPG or .MP4 ) in an address. </a:t>
            </a:r>
            <a:endParaRPr lang="en-US" dirty="0"/>
          </a:p>
        </p:txBody>
      </p:sp>
    </p:spTree>
    <p:extLst>
      <p:ext uri="{BB962C8B-B14F-4D97-AF65-F5344CB8AC3E}">
        <p14:creationId xmlns:p14="http://schemas.microsoft.com/office/powerpoint/2010/main" val="19325046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7F9CB-E1FE-80BF-0B94-4BA6D1C49A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E43FE2-EBCD-3E4B-7FC4-82828DEAA50E}"/>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3A06A33E-4581-DFCD-5C0B-03D38E70888B}"/>
              </a:ext>
            </a:extLst>
          </p:cNvPr>
          <p:cNvSpPr>
            <a:spLocks noGrp="1"/>
          </p:cNvSpPr>
          <p:nvPr>
            <p:ph type="body" idx="1"/>
          </p:nvPr>
        </p:nvSpPr>
        <p:spPr>
          <a:xfrm>
            <a:off x="344010" y="1600200"/>
            <a:ext cx="11582400" cy="646331"/>
          </a:xfrm>
        </p:spPr>
        <p:txBody>
          <a:bodyPr/>
          <a:lstStyle/>
          <a:p>
            <a:pPr algn="ctr"/>
            <a:r>
              <a:rPr lang="en-US" sz="2400" b="1" u="sng" dirty="0"/>
              <a:t>Training using your Data</a:t>
            </a:r>
          </a:p>
          <a:p>
            <a:pPr algn="l"/>
            <a:r>
              <a:rPr lang="en-US" dirty="0"/>
              <a:t> </a:t>
            </a:r>
            <a:endParaRPr lang="en-US" i="1" dirty="0">
              <a:solidFill>
                <a:srgbClr val="0000FF"/>
              </a:solidFill>
            </a:endParaRPr>
          </a:p>
        </p:txBody>
      </p:sp>
      <p:pic>
        <p:nvPicPr>
          <p:cNvPr id="5" name="Picture 4">
            <a:extLst>
              <a:ext uri="{FF2B5EF4-FFF2-40B4-BE49-F238E27FC236}">
                <a16:creationId xmlns:a16="http://schemas.microsoft.com/office/drawing/2014/main" id="{FBD7B4EC-4FF6-475A-FBD8-D5EB6FDF07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6000" y="3200400"/>
            <a:ext cx="5791200" cy="3257550"/>
          </a:xfrm>
          <a:prstGeom prst="rect">
            <a:avLst/>
          </a:prstGeom>
        </p:spPr>
      </p:pic>
      <p:sp>
        <p:nvSpPr>
          <p:cNvPr id="6" name="TextBox 5">
            <a:extLst>
              <a:ext uri="{FF2B5EF4-FFF2-40B4-BE49-F238E27FC236}">
                <a16:creationId xmlns:a16="http://schemas.microsoft.com/office/drawing/2014/main" id="{D2AB3670-1EEA-4F23-F28E-8FEBFDC05DD6}"/>
              </a:ext>
            </a:extLst>
          </p:cNvPr>
          <p:cNvSpPr txBox="1"/>
          <p:nvPr/>
        </p:nvSpPr>
        <p:spPr>
          <a:xfrm>
            <a:off x="381000" y="2163794"/>
            <a:ext cx="11734800" cy="923330"/>
          </a:xfrm>
          <a:prstGeom prst="rect">
            <a:avLst/>
          </a:prstGeom>
          <a:noFill/>
        </p:spPr>
        <p:txBody>
          <a:bodyPr wrap="square" rtlCol="0">
            <a:spAutoFit/>
          </a:bodyPr>
          <a:lstStyle/>
          <a:p>
            <a:r>
              <a:rPr lang="en-US" b="1" u="sng" dirty="0"/>
              <a:t>YOLOv8</a:t>
            </a:r>
            <a:r>
              <a:rPr lang="en-US" dirty="0"/>
              <a:t> can only detect objects that it was trained for by default. But to make the drone detect </a:t>
            </a:r>
            <a:r>
              <a:rPr lang="en-US" b="1" dirty="0"/>
              <a:t>Smiley balls</a:t>
            </a:r>
            <a:r>
              <a:rPr lang="en-US" dirty="0"/>
              <a:t> or </a:t>
            </a:r>
            <a:r>
              <a:rPr lang="en-US" b="1" dirty="0"/>
              <a:t>specific obstacles</a:t>
            </a:r>
            <a:r>
              <a:rPr lang="en-US" dirty="0"/>
              <a:t>, we must train YOLOv8 with images of those objects. Pre-trained models are available online, but if there is a more specific dataset which is not available online, we need to make our own trained model</a:t>
            </a:r>
          </a:p>
        </p:txBody>
      </p:sp>
      <p:sp>
        <p:nvSpPr>
          <p:cNvPr id="7" name="TextBox 6">
            <a:extLst>
              <a:ext uri="{FF2B5EF4-FFF2-40B4-BE49-F238E27FC236}">
                <a16:creationId xmlns:a16="http://schemas.microsoft.com/office/drawing/2014/main" id="{14701EED-4364-7C0E-E6FF-8B48641D5D8B}"/>
              </a:ext>
            </a:extLst>
          </p:cNvPr>
          <p:cNvSpPr txBox="1"/>
          <p:nvPr/>
        </p:nvSpPr>
        <p:spPr>
          <a:xfrm>
            <a:off x="304800" y="3226777"/>
            <a:ext cx="5638800" cy="2308324"/>
          </a:xfrm>
          <a:prstGeom prst="rect">
            <a:avLst/>
          </a:prstGeom>
          <a:noFill/>
        </p:spPr>
        <p:txBody>
          <a:bodyPr wrap="square" rtlCol="0">
            <a:spAutoFit/>
          </a:bodyPr>
          <a:lstStyle/>
          <a:p>
            <a:r>
              <a:rPr lang="en-US" b="1" u="sng" dirty="0"/>
              <a:t>Steps- </a:t>
            </a:r>
          </a:p>
          <a:p>
            <a:endParaRPr lang="en-US" dirty="0"/>
          </a:p>
          <a:p>
            <a:pPr marL="285750" indent="-285750">
              <a:buFont typeface="Arial" panose="020B0604020202020204" pitchFamily="34" charset="0"/>
              <a:buChar char="•"/>
            </a:pPr>
            <a:r>
              <a:rPr lang="en-US" dirty="0"/>
              <a:t>Download all the programs needed</a:t>
            </a:r>
          </a:p>
          <a:p>
            <a:pPr marL="285750" indent="-285750">
              <a:buFont typeface="Arial" panose="020B0604020202020204" pitchFamily="34" charset="0"/>
              <a:buChar char="•"/>
            </a:pPr>
            <a:r>
              <a:rPr lang="en-US" dirty="0"/>
              <a:t>Collect images (20 – 200 images) of the data</a:t>
            </a:r>
          </a:p>
          <a:p>
            <a:pPr marL="285750" indent="-285750">
              <a:buFont typeface="Arial" panose="020B0604020202020204" pitchFamily="34" charset="0"/>
              <a:buChar char="•"/>
            </a:pPr>
            <a:r>
              <a:rPr lang="en-US" dirty="0"/>
              <a:t>Label (Annotating)</a:t>
            </a:r>
          </a:p>
          <a:p>
            <a:pPr marL="285750" indent="-285750">
              <a:buFont typeface="Arial" panose="020B0604020202020204" pitchFamily="34" charset="0"/>
              <a:buChar char="•"/>
            </a:pPr>
            <a:r>
              <a:rPr lang="en-US" dirty="0"/>
              <a:t>Setup Repository </a:t>
            </a:r>
          </a:p>
          <a:p>
            <a:pPr marL="285750" indent="-285750">
              <a:buFont typeface="Arial" panose="020B0604020202020204" pitchFamily="34" charset="0"/>
              <a:buChar char="•"/>
            </a:pPr>
            <a:r>
              <a:rPr lang="en-US" dirty="0"/>
              <a:t>Training the Model</a:t>
            </a:r>
          </a:p>
          <a:p>
            <a:pPr marL="285750" indent="-285750">
              <a:buFont typeface="Arial" panose="020B0604020202020204" pitchFamily="34" charset="0"/>
              <a:buChar char="•"/>
            </a:pPr>
            <a:r>
              <a:rPr lang="en-US" dirty="0"/>
              <a:t>Running the Model on Images &amp; Live Video Feed</a:t>
            </a:r>
          </a:p>
        </p:txBody>
      </p:sp>
    </p:spTree>
    <p:extLst>
      <p:ext uri="{BB962C8B-B14F-4D97-AF65-F5344CB8AC3E}">
        <p14:creationId xmlns:p14="http://schemas.microsoft.com/office/powerpoint/2010/main" val="5087372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A2EA0-66F1-DFB1-A11A-46BFBB801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D52F7-E7D1-64F2-110C-E934F635C637}"/>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1481215A-C454-B75F-C193-8B659DB88470}"/>
              </a:ext>
            </a:extLst>
          </p:cNvPr>
          <p:cNvSpPr>
            <a:spLocks noGrp="1"/>
          </p:cNvSpPr>
          <p:nvPr>
            <p:ph type="body" idx="1"/>
          </p:nvPr>
        </p:nvSpPr>
        <p:spPr>
          <a:xfrm>
            <a:off x="344010" y="1600200"/>
            <a:ext cx="11582400" cy="646331"/>
          </a:xfrm>
        </p:spPr>
        <p:txBody>
          <a:bodyPr/>
          <a:lstStyle/>
          <a:p>
            <a:pPr algn="ctr"/>
            <a:r>
              <a:rPr lang="en-US" sz="2400" b="1" u="sng" dirty="0"/>
              <a:t>Training using your Data</a:t>
            </a:r>
          </a:p>
          <a:p>
            <a:pPr algn="l"/>
            <a:r>
              <a:rPr lang="en-US" dirty="0"/>
              <a:t> </a:t>
            </a:r>
            <a:endParaRPr lang="en-US" i="1" dirty="0">
              <a:solidFill>
                <a:srgbClr val="0000FF"/>
              </a:solidFill>
            </a:endParaRPr>
          </a:p>
        </p:txBody>
      </p:sp>
      <p:sp>
        <p:nvSpPr>
          <p:cNvPr id="6" name="TextBox 5">
            <a:extLst>
              <a:ext uri="{FF2B5EF4-FFF2-40B4-BE49-F238E27FC236}">
                <a16:creationId xmlns:a16="http://schemas.microsoft.com/office/drawing/2014/main" id="{DFDA3A2F-258C-765C-17A3-84E8C45EA9A9}"/>
              </a:ext>
            </a:extLst>
          </p:cNvPr>
          <p:cNvSpPr txBox="1"/>
          <p:nvPr/>
        </p:nvSpPr>
        <p:spPr>
          <a:xfrm>
            <a:off x="381000" y="2163794"/>
            <a:ext cx="11734800" cy="1200329"/>
          </a:xfrm>
          <a:prstGeom prst="rect">
            <a:avLst/>
          </a:prstGeom>
          <a:noFill/>
        </p:spPr>
        <p:txBody>
          <a:bodyPr wrap="square" rtlCol="0">
            <a:spAutoFit/>
          </a:bodyPr>
          <a:lstStyle/>
          <a:p>
            <a:r>
              <a:rPr lang="en-US" b="1" u="sng" dirty="0"/>
              <a:t>YOLOv8</a:t>
            </a:r>
            <a:r>
              <a:rPr lang="en-US" dirty="0"/>
              <a:t> has many pre-trained models that are available online. Users have trained YOLOv8 on many different types of data, from airplanes to cars, musical instruments and many more. If we need a pre-trained model on </a:t>
            </a:r>
            <a:r>
              <a:rPr lang="en-US" b="1" dirty="0"/>
              <a:t>Smiley Ball</a:t>
            </a:r>
            <a:r>
              <a:rPr lang="en-US" dirty="0"/>
              <a:t> online, we can search for one on the </a:t>
            </a:r>
            <a:r>
              <a:rPr lang="en-US" b="1" dirty="0" err="1"/>
              <a:t>Roboflow</a:t>
            </a:r>
            <a:r>
              <a:rPr lang="en-US" dirty="0"/>
              <a:t> website. It gives free datasets uploaded by users. We can train using that in </a:t>
            </a:r>
            <a:r>
              <a:rPr lang="en-US" b="1" dirty="0"/>
              <a:t>“Google </a:t>
            </a:r>
            <a:r>
              <a:rPr lang="en-US" b="1" dirty="0" err="1"/>
              <a:t>Colab</a:t>
            </a:r>
            <a:r>
              <a:rPr lang="en-US" b="1" dirty="0"/>
              <a:t>” </a:t>
            </a:r>
            <a:r>
              <a:rPr lang="en-US" dirty="0"/>
              <a:t>and get the </a:t>
            </a:r>
            <a:r>
              <a:rPr lang="en-US" b="1" dirty="0"/>
              <a:t>“best.pt”</a:t>
            </a:r>
          </a:p>
        </p:txBody>
      </p:sp>
      <p:pic>
        <p:nvPicPr>
          <p:cNvPr id="8" name="Picture 7">
            <a:extLst>
              <a:ext uri="{FF2B5EF4-FFF2-40B4-BE49-F238E27FC236}">
                <a16:creationId xmlns:a16="http://schemas.microsoft.com/office/drawing/2014/main" id="{1DDBC94C-4B75-0E0B-9434-1D566B5836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755" y="3523076"/>
            <a:ext cx="4907783" cy="2580544"/>
          </a:xfrm>
          <a:prstGeom prst="rect">
            <a:avLst/>
          </a:prstGeom>
        </p:spPr>
      </p:pic>
      <p:pic>
        <p:nvPicPr>
          <p:cNvPr id="10" name="Picture 9">
            <a:extLst>
              <a:ext uri="{FF2B5EF4-FFF2-40B4-BE49-F238E27FC236}">
                <a16:creationId xmlns:a16="http://schemas.microsoft.com/office/drawing/2014/main" id="{CBEEE7DB-0927-B44D-C7BB-32DCB5F478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5600" y="3364123"/>
            <a:ext cx="4116730" cy="2739497"/>
          </a:xfrm>
          <a:prstGeom prst="rect">
            <a:avLst/>
          </a:prstGeom>
        </p:spPr>
      </p:pic>
    </p:spTree>
    <p:extLst>
      <p:ext uri="{BB962C8B-B14F-4D97-AF65-F5344CB8AC3E}">
        <p14:creationId xmlns:p14="http://schemas.microsoft.com/office/powerpoint/2010/main" val="42492094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3BB2E-9858-CDE5-F742-4641FCABE6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132B3-CBE8-660A-E8EE-FD75B043DDB0}"/>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0D02155D-9B02-CBCE-1395-2F1B41028BD3}"/>
              </a:ext>
            </a:extLst>
          </p:cNvPr>
          <p:cNvSpPr>
            <a:spLocks noGrp="1"/>
          </p:cNvSpPr>
          <p:nvPr>
            <p:ph type="body" idx="1"/>
          </p:nvPr>
        </p:nvSpPr>
        <p:spPr>
          <a:xfrm>
            <a:off x="344010" y="1600200"/>
            <a:ext cx="11582400" cy="646331"/>
          </a:xfrm>
        </p:spPr>
        <p:txBody>
          <a:bodyPr/>
          <a:lstStyle/>
          <a:p>
            <a:pPr algn="ctr"/>
            <a:r>
              <a:rPr lang="en-US" sz="2400" b="1" u="sng" dirty="0"/>
              <a:t>Training using your Data</a:t>
            </a:r>
          </a:p>
          <a:p>
            <a:pPr algn="l"/>
            <a:r>
              <a:rPr lang="en-US" dirty="0"/>
              <a:t> </a:t>
            </a:r>
            <a:endParaRPr lang="en-US" i="1" dirty="0">
              <a:solidFill>
                <a:srgbClr val="0000FF"/>
              </a:solidFill>
            </a:endParaRPr>
          </a:p>
        </p:txBody>
      </p:sp>
      <p:sp>
        <p:nvSpPr>
          <p:cNvPr id="6" name="TextBox 5">
            <a:extLst>
              <a:ext uri="{FF2B5EF4-FFF2-40B4-BE49-F238E27FC236}">
                <a16:creationId xmlns:a16="http://schemas.microsoft.com/office/drawing/2014/main" id="{BCD2C780-3347-3505-1923-D5C53C0EBD78}"/>
              </a:ext>
            </a:extLst>
          </p:cNvPr>
          <p:cNvSpPr txBox="1"/>
          <p:nvPr/>
        </p:nvSpPr>
        <p:spPr>
          <a:xfrm>
            <a:off x="381000" y="2163794"/>
            <a:ext cx="11734800" cy="923330"/>
          </a:xfrm>
          <a:prstGeom prst="rect">
            <a:avLst/>
          </a:prstGeom>
          <a:noFill/>
        </p:spPr>
        <p:txBody>
          <a:bodyPr wrap="square" rtlCol="0">
            <a:spAutoFit/>
          </a:bodyPr>
          <a:lstStyle/>
          <a:p>
            <a:r>
              <a:rPr lang="en-US" b="1" u="sng" dirty="0" err="1"/>
              <a:t>Roboflow</a:t>
            </a:r>
            <a:r>
              <a:rPr lang="en-US" b="1" u="sng" dirty="0"/>
              <a:t>-</a:t>
            </a:r>
            <a:r>
              <a:rPr lang="en-US" dirty="0"/>
              <a:t> You can explore thousands of publicly available </a:t>
            </a:r>
            <a:r>
              <a:rPr lang="en-US" b="1" dirty="0"/>
              <a:t>datasets</a:t>
            </a:r>
            <a:r>
              <a:rPr lang="en-US" dirty="0"/>
              <a:t> on </a:t>
            </a:r>
            <a:r>
              <a:rPr lang="en-US" b="1" dirty="0" err="1"/>
              <a:t>Roboflow</a:t>
            </a:r>
            <a:r>
              <a:rPr lang="en-US" b="1" dirty="0"/>
              <a:t> Universe</a:t>
            </a:r>
            <a:r>
              <a:rPr lang="en-US" dirty="0"/>
              <a:t>, download them as YOLOv8 weights (</a:t>
            </a:r>
            <a:r>
              <a:rPr lang="en-US" b="1" dirty="0"/>
              <a:t>best.pt</a:t>
            </a:r>
            <a:r>
              <a:rPr lang="en-US" dirty="0"/>
              <a:t>), and use them directly for your own detection tasks. These are available in the </a:t>
            </a:r>
            <a:r>
              <a:rPr lang="en-US" b="1" dirty="0" err="1"/>
              <a:t>Roboflow</a:t>
            </a:r>
            <a:r>
              <a:rPr lang="en-US" b="1" dirty="0"/>
              <a:t> Universe</a:t>
            </a:r>
            <a:r>
              <a:rPr lang="en-US" dirty="0"/>
              <a:t>. You can search up your desired dataset. </a:t>
            </a:r>
            <a:r>
              <a:rPr lang="en-US" b="1" dirty="0"/>
              <a:t>Make sure you select YOLOv8 in the filters</a:t>
            </a:r>
          </a:p>
        </p:txBody>
      </p:sp>
      <p:pic>
        <p:nvPicPr>
          <p:cNvPr id="5" name="Picture 4">
            <a:extLst>
              <a:ext uri="{FF2B5EF4-FFF2-40B4-BE49-F238E27FC236}">
                <a16:creationId xmlns:a16="http://schemas.microsoft.com/office/drawing/2014/main" id="{0CCFE70E-6769-B2C4-3257-51B1BEF10193}"/>
              </a:ext>
            </a:extLst>
          </p:cNvPr>
          <p:cNvPicPr>
            <a:picLocks noChangeAspect="1"/>
          </p:cNvPicPr>
          <p:nvPr/>
        </p:nvPicPr>
        <p:blipFill>
          <a:blip r:embed="rId2"/>
          <a:stretch>
            <a:fillRect/>
          </a:stretch>
        </p:blipFill>
        <p:spPr>
          <a:xfrm>
            <a:off x="3241810" y="3229974"/>
            <a:ext cx="5708380" cy="2868053"/>
          </a:xfrm>
          <a:prstGeom prst="rect">
            <a:avLst/>
          </a:prstGeom>
        </p:spPr>
      </p:pic>
    </p:spTree>
    <p:extLst>
      <p:ext uri="{BB962C8B-B14F-4D97-AF65-F5344CB8AC3E}">
        <p14:creationId xmlns:p14="http://schemas.microsoft.com/office/powerpoint/2010/main" val="10523576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BD78F-0BD6-E579-5B78-37C322BF2A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AB8103-33D8-40B5-16B3-B1888421B08C}"/>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616FFC2E-C8DF-4881-2DA5-DD5C653D6DA8}"/>
              </a:ext>
            </a:extLst>
          </p:cNvPr>
          <p:cNvSpPr>
            <a:spLocks noGrp="1"/>
          </p:cNvSpPr>
          <p:nvPr>
            <p:ph type="body" idx="1"/>
          </p:nvPr>
        </p:nvSpPr>
        <p:spPr>
          <a:xfrm>
            <a:off x="344010" y="1600200"/>
            <a:ext cx="11582400" cy="646331"/>
          </a:xfrm>
        </p:spPr>
        <p:txBody>
          <a:bodyPr/>
          <a:lstStyle/>
          <a:p>
            <a:pPr algn="ctr"/>
            <a:r>
              <a:rPr lang="en-US" sz="2400" b="1" u="sng" dirty="0"/>
              <a:t>Training using your Data</a:t>
            </a:r>
          </a:p>
          <a:p>
            <a:pPr algn="l"/>
            <a:r>
              <a:rPr lang="en-US" dirty="0"/>
              <a:t> </a:t>
            </a:r>
            <a:endParaRPr lang="en-US" i="1" dirty="0">
              <a:solidFill>
                <a:srgbClr val="0000FF"/>
              </a:solidFill>
            </a:endParaRPr>
          </a:p>
        </p:txBody>
      </p:sp>
      <p:sp>
        <p:nvSpPr>
          <p:cNvPr id="6" name="TextBox 5">
            <a:extLst>
              <a:ext uri="{FF2B5EF4-FFF2-40B4-BE49-F238E27FC236}">
                <a16:creationId xmlns:a16="http://schemas.microsoft.com/office/drawing/2014/main" id="{F1DEAF97-0CE9-09AC-72FF-0AAF0CB3709D}"/>
              </a:ext>
            </a:extLst>
          </p:cNvPr>
          <p:cNvSpPr txBox="1"/>
          <p:nvPr/>
        </p:nvSpPr>
        <p:spPr>
          <a:xfrm>
            <a:off x="0" y="2163794"/>
            <a:ext cx="12115800" cy="923330"/>
          </a:xfrm>
          <a:prstGeom prst="rect">
            <a:avLst/>
          </a:prstGeom>
          <a:noFill/>
        </p:spPr>
        <p:txBody>
          <a:bodyPr wrap="square" rtlCol="0">
            <a:spAutoFit/>
          </a:bodyPr>
          <a:lstStyle/>
          <a:p>
            <a:r>
              <a:rPr lang="en-US" b="1" u="sng" dirty="0" err="1"/>
              <a:t>Roboflow</a:t>
            </a:r>
            <a:r>
              <a:rPr lang="en-US" b="1" u="sng" dirty="0"/>
              <a:t>-</a:t>
            </a:r>
            <a:r>
              <a:rPr lang="en-US" dirty="0"/>
              <a:t> Choose only the ones with the image count of upwards of 1,000. These datasets below are few examples.</a:t>
            </a:r>
          </a:p>
          <a:p>
            <a:r>
              <a:rPr lang="en-US" dirty="0"/>
              <a:t> </a:t>
            </a:r>
          </a:p>
          <a:p>
            <a:pPr algn="ctr"/>
            <a:r>
              <a:rPr lang="en-US" b="1" dirty="0"/>
              <a:t>More the Images, Better the Recognition</a:t>
            </a:r>
          </a:p>
        </p:txBody>
      </p:sp>
      <p:pic>
        <p:nvPicPr>
          <p:cNvPr id="7" name="Picture 6">
            <a:extLst>
              <a:ext uri="{FF2B5EF4-FFF2-40B4-BE49-F238E27FC236}">
                <a16:creationId xmlns:a16="http://schemas.microsoft.com/office/drawing/2014/main" id="{64B692AB-6937-5131-D6CD-45B2CDCBC305}"/>
              </a:ext>
            </a:extLst>
          </p:cNvPr>
          <p:cNvPicPr>
            <a:picLocks noChangeAspect="1"/>
          </p:cNvPicPr>
          <p:nvPr/>
        </p:nvPicPr>
        <p:blipFill>
          <a:blip r:embed="rId2"/>
          <a:stretch>
            <a:fillRect/>
          </a:stretch>
        </p:blipFill>
        <p:spPr>
          <a:xfrm>
            <a:off x="0" y="3505200"/>
            <a:ext cx="12192000" cy="2848662"/>
          </a:xfrm>
          <a:prstGeom prst="rect">
            <a:avLst/>
          </a:prstGeom>
        </p:spPr>
      </p:pic>
      <p:cxnSp>
        <p:nvCxnSpPr>
          <p:cNvPr id="8" name="Straight Arrow Connector 7">
            <a:extLst>
              <a:ext uri="{FF2B5EF4-FFF2-40B4-BE49-F238E27FC236}">
                <a16:creationId xmlns:a16="http://schemas.microsoft.com/office/drawing/2014/main" id="{2F940E9E-0B4B-0ADB-7ABD-375DC0CFF668}"/>
              </a:ext>
            </a:extLst>
          </p:cNvPr>
          <p:cNvCxnSpPr>
            <a:cxnSpLocks/>
          </p:cNvCxnSpPr>
          <p:nvPr/>
        </p:nvCxnSpPr>
        <p:spPr>
          <a:xfrm flipH="1">
            <a:off x="7086600" y="5867400"/>
            <a:ext cx="1752600"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299341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29F46-5CEB-6FE5-A168-3E409BE994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CC6202-6E2E-E18F-0ACF-318BB59E90F2}"/>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D9D3FF20-69F8-7AAB-136F-581B0F1B7CA4}"/>
              </a:ext>
            </a:extLst>
          </p:cNvPr>
          <p:cNvSpPr>
            <a:spLocks noGrp="1"/>
          </p:cNvSpPr>
          <p:nvPr>
            <p:ph type="body" idx="1"/>
          </p:nvPr>
        </p:nvSpPr>
        <p:spPr>
          <a:xfrm>
            <a:off x="344010" y="1600200"/>
            <a:ext cx="11582400" cy="646331"/>
          </a:xfrm>
        </p:spPr>
        <p:txBody>
          <a:bodyPr/>
          <a:lstStyle/>
          <a:p>
            <a:pPr algn="ctr"/>
            <a:r>
              <a:rPr lang="en-US" sz="2400" b="1" u="sng" dirty="0"/>
              <a:t>Training using your Data</a:t>
            </a:r>
          </a:p>
          <a:p>
            <a:pPr algn="l"/>
            <a:r>
              <a:rPr lang="en-US" dirty="0"/>
              <a:t> </a:t>
            </a:r>
            <a:endParaRPr lang="en-US" i="1" dirty="0">
              <a:solidFill>
                <a:srgbClr val="0000FF"/>
              </a:solidFill>
            </a:endParaRPr>
          </a:p>
        </p:txBody>
      </p:sp>
      <p:sp>
        <p:nvSpPr>
          <p:cNvPr id="6" name="TextBox 5">
            <a:extLst>
              <a:ext uri="{FF2B5EF4-FFF2-40B4-BE49-F238E27FC236}">
                <a16:creationId xmlns:a16="http://schemas.microsoft.com/office/drawing/2014/main" id="{7AF7B6EF-120B-BEBC-A466-6715C3EE5060}"/>
              </a:ext>
            </a:extLst>
          </p:cNvPr>
          <p:cNvSpPr txBox="1"/>
          <p:nvPr/>
        </p:nvSpPr>
        <p:spPr>
          <a:xfrm>
            <a:off x="265590" y="2092726"/>
            <a:ext cx="11658600" cy="646331"/>
          </a:xfrm>
          <a:prstGeom prst="rect">
            <a:avLst/>
          </a:prstGeom>
          <a:noFill/>
        </p:spPr>
        <p:txBody>
          <a:bodyPr wrap="square" rtlCol="0">
            <a:spAutoFit/>
          </a:bodyPr>
          <a:lstStyle/>
          <a:p>
            <a:r>
              <a:rPr lang="en-US" b="1" u="sng" dirty="0" err="1"/>
              <a:t>Roboflow</a:t>
            </a:r>
            <a:r>
              <a:rPr lang="en-US" b="1" u="sng" dirty="0"/>
              <a:t>-</a:t>
            </a:r>
            <a:r>
              <a:rPr lang="en-US" dirty="0"/>
              <a:t> Once you chose the one that you like, you can click on it and it will take you to the dataset profile, click on the </a:t>
            </a:r>
            <a:r>
              <a:rPr lang="en-US" b="1" dirty="0"/>
              <a:t>“datasets” </a:t>
            </a:r>
            <a:r>
              <a:rPr lang="en-US" dirty="0"/>
              <a:t>option in the left-hand side. Then chose the </a:t>
            </a:r>
            <a:r>
              <a:rPr lang="en-US" b="1" dirty="0"/>
              <a:t>YOLOv8</a:t>
            </a:r>
            <a:r>
              <a:rPr lang="en-US" dirty="0"/>
              <a:t> option.</a:t>
            </a:r>
          </a:p>
        </p:txBody>
      </p:sp>
      <p:pic>
        <p:nvPicPr>
          <p:cNvPr id="10" name="Picture 9">
            <a:extLst>
              <a:ext uri="{FF2B5EF4-FFF2-40B4-BE49-F238E27FC236}">
                <a16:creationId xmlns:a16="http://schemas.microsoft.com/office/drawing/2014/main" id="{7105E0C2-DA16-4F88-4C54-D6A0FDB39CF2}"/>
              </a:ext>
            </a:extLst>
          </p:cNvPr>
          <p:cNvPicPr>
            <a:picLocks noChangeAspect="1"/>
          </p:cNvPicPr>
          <p:nvPr/>
        </p:nvPicPr>
        <p:blipFill>
          <a:blip r:embed="rId2"/>
          <a:stretch>
            <a:fillRect/>
          </a:stretch>
        </p:blipFill>
        <p:spPr>
          <a:xfrm>
            <a:off x="381000" y="3095756"/>
            <a:ext cx="1350302" cy="3031428"/>
          </a:xfrm>
          <a:prstGeom prst="rect">
            <a:avLst/>
          </a:prstGeom>
        </p:spPr>
      </p:pic>
      <p:cxnSp>
        <p:nvCxnSpPr>
          <p:cNvPr id="11" name="Straight Arrow Connector 10">
            <a:extLst>
              <a:ext uri="{FF2B5EF4-FFF2-40B4-BE49-F238E27FC236}">
                <a16:creationId xmlns:a16="http://schemas.microsoft.com/office/drawing/2014/main" id="{489D827A-5A7E-7CBB-DF7B-94DE6737A22A}"/>
              </a:ext>
            </a:extLst>
          </p:cNvPr>
          <p:cNvCxnSpPr>
            <a:cxnSpLocks/>
          </p:cNvCxnSpPr>
          <p:nvPr/>
        </p:nvCxnSpPr>
        <p:spPr>
          <a:xfrm flipH="1">
            <a:off x="1600200" y="4495800"/>
            <a:ext cx="1066800"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pic>
        <p:nvPicPr>
          <p:cNvPr id="14" name="Picture 13">
            <a:extLst>
              <a:ext uri="{FF2B5EF4-FFF2-40B4-BE49-F238E27FC236}">
                <a16:creationId xmlns:a16="http://schemas.microsoft.com/office/drawing/2014/main" id="{0BB5FDBC-C52C-6ED1-FC6F-23D1DB19F7C9}"/>
              </a:ext>
            </a:extLst>
          </p:cNvPr>
          <p:cNvPicPr>
            <a:picLocks noChangeAspect="1"/>
          </p:cNvPicPr>
          <p:nvPr/>
        </p:nvPicPr>
        <p:blipFill>
          <a:blip r:embed="rId3"/>
          <a:stretch>
            <a:fillRect/>
          </a:stretch>
        </p:blipFill>
        <p:spPr>
          <a:xfrm>
            <a:off x="4572000" y="3602029"/>
            <a:ext cx="7115934" cy="2018882"/>
          </a:xfrm>
          <a:prstGeom prst="rect">
            <a:avLst/>
          </a:prstGeom>
        </p:spPr>
      </p:pic>
      <p:cxnSp>
        <p:nvCxnSpPr>
          <p:cNvPr id="15" name="Straight Arrow Connector 14">
            <a:extLst>
              <a:ext uri="{FF2B5EF4-FFF2-40B4-BE49-F238E27FC236}">
                <a16:creationId xmlns:a16="http://schemas.microsoft.com/office/drawing/2014/main" id="{8886029D-E2C6-CB47-58F8-9FC9EF7EDDC3}"/>
              </a:ext>
            </a:extLst>
          </p:cNvPr>
          <p:cNvCxnSpPr>
            <a:cxnSpLocks/>
          </p:cNvCxnSpPr>
          <p:nvPr/>
        </p:nvCxnSpPr>
        <p:spPr>
          <a:xfrm flipH="1">
            <a:off x="8686800" y="4267200"/>
            <a:ext cx="1066800"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531381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F1283-62CB-B4E4-7D1E-90EE9E948E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7592DD-3584-C746-D90F-76AA3A46C0AA}"/>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FC31CA10-336D-FDF9-FD40-D0B9BD0D70CC}"/>
              </a:ext>
            </a:extLst>
          </p:cNvPr>
          <p:cNvSpPr>
            <a:spLocks noGrp="1"/>
          </p:cNvSpPr>
          <p:nvPr>
            <p:ph type="body" idx="1"/>
          </p:nvPr>
        </p:nvSpPr>
        <p:spPr>
          <a:xfrm>
            <a:off x="344010" y="1600200"/>
            <a:ext cx="11582400" cy="646331"/>
          </a:xfrm>
        </p:spPr>
        <p:txBody>
          <a:bodyPr/>
          <a:lstStyle/>
          <a:p>
            <a:pPr algn="ctr"/>
            <a:r>
              <a:rPr lang="en-US" sz="2400" b="1" u="sng" dirty="0"/>
              <a:t>Training using your Data</a:t>
            </a:r>
          </a:p>
          <a:p>
            <a:pPr algn="l"/>
            <a:r>
              <a:rPr lang="en-US" dirty="0"/>
              <a:t> </a:t>
            </a:r>
            <a:endParaRPr lang="en-US" i="1" dirty="0">
              <a:solidFill>
                <a:srgbClr val="0000FF"/>
              </a:solidFill>
            </a:endParaRPr>
          </a:p>
        </p:txBody>
      </p:sp>
      <p:sp>
        <p:nvSpPr>
          <p:cNvPr id="6" name="TextBox 5">
            <a:extLst>
              <a:ext uri="{FF2B5EF4-FFF2-40B4-BE49-F238E27FC236}">
                <a16:creationId xmlns:a16="http://schemas.microsoft.com/office/drawing/2014/main" id="{0F9D7570-07A1-C301-38A1-4674DA760787}"/>
              </a:ext>
            </a:extLst>
          </p:cNvPr>
          <p:cNvSpPr txBox="1"/>
          <p:nvPr/>
        </p:nvSpPr>
        <p:spPr>
          <a:xfrm>
            <a:off x="265590" y="2092726"/>
            <a:ext cx="11658600" cy="923330"/>
          </a:xfrm>
          <a:prstGeom prst="rect">
            <a:avLst/>
          </a:prstGeom>
          <a:noFill/>
        </p:spPr>
        <p:txBody>
          <a:bodyPr wrap="square" rtlCol="0">
            <a:spAutoFit/>
          </a:bodyPr>
          <a:lstStyle/>
          <a:p>
            <a:r>
              <a:rPr lang="en-US" b="1" u="sng" dirty="0" err="1"/>
              <a:t>Roboflow</a:t>
            </a:r>
            <a:r>
              <a:rPr lang="en-US" b="1" u="sng" dirty="0"/>
              <a:t>-</a:t>
            </a:r>
            <a:r>
              <a:rPr lang="en-US" dirty="0"/>
              <a:t> Click on the </a:t>
            </a:r>
            <a:r>
              <a:rPr lang="en-US" b="1" dirty="0"/>
              <a:t>“Download dataset” </a:t>
            </a:r>
            <a:r>
              <a:rPr lang="en-US" dirty="0"/>
              <a:t>option, chose the </a:t>
            </a:r>
            <a:r>
              <a:rPr lang="en-US" b="1" dirty="0"/>
              <a:t>“Show Download Code” </a:t>
            </a:r>
            <a:r>
              <a:rPr lang="en-US" dirty="0"/>
              <a:t>option for the code with your own API key in it. By running this code in any IDE, you can download that dataset’s </a:t>
            </a:r>
            <a:r>
              <a:rPr lang="en-US" b="1" dirty="0"/>
              <a:t>“</a:t>
            </a:r>
            <a:r>
              <a:rPr lang="en-US" b="1" dirty="0" err="1"/>
              <a:t>data.yaml</a:t>
            </a:r>
            <a:r>
              <a:rPr lang="en-US" b="1" dirty="0"/>
              <a:t>” </a:t>
            </a:r>
            <a:r>
              <a:rPr lang="en-US" dirty="0"/>
              <a:t>file in the local IDE storage. Train the model using that </a:t>
            </a:r>
            <a:r>
              <a:rPr lang="en-US" b="1" dirty="0"/>
              <a:t>“</a:t>
            </a:r>
            <a:r>
              <a:rPr lang="en-US" b="1" dirty="0" err="1"/>
              <a:t>data.yaml</a:t>
            </a:r>
            <a:r>
              <a:rPr lang="en-US" b="1" dirty="0"/>
              <a:t>”</a:t>
            </a:r>
            <a:r>
              <a:rPr lang="en-US" dirty="0"/>
              <a:t> to get your own </a:t>
            </a:r>
            <a:r>
              <a:rPr lang="en-US" b="1" dirty="0"/>
              <a:t>“best.pt”</a:t>
            </a:r>
          </a:p>
        </p:txBody>
      </p:sp>
      <p:pic>
        <p:nvPicPr>
          <p:cNvPr id="5" name="Picture 4">
            <a:extLst>
              <a:ext uri="{FF2B5EF4-FFF2-40B4-BE49-F238E27FC236}">
                <a16:creationId xmlns:a16="http://schemas.microsoft.com/office/drawing/2014/main" id="{48ECF90A-2563-133A-39D0-83522BDFE7DD}"/>
              </a:ext>
            </a:extLst>
          </p:cNvPr>
          <p:cNvPicPr>
            <a:picLocks noChangeAspect="1"/>
          </p:cNvPicPr>
          <p:nvPr/>
        </p:nvPicPr>
        <p:blipFill>
          <a:blip r:embed="rId2"/>
          <a:stretch>
            <a:fillRect/>
          </a:stretch>
        </p:blipFill>
        <p:spPr>
          <a:xfrm>
            <a:off x="344010" y="3200400"/>
            <a:ext cx="4215305" cy="3037750"/>
          </a:xfrm>
          <a:prstGeom prst="rect">
            <a:avLst/>
          </a:prstGeom>
        </p:spPr>
      </p:pic>
      <p:cxnSp>
        <p:nvCxnSpPr>
          <p:cNvPr id="7" name="Straight Arrow Connector 6">
            <a:extLst>
              <a:ext uri="{FF2B5EF4-FFF2-40B4-BE49-F238E27FC236}">
                <a16:creationId xmlns:a16="http://schemas.microsoft.com/office/drawing/2014/main" id="{2239BEFE-1BBD-2137-84C2-B32D8840DEF1}"/>
              </a:ext>
            </a:extLst>
          </p:cNvPr>
          <p:cNvCxnSpPr>
            <a:cxnSpLocks/>
          </p:cNvCxnSpPr>
          <p:nvPr/>
        </p:nvCxnSpPr>
        <p:spPr>
          <a:xfrm flipH="1">
            <a:off x="3937831" y="5334000"/>
            <a:ext cx="1447800"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pic>
        <p:nvPicPr>
          <p:cNvPr id="16" name="Picture 15">
            <a:extLst>
              <a:ext uri="{FF2B5EF4-FFF2-40B4-BE49-F238E27FC236}">
                <a16:creationId xmlns:a16="http://schemas.microsoft.com/office/drawing/2014/main" id="{13695DEB-52B8-B38B-A2DE-0C07F2CAC01B}"/>
              </a:ext>
            </a:extLst>
          </p:cNvPr>
          <p:cNvPicPr>
            <a:picLocks noChangeAspect="1"/>
          </p:cNvPicPr>
          <p:nvPr/>
        </p:nvPicPr>
        <p:blipFill>
          <a:blip r:embed="rId3"/>
          <a:stretch>
            <a:fillRect/>
          </a:stretch>
        </p:blipFill>
        <p:spPr>
          <a:xfrm>
            <a:off x="5867400" y="3323693"/>
            <a:ext cx="5406849" cy="2791163"/>
          </a:xfrm>
          <a:prstGeom prst="rect">
            <a:avLst/>
          </a:prstGeom>
        </p:spPr>
      </p:pic>
    </p:spTree>
    <p:extLst>
      <p:ext uri="{BB962C8B-B14F-4D97-AF65-F5344CB8AC3E}">
        <p14:creationId xmlns:p14="http://schemas.microsoft.com/office/powerpoint/2010/main" val="27969916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F4BB9-60FF-A227-D234-698504CCC0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306D14-9B9E-C460-24C3-A369328A2E6D}"/>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2AA2ABF2-934E-9B56-218C-65018045896A}"/>
              </a:ext>
            </a:extLst>
          </p:cNvPr>
          <p:cNvSpPr>
            <a:spLocks noGrp="1"/>
          </p:cNvSpPr>
          <p:nvPr>
            <p:ph type="body" idx="1"/>
          </p:nvPr>
        </p:nvSpPr>
        <p:spPr>
          <a:xfrm>
            <a:off x="344010" y="1600200"/>
            <a:ext cx="11582400" cy="646331"/>
          </a:xfrm>
        </p:spPr>
        <p:txBody>
          <a:bodyPr/>
          <a:lstStyle/>
          <a:p>
            <a:pPr algn="ctr"/>
            <a:r>
              <a:rPr lang="en-US" sz="2400" b="1" u="sng" dirty="0"/>
              <a:t>Training using your Data</a:t>
            </a:r>
          </a:p>
          <a:p>
            <a:pPr algn="l"/>
            <a:r>
              <a:rPr lang="en-US" dirty="0"/>
              <a:t> </a:t>
            </a:r>
            <a:endParaRPr lang="en-US" i="1" dirty="0">
              <a:solidFill>
                <a:srgbClr val="0000FF"/>
              </a:solidFill>
            </a:endParaRPr>
          </a:p>
        </p:txBody>
      </p:sp>
      <p:sp>
        <p:nvSpPr>
          <p:cNvPr id="6" name="TextBox 5">
            <a:extLst>
              <a:ext uri="{FF2B5EF4-FFF2-40B4-BE49-F238E27FC236}">
                <a16:creationId xmlns:a16="http://schemas.microsoft.com/office/drawing/2014/main" id="{7A1BC9A1-AAAC-0684-F563-0F0C83356CFE}"/>
              </a:ext>
            </a:extLst>
          </p:cNvPr>
          <p:cNvSpPr txBox="1"/>
          <p:nvPr/>
        </p:nvSpPr>
        <p:spPr>
          <a:xfrm>
            <a:off x="265590" y="2092726"/>
            <a:ext cx="11658600" cy="923330"/>
          </a:xfrm>
          <a:prstGeom prst="rect">
            <a:avLst/>
          </a:prstGeom>
          <a:noFill/>
        </p:spPr>
        <p:txBody>
          <a:bodyPr wrap="square" rtlCol="0">
            <a:spAutoFit/>
          </a:bodyPr>
          <a:lstStyle/>
          <a:p>
            <a:r>
              <a:rPr lang="en-US" b="1" u="sng" dirty="0" err="1"/>
              <a:t>Roboflow</a:t>
            </a:r>
            <a:r>
              <a:rPr lang="en-US" b="1" u="sng" dirty="0"/>
              <a:t>-</a:t>
            </a:r>
            <a:r>
              <a:rPr lang="en-US" dirty="0"/>
              <a:t> By running this code in any IDE, you can download that dataset’s </a:t>
            </a:r>
            <a:r>
              <a:rPr lang="en-US" b="1" dirty="0"/>
              <a:t>“</a:t>
            </a:r>
            <a:r>
              <a:rPr lang="en-US" b="1" dirty="0" err="1"/>
              <a:t>data.yaml</a:t>
            </a:r>
            <a:r>
              <a:rPr lang="en-US" b="1" dirty="0"/>
              <a:t>” </a:t>
            </a:r>
            <a:r>
              <a:rPr lang="en-US" dirty="0"/>
              <a:t>file in the local IDE storage. Train the model using that </a:t>
            </a:r>
            <a:r>
              <a:rPr lang="en-US" b="1" dirty="0"/>
              <a:t>“</a:t>
            </a:r>
            <a:r>
              <a:rPr lang="en-US" b="1" dirty="0" err="1"/>
              <a:t>data.yaml</a:t>
            </a:r>
            <a:r>
              <a:rPr lang="en-US" b="1" dirty="0"/>
              <a:t>”</a:t>
            </a:r>
            <a:r>
              <a:rPr lang="en-US" dirty="0"/>
              <a:t> to get your own </a:t>
            </a:r>
            <a:r>
              <a:rPr lang="en-US" b="1" dirty="0"/>
              <a:t>“best.pt”. Google </a:t>
            </a:r>
            <a:r>
              <a:rPr lang="en-US" b="1" dirty="0" err="1"/>
              <a:t>Colab</a:t>
            </a:r>
            <a:r>
              <a:rPr lang="en-US" b="1" dirty="0"/>
              <a:t> </a:t>
            </a:r>
            <a:r>
              <a:rPr lang="en-US" dirty="0"/>
              <a:t>is a good option for training online. </a:t>
            </a:r>
            <a:r>
              <a:rPr lang="en-US" b="1" dirty="0"/>
              <a:t>Free use of Graphics card </a:t>
            </a:r>
            <a:r>
              <a:rPr lang="en-US" dirty="0"/>
              <a:t>with no computational power needed from your end. Online. </a:t>
            </a:r>
            <a:endParaRPr lang="en-US" b="1" dirty="0"/>
          </a:p>
        </p:txBody>
      </p:sp>
      <p:pic>
        <p:nvPicPr>
          <p:cNvPr id="8" name="Picture 7">
            <a:extLst>
              <a:ext uri="{FF2B5EF4-FFF2-40B4-BE49-F238E27FC236}">
                <a16:creationId xmlns:a16="http://schemas.microsoft.com/office/drawing/2014/main" id="{FC516ABC-D4F0-F249-4332-F5B5EFE899BA}"/>
              </a:ext>
            </a:extLst>
          </p:cNvPr>
          <p:cNvPicPr>
            <a:picLocks noChangeAspect="1"/>
          </p:cNvPicPr>
          <p:nvPr/>
        </p:nvPicPr>
        <p:blipFill>
          <a:blip r:embed="rId2"/>
          <a:stretch>
            <a:fillRect/>
          </a:stretch>
        </p:blipFill>
        <p:spPr>
          <a:xfrm>
            <a:off x="2615557" y="3016056"/>
            <a:ext cx="6958665" cy="3383571"/>
          </a:xfrm>
          <a:prstGeom prst="rect">
            <a:avLst/>
          </a:prstGeom>
        </p:spPr>
      </p:pic>
    </p:spTree>
    <p:extLst>
      <p:ext uri="{BB962C8B-B14F-4D97-AF65-F5344CB8AC3E}">
        <p14:creationId xmlns:p14="http://schemas.microsoft.com/office/powerpoint/2010/main" val="6048477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8AE3B-4F57-A7CC-6C9E-BFD7AD3870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8B8252-370D-BB79-B9EB-DEF431ED5C64}"/>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125BC6CD-295B-5315-CC0D-08648C13A548}"/>
              </a:ext>
            </a:extLst>
          </p:cNvPr>
          <p:cNvSpPr>
            <a:spLocks noGrp="1"/>
          </p:cNvSpPr>
          <p:nvPr>
            <p:ph type="body" idx="1"/>
          </p:nvPr>
        </p:nvSpPr>
        <p:spPr>
          <a:xfrm>
            <a:off x="344010" y="1600200"/>
            <a:ext cx="11582400" cy="646331"/>
          </a:xfrm>
        </p:spPr>
        <p:txBody>
          <a:bodyPr/>
          <a:lstStyle/>
          <a:p>
            <a:pPr algn="ctr"/>
            <a:r>
              <a:rPr lang="en-US" sz="2400" b="1" u="sng" dirty="0"/>
              <a:t>Training using your Data</a:t>
            </a:r>
          </a:p>
          <a:p>
            <a:pPr algn="l"/>
            <a:r>
              <a:rPr lang="en-US" dirty="0"/>
              <a:t> </a:t>
            </a:r>
            <a:endParaRPr lang="en-US" i="1" dirty="0">
              <a:solidFill>
                <a:srgbClr val="0000FF"/>
              </a:solidFill>
            </a:endParaRPr>
          </a:p>
        </p:txBody>
      </p:sp>
      <p:sp>
        <p:nvSpPr>
          <p:cNvPr id="6" name="TextBox 5">
            <a:extLst>
              <a:ext uri="{FF2B5EF4-FFF2-40B4-BE49-F238E27FC236}">
                <a16:creationId xmlns:a16="http://schemas.microsoft.com/office/drawing/2014/main" id="{9F740AA8-8463-DACD-A442-0651E8CFCD4D}"/>
              </a:ext>
            </a:extLst>
          </p:cNvPr>
          <p:cNvSpPr txBox="1"/>
          <p:nvPr/>
        </p:nvSpPr>
        <p:spPr>
          <a:xfrm>
            <a:off x="265590" y="2092726"/>
            <a:ext cx="11658600" cy="923330"/>
          </a:xfrm>
          <a:prstGeom prst="rect">
            <a:avLst/>
          </a:prstGeom>
          <a:noFill/>
        </p:spPr>
        <p:txBody>
          <a:bodyPr wrap="square" rtlCol="0">
            <a:spAutoFit/>
          </a:bodyPr>
          <a:lstStyle/>
          <a:p>
            <a:r>
              <a:rPr lang="en-US" b="1" u="sng" dirty="0"/>
              <a:t>Google </a:t>
            </a:r>
            <a:r>
              <a:rPr lang="en-US" b="1" u="sng" dirty="0" err="1"/>
              <a:t>Colab</a:t>
            </a:r>
            <a:r>
              <a:rPr lang="en-US" b="1" u="sng" dirty="0"/>
              <a:t>-</a:t>
            </a:r>
            <a:r>
              <a:rPr lang="en-US" dirty="0"/>
              <a:t> This is a free IDE that allows users to run their code online on powerful GPUs for free. Log in to your Google Account and start a </a:t>
            </a:r>
            <a:r>
              <a:rPr lang="en-US" b="1" dirty="0"/>
              <a:t>“New Notebook”</a:t>
            </a:r>
            <a:r>
              <a:rPr lang="en-US" dirty="0"/>
              <a:t>. Change to </a:t>
            </a:r>
            <a:r>
              <a:rPr lang="en-US" b="1" dirty="0"/>
              <a:t>GPU</a:t>
            </a:r>
            <a:r>
              <a:rPr lang="en-US" dirty="0"/>
              <a:t> in </a:t>
            </a:r>
            <a:r>
              <a:rPr lang="en-US" b="1" dirty="0"/>
              <a:t>“Change Runtime Type”</a:t>
            </a:r>
            <a:r>
              <a:rPr lang="en-US" dirty="0"/>
              <a:t> options on the top, in the </a:t>
            </a:r>
            <a:r>
              <a:rPr lang="en-US" b="1" dirty="0"/>
              <a:t>“Runtime”</a:t>
            </a:r>
            <a:r>
              <a:rPr lang="en-US" dirty="0"/>
              <a:t> dropdown menu and get your training started. </a:t>
            </a:r>
            <a:endParaRPr lang="en-US" b="1" dirty="0"/>
          </a:p>
        </p:txBody>
      </p:sp>
      <p:pic>
        <p:nvPicPr>
          <p:cNvPr id="10" name="Picture 9">
            <a:extLst>
              <a:ext uri="{FF2B5EF4-FFF2-40B4-BE49-F238E27FC236}">
                <a16:creationId xmlns:a16="http://schemas.microsoft.com/office/drawing/2014/main" id="{5FE0CD5B-8E13-E7A5-67D1-44EBF692F0E0}"/>
              </a:ext>
            </a:extLst>
          </p:cNvPr>
          <p:cNvPicPr>
            <a:picLocks noChangeAspect="1"/>
          </p:cNvPicPr>
          <p:nvPr/>
        </p:nvPicPr>
        <p:blipFill>
          <a:blip r:embed="rId2"/>
          <a:stretch>
            <a:fillRect/>
          </a:stretch>
        </p:blipFill>
        <p:spPr>
          <a:xfrm>
            <a:off x="381000" y="3347442"/>
            <a:ext cx="3810000" cy="2968611"/>
          </a:xfrm>
          <a:prstGeom prst="rect">
            <a:avLst/>
          </a:prstGeom>
        </p:spPr>
      </p:pic>
      <p:cxnSp>
        <p:nvCxnSpPr>
          <p:cNvPr id="11" name="Straight Arrow Connector 10">
            <a:extLst>
              <a:ext uri="{FF2B5EF4-FFF2-40B4-BE49-F238E27FC236}">
                <a16:creationId xmlns:a16="http://schemas.microsoft.com/office/drawing/2014/main" id="{F1BAC92A-B03A-C0DD-3216-B75206C09A10}"/>
              </a:ext>
            </a:extLst>
          </p:cNvPr>
          <p:cNvCxnSpPr>
            <a:cxnSpLocks/>
          </p:cNvCxnSpPr>
          <p:nvPr/>
        </p:nvCxnSpPr>
        <p:spPr>
          <a:xfrm flipH="1">
            <a:off x="1143000" y="6096000"/>
            <a:ext cx="1447800"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pic>
        <p:nvPicPr>
          <p:cNvPr id="12" name="Picture 11">
            <a:extLst>
              <a:ext uri="{FF2B5EF4-FFF2-40B4-BE49-F238E27FC236}">
                <a16:creationId xmlns:a16="http://schemas.microsoft.com/office/drawing/2014/main" id="{439B0675-6DF8-ADBB-91C7-96F92B21BD17}"/>
              </a:ext>
            </a:extLst>
          </p:cNvPr>
          <p:cNvPicPr>
            <a:picLocks noChangeAspect="1"/>
          </p:cNvPicPr>
          <p:nvPr/>
        </p:nvPicPr>
        <p:blipFill>
          <a:blip r:embed="rId3"/>
          <a:stretch>
            <a:fillRect/>
          </a:stretch>
        </p:blipFill>
        <p:spPr>
          <a:xfrm>
            <a:off x="6685835" y="3013014"/>
            <a:ext cx="5125165" cy="695422"/>
          </a:xfrm>
          <a:prstGeom prst="rect">
            <a:avLst/>
          </a:prstGeom>
        </p:spPr>
      </p:pic>
      <p:pic>
        <p:nvPicPr>
          <p:cNvPr id="13" name="Picture 12">
            <a:extLst>
              <a:ext uri="{FF2B5EF4-FFF2-40B4-BE49-F238E27FC236}">
                <a16:creationId xmlns:a16="http://schemas.microsoft.com/office/drawing/2014/main" id="{87FBBF65-0F6F-2BA8-6B03-D5CB2747DDA0}"/>
              </a:ext>
            </a:extLst>
          </p:cNvPr>
          <p:cNvPicPr>
            <a:picLocks noChangeAspect="1"/>
          </p:cNvPicPr>
          <p:nvPr/>
        </p:nvPicPr>
        <p:blipFill>
          <a:blip r:embed="rId4"/>
          <a:stretch>
            <a:fillRect/>
          </a:stretch>
        </p:blipFill>
        <p:spPr>
          <a:xfrm>
            <a:off x="7266940" y="3866786"/>
            <a:ext cx="3962953" cy="2610214"/>
          </a:xfrm>
          <a:prstGeom prst="rect">
            <a:avLst/>
          </a:prstGeom>
        </p:spPr>
      </p:pic>
      <p:cxnSp>
        <p:nvCxnSpPr>
          <p:cNvPr id="14" name="Straight Arrow Connector 13">
            <a:extLst>
              <a:ext uri="{FF2B5EF4-FFF2-40B4-BE49-F238E27FC236}">
                <a16:creationId xmlns:a16="http://schemas.microsoft.com/office/drawing/2014/main" id="{8BCBD60C-C1DD-2D35-00F9-9BD2029A46CA}"/>
              </a:ext>
            </a:extLst>
          </p:cNvPr>
          <p:cNvCxnSpPr>
            <a:cxnSpLocks/>
          </p:cNvCxnSpPr>
          <p:nvPr/>
        </p:nvCxnSpPr>
        <p:spPr>
          <a:xfrm flipH="1">
            <a:off x="10439400" y="3089214"/>
            <a:ext cx="1524000" cy="38100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2E9D652A-8559-573A-30D7-60D23ECAD9ED}"/>
              </a:ext>
            </a:extLst>
          </p:cNvPr>
          <p:cNvCxnSpPr>
            <a:cxnSpLocks/>
          </p:cNvCxnSpPr>
          <p:nvPr/>
        </p:nvCxnSpPr>
        <p:spPr>
          <a:xfrm>
            <a:off x="6096000" y="5299014"/>
            <a:ext cx="1170940"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CD1A79B3-488E-CE31-FEDD-D507CC2C4CC1}"/>
              </a:ext>
            </a:extLst>
          </p:cNvPr>
          <p:cNvSpPr txBox="1"/>
          <p:nvPr/>
        </p:nvSpPr>
        <p:spPr>
          <a:xfrm>
            <a:off x="5098313" y="4837349"/>
            <a:ext cx="1295400" cy="923330"/>
          </a:xfrm>
          <a:prstGeom prst="rect">
            <a:avLst/>
          </a:prstGeom>
          <a:noFill/>
        </p:spPr>
        <p:txBody>
          <a:bodyPr wrap="square" rtlCol="0">
            <a:spAutoFit/>
          </a:bodyPr>
          <a:lstStyle/>
          <a:p>
            <a:r>
              <a:rPr lang="en-US" b="1" dirty="0"/>
              <a:t>To choose GPU</a:t>
            </a:r>
          </a:p>
        </p:txBody>
      </p:sp>
    </p:spTree>
    <p:extLst>
      <p:ext uri="{BB962C8B-B14F-4D97-AF65-F5344CB8AC3E}">
        <p14:creationId xmlns:p14="http://schemas.microsoft.com/office/powerpoint/2010/main" val="11454277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4D15C-F880-C9B1-C2A5-E42ED745CB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AFBE0A-2FF7-7133-69A8-55CB1691A205}"/>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1F13DA53-BE6D-6D26-AE94-86D2E840AD8A}"/>
              </a:ext>
            </a:extLst>
          </p:cNvPr>
          <p:cNvSpPr>
            <a:spLocks noGrp="1"/>
          </p:cNvSpPr>
          <p:nvPr>
            <p:ph type="body" idx="1"/>
          </p:nvPr>
        </p:nvSpPr>
        <p:spPr>
          <a:xfrm>
            <a:off x="304799" y="1557519"/>
            <a:ext cx="11582400" cy="646331"/>
          </a:xfrm>
        </p:spPr>
        <p:txBody>
          <a:bodyPr/>
          <a:lstStyle/>
          <a:p>
            <a:pPr algn="ctr"/>
            <a:r>
              <a:rPr lang="en-US" sz="2400" b="1" u="sng" dirty="0"/>
              <a:t>Training using your Data – Training the Model</a:t>
            </a:r>
          </a:p>
          <a:p>
            <a:pPr algn="l"/>
            <a:r>
              <a:rPr lang="en-US" dirty="0"/>
              <a:t> </a:t>
            </a:r>
            <a:endParaRPr lang="en-US" i="1" dirty="0">
              <a:solidFill>
                <a:srgbClr val="0000FF"/>
              </a:solidFill>
            </a:endParaRPr>
          </a:p>
        </p:txBody>
      </p:sp>
      <p:sp>
        <p:nvSpPr>
          <p:cNvPr id="8" name="TextBox 7">
            <a:extLst>
              <a:ext uri="{FF2B5EF4-FFF2-40B4-BE49-F238E27FC236}">
                <a16:creationId xmlns:a16="http://schemas.microsoft.com/office/drawing/2014/main" id="{6437ACD2-9FC3-8247-34FA-215B46FFC519}"/>
              </a:ext>
            </a:extLst>
          </p:cNvPr>
          <p:cNvSpPr txBox="1"/>
          <p:nvPr/>
        </p:nvSpPr>
        <p:spPr>
          <a:xfrm>
            <a:off x="381000" y="2090919"/>
            <a:ext cx="11430000" cy="369332"/>
          </a:xfrm>
          <a:prstGeom prst="rect">
            <a:avLst/>
          </a:prstGeom>
          <a:noFill/>
        </p:spPr>
        <p:txBody>
          <a:bodyPr wrap="square" rtlCol="0">
            <a:spAutoFit/>
          </a:bodyPr>
          <a:lstStyle/>
          <a:p>
            <a:r>
              <a:rPr lang="en-US" b="1" u="sng" dirty="0"/>
              <a:t>Google </a:t>
            </a:r>
            <a:r>
              <a:rPr lang="en-US" b="1" u="sng" dirty="0" err="1"/>
              <a:t>Colab</a:t>
            </a:r>
            <a:r>
              <a:rPr lang="en-US" b="1" u="sng" dirty="0"/>
              <a:t> –</a:t>
            </a:r>
            <a:r>
              <a:rPr lang="en-US" dirty="0"/>
              <a:t> Change the runtime type from CPU to GPU</a:t>
            </a:r>
          </a:p>
        </p:txBody>
      </p:sp>
      <p:pic>
        <p:nvPicPr>
          <p:cNvPr id="14" name="Picture 13">
            <a:extLst>
              <a:ext uri="{FF2B5EF4-FFF2-40B4-BE49-F238E27FC236}">
                <a16:creationId xmlns:a16="http://schemas.microsoft.com/office/drawing/2014/main" id="{F08F5821-7915-3888-5566-94C55C41711B}"/>
              </a:ext>
            </a:extLst>
          </p:cNvPr>
          <p:cNvPicPr>
            <a:picLocks noChangeAspect="1"/>
          </p:cNvPicPr>
          <p:nvPr/>
        </p:nvPicPr>
        <p:blipFill>
          <a:blip r:embed="rId2"/>
          <a:stretch>
            <a:fillRect/>
          </a:stretch>
        </p:blipFill>
        <p:spPr>
          <a:xfrm>
            <a:off x="3377514" y="2737250"/>
            <a:ext cx="4005726" cy="3735612"/>
          </a:xfrm>
          <a:prstGeom prst="rect">
            <a:avLst/>
          </a:prstGeom>
        </p:spPr>
      </p:pic>
      <p:cxnSp>
        <p:nvCxnSpPr>
          <p:cNvPr id="4" name="Straight Arrow Connector 3">
            <a:extLst>
              <a:ext uri="{FF2B5EF4-FFF2-40B4-BE49-F238E27FC236}">
                <a16:creationId xmlns:a16="http://schemas.microsoft.com/office/drawing/2014/main" id="{A1E49695-2DEB-6978-A0E2-932EA8D6611A}"/>
              </a:ext>
            </a:extLst>
          </p:cNvPr>
          <p:cNvCxnSpPr>
            <a:cxnSpLocks/>
          </p:cNvCxnSpPr>
          <p:nvPr/>
        </p:nvCxnSpPr>
        <p:spPr>
          <a:xfrm flipH="1">
            <a:off x="5151778" y="4191000"/>
            <a:ext cx="3048000"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8BF3AA98-8CAC-5F60-38EF-468389645FF5}"/>
              </a:ext>
            </a:extLst>
          </p:cNvPr>
          <p:cNvCxnSpPr>
            <a:cxnSpLocks/>
          </p:cNvCxnSpPr>
          <p:nvPr/>
        </p:nvCxnSpPr>
        <p:spPr>
          <a:xfrm flipH="1">
            <a:off x="7383240" y="6324600"/>
            <a:ext cx="1752600"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A7E6A6FB-1E18-8292-0EC6-5BD782CAAF6F}"/>
              </a:ext>
            </a:extLst>
          </p:cNvPr>
          <p:cNvSpPr txBox="1"/>
          <p:nvPr/>
        </p:nvSpPr>
        <p:spPr>
          <a:xfrm>
            <a:off x="8197681" y="4051058"/>
            <a:ext cx="2775119" cy="369332"/>
          </a:xfrm>
          <a:prstGeom prst="rect">
            <a:avLst/>
          </a:prstGeom>
          <a:noFill/>
        </p:spPr>
        <p:txBody>
          <a:bodyPr wrap="none" rtlCol="0">
            <a:spAutoFit/>
          </a:bodyPr>
          <a:lstStyle/>
          <a:p>
            <a:r>
              <a:rPr lang="en-US" b="1" dirty="0"/>
              <a:t>Choose the GPU option</a:t>
            </a:r>
          </a:p>
        </p:txBody>
      </p:sp>
      <p:sp>
        <p:nvSpPr>
          <p:cNvPr id="10" name="TextBox 9">
            <a:extLst>
              <a:ext uri="{FF2B5EF4-FFF2-40B4-BE49-F238E27FC236}">
                <a16:creationId xmlns:a16="http://schemas.microsoft.com/office/drawing/2014/main" id="{FFBE8F96-CC09-9F52-AF79-32EBB637DD99}"/>
              </a:ext>
            </a:extLst>
          </p:cNvPr>
          <p:cNvSpPr txBox="1"/>
          <p:nvPr/>
        </p:nvSpPr>
        <p:spPr>
          <a:xfrm>
            <a:off x="9135840" y="6139934"/>
            <a:ext cx="1676400" cy="369332"/>
          </a:xfrm>
          <a:prstGeom prst="rect">
            <a:avLst/>
          </a:prstGeom>
          <a:noFill/>
        </p:spPr>
        <p:txBody>
          <a:bodyPr wrap="square" rtlCol="0">
            <a:spAutoFit/>
          </a:bodyPr>
          <a:lstStyle/>
          <a:p>
            <a:r>
              <a:rPr lang="en-US" dirty="0"/>
              <a:t>Save</a:t>
            </a:r>
          </a:p>
        </p:txBody>
      </p:sp>
    </p:spTree>
    <p:extLst>
      <p:ext uri="{BB962C8B-B14F-4D97-AF65-F5344CB8AC3E}">
        <p14:creationId xmlns:p14="http://schemas.microsoft.com/office/powerpoint/2010/main" val="3182771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75575-DC8A-230E-ECB1-12D78DB03C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08D87C-94D3-8ABF-2058-9A18B78A9D4D}"/>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58708F41-7586-5EE7-9188-B29D2D3DAD53}"/>
              </a:ext>
            </a:extLst>
          </p:cNvPr>
          <p:cNvSpPr>
            <a:spLocks noGrp="1"/>
          </p:cNvSpPr>
          <p:nvPr>
            <p:ph type="body" idx="1"/>
          </p:nvPr>
        </p:nvSpPr>
        <p:spPr>
          <a:xfrm>
            <a:off x="344010" y="1600200"/>
            <a:ext cx="11582400" cy="646331"/>
          </a:xfrm>
        </p:spPr>
        <p:txBody>
          <a:bodyPr/>
          <a:lstStyle/>
          <a:p>
            <a:pPr algn="ctr"/>
            <a:r>
              <a:rPr lang="en-US" sz="2400" b="1" u="sng" dirty="0"/>
              <a:t>Training using your Data</a:t>
            </a:r>
          </a:p>
          <a:p>
            <a:pPr algn="l"/>
            <a:r>
              <a:rPr lang="en-US" dirty="0"/>
              <a:t> </a:t>
            </a:r>
            <a:endParaRPr lang="en-US" i="1" dirty="0">
              <a:solidFill>
                <a:srgbClr val="0000FF"/>
              </a:solidFill>
            </a:endParaRPr>
          </a:p>
        </p:txBody>
      </p:sp>
      <p:sp>
        <p:nvSpPr>
          <p:cNvPr id="6" name="TextBox 5">
            <a:extLst>
              <a:ext uri="{FF2B5EF4-FFF2-40B4-BE49-F238E27FC236}">
                <a16:creationId xmlns:a16="http://schemas.microsoft.com/office/drawing/2014/main" id="{FBDFF9D5-8A46-3E95-05D4-54AFCA75E766}"/>
              </a:ext>
            </a:extLst>
          </p:cNvPr>
          <p:cNvSpPr txBox="1"/>
          <p:nvPr/>
        </p:nvSpPr>
        <p:spPr>
          <a:xfrm>
            <a:off x="265590" y="2092726"/>
            <a:ext cx="11658600" cy="369332"/>
          </a:xfrm>
          <a:prstGeom prst="rect">
            <a:avLst/>
          </a:prstGeom>
          <a:noFill/>
        </p:spPr>
        <p:txBody>
          <a:bodyPr wrap="square" rtlCol="0">
            <a:spAutoFit/>
          </a:bodyPr>
          <a:lstStyle/>
          <a:p>
            <a:r>
              <a:rPr lang="en-US" b="1" u="sng" dirty="0"/>
              <a:t>Google </a:t>
            </a:r>
            <a:r>
              <a:rPr lang="en-US" b="1" u="sng" dirty="0" err="1"/>
              <a:t>Colab</a:t>
            </a:r>
            <a:r>
              <a:rPr lang="en-US" b="1" u="sng" dirty="0"/>
              <a:t>-</a:t>
            </a:r>
            <a:r>
              <a:rPr lang="en-US" dirty="0"/>
              <a:t> Paste the code in the IDE and run the code. </a:t>
            </a:r>
            <a:endParaRPr lang="en-US" b="1" dirty="0"/>
          </a:p>
        </p:txBody>
      </p:sp>
      <p:pic>
        <p:nvPicPr>
          <p:cNvPr id="9" name="Picture 8">
            <a:extLst>
              <a:ext uri="{FF2B5EF4-FFF2-40B4-BE49-F238E27FC236}">
                <a16:creationId xmlns:a16="http://schemas.microsoft.com/office/drawing/2014/main" id="{C82F7108-5315-37B0-5A16-3714F09E99C8}"/>
              </a:ext>
            </a:extLst>
          </p:cNvPr>
          <p:cNvPicPr>
            <a:picLocks noChangeAspect="1"/>
          </p:cNvPicPr>
          <p:nvPr/>
        </p:nvPicPr>
        <p:blipFill>
          <a:blip r:embed="rId2"/>
          <a:stretch>
            <a:fillRect/>
          </a:stretch>
        </p:blipFill>
        <p:spPr>
          <a:xfrm>
            <a:off x="2644179" y="3733800"/>
            <a:ext cx="6901421" cy="1903840"/>
          </a:xfrm>
          <a:prstGeom prst="rect">
            <a:avLst/>
          </a:prstGeom>
        </p:spPr>
      </p:pic>
      <p:cxnSp>
        <p:nvCxnSpPr>
          <p:cNvPr id="4" name="Straight Arrow Connector 3">
            <a:extLst>
              <a:ext uri="{FF2B5EF4-FFF2-40B4-BE49-F238E27FC236}">
                <a16:creationId xmlns:a16="http://schemas.microsoft.com/office/drawing/2014/main" id="{20E86812-D256-48EB-075F-D45936AD8FC5}"/>
              </a:ext>
            </a:extLst>
          </p:cNvPr>
          <p:cNvCxnSpPr>
            <a:cxnSpLocks/>
          </p:cNvCxnSpPr>
          <p:nvPr/>
        </p:nvCxnSpPr>
        <p:spPr>
          <a:xfrm flipH="1">
            <a:off x="3048000" y="3543300"/>
            <a:ext cx="1524000" cy="38100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4D95B603-A7D6-385F-745B-EA54765C90C9}"/>
              </a:ext>
            </a:extLst>
          </p:cNvPr>
          <p:cNvSpPr txBox="1"/>
          <p:nvPr/>
        </p:nvSpPr>
        <p:spPr>
          <a:xfrm>
            <a:off x="4560815" y="3314700"/>
            <a:ext cx="1556836" cy="369332"/>
          </a:xfrm>
          <a:prstGeom prst="rect">
            <a:avLst/>
          </a:prstGeom>
          <a:noFill/>
        </p:spPr>
        <p:txBody>
          <a:bodyPr wrap="none" rtlCol="0">
            <a:spAutoFit/>
          </a:bodyPr>
          <a:lstStyle/>
          <a:p>
            <a:r>
              <a:rPr lang="en-US" dirty="0"/>
              <a:t>Run the code</a:t>
            </a:r>
          </a:p>
        </p:txBody>
      </p:sp>
    </p:spTree>
    <p:extLst>
      <p:ext uri="{BB962C8B-B14F-4D97-AF65-F5344CB8AC3E}">
        <p14:creationId xmlns:p14="http://schemas.microsoft.com/office/powerpoint/2010/main" val="9832766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5C685-17B1-29B8-31D2-C160325E21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41B8F8-C624-6BB1-867E-B5B6E2504D86}"/>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092CA6FF-70C4-46CF-5AD9-EA021C7D5476}"/>
              </a:ext>
            </a:extLst>
          </p:cNvPr>
          <p:cNvSpPr>
            <a:spLocks noGrp="1"/>
          </p:cNvSpPr>
          <p:nvPr>
            <p:ph type="body" idx="1"/>
          </p:nvPr>
        </p:nvSpPr>
        <p:spPr>
          <a:xfrm>
            <a:off x="304799" y="1557519"/>
            <a:ext cx="11582400" cy="646331"/>
          </a:xfrm>
        </p:spPr>
        <p:txBody>
          <a:bodyPr/>
          <a:lstStyle/>
          <a:p>
            <a:pPr algn="ctr"/>
            <a:r>
              <a:rPr lang="en-US" sz="2400" b="1" u="sng" dirty="0"/>
              <a:t>Training using your Data – Training the Model</a:t>
            </a:r>
          </a:p>
          <a:p>
            <a:pPr algn="l"/>
            <a:r>
              <a:rPr lang="en-US" dirty="0"/>
              <a:t> </a:t>
            </a:r>
            <a:endParaRPr lang="en-US" i="1" dirty="0">
              <a:solidFill>
                <a:srgbClr val="0000FF"/>
              </a:solidFill>
            </a:endParaRPr>
          </a:p>
        </p:txBody>
      </p:sp>
      <p:sp>
        <p:nvSpPr>
          <p:cNvPr id="8" name="TextBox 7">
            <a:extLst>
              <a:ext uri="{FF2B5EF4-FFF2-40B4-BE49-F238E27FC236}">
                <a16:creationId xmlns:a16="http://schemas.microsoft.com/office/drawing/2014/main" id="{2986D89C-807C-336F-18F1-3551E6AD65F9}"/>
              </a:ext>
            </a:extLst>
          </p:cNvPr>
          <p:cNvSpPr txBox="1"/>
          <p:nvPr/>
        </p:nvSpPr>
        <p:spPr>
          <a:xfrm>
            <a:off x="380999" y="2065350"/>
            <a:ext cx="11430000" cy="646331"/>
          </a:xfrm>
          <a:prstGeom prst="rect">
            <a:avLst/>
          </a:prstGeom>
          <a:noFill/>
        </p:spPr>
        <p:txBody>
          <a:bodyPr wrap="square" rtlCol="0">
            <a:spAutoFit/>
          </a:bodyPr>
          <a:lstStyle/>
          <a:p>
            <a:r>
              <a:rPr lang="en-US" b="1" u="sng" dirty="0"/>
              <a:t>Google </a:t>
            </a:r>
            <a:r>
              <a:rPr lang="en-US" b="1" u="sng" dirty="0" err="1"/>
              <a:t>Colab</a:t>
            </a:r>
            <a:r>
              <a:rPr lang="en-US" b="1" u="sng" dirty="0"/>
              <a:t> –</a:t>
            </a:r>
            <a:r>
              <a:rPr lang="en-US" dirty="0"/>
              <a:t> Import the “</a:t>
            </a:r>
            <a:r>
              <a:rPr lang="en-US" b="1" i="1" dirty="0"/>
              <a:t>dataset/</a:t>
            </a:r>
            <a:r>
              <a:rPr lang="en-US" dirty="0"/>
              <a:t>” folder as a zip file to the Google </a:t>
            </a:r>
            <a:r>
              <a:rPr lang="en-US" dirty="0" err="1"/>
              <a:t>Colab</a:t>
            </a:r>
            <a:r>
              <a:rPr lang="en-US" dirty="0"/>
              <a:t> workspace. Click on the </a:t>
            </a:r>
            <a:r>
              <a:rPr lang="en-US" b="1" dirty="0"/>
              <a:t>Folder Icon </a:t>
            </a:r>
            <a:r>
              <a:rPr lang="en-US" dirty="0"/>
              <a:t>on the left toolbar, right click and click on “</a:t>
            </a:r>
            <a:r>
              <a:rPr lang="en-US" b="1" dirty="0"/>
              <a:t>upload</a:t>
            </a:r>
            <a:r>
              <a:rPr lang="en-US" dirty="0"/>
              <a:t>” option. </a:t>
            </a:r>
          </a:p>
        </p:txBody>
      </p:sp>
      <p:pic>
        <p:nvPicPr>
          <p:cNvPr id="5" name="Picture 4">
            <a:extLst>
              <a:ext uri="{FF2B5EF4-FFF2-40B4-BE49-F238E27FC236}">
                <a16:creationId xmlns:a16="http://schemas.microsoft.com/office/drawing/2014/main" id="{F6B0DC10-86CB-6493-BF26-9EFA024DD61D}"/>
              </a:ext>
            </a:extLst>
          </p:cNvPr>
          <p:cNvPicPr>
            <a:picLocks noChangeAspect="1"/>
          </p:cNvPicPr>
          <p:nvPr/>
        </p:nvPicPr>
        <p:blipFill>
          <a:blip r:embed="rId2"/>
          <a:stretch>
            <a:fillRect/>
          </a:stretch>
        </p:blipFill>
        <p:spPr>
          <a:xfrm>
            <a:off x="2362200" y="3076175"/>
            <a:ext cx="771633" cy="2867425"/>
          </a:xfrm>
          <a:prstGeom prst="rect">
            <a:avLst/>
          </a:prstGeom>
        </p:spPr>
      </p:pic>
      <p:cxnSp>
        <p:nvCxnSpPr>
          <p:cNvPr id="6" name="Straight Arrow Connector 5">
            <a:extLst>
              <a:ext uri="{FF2B5EF4-FFF2-40B4-BE49-F238E27FC236}">
                <a16:creationId xmlns:a16="http://schemas.microsoft.com/office/drawing/2014/main" id="{167E465B-03E4-1445-A8FC-21C60297E789}"/>
              </a:ext>
            </a:extLst>
          </p:cNvPr>
          <p:cNvCxnSpPr>
            <a:cxnSpLocks/>
          </p:cNvCxnSpPr>
          <p:nvPr/>
        </p:nvCxnSpPr>
        <p:spPr>
          <a:xfrm>
            <a:off x="3048000" y="5514575"/>
            <a:ext cx="1600200"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6980D11B-BD6D-4D0C-C601-5C6CA2C867E3}"/>
              </a:ext>
            </a:extLst>
          </p:cNvPr>
          <p:cNvSpPr txBox="1"/>
          <p:nvPr/>
        </p:nvSpPr>
        <p:spPr>
          <a:xfrm>
            <a:off x="8813920" y="4262735"/>
            <a:ext cx="2514599" cy="923330"/>
          </a:xfrm>
          <a:prstGeom prst="rect">
            <a:avLst/>
          </a:prstGeom>
          <a:noFill/>
        </p:spPr>
        <p:txBody>
          <a:bodyPr wrap="square" rtlCol="0">
            <a:spAutoFit/>
          </a:bodyPr>
          <a:lstStyle/>
          <a:p>
            <a:r>
              <a:rPr lang="en-US" b="1" dirty="0"/>
              <a:t>This is the Dataset which is now ready for training. </a:t>
            </a:r>
          </a:p>
        </p:txBody>
      </p:sp>
      <p:pic>
        <p:nvPicPr>
          <p:cNvPr id="7" name="Picture 6">
            <a:extLst>
              <a:ext uri="{FF2B5EF4-FFF2-40B4-BE49-F238E27FC236}">
                <a16:creationId xmlns:a16="http://schemas.microsoft.com/office/drawing/2014/main" id="{FA609D7E-A67A-5EBB-A231-89E9B8BE704B}"/>
              </a:ext>
            </a:extLst>
          </p:cNvPr>
          <p:cNvPicPr>
            <a:picLocks noChangeAspect="1"/>
          </p:cNvPicPr>
          <p:nvPr/>
        </p:nvPicPr>
        <p:blipFill>
          <a:blip r:embed="rId3"/>
          <a:stretch>
            <a:fillRect/>
          </a:stretch>
        </p:blipFill>
        <p:spPr>
          <a:xfrm>
            <a:off x="4648899" y="3076174"/>
            <a:ext cx="3907255" cy="2867421"/>
          </a:xfrm>
          <a:prstGeom prst="rect">
            <a:avLst/>
          </a:prstGeom>
        </p:spPr>
      </p:pic>
      <p:cxnSp>
        <p:nvCxnSpPr>
          <p:cNvPr id="9" name="Straight Arrow Connector 8">
            <a:extLst>
              <a:ext uri="{FF2B5EF4-FFF2-40B4-BE49-F238E27FC236}">
                <a16:creationId xmlns:a16="http://schemas.microsoft.com/office/drawing/2014/main" id="{7FE4041D-63EF-D218-8838-B592B2623846}"/>
              </a:ext>
            </a:extLst>
          </p:cNvPr>
          <p:cNvCxnSpPr>
            <a:cxnSpLocks/>
          </p:cNvCxnSpPr>
          <p:nvPr/>
        </p:nvCxnSpPr>
        <p:spPr>
          <a:xfrm flipH="1">
            <a:off x="7620000" y="4724400"/>
            <a:ext cx="1143000"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562291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D7BFB-6798-ED0D-4799-917F57039E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0C5F0C-4F31-3FC6-0092-44CDB77DB7F4}"/>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52EB78D6-37BF-5016-3D5E-AA5D31F8C21B}"/>
              </a:ext>
            </a:extLst>
          </p:cNvPr>
          <p:cNvSpPr>
            <a:spLocks noGrp="1"/>
          </p:cNvSpPr>
          <p:nvPr>
            <p:ph type="body" idx="1"/>
          </p:nvPr>
        </p:nvSpPr>
        <p:spPr>
          <a:xfrm>
            <a:off x="304799" y="1557519"/>
            <a:ext cx="11582400" cy="646331"/>
          </a:xfrm>
        </p:spPr>
        <p:txBody>
          <a:bodyPr/>
          <a:lstStyle/>
          <a:p>
            <a:pPr algn="ctr"/>
            <a:r>
              <a:rPr lang="en-US" sz="2400" b="1" u="sng" dirty="0"/>
              <a:t>Training using your Data – Training the Model</a:t>
            </a:r>
          </a:p>
          <a:p>
            <a:pPr algn="l"/>
            <a:r>
              <a:rPr lang="en-US" dirty="0"/>
              <a:t> </a:t>
            </a:r>
            <a:endParaRPr lang="en-US" i="1" dirty="0">
              <a:solidFill>
                <a:srgbClr val="0000FF"/>
              </a:solidFill>
            </a:endParaRPr>
          </a:p>
        </p:txBody>
      </p:sp>
      <p:sp>
        <p:nvSpPr>
          <p:cNvPr id="8" name="TextBox 7">
            <a:extLst>
              <a:ext uri="{FF2B5EF4-FFF2-40B4-BE49-F238E27FC236}">
                <a16:creationId xmlns:a16="http://schemas.microsoft.com/office/drawing/2014/main" id="{E43CFBB0-E2E0-B811-840A-54C06096ADB7}"/>
              </a:ext>
            </a:extLst>
          </p:cNvPr>
          <p:cNvSpPr txBox="1"/>
          <p:nvPr/>
        </p:nvSpPr>
        <p:spPr>
          <a:xfrm>
            <a:off x="380998" y="2065350"/>
            <a:ext cx="11582399" cy="646331"/>
          </a:xfrm>
          <a:prstGeom prst="rect">
            <a:avLst/>
          </a:prstGeom>
          <a:noFill/>
        </p:spPr>
        <p:txBody>
          <a:bodyPr wrap="square" rtlCol="0">
            <a:spAutoFit/>
          </a:bodyPr>
          <a:lstStyle/>
          <a:p>
            <a:r>
              <a:rPr lang="en-US" b="1" u="sng" dirty="0"/>
              <a:t>Google </a:t>
            </a:r>
            <a:r>
              <a:rPr lang="en-US" b="1" u="sng" dirty="0" err="1"/>
              <a:t>Colab</a:t>
            </a:r>
            <a:r>
              <a:rPr lang="en-US" b="1" u="sng" dirty="0"/>
              <a:t> –</a:t>
            </a:r>
            <a:r>
              <a:rPr lang="en-US" dirty="0"/>
              <a:t> Now we need the </a:t>
            </a:r>
            <a:r>
              <a:rPr lang="en-US" b="1" dirty="0"/>
              <a:t>“</a:t>
            </a:r>
            <a:r>
              <a:rPr lang="en-US" b="1" dirty="0" err="1"/>
              <a:t>data.yaml</a:t>
            </a:r>
            <a:r>
              <a:rPr lang="en-US" b="1" dirty="0"/>
              <a:t>”</a:t>
            </a:r>
            <a:r>
              <a:rPr lang="en-US" dirty="0"/>
              <a:t> file for training our YOLOv8 model. Confirm if the </a:t>
            </a:r>
            <a:r>
              <a:rPr lang="en-US" b="1" dirty="0"/>
              <a:t>“</a:t>
            </a:r>
            <a:r>
              <a:rPr lang="en-US" b="1" dirty="0" err="1"/>
              <a:t>data.yaml</a:t>
            </a:r>
            <a:r>
              <a:rPr lang="en-US" b="1" dirty="0"/>
              <a:t>” </a:t>
            </a:r>
            <a:r>
              <a:rPr lang="en-US" dirty="0"/>
              <a:t>file is in the folder. </a:t>
            </a:r>
          </a:p>
        </p:txBody>
      </p:sp>
      <p:sp>
        <p:nvSpPr>
          <p:cNvPr id="19" name="TextBox 18">
            <a:extLst>
              <a:ext uri="{FF2B5EF4-FFF2-40B4-BE49-F238E27FC236}">
                <a16:creationId xmlns:a16="http://schemas.microsoft.com/office/drawing/2014/main" id="{216B7AB2-1E9B-7DCC-E58A-1B69CEA11C10}"/>
              </a:ext>
            </a:extLst>
          </p:cNvPr>
          <p:cNvSpPr txBox="1"/>
          <p:nvPr/>
        </p:nvSpPr>
        <p:spPr>
          <a:xfrm>
            <a:off x="9677401" y="5024735"/>
            <a:ext cx="2514599" cy="923330"/>
          </a:xfrm>
          <a:prstGeom prst="rect">
            <a:avLst/>
          </a:prstGeom>
          <a:noFill/>
        </p:spPr>
        <p:txBody>
          <a:bodyPr wrap="square" rtlCol="0">
            <a:spAutoFit/>
          </a:bodyPr>
          <a:lstStyle/>
          <a:p>
            <a:r>
              <a:rPr lang="en-US" b="1" dirty="0"/>
              <a:t>This is the Dataset File that we are looking for. </a:t>
            </a:r>
          </a:p>
        </p:txBody>
      </p:sp>
      <p:pic>
        <p:nvPicPr>
          <p:cNvPr id="7" name="Picture 6">
            <a:extLst>
              <a:ext uri="{FF2B5EF4-FFF2-40B4-BE49-F238E27FC236}">
                <a16:creationId xmlns:a16="http://schemas.microsoft.com/office/drawing/2014/main" id="{490010B9-2E35-9013-0340-786F78A8F2C8}"/>
              </a:ext>
            </a:extLst>
          </p:cNvPr>
          <p:cNvPicPr>
            <a:picLocks noChangeAspect="1"/>
          </p:cNvPicPr>
          <p:nvPr/>
        </p:nvPicPr>
        <p:blipFill>
          <a:blip r:embed="rId2"/>
          <a:stretch>
            <a:fillRect/>
          </a:stretch>
        </p:blipFill>
        <p:spPr>
          <a:xfrm>
            <a:off x="1583665" y="3219512"/>
            <a:ext cx="3907255" cy="2867421"/>
          </a:xfrm>
          <a:prstGeom prst="rect">
            <a:avLst/>
          </a:prstGeom>
        </p:spPr>
      </p:pic>
      <p:pic>
        <p:nvPicPr>
          <p:cNvPr id="10" name="Picture 9">
            <a:extLst>
              <a:ext uri="{FF2B5EF4-FFF2-40B4-BE49-F238E27FC236}">
                <a16:creationId xmlns:a16="http://schemas.microsoft.com/office/drawing/2014/main" id="{1F73C5BE-FFB8-B042-188D-A4D74DF698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3212" y="2895600"/>
            <a:ext cx="2382670" cy="3195954"/>
          </a:xfrm>
          <a:prstGeom prst="rect">
            <a:avLst/>
          </a:prstGeom>
        </p:spPr>
      </p:pic>
      <p:cxnSp>
        <p:nvCxnSpPr>
          <p:cNvPr id="11" name="Straight Arrow Connector 10">
            <a:extLst>
              <a:ext uri="{FF2B5EF4-FFF2-40B4-BE49-F238E27FC236}">
                <a16:creationId xmlns:a16="http://schemas.microsoft.com/office/drawing/2014/main" id="{59FF19F6-B84E-BCFC-601D-FF8791FFE5CD}"/>
              </a:ext>
            </a:extLst>
          </p:cNvPr>
          <p:cNvCxnSpPr>
            <a:cxnSpLocks/>
          </p:cNvCxnSpPr>
          <p:nvPr/>
        </p:nvCxnSpPr>
        <p:spPr>
          <a:xfrm flipH="1">
            <a:off x="1912919" y="4094869"/>
            <a:ext cx="1295400" cy="742888"/>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5A4D1FD3-4C74-8FD7-E106-6D95270E241F}"/>
              </a:ext>
            </a:extLst>
          </p:cNvPr>
          <p:cNvCxnSpPr>
            <a:cxnSpLocks/>
          </p:cNvCxnSpPr>
          <p:nvPr/>
        </p:nvCxnSpPr>
        <p:spPr>
          <a:xfrm>
            <a:off x="4607083" y="4865021"/>
            <a:ext cx="1600200"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2851853F-C46C-7FC0-6DCF-2B48952723F0}"/>
              </a:ext>
            </a:extLst>
          </p:cNvPr>
          <p:cNvCxnSpPr>
            <a:cxnSpLocks/>
          </p:cNvCxnSpPr>
          <p:nvPr/>
        </p:nvCxnSpPr>
        <p:spPr>
          <a:xfrm flipH="1">
            <a:off x="7696201" y="5486400"/>
            <a:ext cx="1828800"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10216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C7238-A831-9732-631A-682637062B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99779F-70FF-BA80-D988-C93C5ECF80DA}"/>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A6BC0766-91F5-4B2C-906B-84FEEF109EEE}"/>
              </a:ext>
            </a:extLst>
          </p:cNvPr>
          <p:cNvSpPr>
            <a:spLocks noGrp="1"/>
          </p:cNvSpPr>
          <p:nvPr>
            <p:ph type="body" idx="1"/>
          </p:nvPr>
        </p:nvSpPr>
        <p:spPr>
          <a:xfrm>
            <a:off x="304799" y="1557519"/>
            <a:ext cx="11582400" cy="646331"/>
          </a:xfrm>
        </p:spPr>
        <p:txBody>
          <a:bodyPr/>
          <a:lstStyle/>
          <a:p>
            <a:pPr algn="ctr"/>
            <a:r>
              <a:rPr lang="en-US" sz="2400" b="1" u="sng" dirty="0"/>
              <a:t>Training using your Data – Training the Model</a:t>
            </a:r>
          </a:p>
          <a:p>
            <a:pPr algn="l"/>
            <a:r>
              <a:rPr lang="en-US" dirty="0"/>
              <a:t> </a:t>
            </a:r>
            <a:endParaRPr lang="en-US" i="1" dirty="0">
              <a:solidFill>
                <a:srgbClr val="0000FF"/>
              </a:solidFill>
            </a:endParaRPr>
          </a:p>
        </p:txBody>
      </p:sp>
      <p:sp>
        <p:nvSpPr>
          <p:cNvPr id="8" name="TextBox 7">
            <a:extLst>
              <a:ext uri="{FF2B5EF4-FFF2-40B4-BE49-F238E27FC236}">
                <a16:creationId xmlns:a16="http://schemas.microsoft.com/office/drawing/2014/main" id="{1DE78820-EC2C-6257-A2EC-5699B79B1C62}"/>
              </a:ext>
            </a:extLst>
          </p:cNvPr>
          <p:cNvSpPr txBox="1"/>
          <p:nvPr/>
        </p:nvSpPr>
        <p:spPr>
          <a:xfrm>
            <a:off x="380998" y="2065350"/>
            <a:ext cx="11582399" cy="646331"/>
          </a:xfrm>
          <a:prstGeom prst="rect">
            <a:avLst/>
          </a:prstGeom>
          <a:noFill/>
        </p:spPr>
        <p:txBody>
          <a:bodyPr wrap="square" rtlCol="0">
            <a:spAutoFit/>
          </a:bodyPr>
          <a:lstStyle/>
          <a:p>
            <a:r>
              <a:rPr lang="en-US" b="1" u="sng" dirty="0"/>
              <a:t>Google </a:t>
            </a:r>
            <a:r>
              <a:rPr lang="en-US" b="1" u="sng" dirty="0" err="1"/>
              <a:t>Colab</a:t>
            </a:r>
            <a:r>
              <a:rPr lang="en-US" b="1" u="sng" dirty="0"/>
              <a:t> –</a:t>
            </a:r>
            <a:r>
              <a:rPr lang="en-US" dirty="0"/>
              <a:t> Now train the YOLOv8 model with the dataset by providing the address of the </a:t>
            </a:r>
            <a:r>
              <a:rPr lang="en-US" b="1" dirty="0"/>
              <a:t>“</a:t>
            </a:r>
            <a:r>
              <a:rPr lang="en-US" b="1" dirty="0" err="1"/>
              <a:t>data.yaml</a:t>
            </a:r>
            <a:r>
              <a:rPr lang="en-US" b="1" dirty="0"/>
              <a:t>” </a:t>
            </a:r>
            <a:r>
              <a:rPr lang="en-US" dirty="0"/>
              <a:t>file from the </a:t>
            </a:r>
            <a:r>
              <a:rPr lang="en-US" b="1" dirty="0"/>
              <a:t>Google </a:t>
            </a:r>
            <a:r>
              <a:rPr lang="en-US" b="1" dirty="0" err="1"/>
              <a:t>Colab</a:t>
            </a:r>
            <a:r>
              <a:rPr lang="en-US" dirty="0"/>
              <a:t> folder. Choose the </a:t>
            </a:r>
            <a:r>
              <a:rPr lang="en-US" b="1" dirty="0"/>
              <a:t>YOLOv8 nano </a:t>
            </a:r>
            <a:r>
              <a:rPr lang="en-US" dirty="0"/>
              <a:t>model to train. </a:t>
            </a:r>
            <a:endParaRPr lang="en-US" b="1" dirty="0"/>
          </a:p>
        </p:txBody>
      </p:sp>
      <p:sp>
        <p:nvSpPr>
          <p:cNvPr id="19" name="TextBox 18">
            <a:extLst>
              <a:ext uri="{FF2B5EF4-FFF2-40B4-BE49-F238E27FC236}">
                <a16:creationId xmlns:a16="http://schemas.microsoft.com/office/drawing/2014/main" id="{DB303907-9FD2-0327-D4B4-7375226BA7EE}"/>
              </a:ext>
            </a:extLst>
          </p:cNvPr>
          <p:cNvSpPr txBox="1"/>
          <p:nvPr/>
        </p:nvSpPr>
        <p:spPr>
          <a:xfrm>
            <a:off x="4384280" y="5859966"/>
            <a:ext cx="5861840" cy="646331"/>
          </a:xfrm>
          <a:prstGeom prst="rect">
            <a:avLst/>
          </a:prstGeom>
          <a:noFill/>
        </p:spPr>
        <p:txBody>
          <a:bodyPr wrap="square" rtlCol="0">
            <a:spAutoFit/>
          </a:bodyPr>
          <a:lstStyle/>
          <a:p>
            <a:pPr algn="ctr"/>
            <a:r>
              <a:rPr lang="en-US" b="1" dirty="0"/>
              <a:t>Epochs value as 20 is fine for even 10k images. (This would take some time. ~20 minutes)</a:t>
            </a:r>
          </a:p>
        </p:txBody>
      </p:sp>
      <p:pic>
        <p:nvPicPr>
          <p:cNvPr id="9" name="Picture 8">
            <a:extLst>
              <a:ext uri="{FF2B5EF4-FFF2-40B4-BE49-F238E27FC236}">
                <a16:creationId xmlns:a16="http://schemas.microsoft.com/office/drawing/2014/main" id="{480B3104-49F6-5CCA-D3C4-A3CE37395EB4}"/>
              </a:ext>
            </a:extLst>
          </p:cNvPr>
          <p:cNvPicPr>
            <a:picLocks noChangeAspect="1"/>
          </p:cNvPicPr>
          <p:nvPr/>
        </p:nvPicPr>
        <p:blipFill>
          <a:blip r:embed="rId2"/>
          <a:stretch>
            <a:fillRect/>
          </a:stretch>
        </p:blipFill>
        <p:spPr>
          <a:xfrm>
            <a:off x="304799" y="3731386"/>
            <a:ext cx="11441120" cy="1476581"/>
          </a:xfrm>
          <a:prstGeom prst="rect">
            <a:avLst/>
          </a:prstGeom>
        </p:spPr>
      </p:pic>
      <p:cxnSp>
        <p:nvCxnSpPr>
          <p:cNvPr id="12" name="Straight Arrow Connector 11">
            <a:extLst>
              <a:ext uri="{FF2B5EF4-FFF2-40B4-BE49-F238E27FC236}">
                <a16:creationId xmlns:a16="http://schemas.microsoft.com/office/drawing/2014/main" id="{DBE02B9A-31D9-8964-B9E8-79258AFA9127}"/>
              </a:ext>
            </a:extLst>
          </p:cNvPr>
          <p:cNvCxnSpPr>
            <a:cxnSpLocks/>
          </p:cNvCxnSpPr>
          <p:nvPr/>
        </p:nvCxnSpPr>
        <p:spPr>
          <a:xfrm flipH="1">
            <a:off x="522278" y="3079387"/>
            <a:ext cx="1295400" cy="742888"/>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5BAFEEC4-F6C1-6434-918D-F10CF279230F}"/>
              </a:ext>
            </a:extLst>
          </p:cNvPr>
          <p:cNvCxnSpPr>
            <a:cxnSpLocks/>
          </p:cNvCxnSpPr>
          <p:nvPr/>
        </p:nvCxnSpPr>
        <p:spPr>
          <a:xfrm flipV="1">
            <a:off x="7315200" y="5107120"/>
            <a:ext cx="0" cy="76200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73FC2FEB-264A-D671-98E2-891A384E7507}"/>
              </a:ext>
            </a:extLst>
          </p:cNvPr>
          <p:cNvSpPr txBox="1"/>
          <p:nvPr/>
        </p:nvSpPr>
        <p:spPr>
          <a:xfrm>
            <a:off x="1833757" y="2853014"/>
            <a:ext cx="1646605" cy="369332"/>
          </a:xfrm>
          <a:prstGeom prst="rect">
            <a:avLst/>
          </a:prstGeom>
          <a:noFill/>
        </p:spPr>
        <p:txBody>
          <a:bodyPr wrap="none" rtlCol="0">
            <a:spAutoFit/>
          </a:bodyPr>
          <a:lstStyle/>
          <a:p>
            <a:r>
              <a:rPr lang="en-US" b="1" dirty="0"/>
              <a:t>Run the code</a:t>
            </a:r>
          </a:p>
        </p:txBody>
      </p:sp>
    </p:spTree>
    <p:extLst>
      <p:ext uri="{BB962C8B-B14F-4D97-AF65-F5344CB8AC3E}">
        <p14:creationId xmlns:p14="http://schemas.microsoft.com/office/powerpoint/2010/main" val="27972784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F9CB3-DEB1-BFBB-547A-2BF8E736D1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A04C5D-1366-4BF4-BDB5-A694A9DAE076}"/>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BB00790C-823E-72FC-0737-EBDC7E103E52}"/>
              </a:ext>
            </a:extLst>
          </p:cNvPr>
          <p:cNvSpPr>
            <a:spLocks noGrp="1"/>
          </p:cNvSpPr>
          <p:nvPr>
            <p:ph type="body" idx="1"/>
          </p:nvPr>
        </p:nvSpPr>
        <p:spPr>
          <a:xfrm>
            <a:off x="304799" y="1557519"/>
            <a:ext cx="11582400" cy="646331"/>
          </a:xfrm>
        </p:spPr>
        <p:txBody>
          <a:bodyPr/>
          <a:lstStyle/>
          <a:p>
            <a:pPr algn="ctr"/>
            <a:r>
              <a:rPr lang="en-US" sz="2400" b="1" u="sng" dirty="0"/>
              <a:t>Training using your Data – Training the Model</a:t>
            </a:r>
          </a:p>
          <a:p>
            <a:pPr algn="l"/>
            <a:r>
              <a:rPr lang="en-US" dirty="0"/>
              <a:t> </a:t>
            </a:r>
            <a:endParaRPr lang="en-US" i="1" dirty="0">
              <a:solidFill>
                <a:srgbClr val="0000FF"/>
              </a:solidFill>
            </a:endParaRPr>
          </a:p>
        </p:txBody>
      </p:sp>
      <p:sp>
        <p:nvSpPr>
          <p:cNvPr id="8" name="TextBox 7">
            <a:extLst>
              <a:ext uri="{FF2B5EF4-FFF2-40B4-BE49-F238E27FC236}">
                <a16:creationId xmlns:a16="http://schemas.microsoft.com/office/drawing/2014/main" id="{D2989207-9A4C-C6AA-BCB7-06383640CF29}"/>
              </a:ext>
            </a:extLst>
          </p:cNvPr>
          <p:cNvSpPr txBox="1"/>
          <p:nvPr/>
        </p:nvSpPr>
        <p:spPr>
          <a:xfrm>
            <a:off x="380998" y="2065350"/>
            <a:ext cx="11582399" cy="646331"/>
          </a:xfrm>
          <a:prstGeom prst="rect">
            <a:avLst/>
          </a:prstGeom>
          <a:noFill/>
        </p:spPr>
        <p:txBody>
          <a:bodyPr wrap="square" rtlCol="0">
            <a:spAutoFit/>
          </a:bodyPr>
          <a:lstStyle/>
          <a:p>
            <a:r>
              <a:rPr lang="en-US" b="1" u="sng" dirty="0"/>
              <a:t>Google </a:t>
            </a:r>
            <a:r>
              <a:rPr lang="en-US" b="1" u="sng" dirty="0" err="1"/>
              <a:t>Colab</a:t>
            </a:r>
            <a:r>
              <a:rPr lang="en-US" b="1" u="sng" dirty="0"/>
              <a:t> –</a:t>
            </a:r>
            <a:r>
              <a:rPr lang="en-US" dirty="0"/>
              <a:t> The folder </a:t>
            </a:r>
            <a:r>
              <a:rPr lang="en-US" b="1" dirty="0"/>
              <a:t>“Runs”</a:t>
            </a:r>
            <a:r>
              <a:rPr lang="en-US" dirty="0"/>
              <a:t> will have the </a:t>
            </a:r>
            <a:r>
              <a:rPr lang="en-US" b="1" dirty="0"/>
              <a:t>“best.pt”</a:t>
            </a:r>
            <a:r>
              <a:rPr lang="en-US" dirty="0"/>
              <a:t> file for the chosen dataset. Export this file and use this for your drone. </a:t>
            </a:r>
            <a:r>
              <a:rPr lang="en-US" b="1" dirty="0"/>
              <a:t>The training is complete!</a:t>
            </a:r>
          </a:p>
        </p:txBody>
      </p:sp>
      <p:sp>
        <p:nvSpPr>
          <p:cNvPr id="19" name="TextBox 18">
            <a:extLst>
              <a:ext uri="{FF2B5EF4-FFF2-40B4-BE49-F238E27FC236}">
                <a16:creationId xmlns:a16="http://schemas.microsoft.com/office/drawing/2014/main" id="{5588BFC8-35C9-06A7-350D-5D9CE299E73C}"/>
              </a:ext>
            </a:extLst>
          </p:cNvPr>
          <p:cNvSpPr txBox="1"/>
          <p:nvPr/>
        </p:nvSpPr>
        <p:spPr>
          <a:xfrm>
            <a:off x="7467600" y="5315634"/>
            <a:ext cx="3810000" cy="646331"/>
          </a:xfrm>
          <a:prstGeom prst="rect">
            <a:avLst/>
          </a:prstGeom>
          <a:noFill/>
        </p:spPr>
        <p:txBody>
          <a:bodyPr wrap="square" rtlCol="0">
            <a:spAutoFit/>
          </a:bodyPr>
          <a:lstStyle/>
          <a:p>
            <a:r>
              <a:rPr lang="en-US" b="1" dirty="0"/>
              <a:t>This is the trained model for your dataset. </a:t>
            </a:r>
          </a:p>
        </p:txBody>
      </p:sp>
      <p:pic>
        <p:nvPicPr>
          <p:cNvPr id="7" name="Picture 6">
            <a:extLst>
              <a:ext uri="{FF2B5EF4-FFF2-40B4-BE49-F238E27FC236}">
                <a16:creationId xmlns:a16="http://schemas.microsoft.com/office/drawing/2014/main" id="{69D7257A-C5F1-3E93-FF09-C558C9AF5AC9}"/>
              </a:ext>
            </a:extLst>
          </p:cNvPr>
          <p:cNvPicPr>
            <a:picLocks noChangeAspect="1"/>
          </p:cNvPicPr>
          <p:nvPr/>
        </p:nvPicPr>
        <p:blipFill>
          <a:blip r:embed="rId2"/>
          <a:stretch>
            <a:fillRect/>
          </a:stretch>
        </p:blipFill>
        <p:spPr>
          <a:xfrm>
            <a:off x="4038600" y="2853014"/>
            <a:ext cx="2858540" cy="3232056"/>
          </a:xfrm>
          <a:prstGeom prst="rect">
            <a:avLst/>
          </a:prstGeom>
        </p:spPr>
      </p:pic>
      <p:cxnSp>
        <p:nvCxnSpPr>
          <p:cNvPr id="10" name="Straight Arrow Connector 9">
            <a:extLst>
              <a:ext uri="{FF2B5EF4-FFF2-40B4-BE49-F238E27FC236}">
                <a16:creationId xmlns:a16="http://schemas.microsoft.com/office/drawing/2014/main" id="{37201D3B-9190-CA21-8B47-CBCA4BF4AF67}"/>
              </a:ext>
            </a:extLst>
          </p:cNvPr>
          <p:cNvCxnSpPr>
            <a:cxnSpLocks/>
          </p:cNvCxnSpPr>
          <p:nvPr/>
        </p:nvCxnSpPr>
        <p:spPr>
          <a:xfrm flipH="1">
            <a:off x="5943600" y="5638800"/>
            <a:ext cx="1371600"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76056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E53D1-93A9-6480-D923-E501BF8B28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E4EB8-72C8-ECE2-CCF6-99DE93458F2C}"/>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0D127E7E-3B14-A9BE-A745-466288BA7708}"/>
              </a:ext>
            </a:extLst>
          </p:cNvPr>
          <p:cNvSpPr>
            <a:spLocks noGrp="1"/>
          </p:cNvSpPr>
          <p:nvPr>
            <p:ph type="body" idx="1"/>
          </p:nvPr>
        </p:nvSpPr>
        <p:spPr>
          <a:xfrm>
            <a:off x="344010" y="1600200"/>
            <a:ext cx="11582400" cy="646331"/>
          </a:xfrm>
        </p:spPr>
        <p:txBody>
          <a:bodyPr/>
          <a:lstStyle/>
          <a:p>
            <a:pPr algn="ctr"/>
            <a:r>
              <a:rPr lang="en-US" sz="2400" b="1" u="sng" dirty="0"/>
              <a:t>Training using your Data – (Custom Data)</a:t>
            </a:r>
          </a:p>
          <a:p>
            <a:pPr algn="l"/>
            <a:r>
              <a:rPr lang="en-US" dirty="0"/>
              <a:t> </a:t>
            </a:r>
            <a:endParaRPr lang="en-US" i="1" dirty="0">
              <a:solidFill>
                <a:srgbClr val="0000FF"/>
              </a:solidFill>
            </a:endParaRPr>
          </a:p>
        </p:txBody>
      </p:sp>
      <p:sp>
        <p:nvSpPr>
          <p:cNvPr id="6" name="TextBox 5">
            <a:extLst>
              <a:ext uri="{FF2B5EF4-FFF2-40B4-BE49-F238E27FC236}">
                <a16:creationId xmlns:a16="http://schemas.microsoft.com/office/drawing/2014/main" id="{C0322063-6C9B-7136-B509-A5FFCFCBF622}"/>
              </a:ext>
            </a:extLst>
          </p:cNvPr>
          <p:cNvSpPr txBox="1"/>
          <p:nvPr/>
        </p:nvSpPr>
        <p:spPr>
          <a:xfrm>
            <a:off x="381000" y="2246530"/>
            <a:ext cx="11582401" cy="646331"/>
          </a:xfrm>
          <a:prstGeom prst="rect">
            <a:avLst/>
          </a:prstGeom>
          <a:noFill/>
        </p:spPr>
        <p:txBody>
          <a:bodyPr wrap="square" rtlCol="0">
            <a:spAutoFit/>
          </a:bodyPr>
          <a:lstStyle/>
          <a:p>
            <a:r>
              <a:rPr lang="en-US" dirty="0"/>
              <a:t>YOLOv8 can only detect objects that it was trained for by default. But to make the drone detect </a:t>
            </a:r>
            <a:r>
              <a:rPr lang="en-US" b="1" dirty="0"/>
              <a:t>hoops</a:t>
            </a:r>
            <a:r>
              <a:rPr lang="en-US" dirty="0"/>
              <a:t> or </a:t>
            </a:r>
            <a:r>
              <a:rPr lang="en-US" b="1" dirty="0"/>
              <a:t>specific obstacles</a:t>
            </a:r>
            <a:r>
              <a:rPr lang="en-US" dirty="0"/>
              <a:t>, we must train YOLOv8 with custom datasets of those objects.</a:t>
            </a:r>
          </a:p>
        </p:txBody>
      </p:sp>
      <p:sp>
        <p:nvSpPr>
          <p:cNvPr id="7" name="TextBox 6">
            <a:extLst>
              <a:ext uri="{FF2B5EF4-FFF2-40B4-BE49-F238E27FC236}">
                <a16:creationId xmlns:a16="http://schemas.microsoft.com/office/drawing/2014/main" id="{ABE229B6-702B-2DE2-670F-6860D7CA22A9}"/>
              </a:ext>
            </a:extLst>
          </p:cNvPr>
          <p:cNvSpPr txBox="1"/>
          <p:nvPr/>
        </p:nvSpPr>
        <p:spPr>
          <a:xfrm>
            <a:off x="304800" y="3226777"/>
            <a:ext cx="5638800" cy="2031325"/>
          </a:xfrm>
          <a:prstGeom prst="rect">
            <a:avLst/>
          </a:prstGeom>
          <a:noFill/>
        </p:spPr>
        <p:txBody>
          <a:bodyPr wrap="square" rtlCol="0">
            <a:spAutoFit/>
          </a:bodyPr>
          <a:lstStyle/>
          <a:p>
            <a:r>
              <a:rPr lang="en-US" b="1" u="sng" dirty="0"/>
              <a:t>Steps-</a:t>
            </a:r>
            <a:r>
              <a:rPr lang="en-US" dirty="0"/>
              <a:t> (For offline training)</a:t>
            </a:r>
            <a:endParaRPr lang="en-US" u="sng" dirty="0"/>
          </a:p>
          <a:p>
            <a:endParaRPr lang="en-US" dirty="0"/>
          </a:p>
          <a:p>
            <a:pPr marL="285750" indent="-285750">
              <a:buFont typeface="Arial" panose="020B0604020202020204" pitchFamily="34" charset="0"/>
              <a:buChar char="•"/>
            </a:pPr>
            <a:r>
              <a:rPr lang="en-US" dirty="0"/>
              <a:t>Download all the programs needed</a:t>
            </a:r>
          </a:p>
          <a:p>
            <a:pPr marL="285750" indent="-285750">
              <a:buFont typeface="Arial" panose="020B0604020202020204" pitchFamily="34" charset="0"/>
              <a:buChar char="•"/>
            </a:pPr>
            <a:r>
              <a:rPr lang="en-US" dirty="0"/>
              <a:t>Collect images (2000+ images) of the data</a:t>
            </a:r>
          </a:p>
          <a:p>
            <a:pPr marL="285750" indent="-285750">
              <a:buFont typeface="Arial" panose="020B0604020202020204" pitchFamily="34" charset="0"/>
              <a:buChar char="•"/>
            </a:pPr>
            <a:r>
              <a:rPr lang="en-US" dirty="0"/>
              <a:t>Label (Annotating Offline or Online)</a:t>
            </a:r>
          </a:p>
          <a:p>
            <a:pPr marL="285750" indent="-285750">
              <a:buFont typeface="Arial" panose="020B0604020202020204" pitchFamily="34" charset="0"/>
              <a:buChar char="•"/>
            </a:pPr>
            <a:r>
              <a:rPr lang="en-US" dirty="0"/>
              <a:t>Setup Repository </a:t>
            </a:r>
          </a:p>
          <a:p>
            <a:pPr marL="285750" indent="-285750">
              <a:buFont typeface="Arial" panose="020B0604020202020204" pitchFamily="34" charset="0"/>
              <a:buChar char="•"/>
            </a:pPr>
            <a:r>
              <a:rPr lang="en-US" dirty="0"/>
              <a:t>Training the Model</a:t>
            </a:r>
          </a:p>
        </p:txBody>
      </p:sp>
      <p:cxnSp>
        <p:nvCxnSpPr>
          <p:cNvPr id="8" name="Straight Connector 7">
            <a:extLst>
              <a:ext uri="{FF2B5EF4-FFF2-40B4-BE49-F238E27FC236}">
                <a16:creationId xmlns:a16="http://schemas.microsoft.com/office/drawing/2014/main" id="{1363DD93-B4C3-4F6D-20D7-2A481E9289BA}"/>
              </a:ext>
            </a:extLst>
          </p:cNvPr>
          <p:cNvCxnSpPr>
            <a:cxnSpLocks/>
          </p:cNvCxnSpPr>
          <p:nvPr/>
        </p:nvCxnSpPr>
        <p:spPr>
          <a:xfrm>
            <a:off x="5791201" y="3124200"/>
            <a:ext cx="0" cy="3200400"/>
          </a:xfrm>
          <a:prstGeom prst="line">
            <a:avLst/>
          </a:prstGeom>
          <a:ln w="38100"/>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F272C751-0895-FCD1-C624-B8C0E4BCBA63}"/>
              </a:ext>
            </a:extLst>
          </p:cNvPr>
          <p:cNvSpPr txBox="1"/>
          <p:nvPr/>
        </p:nvSpPr>
        <p:spPr>
          <a:xfrm>
            <a:off x="6239312" y="3226777"/>
            <a:ext cx="5638800" cy="1754326"/>
          </a:xfrm>
          <a:prstGeom prst="rect">
            <a:avLst/>
          </a:prstGeom>
          <a:noFill/>
        </p:spPr>
        <p:txBody>
          <a:bodyPr wrap="square" rtlCol="0">
            <a:spAutoFit/>
          </a:bodyPr>
          <a:lstStyle/>
          <a:p>
            <a:r>
              <a:rPr lang="en-US" b="1" u="sng" dirty="0"/>
              <a:t>Steps-</a:t>
            </a:r>
            <a:r>
              <a:rPr lang="en-US" dirty="0"/>
              <a:t> (For complete online training)</a:t>
            </a:r>
            <a:endParaRPr lang="en-US" u="sng" dirty="0"/>
          </a:p>
          <a:p>
            <a:endParaRPr lang="en-US" dirty="0"/>
          </a:p>
          <a:p>
            <a:pPr marL="285750" indent="-285750">
              <a:buFont typeface="Arial" panose="020B0604020202020204" pitchFamily="34" charset="0"/>
              <a:buChar char="•"/>
            </a:pPr>
            <a:r>
              <a:rPr lang="en-US" dirty="0"/>
              <a:t>Collect images (2000+ images) of the data</a:t>
            </a:r>
          </a:p>
          <a:p>
            <a:pPr marL="285750" indent="-285750">
              <a:buFont typeface="Arial" panose="020B0604020202020204" pitchFamily="34" charset="0"/>
              <a:buChar char="•"/>
            </a:pPr>
            <a:r>
              <a:rPr lang="en-US" dirty="0"/>
              <a:t>Label (Annotating completely online)</a:t>
            </a:r>
          </a:p>
          <a:p>
            <a:pPr marL="285750" indent="-285750">
              <a:buFont typeface="Arial" panose="020B0604020202020204" pitchFamily="34" charset="0"/>
              <a:buChar char="•"/>
            </a:pPr>
            <a:r>
              <a:rPr lang="en-US" dirty="0"/>
              <a:t>Online Repository </a:t>
            </a:r>
          </a:p>
          <a:p>
            <a:pPr marL="285750" indent="-285750">
              <a:buFont typeface="Arial" panose="020B0604020202020204" pitchFamily="34" charset="0"/>
              <a:buChar char="•"/>
            </a:pPr>
            <a:r>
              <a:rPr lang="en-US" dirty="0"/>
              <a:t>Training the Model (Google </a:t>
            </a:r>
            <a:r>
              <a:rPr lang="en-US" dirty="0" err="1"/>
              <a:t>Colab</a:t>
            </a:r>
            <a:r>
              <a:rPr lang="en-US" dirty="0"/>
              <a:t>)</a:t>
            </a:r>
          </a:p>
        </p:txBody>
      </p:sp>
    </p:spTree>
    <p:extLst>
      <p:ext uri="{BB962C8B-B14F-4D97-AF65-F5344CB8AC3E}">
        <p14:creationId xmlns:p14="http://schemas.microsoft.com/office/powerpoint/2010/main" val="32218871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1B2BD-9EAF-4C1C-E361-E39409EB06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7EEFD3-D153-B62B-9BD7-075949208184}"/>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05427806-5D70-6553-62D0-50B1A20A345D}"/>
              </a:ext>
            </a:extLst>
          </p:cNvPr>
          <p:cNvSpPr>
            <a:spLocks noGrp="1"/>
          </p:cNvSpPr>
          <p:nvPr>
            <p:ph type="body" idx="1"/>
          </p:nvPr>
        </p:nvSpPr>
        <p:spPr>
          <a:xfrm>
            <a:off x="330666" y="1446429"/>
            <a:ext cx="11582400" cy="646331"/>
          </a:xfrm>
        </p:spPr>
        <p:txBody>
          <a:bodyPr/>
          <a:lstStyle/>
          <a:p>
            <a:pPr algn="ctr"/>
            <a:r>
              <a:rPr lang="en-US" sz="2400" b="1" u="sng" dirty="0"/>
              <a:t>Training using your Data – Downloading the Programs</a:t>
            </a:r>
          </a:p>
          <a:p>
            <a:pPr algn="l"/>
            <a:r>
              <a:rPr lang="en-US" dirty="0"/>
              <a:t> </a:t>
            </a:r>
            <a:endParaRPr lang="en-US" i="1" dirty="0">
              <a:solidFill>
                <a:srgbClr val="0000FF"/>
              </a:solidFill>
            </a:endParaRPr>
          </a:p>
        </p:txBody>
      </p:sp>
      <p:sp>
        <p:nvSpPr>
          <p:cNvPr id="6" name="TextBox 5">
            <a:extLst>
              <a:ext uri="{FF2B5EF4-FFF2-40B4-BE49-F238E27FC236}">
                <a16:creationId xmlns:a16="http://schemas.microsoft.com/office/drawing/2014/main" id="{0F5B7A92-AA21-B2D7-88B0-66DAA69AEABD}"/>
              </a:ext>
            </a:extLst>
          </p:cNvPr>
          <p:cNvSpPr txBox="1"/>
          <p:nvPr/>
        </p:nvSpPr>
        <p:spPr>
          <a:xfrm>
            <a:off x="304799" y="2013437"/>
            <a:ext cx="11582401" cy="369332"/>
          </a:xfrm>
          <a:prstGeom prst="rect">
            <a:avLst/>
          </a:prstGeom>
          <a:noFill/>
        </p:spPr>
        <p:txBody>
          <a:bodyPr wrap="square" rtlCol="0">
            <a:spAutoFit/>
          </a:bodyPr>
          <a:lstStyle/>
          <a:p>
            <a:r>
              <a:rPr lang="en-US" b="1" dirty="0"/>
              <a:t>(</a:t>
            </a:r>
            <a:r>
              <a:rPr lang="en-US" b="1" dirty="0" err="1"/>
              <a:t>i</a:t>
            </a:r>
            <a:r>
              <a:rPr lang="en-US" b="1" dirty="0"/>
              <a:t>) </a:t>
            </a:r>
            <a:r>
              <a:rPr lang="en-US" b="1" u="sng" dirty="0"/>
              <a:t>Necessary Programs-</a:t>
            </a:r>
            <a:r>
              <a:rPr lang="en-US" dirty="0"/>
              <a:t> The programs needed for training the model, natively on your device, are-</a:t>
            </a:r>
            <a:endParaRPr lang="en-US" b="1" u="sng" dirty="0"/>
          </a:p>
        </p:txBody>
      </p:sp>
      <p:sp>
        <p:nvSpPr>
          <p:cNvPr id="7" name="TextBox 6">
            <a:extLst>
              <a:ext uri="{FF2B5EF4-FFF2-40B4-BE49-F238E27FC236}">
                <a16:creationId xmlns:a16="http://schemas.microsoft.com/office/drawing/2014/main" id="{90021662-CD1D-B801-3DFF-E21D21450C95}"/>
              </a:ext>
            </a:extLst>
          </p:cNvPr>
          <p:cNvSpPr txBox="1"/>
          <p:nvPr/>
        </p:nvSpPr>
        <p:spPr>
          <a:xfrm>
            <a:off x="457200" y="2949777"/>
            <a:ext cx="9105902" cy="2585323"/>
          </a:xfrm>
          <a:prstGeom prst="rect">
            <a:avLst/>
          </a:prstGeom>
          <a:noFill/>
        </p:spPr>
        <p:txBody>
          <a:bodyPr wrap="square" rtlCol="0">
            <a:spAutoFit/>
          </a:bodyPr>
          <a:lstStyle/>
          <a:p>
            <a:r>
              <a:rPr lang="en-US" b="1" dirty="0"/>
              <a:t>Anaconda Prompt – </a:t>
            </a:r>
            <a:r>
              <a:rPr lang="en-US" dirty="0"/>
              <a:t>Terminal for training (VS Code’s terminal is a better alternate)</a:t>
            </a:r>
            <a:endParaRPr lang="en-US" b="1" dirty="0"/>
          </a:p>
          <a:p>
            <a:endParaRPr lang="en-US" b="1" dirty="0"/>
          </a:p>
          <a:p>
            <a:endParaRPr lang="en-US" b="1" dirty="0"/>
          </a:p>
          <a:p>
            <a:endParaRPr lang="en-US" b="1" dirty="0"/>
          </a:p>
          <a:p>
            <a:r>
              <a:rPr lang="en-US" b="1" dirty="0" err="1"/>
              <a:t>LabelImg</a:t>
            </a:r>
            <a:r>
              <a:rPr lang="en-US" b="1" dirty="0"/>
              <a:t> – </a:t>
            </a:r>
            <a:r>
              <a:rPr lang="en-US" dirty="0"/>
              <a:t>Image annotator (Offline option)</a:t>
            </a:r>
          </a:p>
          <a:p>
            <a:endParaRPr lang="en-US" b="1" dirty="0"/>
          </a:p>
          <a:p>
            <a:endParaRPr lang="en-US" b="1" dirty="0"/>
          </a:p>
          <a:p>
            <a:endParaRPr lang="en-US" b="1" dirty="0"/>
          </a:p>
          <a:p>
            <a:r>
              <a:rPr lang="en-US" b="1" dirty="0"/>
              <a:t>Libraries – </a:t>
            </a:r>
            <a:r>
              <a:rPr lang="en-US" dirty="0"/>
              <a:t>Python Libraries (Using “pip install”)</a:t>
            </a:r>
          </a:p>
        </p:txBody>
      </p:sp>
    </p:spTree>
    <p:extLst>
      <p:ext uri="{BB962C8B-B14F-4D97-AF65-F5344CB8AC3E}">
        <p14:creationId xmlns:p14="http://schemas.microsoft.com/office/powerpoint/2010/main" val="7064645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E16F8-2147-95AA-5C22-AD49B65B5D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C574B8-0D14-3BBE-0B55-341047A824A7}"/>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36157912-BFB8-0EC7-BAEC-1A7BF5202B3A}"/>
              </a:ext>
            </a:extLst>
          </p:cNvPr>
          <p:cNvSpPr>
            <a:spLocks noGrp="1"/>
          </p:cNvSpPr>
          <p:nvPr>
            <p:ph type="body" idx="1"/>
          </p:nvPr>
        </p:nvSpPr>
        <p:spPr>
          <a:xfrm>
            <a:off x="330666" y="1446429"/>
            <a:ext cx="11582400" cy="646331"/>
          </a:xfrm>
        </p:spPr>
        <p:txBody>
          <a:bodyPr/>
          <a:lstStyle/>
          <a:p>
            <a:pPr algn="ctr"/>
            <a:r>
              <a:rPr lang="en-US" sz="2400" b="1" u="sng" dirty="0"/>
              <a:t>Training using your Data – Downloading the Programs</a:t>
            </a:r>
          </a:p>
          <a:p>
            <a:pPr algn="l"/>
            <a:r>
              <a:rPr lang="en-US" dirty="0"/>
              <a:t> </a:t>
            </a:r>
            <a:endParaRPr lang="en-US" i="1" dirty="0">
              <a:solidFill>
                <a:srgbClr val="0000FF"/>
              </a:solidFill>
            </a:endParaRPr>
          </a:p>
        </p:txBody>
      </p:sp>
      <p:sp>
        <p:nvSpPr>
          <p:cNvPr id="6" name="TextBox 5">
            <a:extLst>
              <a:ext uri="{FF2B5EF4-FFF2-40B4-BE49-F238E27FC236}">
                <a16:creationId xmlns:a16="http://schemas.microsoft.com/office/drawing/2014/main" id="{CC3A3957-C9B2-78AD-F26E-122DEEEB7BD2}"/>
              </a:ext>
            </a:extLst>
          </p:cNvPr>
          <p:cNvSpPr txBox="1"/>
          <p:nvPr/>
        </p:nvSpPr>
        <p:spPr>
          <a:xfrm>
            <a:off x="304799" y="2013437"/>
            <a:ext cx="11582401" cy="369332"/>
          </a:xfrm>
          <a:prstGeom prst="rect">
            <a:avLst/>
          </a:prstGeom>
          <a:noFill/>
        </p:spPr>
        <p:txBody>
          <a:bodyPr wrap="square" rtlCol="0">
            <a:spAutoFit/>
          </a:bodyPr>
          <a:lstStyle/>
          <a:p>
            <a:r>
              <a:rPr lang="en-US" b="1" dirty="0"/>
              <a:t>(</a:t>
            </a:r>
            <a:r>
              <a:rPr lang="en-US" b="1" dirty="0" err="1"/>
              <a:t>i</a:t>
            </a:r>
            <a:r>
              <a:rPr lang="en-US" b="1" dirty="0"/>
              <a:t>) </a:t>
            </a:r>
            <a:r>
              <a:rPr lang="en-US" b="1" u="sng" dirty="0"/>
              <a:t>Anaconda Prompt- </a:t>
            </a:r>
            <a:r>
              <a:rPr lang="en-US" dirty="0"/>
              <a:t>This is the base for annotating and training the model on our custom data. </a:t>
            </a:r>
            <a:endParaRPr lang="en-US" b="1" u="sng" dirty="0"/>
          </a:p>
        </p:txBody>
      </p:sp>
      <p:sp>
        <p:nvSpPr>
          <p:cNvPr id="7" name="TextBox 6">
            <a:extLst>
              <a:ext uri="{FF2B5EF4-FFF2-40B4-BE49-F238E27FC236}">
                <a16:creationId xmlns:a16="http://schemas.microsoft.com/office/drawing/2014/main" id="{98EBD072-4A54-0AA8-830D-C5D8407AF7B1}"/>
              </a:ext>
            </a:extLst>
          </p:cNvPr>
          <p:cNvSpPr txBox="1"/>
          <p:nvPr/>
        </p:nvSpPr>
        <p:spPr>
          <a:xfrm>
            <a:off x="2933698" y="2580445"/>
            <a:ext cx="5715001" cy="369332"/>
          </a:xfrm>
          <a:prstGeom prst="rect">
            <a:avLst/>
          </a:prstGeom>
          <a:noFill/>
        </p:spPr>
        <p:txBody>
          <a:bodyPr wrap="square" rtlCol="0">
            <a:spAutoFit/>
          </a:bodyPr>
          <a:lstStyle/>
          <a:p>
            <a:r>
              <a:rPr lang="en-US" b="1" dirty="0"/>
              <a:t>Install Anaconda prompt from its official website</a:t>
            </a:r>
          </a:p>
        </p:txBody>
      </p:sp>
      <p:pic>
        <p:nvPicPr>
          <p:cNvPr id="8" name="Picture 7">
            <a:extLst>
              <a:ext uri="{FF2B5EF4-FFF2-40B4-BE49-F238E27FC236}">
                <a16:creationId xmlns:a16="http://schemas.microsoft.com/office/drawing/2014/main" id="{44E121DF-3086-1C16-B759-701FEF415894}"/>
              </a:ext>
            </a:extLst>
          </p:cNvPr>
          <p:cNvPicPr>
            <a:picLocks noChangeAspect="1"/>
          </p:cNvPicPr>
          <p:nvPr/>
        </p:nvPicPr>
        <p:blipFill>
          <a:blip r:embed="rId2"/>
          <a:stretch>
            <a:fillRect/>
          </a:stretch>
        </p:blipFill>
        <p:spPr>
          <a:xfrm>
            <a:off x="1885553" y="3276600"/>
            <a:ext cx="7811293" cy="3119275"/>
          </a:xfrm>
          <a:prstGeom prst="rect">
            <a:avLst/>
          </a:prstGeom>
        </p:spPr>
      </p:pic>
    </p:spTree>
    <p:extLst>
      <p:ext uri="{BB962C8B-B14F-4D97-AF65-F5344CB8AC3E}">
        <p14:creationId xmlns:p14="http://schemas.microsoft.com/office/powerpoint/2010/main" val="7200976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B6EA1-A63B-8A68-29C3-0110F12D6D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010EEC-48CF-1A63-55BC-9AA8C74127B4}"/>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FE5C2F9A-9A69-1B0A-DA58-3E78811478A2}"/>
              </a:ext>
            </a:extLst>
          </p:cNvPr>
          <p:cNvSpPr>
            <a:spLocks noGrp="1"/>
          </p:cNvSpPr>
          <p:nvPr>
            <p:ph type="body" idx="1"/>
          </p:nvPr>
        </p:nvSpPr>
        <p:spPr>
          <a:xfrm>
            <a:off x="330666" y="1446429"/>
            <a:ext cx="11582400" cy="646331"/>
          </a:xfrm>
        </p:spPr>
        <p:txBody>
          <a:bodyPr/>
          <a:lstStyle/>
          <a:p>
            <a:pPr algn="ctr"/>
            <a:r>
              <a:rPr lang="en-US" sz="2400" b="1" u="sng" dirty="0"/>
              <a:t>Training using your Data – Downloading the Programs</a:t>
            </a:r>
          </a:p>
          <a:p>
            <a:pPr algn="l"/>
            <a:r>
              <a:rPr lang="en-US" dirty="0"/>
              <a:t> </a:t>
            </a:r>
            <a:endParaRPr lang="en-US" i="1" dirty="0">
              <a:solidFill>
                <a:srgbClr val="0000FF"/>
              </a:solidFill>
            </a:endParaRPr>
          </a:p>
        </p:txBody>
      </p:sp>
      <p:sp>
        <p:nvSpPr>
          <p:cNvPr id="6" name="TextBox 5">
            <a:extLst>
              <a:ext uri="{FF2B5EF4-FFF2-40B4-BE49-F238E27FC236}">
                <a16:creationId xmlns:a16="http://schemas.microsoft.com/office/drawing/2014/main" id="{741F7C7F-3106-BB20-23C4-CBF7B055CA70}"/>
              </a:ext>
            </a:extLst>
          </p:cNvPr>
          <p:cNvSpPr txBox="1"/>
          <p:nvPr/>
        </p:nvSpPr>
        <p:spPr>
          <a:xfrm>
            <a:off x="304799" y="2013437"/>
            <a:ext cx="11582401" cy="923330"/>
          </a:xfrm>
          <a:prstGeom prst="rect">
            <a:avLst/>
          </a:prstGeom>
          <a:noFill/>
        </p:spPr>
        <p:txBody>
          <a:bodyPr wrap="square" rtlCol="0">
            <a:spAutoFit/>
          </a:bodyPr>
          <a:lstStyle/>
          <a:p>
            <a:r>
              <a:rPr lang="en-US" b="1" dirty="0"/>
              <a:t>(ii) </a:t>
            </a:r>
            <a:r>
              <a:rPr lang="en-US" b="1" u="sng" dirty="0"/>
              <a:t>Libraries-</a:t>
            </a:r>
            <a:r>
              <a:rPr lang="en-US" dirty="0"/>
              <a:t> Open Anaconda prompt and change the directory to your preferred folder. </a:t>
            </a:r>
          </a:p>
          <a:p>
            <a:pPr marL="400050" indent="-400050">
              <a:buAutoNum type="romanLcParenBoth"/>
            </a:pPr>
            <a:endParaRPr lang="en-US" dirty="0"/>
          </a:p>
          <a:p>
            <a:pPr algn="ctr"/>
            <a:r>
              <a:rPr lang="en-US" b="1" dirty="0"/>
              <a:t>Use the “cd” command</a:t>
            </a:r>
          </a:p>
        </p:txBody>
      </p:sp>
      <p:pic>
        <p:nvPicPr>
          <p:cNvPr id="5" name="Picture 4">
            <a:extLst>
              <a:ext uri="{FF2B5EF4-FFF2-40B4-BE49-F238E27FC236}">
                <a16:creationId xmlns:a16="http://schemas.microsoft.com/office/drawing/2014/main" id="{8CAF86A0-DFDD-B6F0-0090-B43A1FA8B90E}"/>
              </a:ext>
            </a:extLst>
          </p:cNvPr>
          <p:cNvPicPr>
            <a:picLocks noChangeAspect="1"/>
          </p:cNvPicPr>
          <p:nvPr/>
        </p:nvPicPr>
        <p:blipFill>
          <a:blip r:embed="rId2"/>
          <a:stretch>
            <a:fillRect/>
          </a:stretch>
        </p:blipFill>
        <p:spPr>
          <a:xfrm>
            <a:off x="228600" y="3124200"/>
            <a:ext cx="11262361" cy="471511"/>
          </a:xfrm>
          <a:prstGeom prst="rect">
            <a:avLst/>
          </a:prstGeom>
        </p:spPr>
      </p:pic>
      <p:sp>
        <p:nvSpPr>
          <p:cNvPr id="13" name="TextBox 12">
            <a:extLst>
              <a:ext uri="{FF2B5EF4-FFF2-40B4-BE49-F238E27FC236}">
                <a16:creationId xmlns:a16="http://schemas.microsoft.com/office/drawing/2014/main" id="{3EF933FC-2682-4589-4E13-68525FD56C9A}"/>
              </a:ext>
            </a:extLst>
          </p:cNvPr>
          <p:cNvSpPr txBox="1"/>
          <p:nvPr/>
        </p:nvSpPr>
        <p:spPr>
          <a:xfrm>
            <a:off x="379562" y="4114800"/>
            <a:ext cx="11355994" cy="1200329"/>
          </a:xfrm>
          <a:prstGeom prst="rect">
            <a:avLst/>
          </a:prstGeom>
          <a:noFill/>
        </p:spPr>
        <p:txBody>
          <a:bodyPr wrap="none" rtlCol="0">
            <a:spAutoFit/>
          </a:bodyPr>
          <a:lstStyle/>
          <a:p>
            <a:r>
              <a:rPr lang="en-US" b="1" u="sng" dirty="0"/>
              <a:t>Pip installs-</a:t>
            </a:r>
            <a:r>
              <a:rPr lang="en-US" dirty="0"/>
              <a:t> </a:t>
            </a:r>
            <a:br>
              <a:rPr lang="en-US" dirty="0"/>
            </a:br>
            <a:endParaRPr lang="en-US" dirty="0"/>
          </a:p>
          <a:p>
            <a:pPr marL="285750" indent="-285750">
              <a:buFont typeface="Arial" panose="020B0604020202020204" pitchFamily="34" charset="0"/>
              <a:buChar char="•"/>
            </a:pPr>
            <a:r>
              <a:rPr lang="en-US" i="1" dirty="0" err="1">
                <a:latin typeface="Verdana" panose="020B0604030504040204" pitchFamily="34" charset="0"/>
                <a:ea typeface="Verdana" panose="020B0604030504040204" pitchFamily="34" charset="0"/>
              </a:rPr>
              <a:t>simple_image_download</a:t>
            </a:r>
            <a:r>
              <a:rPr lang="en-US" i="1" dirty="0">
                <a:latin typeface="Verdana" panose="020B0604030504040204" pitchFamily="34" charset="0"/>
                <a:ea typeface="Verdana" panose="020B0604030504040204" pitchFamily="34" charset="0"/>
              </a:rPr>
              <a:t>==0.4  </a:t>
            </a:r>
            <a:r>
              <a:rPr lang="en-US" dirty="0">
                <a:sym typeface="Wingdings" panose="05000000000000000000" pitchFamily="2" charset="2"/>
              </a:rPr>
              <a:t> version 0.4 works with YOLOv8, higher versions aren’t </a:t>
            </a:r>
            <a:r>
              <a:rPr lang="en-US" dirty="0" err="1">
                <a:sym typeface="Wingdings" panose="05000000000000000000" pitchFamily="2" charset="2"/>
              </a:rPr>
              <a:t>compatable</a:t>
            </a:r>
            <a:endParaRPr lang="en-US" dirty="0"/>
          </a:p>
          <a:p>
            <a:pPr marL="285750" indent="-285750">
              <a:buFont typeface="Arial" panose="020B0604020202020204" pitchFamily="34" charset="0"/>
              <a:buChar char="•"/>
            </a:pPr>
            <a:r>
              <a:rPr lang="en-US" i="1" dirty="0" err="1">
                <a:latin typeface="Verdana" panose="020B0604030504040204" pitchFamily="34" charset="0"/>
                <a:ea typeface="Verdana" panose="020B0604030504040204" pitchFamily="34" charset="0"/>
              </a:rPr>
              <a:t>labelImg</a:t>
            </a:r>
            <a:r>
              <a:rPr lang="en-US" i="1" dirty="0"/>
              <a:t>    </a:t>
            </a:r>
            <a:r>
              <a:rPr lang="en-US" dirty="0"/>
              <a:t>                                       </a:t>
            </a:r>
            <a:r>
              <a:rPr lang="en-US" dirty="0">
                <a:sym typeface="Wingdings" panose="05000000000000000000" pitchFamily="2" charset="2"/>
              </a:rPr>
              <a:t> “I” is capital in “</a:t>
            </a:r>
            <a:r>
              <a:rPr lang="en-US" dirty="0" err="1">
                <a:sym typeface="Wingdings" panose="05000000000000000000" pitchFamily="2" charset="2"/>
              </a:rPr>
              <a:t>img</a:t>
            </a:r>
            <a:r>
              <a:rPr lang="en-US" dirty="0">
                <a:sym typeface="Wingdings" panose="05000000000000000000" pitchFamily="2" charset="2"/>
              </a:rPr>
              <a:t>”</a:t>
            </a:r>
            <a:endParaRPr lang="en-US" dirty="0"/>
          </a:p>
        </p:txBody>
      </p:sp>
    </p:spTree>
    <p:extLst>
      <p:ext uri="{BB962C8B-B14F-4D97-AF65-F5344CB8AC3E}">
        <p14:creationId xmlns:p14="http://schemas.microsoft.com/office/powerpoint/2010/main" val="7955305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AFFC3-274C-8BC0-2C80-35873EC28A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2B319C-C32C-4CEC-59E4-7BEA2DEE939E}"/>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3F08C40E-DEBE-BA3C-A2CA-E06E1D0A86E5}"/>
              </a:ext>
            </a:extLst>
          </p:cNvPr>
          <p:cNvSpPr>
            <a:spLocks noGrp="1"/>
          </p:cNvSpPr>
          <p:nvPr>
            <p:ph type="body" idx="1"/>
          </p:nvPr>
        </p:nvSpPr>
        <p:spPr>
          <a:xfrm>
            <a:off x="330666" y="1446429"/>
            <a:ext cx="11582400" cy="646331"/>
          </a:xfrm>
        </p:spPr>
        <p:txBody>
          <a:bodyPr/>
          <a:lstStyle/>
          <a:p>
            <a:pPr algn="ctr"/>
            <a:r>
              <a:rPr lang="en-US" sz="2400" b="1" u="sng" dirty="0"/>
              <a:t>Training using your Data – Download the images</a:t>
            </a:r>
          </a:p>
          <a:p>
            <a:pPr algn="l"/>
            <a:r>
              <a:rPr lang="en-US" dirty="0"/>
              <a:t> </a:t>
            </a:r>
            <a:endParaRPr lang="en-US" i="1" dirty="0">
              <a:solidFill>
                <a:srgbClr val="0000FF"/>
              </a:solidFill>
            </a:endParaRPr>
          </a:p>
        </p:txBody>
      </p:sp>
      <p:sp>
        <p:nvSpPr>
          <p:cNvPr id="6" name="TextBox 5">
            <a:extLst>
              <a:ext uri="{FF2B5EF4-FFF2-40B4-BE49-F238E27FC236}">
                <a16:creationId xmlns:a16="http://schemas.microsoft.com/office/drawing/2014/main" id="{1B310A23-97C1-4EFC-FB66-6D930B3CD180}"/>
              </a:ext>
            </a:extLst>
          </p:cNvPr>
          <p:cNvSpPr txBox="1"/>
          <p:nvPr/>
        </p:nvSpPr>
        <p:spPr>
          <a:xfrm>
            <a:off x="381000" y="2092760"/>
            <a:ext cx="11582401" cy="646331"/>
          </a:xfrm>
          <a:prstGeom prst="rect">
            <a:avLst/>
          </a:prstGeom>
          <a:noFill/>
        </p:spPr>
        <p:txBody>
          <a:bodyPr wrap="square" rtlCol="0">
            <a:spAutoFit/>
          </a:bodyPr>
          <a:lstStyle/>
          <a:p>
            <a:pPr algn="l"/>
            <a:r>
              <a:rPr lang="en-US" b="1" dirty="0" err="1"/>
              <a:t>Simple_image_download</a:t>
            </a:r>
            <a:r>
              <a:rPr lang="en-US" b="1" dirty="0"/>
              <a:t> –</a:t>
            </a:r>
            <a:r>
              <a:rPr lang="en-US" dirty="0"/>
              <a:t> Using this library that we downloaded earlier to download up to 2000 images of the smiley ball. </a:t>
            </a:r>
            <a:endParaRPr lang="en-US" b="1" u="sng" dirty="0"/>
          </a:p>
        </p:txBody>
      </p:sp>
      <p:pic>
        <p:nvPicPr>
          <p:cNvPr id="5" name="Picture 4">
            <a:extLst>
              <a:ext uri="{FF2B5EF4-FFF2-40B4-BE49-F238E27FC236}">
                <a16:creationId xmlns:a16="http://schemas.microsoft.com/office/drawing/2014/main" id="{EC156DEE-8844-6302-5E49-FCB65CA1B9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3274" y="3944923"/>
            <a:ext cx="1924050" cy="2371725"/>
          </a:xfrm>
          <a:prstGeom prst="rect">
            <a:avLst/>
          </a:prstGeom>
        </p:spPr>
      </p:pic>
      <p:pic>
        <p:nvPicPr>
          <p:cNvPr id="10" name="Picture 9">
            <a:extLst>
              <a:ext uri="{FF2B5EF4-FFF2-40B4-BE49-F238E27FC236}">
                <a16:creationId xmlns:a16="http://schemas.microsoft.com/office/drawing/2014/main" id="{C7179FF6-2E7C-2611-08D4-D1402AF7E6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171" y="3737732"/>
            <a:ext cx="2057400" cy="2219325"/>
          </a:xfrm>
          <a:prstGeom prst="rect">
            <a:avLst/>
          </a:prstGeom>
        </p:spPr>
      </p:pic>
      <p:pic>
        <p:nvPicPr>
          <p:cNvPr id="12" name="Picture 11">
            <a:extLst>
              <a:ext uri="{FF2B5EF4-FFF2-40B4-BE49-F238E27FC236}">
                <a16:creationId xmlns:a16="http://schemas.microsoft.com/office/drawing/2014/main" id="{7F02CE3F-2755-5007-8149-66E5407F8C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78320" y="3944923"/>
            <a:ext cx="3548023" cy="2012134"/>
          </a:xfrm>
          <a:prstGeom prst="rect">
            <a:avLst/>
          </a:prstGeom>
        </p:spPr>
      </p:pic>
      <p:pic>
        <p:nvPicPr>
          <p:cNvPr id="14" name="Picture 13">
            <a:extLst>
              <a:ext uri="{FF2B5EF4-FFF2-40B4-BE49-F238E27FC236}">
                <a16:creationId xmlns:a16="http://schemas.microsoft.com/office/drawing/2014/main" id="{FE4346F8-A4AE-4D88-E754-BC1CE3E72D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67400" y="3962400"/>
            <a:ext cx="3618124" cy="2026149"/>
          </a:xfrm>
          <a:prstGeom prst="rect">
            <a:avLst/>
          </a:prstGeom>
        </p:spPr>
      </p:pic>
      <p:sp>
        <p:nvSpPr>
          <p:cNvPr id="15" name="TextBox 14">
            <a:extLst>
              <a:ext uri="{FF2B5EF4-FFF2-40B4-BE49-F238E27FC236}">
                <a16:creationId xmlns:a16="http://schemas.microsoft.com/office/drawing/2014/main" id="{0908FCF4-8C85-ED70-AAEF-4CDE686B98B2}"/>
              </a:ext>
            </a:extLst>
          </p:cNvPr>
          <p:cNvSpPr txBox="1"/>
          <p:nvPr/>
        </p:nvSpPr>
        <p:spPr>
          <a:xfrm>
            <a:off x="381000" y="2913077"/>
            <a:ext cx="11532066" cy="646331"/>
          </a:xfrm>
          <a:prstGeom prst="rect">
            <a:avLst/>
          </a:prstGeom>
          <a:noFill/>
        </p:spPr>
        <p:txBody>
          <a:bodyPr wrap="square" rtlCol="0">
            <a:spAutoFit/>
          </a:bodyPr>
          <a:lstStyle/>
          <a:p>
            <a:r>
              <a:rPr lang="en-US" dirty="0"/>
              <a:t>It’s preferable if images are handpicked from the internet or taking photos yourself. But for bigger datasets, this library is useful. </a:t>
            </a:r>
          </a:p>
        </p:txBody>
      </p:sp>
    </p:spTree>
    <p:extLst>
      <p:ext uri="{BB962C8B-B14F-4D97-AF65-F5344CB8AC3E}">
        <p14:creationId xmlns:p14="http://schemas.microsoft.com/office/powerpoint/2010/main" val="13061938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065C5-E817-6A55-C0B7-DFCC5EAE37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1C6BE9-C045-9BB7-0DE8-CD1754DC66A0}"/>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ADAD3BEA-3518-570A-3D14-7F1A8DE73040}"/>
              </a:ext>
            </a:extLst>
          </p:cNvPr>
          <p:cNvSpPr>
            <a:spLocks noGrp="1"/>
          </p:cNvSpPr>
          <p:nvPr>
            <p:ph type="body" idx="1"/>
          </p:nvPr>
        </p:nvSpPr>
        <p:spPr>
          <a:xfrm>
            <a:off x="330666" y="1446429"/>
            <a:ext cx="11582400" cy="646331"/>
          </a:xfrm>
        </p:spPr>
        <p:txBody>
          <a:bodyPr/>
          <a:lstStyle/>
          <a:p>
            <a:pPr algn="ctr"/>
            <a:r>
              <a:rPr lang="en-US" sz="2400" b="1" u="sng" dirty="0"/>
              <a:t>Training using your Data – Download the images</a:t>
            </a:r>
          </a:p>
          <a:p>
            <a:pPr algn="l"/>
            <a:r>
              <a:rPr lang="en-US" dirty="0"/>
              <a:t> </a:t>
            </a:r>
            <a:endParaRPr lang="en-US" i="1" dirty="0">
              <a:solidFill>
                <a:srgbClr val="0000FF"/>
              </a:solidFill>
            </a:endParaRPr>
          </a:p>
        </p:txBody>
      </p:sp>
      <p:sp>
        <p:nvSpPr>
          <p:cNvPr id="6" name="TextBox 5">
            <a:extLst>
              <a:ext uri="{FF2B5EF4-FFF2-40B4-BE49-F238E27FC236}">
                <a16:creationId xmlns:a16="http://schemas.microsoft.com/office/drawing/2014/main" id="{AF99D857-B421-D5DE-F6EB-B6F911DA6706}"/>
              </a:ext>
            </a:extLst>
          </p:cNvPr>
          <p:cNvSpPr txBox="1"/>
          <p:nvPr/>
        </p:nvSpPr>
        <p:spPr>
          <a:xfrm>
            <a:off x="381000" y="2092760"/>
            <a:ext cx="11582401" cy="646331"/>
          </a:xfrm>
          <a:prstGeom prst="rect">
            <a:avLst/>
          </a:prstGeom>
          <a:noFill/>
        </p:spPr>
        <p:txBody>
          <a:bodyPr wrap="square" rtlCol="0">
            <a:spAutoFit/>
          </a:bodyPr>
          <a:lstStyle/>
          <a:p>
            <a:pPr algn="l"/>
            <a:r>
              <a:rPr lang="en-US" b="1" dirty="0" err="1"/>
              <a:t>Simple_image_download</a:t>
            </a:r>
            <a:r>
              <a:rPr lang="en-US" b="1" dirty="0"/>
              <a:t> –</a:t>
            </a:r>
            <a:r>
              <a:rPr lang="en-US" dirty="0"/>
              <a:t> Using this library that we downloaded earlier to download up to 2000 images of the smiley ball. </a:t>
            </a:r>
            <a:endParaRPr lang="en-US" b="1" u="sng" dirty="0"/>
          </a:p>
        </p:txBody>
      </p:sp>
      <p:sp>
        <p:nvSpPr>
          <p:cNvPr id="15" name="TextBox 14">
            <a:extLst>
              <a:ext uri="{FF2B5EF4-FFF2-40B4-BE49-F238E27FC236}">
                <a16:creationId xmlns:a16="http://schemas.microsoft.com/office/drawing/2014/main" id="{504E59AF-4214-4CAF-8538-33B65C540A0C}"/>
              </a:ext>
            </a:extLst>
          </p:cNvPr>
          <p:cNvSpPr txBox="1"/>
          <p:nvPr/>
        </p:nvSpPr>
        <p:spPr>
          <a:xfrm>
            <a:off x="381000" y="2913077"/>
            <a:ext cx="11532066" cy="646331"/>
          </a:xfrm>
          <a:prstGeom prst="rect">
            <a:avLst/>
          </a:prstGeom>
          <a:noFill/>
        </p:spPr>
        <p:txBody>
          <a:bodyPr wrap="square" rtlCol="0">
            <a:spAutoFit/>
          </a:bodyPr>
          <a:lstStyle/>
          <a:p>
            <a:r>
              <a:rPr lang="en-US" dirty="0"/>
              <a:t>It’s preferable if images are handpicked from the internet or taking photos yourself. But for bigger datasets, this library is useful. Run the code below and you’ll be getting a new folder in your directory named “</a:t>
            </a:r>
            <a:r>
              <a:rPr lang="en-US" i="1" dirty="0" err="1"/>
              <a:t>simple_image</a:t>
            </a:r>
            <a:r>
              <a:rPr lang="en-US" dirty="0"/>
              <a:t>“</a:t>
            </a:r>
          </a:p>
        </p:txBody>
      </p:sp>
      <p:pic>
        <p:nvPicPr>
          <p:cNvPr id="7" name="Picture 6">
            <a:extLst>
              <a:ext uri="{FF2B5EF4-FFF2-40B4-BE49-F238E27FC236}">
                <a16:creationId xmlns:a16="http://schemas.microsoft.com/office/drawing/2014/main" id="{8E08C4CD-E177-C6AD-2587-28B16708A281}"/>
              </a:ext>
            </a:extLst>
          </p:cNvPr>
          <p:cNvPicPr>
            <a:picLocks noChangeAspect="1"/>
          </p:cNvPicPr>
          <p:nvPr/>
        </p:nvPicPr>
        <p:blipFill>
          <a:blip r:embed="rId2"/>
          <a:stretch>
            <a:fillRect/>
          </a:stretch>
        </p:blipFill>
        <p:spPr>
          <a:xfrm>
            <a:off x="2128284" y="3903038"/>
            <a:ext cx="7935432" cy="2200582"/>
          </a:xfrm>
          <a:prstGeom prst="rect">
            <a:avLst/>
          </a:prstGeom>
        </p:spPr>
      </p:pic>
      <p:pic>
        <p:nvPicPr>
          <p:cNvPr id="9" name="Picture 8">
            <a:extLst>
              <a:ext uri="{FF2B5EF4-FFF2-40B4-BE49-F238E27FC236}">
                <a16:creationId xmlns:a16="http://schemas.microsoft.com/office/drawing/2014/main" id="{BCE5C6F9-8EA2-CCDF-7402-DE58F0A42968}"/>
              </a:ext>
            </a:extLst>
          </p:cNvPr>
          <p:cNvPicPr>
            <a:picLocks noChangeAspect="1"/>
          </p:cNvPicPr>
          <p:nvPr/>
        </p:nvPicPr>
        <p:blipFill>
          <a:blip r:embed="rId3"/>
          <a:stretch>
            <a:fillRect/>
          </a:stretch>
        </p:blipFill>
        <p:spPr>
          <a:xfrm>
            <a:off x="1752600" y="3893512"/>
            <a:ext cx="8602275" cy="2210108"/>
          </a:xfrm>
          <a:prstGeom prst="rect">
            <a:avLst/>
          </a:prstGeom>
        </p:spPr>
      </p:pic>
    </p:spTree>
    <p:extLst>
      <p:ext uri="{BB962C8B-B14F-4D97-AF65-F5344CB8AC3E}">
        <p14:creationId xmlns:p14="http://schemas.microsoft.com/office/powerpoint/2010/main" val="13899261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43497-9B14-90FA-7727-986DD674D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BBA6D-8626-5982-0C73-47F2B391FCAF}"/>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8A807EF2-2E04-7C32-CB74-43CCAFAE6516}"/>
              </a:ext>
            </a:extLst>
          </p:cNvPr>
          <p:cNvSpPr>
            <a:spLocks noGrp="1"/>
          </p:cNvSpPr>
          <p:nvPr>
            <p:ph type="body" idx="1"/>
          </p:nvPr>
        </p:nvSpPr>
        <p:spPr>
          <a:xfrm>
            <a:off x="304799" y="1557519"/>
            <a:ext cx="11582400" cy="646331"/>
          </a:xfrm>
        </p:spPr>
        <p:txBody>
          <a:bodyPr/>
          <a:lstStyle/>
          <a:p>
            <a:pPr algn="ctr"/>
            <a:r>
              <a:rPr lang="en-US" sz="2400" b="1" u="sng" dirty="0"/>
              <a:t>Training using your Data – Labelling the images</a:t>
            </a:r>
          </a:p>
          <a:p>
            <a:pPr algn="l"/>
            <a:r>
              <a:rPr lang="en-US" dirty="0"/>
              <a:t> </a:t>
            </a:r>
            <a:endParaRPr lang="en-US" i="1" dirty="0">
              <a:solidFill>
                <a:srgbClr val="0000FF"/>
              </a:solidFill>
            </a:endParaRPr>
          </a:p>
        </p:txBody>
      </p:sp>
      <p:sp>
        <p:nvSpPr>
          <p:cNvPr id="8" name="TextBox 7">
            <a:extLst>
              <a:ext uri="{FF2B5EF4-FFF2-40B4-BE49-F238E27FC236}">
                <a16:creationId xmlns:a16="http://schemas.microsoft.com/office/drawing/2014/main" id="{61EB3542-165A-E5B9-289C-32D47E2214EA}"/>
              </a:ext>
            </a:extLst>
          </p:cNvPr>
          <p:cNvSpPr txBox="1"/>
          <p:nvPr/>
        </p:nvSpPr>
        <p:spPr>
          <a:xfrm>
            <a:off x="381000" y="2286000"/>
            <a:ext cx="11430000" cy="646331"/>
          </a:xfrm>
          <a:prstGeom prst="rect">
            <a:avLst/>
          </a:prstGeom>
          <a:noFill/>
        </p:spPr>
        <p:txBody>
          <a:bodyPr wrap="square" rtlCol="0">
            <a:spAutoFit/>
          </a:bodyPr>
          <a:lstStyle/>
          <a:p>
            <a:pPr marL="400050" indent="-400050">
              <a:buAutoNum type="romanLcParenBoth"/>
            </a:pPr>
            <a:r>
              <a:rPr lang="en-US" b="1" u="sng" dirty="0" err="1"/>
              <a:t>labelImg</a:t>
            </a:r>
            <a:r>
              <a:rPr lang="en-US" b="1" u="sng" dirty="0"/>
              <a:t> –</a:t>
            </a:r>
            <a:r>
              <a:rPr lang="en-US" dirty="0"/>
              <a:t> This is the </a:t>
            </a:r>
            <a:r>
              <a:rPr lang="en-US" b="1" dirty="0"/>
              <a:t>OFFLINE</a:t>
            </a:r>
            <a:r>
              <a:rPr lang="en-US" dirty="0"/>
              <a:t> tool that is used to annotate and make a dataset for our model. Open the tool using the command “</a:t>
            </a:r>
            <a:r>
              <a:rPr lang="en-US" i="1" dirty="0" err="1">
                <a:latin typeface="Verdana" panose="020B0604030504040204" pitchFamily="34" charset="0"/>
                <a:ea typeface="Verdana" panose="020B0604030504040204" pitchFamily="34" charset="0"/>
              </a:rPr>
              <a:t>labelImg</a:t>
            </a:r>
            <a:r>
              <a:rPr lang="en-US" dirty="0"/>
              <a:t>“ (</a:t>
            </a:r>
            <a:r>
              <a:rPr lang="en-US" dirty="0" err="1"/>
              <a:t>i</a:t>
            </a:r>
            <a:r>
              <a:rPr lang="en-US" dirty="0"/>
              <a:t> is capital) in the Anaconda Prompt</a:t>
            </a:r>
          </a:p>
        </p:txBody>
      </p:sp>
      <p:pic>
        <p:nvPicPr>
          <p:cNvPr id="10" name="Picture 9">
            <a:extLst>
              <a:ext uri="{FF2B5EF4-FFF2-40B4-BE49-F238E27FC236}">
                <a16:creationId xmlns:a16="http://schemas.microsoft.com/office/drawing/2014/main" id="{76F99B6A-AD41-542E-42E2-969A0392BCDE}"/>
              </a:ext>
            </a:extLst>
          </p:cNvPr>
          <p:cNvPicPr>
            <a:picLocks noChangeAspect="1"/>
          </p:cNvPicPr>
          <p:nvPr/>
        </p:nvPicPr>
        <p:blipFill>
          <a:blip r:embed="rId2"/>
          <a:stretch>
            <a:fillRect/>
          </a:stretch>
        </p:blipFill>
        <p:spPr>
          <a:xfrm>
            <a:off x="1199331" y="3352800"/>
            <a:ext cx="9793337" cy="304800"/>
          </a:xfrm>
          <a:prstGeom prst="rect">
            <a:avLst/>
          </a:prstGeom>
        </p:spPr>
      </p:pic>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64CE6B6C-9DC3-8FF2-4F86-1C0814CC2B52}"/>
                  </a:ext>
                </a:extLst>
              </p14:cNvPr>
              <p14:cNvContentPartPr/>
              <p14:nvPr/>
            </p14:nvContentPartPr>
            <p14:xfrm>
              <a:off x="9772818" y="3510976"/>
              <a:ext cx="1032480" cy="8640"/>
            </p14:xfrm>
          </p:contentPart>
        </mc:Choice>
        <mc:Fallback xmlns="">
          <p:pic>
            <p:nvPicPr>
              <p:cNvPr id="14" name="Ink 13">
                <a:extLst>
                  <a:ext uri="{FF2B5EF4-FFF2-40B4-BE49-F238E27FC236}">
                    <a16:creationId xmlns:a16="http://schemas.microsoft.com/office/drawing/2014/main" id="{64CE6B6C-9DC3-8FF2-4F86-1C0814CC2B52}"/>
                  </a:ext>
                </a:extLst>
              </p:cNvPr>
              <p:cNvPicPr/>
              <p:nvPr/>
            </p:nvPicPr>
            <p:blipFill>
              <a:blip r:embed="rId4"/>
              <a:stretch>
                <a:fillRect/>
              </a:stretch>
            </p:blipFill>
            <p:spPr>
              <a:xfrm>
                <a:off x="9718818" y="3403336"/>
                <a:ext cx="114012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37770A04-10BF-EA1F-5522-2052F405D169}"/>
                  </a:ext>
                </a:extLst>
              </p14:cNvPr>
              <p14:cNvContentPartPr/>
              <p14:nvPr/>
            </p14:nvContentPartPr>
            <p14:xfrm>
              <a:off x="9730338" y="3553096"/>
              <a:ext cx="51120" cy="360"/>
            </p14:xfrm>
          </p:contentPart>
        </mc:Choice>
        <mc:Fallback xmlns="">
          <p:pic>
            <p:nvPicPr>
              <p:cNvPr id="15" name="Ink 14">
                <a:extLst>
                  <a:ext uri="{FF2B5EF4-FFF2-40B4-BE49-F238E27FC236}">
                    <a16:creationId xmlns:a16="http://schemas.microsoft.com/office/drawing/2014/main" id="{37770A04-10BF-EA1F-5522-2052F405D169}"/>
                  </a:ext>
                </a:extLst>
              </p:cNvPr>
              <p:cNvPicPr/>
              <p:nvPr/>
            </p:nvPicPr>
            <p:blipFill>
              <a:blip r:embed="rId6"/>
              <a:stretch>
                <a:fillRect/>
              </a:stretch>
            </p:blipFill>
            <p:spPr>
              <a:xfrm>
                <a:off x="9676338" y="3445456"/>
                <a:ext cx="158760" cy="216000"/>
              </a:xfrm>
              <a:prstGeom prst="rect">
                <a:avLst/>
              </a:prstGeom>
            </p:spPr>
          </p:pic>
        </mc:Fallback>
      </mc:AlternateContent>
      <p:sp>
        <p:nvSpPr>
          <p:cNvPr id="16" name="TextBox 15">
            <a:extLst>
              <a:ext uri="{FF2B5EF4-FFF2-40B4-BE49-F238E27FC236}">
                <a16:creationId xmlns:a16="http://schemas.microsoft.com/office/drawing/2014/main" id="{5D135146-E05F-3193-5ABD-CC040C969AF2}"/>
              </a:ext>
            </a:extLst>
          </p:cNvPr>
          <p:cNvSpPr txBox="1"/>
          <p:nvPr/>
        </p:nvSpPr>
        <p:spPr>
          <a:xfrm>
            <a:off x="644466" y="4334353"/>
            <a:ext cx="10903067" cy="1077218"/>
          </a:xfrm>
          <a:prstGeom prst="rect">
            <a:avLst/>
          </a:prstGeom>
          <a:noFill/>
        </p:spPr>
        <p:txBody>
          <a:bodyPr wrap="square" rtlCol="0">
            <a:spAutoFit/>
          </a:bodyPr>
          <a:lstStyle/>
          <a:p>
            <a:pPr algn="ctr"/>
            <a:r>
              <a:rPr lang="en-US" sz="3200" dirty="0"/>
              <a:t>This should open the Tool. Click on the “</a:t>
            </a:r>
            <a:r>
              <a:rPr lang="en-US" sz="3200" b="1" i="1" dirty="0"/>
              <a:t>open </a:t>
            </a:r>
            <a:r>
              <a:rPr lang="en-US" sz="3200" b="1" i="1" dirty="0" err="1"/>
              <a:t>dir</a:t>
            </a:r>
            <a:r>
              <a:rPr lang="en-US" sz="3200" dirty="0"/>
              <a:t>” option on the toolbar and navigate to your images folder. </a:t>
            </a:r>
          </a:p>
        </p:txBody>
      </p:sp>
    </p:spTree>
    <p:extLst>
      <p:ext uri="{BB962C8B-B14F-4D97-AF65-F5344CB8AC3E}">
        <p14:creationId xmlns:p14="http://schemas.microsoft.com/office/powerpoint/2010/main" val="41636161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66A52-6997-08B2-1470-6A1FF77264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C104DA-9C37-0F77-2C4E-411D8A2F853D}"/>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C11773AC-7C5A-C339-779A-6EC1351CE5B0}"/>
              </a:ext>
            </a:extLst>
          </p:cNvPr>
          <p:cNvSpPr>
            <a:spLocks noGrp="1"/>
          </p:cNvSpPr>
          <p:nvPr>
            <p:ph type="body" idx="1"/>
          </p:nvPr>
        </p:nvSpPr>
        <p:spPr>
          <a:xfrm>
            <a:off x="304799" y="1557519"/>
            <a:ext cx="11582400" cy="646331"/>
          </a:xfrm>
        </p:spPr>
        <p:txBody>
          <a:bodyPr/>
          <a:lstStyle/>
          <a:p>
            <a:pPr algn="ctr"/>
            <a:r>
              <a:rPr lang="en-US" sz="2400" b="1" u="sng" dirty="0"/>
              <a:t>Training using your Data – Labelling the images</a:t>
            </a:r>
          </a:p>
          <a:p>
            <a:pPr algn="l"/>
            <a:r>
              <a:rPr lang="en-US" dirty="0"/>
              <a:t> </a:t>
            </a:r>
            <a:endParaRPr lang="en-US" i="1" dirty="0">
              <a:solidFill>
                <a:srgbClr val="0000FF"/>
              </a:solidFill>
            </a:endParaRPr>
          </a:p>
        </p:txBody>
      </p:sp>
      <p:sp>
        <p:nvSpPr>
          <p:cNvPr id="4" name="TextBox 3">
            <a:extLst>
              <a:ext uri="{FF2B5EF4-FFF2-40B4-BE49-F238E27FC236}">
                <a16:creationId xmlns:a16="http://schemas.microsoft.com/office/drawing/2014/main" id="{D4CF4889-135D-9E2A-6009-6925F79E3DC7}"/>
              </a:ext>
            </a:extLst>
          </p:cNvPr>
          <p:cNvSpPr txBox="1"/>
          <p:nvPr/>
        </p:nvSpPr>
        <p:spPr>
          <a:xfrm>
            <a:off x="304799" y="2286000"/>
            <a:ext cx="11430001" cy="646331"/>
          </a:xfrm>
          <a:prstGeom prst="rect">
            <a:avLst/>
          </a:prstGeom>
          <a:noFill/>
        </p:spPr>
        <p:txBody>
          <a:bodyPr wrap="square" rtlCol="0">
            <a:spAutoFit/>
          </a:bodyPr>
          <a:lstStyle/>
          <a:p>
            <a:r>
              <a:rPr lang="en-US" dirty="0"/>
              <a:t>Open your images folder using the “</a:t>
            </a:r>
            <a:r>
              <a:rPr lang="en-US" b="1" i="1" dirty="0"/>
              <a:t>open </a:t>
            </a:r>
            <a:r>
              <a:rPr lang="en-US" b="1" i="1" dirty="0" err="1"/>
              <a:t>dir</a:t>
            </a:r>
            <a:r>
              <a:rPr lang="en-US" dirty="0"/>
              <a:t>” option and open the folder where you want to save the annotated images using the “</a:t>
            </a:r>
            <a:r>
              <a:rPr lang="en-US" b="1" i="1" dirty="0"/>
              <a:t>change save </a:t>
            </a:r>
            <a:r>
              <a:rPr lang="en-US" b="1" i="1" dirty="0" err="1"/>
              <a:t>dir</a:t>
            </a:r>
            <a:r>
              <a:rPr lang="en-US" dirty="0"/>
              <a:t>”</a:t>
            </a:r>
          </a:p>
        </p:txBody>
      </p:sp>
      <p:pic>
        <p:nvPicPr>
          <p:cNvPr id="6" name="Picture 5">
            <a:extLst>
              <a:ext uri="{FF2B5EF4-FFF2-40B4-BE49-F238E27FC236}">
                <a16:creationId xmlns:a16="http://schemas.microsoft.com/office/drawing/2014/main" id="{63B619ED-B9F9-3BB5-A819-4A4B02928438}"/>
              </a:ext>
            </a:extLst>
          </p:cNvPr>
          <p:cNvPicPr>
            <a:picLocks noChangeAspect="1"/>
          </p:cNvPicPr>
          <p:nvPr/>
        </p:nvPicPr>
        <p:blipFill>
          <a:blip r:embed="rId2"/>
          <a:stretch>
            <a:fillRect/>
          </a:stretch>
        </p:blipFill>
        <p:spPr>
          <a:xfrm>
            <a:off x="377505" y="3014481"/>
            <a:ext cx="6096000" cy="3429000"/>
          </a:xfrm>
          <a:prstGeom prst="rect">
            <a:avLst/>
          </a:prstGeom>
        </p:spPr>
      </p:pic>
      <p:sp>
        <p:nvSpPr>
          <p:cNvPr id="7" name="Frame 6">
            <a:extLst>
              <a:ext uri="{FF2B5EF4-FFF2-40B4-BE49-F238E27FC236}">
                <a16:creationId xmlns:a16="http://schemas.microsoft.com/office/drawing/2014/main" id="{01A65C78-E953-4DEC-9980-6FB5018DEB57}"/>
              </a:ext>
            </a:extLst>
          </p:cNvPr>
          <p:cNvSpPr/>
          <p:nvPr/>
        </p:nvSpPr>
        <p:spPr>
          <a:xfrm>
            <a:off x="381000" y="3124200"/>
            <a:ext cx="381000" cy="914400"/>
          </a:xfrm>
          <a:prstGeom prst="fram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cxnSp>
        <p:nvCxnSpPr>
          <p:cNvPr id="11" name="Straight Arrow Connector 10">
            <a:extLst>
              <a:ext uri="{FF2B5EF4-FFF2-40B4-BE49-F238E27FC236}">
                <a16:creationId xmlns:a16="http://schemas.microsoft.com/office/drawing/2014/main" id="{892FFA43-D381-26CC-5953-5B2E007101DC}"/>
              </a:ext>
            </a:extLst>
          </p:cNvPr>
          <p:cNvCxnSpPr>
            <a:cxnSpLocks/>
            <a:stCxn id="7" idx="3"/>
          </p:cNvCxnSpPr>
          <p:nvPr/>
        </p:nvCxnSpPr>
        <p:spPr>
          <a:xfrm>
            <a:off x="762000" y="3581400"/>
            <a:ext cx="6553200"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pic>
        <p:nvPicPr>
          <p:cNvPr id="17" name="Picture 16">
            <a:extLst>
              <a:ext uri="{FF2B5EF4-FFF2-40B4-BE49-F238E27FC236}">
                <a16:creationId xmlns:a16="http://schemas.microsoft.com/office/drawing/2014/main" id="{C62490FF-E8DE-2313-E5BB-434841A2BC08}"/>
              </a:ext>
            </a:extLst>
          </p:cNvPr>
          <p:cNvPicPr>
            <a:picLocks noChangeAspect="1"/>
          </p:cNvPicPr>
          <p:nvPr/>
        </p:nvPicPr>
        <p:blipFill>
          <a:blip r:embed="rId3"/>
          <a:stretch>
            <a:fillRect/>
          </a:stretch>
        </p:blipFill>
        <p:spPr>
          <a:xfrm>
            <a:off x="7391400" y="3014481"/>
            <a:ext cx="1524000" cy="3405808"/>
          </a:xfrm>
          <a:prstGeom prst="rect">
            <a:avLst/>
          </a:prstGeom>
        </p:spPr>
      </p:pic>
      <p:sp>
        <p:nvSpPr>
          <p:cNvPr id="19" name="Frame 18">
            <a:extLst>
              <a:ext uri="{FF2B5EF4-FFF2-40B4-BE49-F238E27FC236}">
                <a16:creationId xmlns:a16="http://schemas.microsoft.com/office/drawing/2014/main" id="{2A5E154A-9814-6B7E-C3C7-6927E40325D7}"/>
              </a:ext>
            </a:extLst>
          </p:cNvPr>
          <p:cNvSpPr/>
          <p:nvPr/>
        </p:nvSpPr>
        <p:spPr>
          <a:xfrm>
            <a:off x="7391400" y="3810000"/>
            <a:ext cx="1524000" cy="914400"/>
          </a:xfrm>
          <a:prstGeom prst="frame">
            <a:avLst>
              <a:gd name="adj1" fmla="val 6078"/>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20" name="Frame 19">
            <a:extLst>
              <a:ext uri="{FF2B5EF4-FFF2-40B4-BE49-F238E27FC236}">
                <a16:creationId xmlns:a16="http://schemas.microsoft.com/office/drawing/2014/main" id="{82EE7CC9-F2B0-A478-D447-7AC4E362F138}"/>
              </a:ext>
            </a:extLst>
          </p:cNvPr>
          <p:cNvSpPr/>
          <p:nvPr/>
        </p:nvSpPr>
        <p:spPr>
          <a:xfrm>
            <a:off x="7394895" y="4657944"/>
            <a:ext cx="1524000" cy="914400"/>
          </a:xfrm>
          <a:prstGeom prst="frame">
            <a:avLst>
              <a:gd name="adj1" fmla="val 6078"/>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6372373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94286-DEB5-A68A-6707-07148AC244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E25EBD-C9C5-7225-AD07-07F3C09B8E1E}"/>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45AB7B66-9458-4EDF-81E2-E2D91C30388F}"/>
              </a:ext>
            </a:extLst>
          </p:cNvPr>
          <p:cNvSpPr>
            <a:spLocks noGrp="1"/>
          </p:cNvSpPr>
          <p:nvPr>
            <p:ph type="body" idx="1"/>
          </p:nvPr>
        </p:nvSpPr>
        <p:spPr>
          <a:xfrm>
            <a:off x="304799" y="1557519"/>
            <a:ext cx="11582400" cy="646331"/>
          </a:xfrm>
        </p:spPr>
        <p:txBody>
          <a:bodyPr/>
          <a:lstStyle/>
          <a:p>
            <a:pPr algn="ctr"/>
            <a:r>
              <a:rPr lang="en-US" sz="2400" b="1" u="sng" dirty="0"/>
              <a:t>Training using your Data – Labelling the images</a:t>
            </a:r>
          </a:p>
          <a:p>
            <a:pPr algn="l"/>
            <a:r>
              <a:rPr lang="en-US" dirty="0"/>
              <a:t> </a:t>
            </a:r>
            <a:endParaRPr lang="en-US" i="1" dirty="0">
              <a:solidFill>
                <a:srgbClr val="0000FF"/>
              </a:solidFill>
            </a:endParaRPr>
          </a:p>
        </p:txBody>
      </p:sp>
      <p:sp>
        <p:nvSpPr>
          <p:cNvPr id="4" name="TextBox 3">
            <a:extLst>
              <a:ext uri="{FF2B5EF4-FFF2-40B4-BE49-F238E27FC236}">
                <a16:creationId xmlns:a16="http://schemas.microsoft.com/office/drawing/2014/main" id="{8323F6FC-ED23-2CD1-198A-13D584795AC7}"/>
              </a:ext>
            </a:extLst>
          </p:cNvPr>
          <p:cNvSpPr txBox="1"/>
          <p:nvPr/>
        </p:nvSpPr>
        <p:spPr>
          <a:xfrm>
            <a:off x="304799" y="2286000"/>
            <a:ext cx="11430001" cy="369332"/>
          </a:xfrm>
          <a:prstGeom prst="rect">
            <a:avLst/>
          </a:prstGeom>
          <a:noFill/>
        </p:spPr>
        <p:txBody>
          <a:bodyPr wrap="square" rtlCol="0">
            <a:spAutoFit/>
          </a:bodyPr>
          <a:lstStyle/>
          <a:p>
            <a:r>
              <a:rPr lang="en-US" dirty="0"/>
              <a:t>Make sure the mode is set to YOLO and not </a:t>
            </a:r>
            <a:r>
              <a:rPr lang="en-US" dirty="0" err="1"/>
              <a:t>PascalVOC</a:t>
            </a:r>
            <a:r>
              <a:rPr lang="en-US" dirty="0"/>
              <a:t> or </a:t>
            </a:r>
            <a:r>
              <a:rPr lang="en-US" dirty="0" err="1"/>
              <a:t>CreateML</a:t>
            </a:r>
            <a:endParaRPr lang="en-US" dirty="0"/>
          </a:p>
        </p:txBody>
      </p:sp>
      <p:pic>
        <p:nvPicPr>
          <p:cNvPr id="6" name="Picture 5">
            <a:extLst>
              <a:ext uri="{FF2B5EF4-FFF2-40B4-BE49-F238E27FC236}">
                <a16:creationId xmlns:a16="http://schemas.microsoft.com/office/drawing/2014/main" id="{9C753282-632B-0DBA-60EC-D6FC152AE301}"/>
              </a:ext>
            </a:extLst>
          </p:cNvPr>
          <p:cNvPicPr>
            <a:picLocks noChangeAspect="1"/>
          </p:cNvPicPr>
          <p:nvPr/>
        </p:nvPicPr>
        <p:blipFill>
          <a:blip r:embed="rId2"/>
          <a:stretch>
            <a:fillRect/>
          </a:stretch>
        </p:blipFill>
        <p:spPr>
          <a:xfrm>
            <a:off x="377505" y="3014481"/>
            <a:ext cx="6096000" cy="3429000"/>
          </a:xfrm>
          <a:prstGeom prst="rect">
            <a:avLst/>
          </a:prstGeom>
        </p:spPr>
      </p:pic>
      <p:sp>
        <p:nvSpPr>
          <p:cNvPr id="7" name="Frame 6">
            <a:extLst>
              <a:ext uri="{FF2B5EF4-FFF2-40B4-BE49-F238E27FC236}">
                <a16:creationId xmlns:a16="http://schemas.microsoft.com/office/drawing/2014/main" id="{FD2D9792-8255-5027-7C2A-8F337BAB9D37}"/>
              </a:ext>
            </a:extLst>
          </p:cNvPr>
          <p:cNvSpPr/>
          <p:nvPr/>
        </p:nvSpPr>
        <p:spPr>
          <a:xfrm>
            <a:off x="381000" y="4267200"/>
            <a:ext cx="381000" cy="914400"/>
          </a:xfrm>
          <a:prstGeom prst="fram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cxnSp>
        <p:nvCxnSpPr>
          <p:cNvPr id="11" name="Straight Arrow Connector 10">
            <a:extLst>
              <a:ext uri="{FF2B5EF4-FFF2-40B4-BE49-F238E27FC236}">
                <a16:creationId xmlns:a16="http://schemas.microsoft.com/office/drawing/2014/main" id="{9CC50146-2AC0-1AC8-BC45-3F8FD6E5A78A}"/>
              </a:ext>
            </a:extLst>
          </p:cNvPr>
          <p:cNvCxnSpPr>
            <a:cxnSpLocks/>
            <a:stCxn id="7" idx="3"/>
          </p:cNvCxnSpPr>
          <p:nvPr/>
        </p:nvCxnSpPr>
        <p:spPr>
          <a:xfrm flipV="1">
            <a:off x="762000" y="4648200"/>
            <a:ext cx="6553200" cy="7620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pic>
        <p:nvPicPr>
          <p:cNvPr id="14" name="Picture 13">
            <a:extLst>
              <a:ext uri="{FF2B5EF4-FFF2-40B4-BE49-F238E27FC236}">
                <a16:creationId xmlns:a16="http://schemas.microsoft.com/office/drawing/2014/main" id="{F0C648AA-BED7-F009-D168-3715095251B3}"/>
              </a:ext>
            </a:extLst>
          </p:cNvPr>
          <p:cNvPicPr>
            <a:picLocks noChangeAspect="1"/>
          </p:cNvPicPr>
          <p:nvPr/>
        </p:nvPicPr>
        <p:blipFill>
          <a:blip r:embed="rId3"/>
          <a:stretch>
            <a:fillRect/>
          </a:stretch>
        </p:blipFill>
        <p:spPr>
          <a:xfrm>
            <a:off x="7315200" y="3224890"/>
            <a:ext cx="1568211" cy="3252110"/>
          </a:xfrm>
          <a:prstGeom prst="rect">
            <a:avLst/>
          </a:prstGeom>
        </p:spPr>
      </p:pic>
      <p:sp>
        <p:nvSpPr>
          <p:cNvPr id="15" name="Frame 14">
            <a:extLst>
              <a:ext uri="{FF2B5EF4-FFF2-40B4-BE49-F238E27FC236}">
                <a16:creationId xmlns:a16="http://schemas.microsoft.com/office/drawing/2014/main" id="{3FD94B9C-DA4F-7EC6-FB5C-A716984C2770}"/>
              </a:ext>
            </a:extLst>
          </p:cNvPr>
          <p:cNvSpPr/>
          <p:nvPr/>
        </p:nvSpPr>
        <p:spPr>
          <a:xfrm>
            <a:off x="7315200" y="4096609"/>
            <a:ext cx="1524000" cy="914400"/>
          </a:xfrm>
          <a:prstGeom prst="frame">
            <a:avLst>
              <a:gd name="adj1" fmla="val 6078"/>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16" name="TextBox 15">
            <a:extLst>
              <a:ext uri="{FF2B5EF4-FFF2-40B4-BE49-F238E27FC236}">
                <a16:creationId xmlns:a16="http://schemas.microsoft.com/office/drawing/2014/main" id="{036E1684-B48E-E8A4-F06C-6BBBF839CC43}"/>
              </a:ext>
            </a:extLst>
          </p:cNvPr>
          <p:cNvSpPr txBox="1"/>
          <p:nvPr/>
        </p:nvSpPr>
        <p:spPr>
          <a:xfrm>
            <a:off x="9503433" y="4204614"/>
            <a:ext cx="2362200" cy="923330"/>
          </a:xfrm>
          <a:prstGeom prst="rect">
            <a:avLst/>
          </a:prstGeom>
          <a:noFill/>
        </p:spPr>
        <p:txBody>
          <a:bodyPr wrap="square" rtlCol="0">
            <a:spAutoFit/>
          </a:bodyPr>
          <a:lstStyle/>
          <a:p>
            <a:pPr algn="ctr"/>
            <a:r>
              <a:rPr lang="en-US" b="1" dirty="0"/>
              <a:t>Click on the option to change it to YOLO</a:t>
            </a:r>
          </a:p>
        </p:txBody>
      </p:sp>
      <p:cxnSp>
        <p:nvCxnSpPr>
          <p:cNvPr id="18" name="Straight Arrow Connector 17">
            <a:extLst>
              <a:ext uri="{FF2B5EF4-FFF2-40B4-BE49-F238E27FC236}">
                <a16:creationId xmlns:a16="http://schemas.microsoft.com/office/drawing/2014/main" id="{CD23E356-0158-721E-C903-E9370B23CF28}"/>
              </a:ext>
            </a:extLst>
          </p:cNvPr>
          <p:cNvCxnSpPr>
            <a:cxnSpLocks/>
            <a:endCxn id="15" idx="3"/>
          </p:cNvCxnSpPr>
          <p:nvPr/>
        </p:nvCxnSpPr>
        <p:spPr>
          <a:xfrm flipH="1">
            <a:off x="8839200" y="4553809"/>
            <a:ext cx="609600"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23" name="Frame 22">
            <a:extLst>
              <a:ext uri="{FF2B5EF4-FFF2-40B4-BE49-F238E27FC236}">
                <a16:creationId xmlns:a16="http://schemas.microsoft.com/office/drawing/2014/main" id="{7CE75854-659D-D803-7421-96E017171579}"/>
              </a:ext>
            </a:extLst>
          </p:cNvPr>
          <p:cNvSpPr/>
          <p:nvPr/>
        </p:nvSpPr>
        <p:spPr>
          <a:xfrm>
            <a:off x="9416810" y="4096609"/>
            <a:ext cx="2546589" cy="1084991"/>
          </a:xfrm>
          <a:prstGeom prst="frame">
            <a:avLst>
              <a:gd name="adj1" fmla="val 4488"/>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5006199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21A63-C299-8C32-27FE-DE97ABC665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65A359-9C79-654D-D1AC-626925F78A6A}"/>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66157C63-D10C-9728-21E2-8208DD3446D0}"/>
              </a:ext>
            </a:extLst>
          </p:cNvPr>
          <p:cNvSpPr>
            <a:spLocks noGrp="1"/>
          </p:cNvSpPr>
          <p:nvPr>
            <p:ph type="body" idx="1"/>
          </p:nvPr>
        </p:nvSpPr>
        <p:spPr>
          <a:xfrm>
            <a:off x="304799" y="1557519"/>
            <a:ext cx="11582400" cy="646331"/>
          </a:xfrm>
        </p:spPr>
        <p:txBody>
          <a:bodyPr/>
          <a:lstStyle/>
          <a:p>
            <a:pPr algn="ctr"/>
            <a:r>
              <a:rPr lang="en-US" sz="2400" b="1" u="sng" dirty="0"/>
              <a:t>Training using your Data – Labelling the images</a:t>
            </a:r>
          </a:p>
          <a:p>
            <a:pPr algn="l"/>
            <a:r>
              <a:rPr lang="en-US" dirty="0"/>
              <a:t> </a:t>
            </a:r>
            <a:endParaRPr lang="en-US" i="1" dirty="0">
              <a:solidFill>
                <a:srgbClr val="0000FF"/>
              </a:solidFill>
            </a:endParaRPr>
          </a:p>
        </p:txBody>
      </p:sp>
      <p:sp>
        <p:nvSpPr>
          <p:cNvPr id="8" name="TextBox 7">
            <a:extLst>
              <a:ext uri="{FF2B5EF4-FFF2-40B4-BE49-F238E27FC236}">
                <a16:creationId xmlns:a16="http://schemas.microsoft.com/office/drawing/2014/main" id="{77039836-1511-09FD-C66B-185E169824D9}"/>
              </a:ext>
            </a:extLst>
          </p:cNvPr>
          <p:cNvSpPr txBox="1"/>
          <p:nvPr/>
        </p:nvSpPr>
        <p:spPr>
          <a:xfrm>
            <a:off x="381000" y="2286000"/>
            <a:ext cx="11430000" cy="646331"/>
          </a:xfrm>
          <a:prstGeom prst="rect">
            <a:avLst/>
          </a:prstGeom>
          <a:noFill/>
        </p:spPr>
        <p:txBody>
          <a:bodyPr wrap="square" rtlCol="0">
            <a:spAutoFit/>
          </a:bodyPr>
          <a:lstStyle/>
          <a:p>
            <a:pPr marL="400050" indent="-400050">
              <a:buAutoNum type="romanLcParenBoth" startAt="2"/>
            </a:pPr>
            <a:r>
              <a:rPr lang="en-US" b="1" u="sng" dirty="0"/>
              <a:t>Makesense.ai –</a:t>
            </a:r>
            <a:r>
              <a:rPr lang="en-US" dirty="0"/>
              <a:t> This is an </a:t>
            </a:r>
            <a:r>
              <a:rPr lang="en-US" b="1" dirty="0"/>
              <a:t>ONLINE</a:t>
            </a:r>
            <a:r>
              <a:rPr lang="en-US" dirty="0"/>
              <a:t> tool that is used to annotate and make a dataset for our model. Open the tool on your browser and import all the images that you want to annotate. Click on “</a:t>
            </a:r>
            <a:r>
              <a:rPr lang="en-US" b="1" i="1" dirty="0"/>
              <a:t>Object detection</a:t>
            </a:r>
            <a:r>
              <a:rPr lang="en-US" dirty="0"/>
              <a:t>”</a:t>
            </a:r>
          </a:p>
        </p:txBody>
      </p:sp>
      <p:pic>
        <p:nvPicPr>
          <p:cNvPr id="13" name="Picture 12">
            <a:extLst>
              <a:ext uri="{FF2B5EF4-FFF2-40B4-BE49-F238E27FC236}">
                <a16:creationId xmlns:a16="http://schemas.microsoft.com/office/drawing/2014/main" id="{8090E2B3-A0F1-0A26-A7F6-A5C223C1BF8F}"/>
              </a:ext>
            </a:extLst>
          </p:cNvPr>
          <p:cNvPicPr>
            <a:picLocks noChangeAspect="1"/>
          </p:cNvPicPr>
          <p:nvPr/>
        </p:nvPicPr>
        <p:blipFill>
          <a:blip r:embed="rId2"/>
          <a:stretch>
            <a:fillRect/>
          </a:stretch>
        </p:blipFill>
        <p:spPr>
          <a:xfrm>
            <a:off x="381000" y="3124200"/>
            <a:ext cx="4343400" cy="3290656"/>
          </a:xfrm>
          <a:prstGeom prst="rect">
            <a:avLst/>
          </a:prstGeom>
        </p:spPr>
      </p:pic>
      <p:pic>
        <p:nvPicPr>
          <p:cNvPr id="18" name="Picture 17">
            <a:extLst>
              <a:ext uri="{FF2B5EF4-FFF2-40B4-BE49-F238E27FC236}">
                <a16:creationId xmlns:a16="http://schemas.microsoft.com/office/drawing/2014/main" id="{8DBA58DC-D715-BE7E-11E6-8B6C0091C098}"/>
              </a:ext>
            </a:extLst>
          </p:cNvPr>
          <p:cNvPicPr>
            <a:picLocks noChangeAspect="1"/>
          </p:cNvPicPr>
          <p:nvPr/>
        </p:nvPicPr>
        <p:blipFill>
          <a:blip r:embed="rId3"/>
          <a:stretch>
            <a:fillRect/>
          </a:stretch>
        </p:blipFill>
        <p:spPr>
          <a:xfrm>
            <a:off x="8078915" y="3124201"/>
            <a:ext cx="3122485" cy="3296786"/>
          </a:xfrm>
          <a:prstGeom prst="rect">
            <a:avLst/>
          </a:prstGeom>
        </p:spPr>
      </p:pic>
      <p:cxnSp>
        <p:nvCxnSpPr>
          <p:cNvPr id="20" name="Straight Arrow Connector 19">
            <a:extLst>
              <a:ext uri="{FF2B5EF4-FFF2-40B4-BE49-F238E27FC236}">
                <a16:creationId xmlns:a16="http://schemas.microsoft.com/office/drawing/2014/main" id="{A0AFC686-99A4-E04D-05F9-25B4185EF843}"/>
              </a:ext>
            </a:extLst>
          </p:cNvPr>
          <p:cNvCxnSpPr>
            <a:cxnSpLocks/>
          </p:cNvCxnSpPr>
          <p:nvPr/>
        </p:nvCxnSpPr>
        <p:spPr>
          <a:xfrm flipV="1">
            <a:off x="533400" y="5943600"/>
            <a:ext cx="381000" cy="38100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CC0E22D2-D88A-631A-2846-C3156B6499C3}"/>
              </a:ext>
            </a:extLst>
          </p:cNvPr>
          <p:cNvCxnSpPr>
            <a:cxnSpLocks/>
          </p:cNvCxnSpPr>
          <p:nvPr/>
        </p:nvCxnSpPr>
        <p:spPr>
          <a:xfrm>
            <a:off x="7086600" y="3581400"/>
            <a:ext cx="990600" cy="0"/>
          </a:xfrm>
          <a:prstGeom prst="straightConnector1">
            <a:avLst/>
          </a:prstGeom>
          <a:ln w="146050">
            <a:tailEnd type="triangle"/>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8BA9E898-7424-2D04-B4BE-370262B31714}"/>
              </a:ext>
            </a:extLst>
          </p:cNvPr>
          <p:cNvSpPr txBox="1"/>
          <p:nvPr/>
        </p:nvSpPr>
        <p:spPr>
          <a:xfrm>
            <a:off x="5574170" y="3276598"/>
            <a:ext cx="1906715" cy="923330"/>
          </a:xfrm>
          <a:prstGeom prst="rect">
            <a:avLst/>
          </a:prstGeom>
          <a:noFill/>
        </p:spPr>
        <p:txBody>
          <a:bodyPr wrap="square" rtlCol="0">
            <a:spAutoFit/>
          </a:bodyPr>
          <a:lstStyle/>
          <a:p>
            <a:r>
              <a:rPr lang="en-US" dirty="0"/>
              <a:t>Create a new label named “Smiley Ball”</a:t>
            </a:r>
          </a:p>
        </p:txBody>
      </p:sp>
      <p:cxnSp>
        <p:nvCxnSpPr>
          <p:cNvPr id="29" name="Straight Arrow Connector 28">
            <a:extLst>
              <a:ext uri="{FF2B5EF4-FFF2-40B4-BE49-F238E27FC236}">
                <a16:creationId xmlns:a16="http://schemas.microsoft.com/office/drawing/2014/main" id="{68F8382F-2A99-DA11-7D31-A0B7D71AAB53}"/>
              </a:ext>
            </a:extLst>
          </p:cNvPr>
          <p:cNvCxnSpPr>
            <a:cxnSpLocks/>
          </p:cNvCxnSpPr>
          <p:nvPr/>
        </p:nvCxnSpPr>
        <p:spPr>
          <a:xfrm>
            <a:off x="6985585" y="6134100"/>
            <a:ext cx="3072815"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528A1AEA-2E84-D0B6-F133-1554D5854FA2}"/>
              </a:ext>
            </a:extLst>
          </p:cNvPr>
          <p:cNvSpPr txBox="1"/>
          <p:nvPr/>
        </p:nvSpPr>
        <p:spPr>
          <a:xfrm>
            <a:off x="5677758" y="5481935"/>
            <a:ext cx="1600200" cy="923330"/>
          </a:xfrm>
          <a:prstGeom prst="rect">
            <a:avLst/>
          </a:prstGeom>
          <a:noFill/>
        </p:spPr>
        <p:txBody>
          <a:bodyPr wrap="square" rtlCol="0">
            <a:spAutoFit/>
          </a:bodyPr>
          <a:lstStyle/>
          <a:p>
            <a:r>
              <a:rPr lang="en-US" dirty="0"/>
              <a:t>Start after adding the label</a:t>
            </a:r>
          </a:p>
        </p:txBody>
      </p:sp>
      <p:pic>
        <p:nvPicPr>
          <p:cNvPr id="5" name="Picture 4">
            <a:extLst>
              <a:ext uri="{FF2B5EF4-FFF2-40B4-BE49-F238E27FC236}">
                <a16:creationId xmlns:a16="http://schemas.microsoft.com/office/drawing/2014/main" id="{112B6E0F-5FE3-FBF5-732D-200E22820B7E}"/>
              </a:ext>
            </a:extLst>
          </p:cNvPr>
          <p:cNvPicPr>
            <a:picLocks noChangeAspect="1"/>
          </p:cNvPicPr>
          <p:nvPr/>
        </p:nvPicPr>
        <p:blipFill>
          <a:blip r:embed="rId4"/>
          <a:stretch>
            <a:fillRect/>
          </a:stretch>
        </p:blipFill>
        <p:spPr>
          <a:xfrm>
            <a:off x="413180" y="3107215"/>
            <a:ext cx="4311220" cy="3324626"/>
          </a:xfrm>
          <a:prstGeom prst="rect">
            <a:avLst/>
          </a:prstGeom>
        </p:spPr>
      </p:pic>
      <p:cxnSp>
        <p:nvCxnSpPr>
          <p:cNvPr id="6" name="Straight Arrow Connector 5">
            <a:extLst>
              <a:ext uri="{FF2B5EF4-FFF2-40B4-BE49-F238E27FC236}">
                <a16:creationId xmlns:a16="http://schemas.microsoft.com/office/drawing/2014/main" id="{28F8F8F4-0D93-0E4E-F166-0F4BF72D4453}"/>
              </a:ext>
            </a:extLst>
          </p:cNvPr>
          <p:cNvCxnSpPr>
            <a:cxnSpLocks/>
          </p:cNvCxnSpPr>
          <p:nvPr/>
        </p:nvCxnSpPr>
        <p:spPr>
          <a:xfrm flipV="1">
            <a:off x="533400" y="5960870"/>
            <a:ext cx="381000" cy="38100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171486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FB334-863B-76DE-EF3A-36A0BE718D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46BE9C-5DFB-CA56-4662-80844FE79530}"/>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17C49D25-0B13-A8EF-B285-F688AC1FDB61}"/>
              </a:ext>
            </a:extLst>
          </p:cNvPr>
          <p:cNvSpPr>
            <a:spLocks noGrp="1"/>
          </p:cNvSpPr>
          <p:nvPr>
            <p:ph type="body" idx="1"/>
          </p:nvPr>
        </p:nvSpPr>
        <p:spPr>
          <a:xfrm>
            <a:off x="304799" y="1557519"/>
            <a:ext cx="11582400" cy="646331"/>
          </a:xfrm>
        </p:spPr>
        <p:txBody>
          <a:bodyPr/>
          <a:lstStyle/>
          <a:p>
            <a:pPr algn="ctr"/>
            <a:r>
              <a:rPr lang="en-US" sz="2400" b="1" u="sng" dirty="0"/>
              <a:t>Training using your Data – Labelling the images</a:t>
            </a:r>
          </a:p>
          <a:p>
            <a:pPr algn="l"/>
            <a:r>
              <a:rPr lang="en-US" dirty="0"/>
              <a:t> </a:t>
            </a:r>
            <a:endParaRPr lang="en-US" i="1" dirty="0">
              <a:solidFill>
                <a:srgbClr val="0000FF"/>
              </a:solidFill>
            </a:endParaRPr>
          </a:p>
        </p:txBody>
      </p:sp>
      <p:sp>
        <p:nvSpPr>
          <p:cNvPr id="8" name="TextBox 7">
            <a:extLst>
              <a:ext uri="{FF2B5EF4-FFF2-40B4-BE49-F238E27FC236}">
                <a16:creationId xmlns:a16="http://schemas.microsoft.com/office/drawing/2014/main" id="{E758577D-D741-8241-4811-094928527576}"/>
              </a:ext>
            </a:extLst>
          </p:cNvPr>
          <p:cNvSpPr txBox="1"/>
          <p:nvPr/>
        </p:nvSpPr>
        <p:spPr>
          <a:xfrm>
            <a:off x="381000" y="2286000"/>
            <a:ext cx="11430000" cy="646331"/>
          </a:xfrm>
          <a:prstGeom prst="rect">
            <a:avLst/>
          </a:prstGeom>
          <a:noFill/>
        </p:spPr>
        <p:txBody>
          <a:bodyPr wrap="square" rtlCol="0">
            <a:spAutoFit/>
          </a:bodyPr>
          <a:lstStyle/>
          <a:p>
            <a:pPr marL="400050" indent="-400050">
              <a:buAutoNum type="romanLcParenBoth" startAt="2"/>
            </a:pPr>
            <a:r>
              <a:rPr lang="en-US" b="1" u="sng" dirty="0"/>
              <a:t>Makesense.ai –</a:t>
            </a:r>
            <a:r>
              <a:rPr lang="en-US" dirty="0"/>
              <a:t> Now make boxes on the hoops using your cursor. Make sure you choose the “</a:t>
            </a:r>
            <a:r>
              <a:rPr lang="en-US" b="1" i="1" dirty="0"/>
              <a:t>Hoops</a:t>
            </a:r>
            <a:r>
              <a:rPr lang="en-US" dirty="0"/>
              <a:t>” label is chosen on the right-side, on the label’s toolbar. </a:t>
            </a:r>
          </a:p>
        </p:txBody>
      </p:sp>
      <p:pic>
        <p:nvPicPr>
          <p:cNvPr id="5" name="Picture 4">
            <a:extLst>
              <a:ext uri="{FF2B5EF4-FFF2-40B4-BE49-F238E27FC236}">
                <a16:creationId xmlns:a16="http://schemas.microsoft.com/office/drawing/2014/main" id="{3DD4D214-E26C-64F4-9F05-E7BBC58777F5}"/>
              </a:ext>
            </a:extLst>
          </p:cNvPr>
          <p:cNvPicPr>
            <a:picLocks noChangeAspect="1"/>
          </p:cNvPicPr>
          <p:nvPr/>
        </p:nvPicPr>
        <p:blipFill>
          <a:blip r:embed="rId2"/>
          <a:stretch>
            <a:fillRect/>
          </a:stretch>
        </p:blipFill>
        <p:spPr>
          <a:xfrm>
            <a:off x="1524000" y="2932331"/>
            <a:ext cx="7010400" cy="3516799"/>
          </a:xfrm>
          <a:prstGeom prst="rect">
            <a:avLst/>
          </a:prstGeom>
        </p:spPr>
      </p:pic>
      <p:cxnSp>
        <p:nvCxnSpPr>
          <p:cNvPr id="6" name="Straight Arrow Connector 5">
            <a:extLst>
              <a:ext uri="{FF2B5EF4-FFF2-40B4-BE49-F238E27FC236}">
                <a16:creationId xmlns:a16="http://schemas.microsoft.com/office/drawing/2014/main" id="{106E60A9-E73F-2A6C-6D40-8FF64F348713}"/>
              </a:ext>
            </a:extLst>
          </p:cNvPr>
          <p:cNvCxnSpPr>
            <a:cxnSpLocks/>
          </p:cNvCxnSpPr>
          <p:nvPr/>
        </p:nvCxnSpPr>
        <p:spPr>
          <a:xfrm flipH="1" flipV="1">
            <a:off x="7351552" y="3346850"/>
            <a:ext cx="1792448" cy="60960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3940062A-A76E-A991-765A-DB566EE206CC}"/>
              </a:ext>
            </a:extLst>
          </p:cNvPr>
          <p:cNvSpPr txBox="1"/>
          <p:nvPr/>
        </p:nvSpPr>
        <p:spPr>
          <a:xfrm>
            <a:off x="9144000" y="3632305"/>
            <a:ext cx="2667000" cy="1200329"/>
          </a:xfrm>
          <a:prstGeom prst="rect">
            <a:avLst/>
          </a:prstGeom>
          <a:noFill/>
        </p:spPr>
        <p:txBody>
          <a:bodyPr wrap="square" rtlCol="0">
            <a:spAutoFit/>
          </a:bodyPr>
          <a:lstStyle/>
          <a:p>
            <a:r>
              <a:rPr lang="en-US" b="1" dirty="0"/>
              <a:t>Click on this option and choose the label from the drop-down menu</a:t>
            </a:r>
          </a:p>
        </p:txBody>
      </p:sp>
    </p:spTree>
    <p:extLst>
      <p:ext uri="{BB962C8B-B14F-4D97-AF65-F5344CB8AC3E}">
        <p14:creationId xmlns:p14="http://schemas.microsoft.com/office/powerpoint/2010/main" val="16764003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4FFA8-C77C-8B30-5F99-4AD6B25FB0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7AAB95-17BD-4FCC-0634-5332AF8E279B}"/>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7D335718-EACB-9FCB-6EF6-61A16003B0D8}"/>
              </a:ext>
            </a:extLst>
          </p:cNvPr>
          <p:cNvSpPr>
            <a:spLocks noGrp="1"/>
          </p:cNvSpPr>
          <p:nvPr>
            <p:ph type="body" idx="1"/>
          </p:nvPr>
        </p:nvSpPr>
        <p:spPr>
          <a:xfrm>
            <a:off x="304799" y="1557519"/>
            <a:ext cx="11582400" cy="646331"/>
          </a:xfrm>
        </p:spPr>
        <p:txBody>
          <a:bodyPr/>
          <a:lstStyle/>
          <a:p>
            <a:pPr algn="ctr"/>
            <a:r>
              <a:rPr lang="en-US" sz="2400" b="1" u="sng" dirty="0"/>
              <a:t>Training using your Data – Labelling the images</a:t>
            </a:r>
          </a:p>
          <a:p>
            <a:pPr algn="l"/>
            <a:r>
              <a:rPr lang="en-US" dirty="0"/>
              <a:t> </a:t>
            </a:r>
            <a:endParaRPr lang="en-US" i="1" dirty="0">
              <a:solidFill>
                <a:srgbClr val="0000FF"/>
              </a:solidFill>
            </a:endParaRPr>
          </a:p>
        </p:txBody>
      </p:sp>
      <p:sp>
        <p:nvSpPr>
          <p:cNvPr id="8" name="TextBox 7">
            <a:extLst>
              <a:ext uri="{FF2B5EF4-FFF2-40B4-BE49-F238E27FC236}">
                <a16:creationId xmlns:a16="http://schemas.microsoft.com/office/drawing/2014/main" id="{CA063680-C6B9-77C6-0545-716F6075FBBC}"/>
              </a:ext>
            </a:extLst>
          </p:cNvPr>
          <p:cNvSpPr txBox="1"/>
          <p:nvPr/>
        </p:nvSpPr>
        <p:spPr>
          <a:xfrm>
            <a:off x="381000" y="2090919"/>
            <a:ext cx="11430000" cy="646331"/>
          </a:xfrm>
          <a:prstGeom prst="rect">
            <a:avLst/>
          </a:prstGeom>
          <a:noFill/>
        </p:spPr>
        <p:txBody>
          <a:bodyPr wrap="square" rtlCol="0">
            <a:spAutoFit/>
          </a:bodyPr>
          <a:lstStyle/>
          <a:p>
            <a:pPr marL="400050" indent="-400050">
              <a:buFontTx/>
              <a:buAutoNum type="romanLcParenBoth" startAt="2"/>
            </a:pPr>
            <a:r>
              <a:rPr lang="en-US" b="1" u="sng" dirty="0"/>
              <a:t>Makesense.ai –</a:t>
            </a:r>
            <a:r>
              <a:rPr lang="en-US" dirty="0"/>
              <a:t> Repeat the process again on all the 20 images. Then click on the “</a:t>
            </a:r>
            <a:r>
              <a:rPr lang="en-US" b="1" i="1" dirty="0"/>
              <a:t>Export Annotations</a:t>
            </a:r>
            <a:r>
              <a:rPr lang="en-US" dirty="0"/>
              <a:t>” option in the “</a:t>
            </a:r>
            <a:r>
              <a:rPr lang="en-US" b="1" i="1" dirty="0"/>
              <a:t>Actions</a:t>
            </a:r>
            <a:r>
              <a:rPr lang="en-US" dirty="0"/>
              <a:t>” tab at the top. This will give zip folder with “</a:t>
            </a:r>
            <a:r>
              <a:rPr lang="en-US" b="1" i="1" dirty="0"/>
              <a:t>.txt</a:t>
            </a:r>
            <a:r>
              <a:rPr lang="en-US" dirty="0"/>
              <a:t>” files that contain all the annotations. </a:t>
            </a:r>
          </a:p>
        </p:txBody>
      </p:sp>
      <p:pic>
        <p:nvPicPr>
          <p:cNvPr id="9" name="Picture 8">
            <a:extLst>
              <a:ext uri="{FF2B5EF4-FFF2-40B4-BE49-F238E27FC236}">
                <a16:creationId xmlns:a16="http://schemas.microsoft.com/office/drawing/2014/main" id="{B9A57ACB-27DA-CEC7-1102-1470B6C4D125}"/>
              </a:ext>
            </a:extLst>
          </p:cNvPr>
          <p:cNvPicPr>
            <a:picLocks noChangeAspect="1"/>
          </p:cNvPicPr>
          <p:nvPr/>
        </p:nvPicPr>
        <p:blipFill>
          <a:blip r:embed="rId2"/>
          <a:stretch>
            <a:fillRect/>
          </a:stretch>
        </p:blipFill>
        <p:spPr>
          <a:xfrm>
            <a:off x="3276600" y="3124200"/>
            <a:ext cx="4419600" cy="3222086"/>
          </a:xfrm>
          <a:prstGeom prst="rect">
            <a:avLst/>
          </a:prstGeom>
        </p:spPr>
      </p:pic>
      <p:cxnSp>
        <p:nvCxnSpPr>
          <p:cNvPr id="11" name="Straight Arrow Connector 10">
            <a:extLst>
              <a:ext uri="{FF2B5EF4-FFF2-40B4-BE49-F238E27FC236}">
                <a16:creationId xmlns:a16="http://schemas.microsoft.com/office/drawing/2014/main" id="{1F471801-BD63-152B-B61C-30F5F6A8A576}"/>
              </a:ext>
            </a:extLst>
          </p:cNvPr>
          <p:cNvCxnSpPr>
            <a:cxnSpLocks/>
          </p:cNvCxnSpPr>
          <p:nvPr/>
        </p:nvCxnSpPr>
        <p:spPr>
          <a:xfrm flipH="1">
            <a:off x="7086600" y="4953000"/>
            <a:ext cx="1752600"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B6F5059A-AF2D-DD47-B322-D7175AD264F2}"/>
              </a:ext>
            </a:extLst>
          </p:cNvPr>
          <p:cNvSpPr txBox="1"/>
          <p:nvPr/>
        </p:nvSpPr>
        <p:spPr>
          <a:xfrm>
            <a:off x="8836325" y="4419600"/>
            <a:ext cx="2743200" cy="1200329"/>
          </a:xfrm>
          <a:prstGeom prst="rect">
            <a:avLst/>
          </a:prstGeom>
          <a:noFill/>
        </p:spPr>
        <p:txBody>
          <a:bodyPr wrap="square" rtlCol="0">
            <a:spAutoFit/>
          </a:bodyPr>
          <a:lstStyle/>
          <a:p>
            <a:r>
              <a:rPr lang="en-US" b="1" dirty="0"/>
              <a:t>Click on this and export it to the repository that we will be working on</a:t>
            </a:r>
          </a:p>
        </p:txBody>
      </p:sp>
    </p:spTree>
    <p:extLst>
      <p:ext uri="{BB962C8B-B14F-4D97-AF65-F5344CB8AC3E}">
        <p14:creationId xmlns:p14="http://schemas.microsoft.com/office/powerpoint/2010/main" val="22904172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2E05A-BF7F-4C45-11FE-BD83E1F5E4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DA7C03-2EC6-2B92-39A0-9D6F118995A7}"/>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81B4CE9B-8D5F-2197-6693-F0BED649EE8B}"/>
              </a:ext>
            </a:extLst>
          </p:cNvPr>
          <p:cNvSpPr>
            <a:spLocks noGrp="1"/>
          </p:cNvSpPr>
          <p:nvPr>
            <p:ph type="body" idx="1"/>
          </p:nvPr>
        </p:nvSpPr>
        <p:spPr>
          <a:xfrm>
            <a:off x="304799" y="1557519"/>
            <a:ext cx="11582400" cy="646331"/>
          </a:xfrm>
        </p:spPr>
        <p:txBody>
          <a:bodyPr/>
          <a:lstStyle/>
          <a:p>
            <a:pPr algn="ctr"/>
            <a:r>
              <a:rPr lang="en-US" sz="2400" b="1" u="sng" dirty="0"/>
              <a:t>Training using your Data – Setting up the Folder</a:t>
            </a:r>
          </a:p>
          <a:p>
            <a:pPr algn="l"/>
            <a:r>
              <a:rPr lang="en-US" dirty="0"/>
              <a:t> </a:t>
            </a:r>
            <a:endParaRPr lang="en-US" i="1" dirty="0">
              <a:solidFill>
                <a:srgbClr val="0000FF"/>
              </a:solidFill>
            </a:endParaRPr>
          </a:p>
        </p:txBody>
      </p:sp>
      <p:pic>
        <p:nvPicPr>
          <p:cNvPr id="14" name="Graphic 13" descr="Open folder">
            <a:extLst>
              <a:ext uri="{FF2B5EF4-FFF2-40B4-BE49-F238E27FC236}">
                <a16:creationId xmlns:a16="http://schemas.microsoft.com/office/drawing/2014/main" id="{0BDD97D5-8E8F-F767-9680-93BE2CABD2E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81800" y="1931212"/>
            <a:ext cx="609600" cy="609600"/>
          </a:xfrm>
          <a:prstGeom prst="rect">
            <a:avLst/>
          </a:prstGeom>
        </p:spPr>
      </p:pic>
      <p:sp>
        <p:nvSpPr>
          <p:cNvPr id="15" name="Arrow: Bent-Up 14">
            <a:extLst>
              <a:ext uri="{FF2B5EF4-FFF2-40B4-BE49-F238E27FC236}">
                <a16:creationId xmlns:a16="http://schemas.microsoft.com/office/drawing/2014/main" id="{64545CB3-FC93-DC02-9C4F-C134A2CCEFAC}"/>
              </a:ext>
            </a:extLst>
          </p:cNvPr>
          <p:cNvSpPr/>
          <p:nvPr/>
        </p:nvSpPr>
        <p:spPr>
          <a:xfrm rot="5400000">
            <a:off x="7022109" y="2495550"/>
            <a:ext cx="609600" cy="419100"/>
          </a:xfrm>
          <a:prstGeom prst="bentUpArrow">
            <a:avLst>
              <a:gd name="adj1" fmla="val 13991"/>
              <a:gd name="adj2" fmla="val 25000"/>
              <a:gd name="adj3" fmla="val 32339"/>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6" name="Graphic 15" descr="Open folder">
            <a:extLst>
              <a:ext uri="{FF2B5EF4-FFF2-40B4-BE49-F238E27FC236}">
                <a16:creationId xmlns:a16="http://schemas.microsoft.com/office/drawing/2014/main" id="{8F27575C-052B-FB3F-6FA6-855FCAD950B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67600" y="2617012"/>
            <a:ext cx="609600" cy="609600"/>
          </a:xfrm>
          <a:prstGeom prst="rect">
            <a:avLst/>
          </a:prstGeom>
        </p:spPr>
      </p:pic>
      <p:sp>
        <p:nvSpPr>
          <p:cNvPr id="17" name="Arrow: Bent-Up 16">
            <a:extLst>
              <a:ext uri="{FF2B5EF4-FFF2-40B4-BE49-F238E27FC236}">
                <a16:creationId xmlns:a16="http://schemas.microsoft.com/office/drawing/2014/main" id="{7D6F21AD-CF77-E3B3-D889-112B9874C928}"/>
              </a:ext>
            </a:extLst>
          </p:cNvPr>
          <p:cNvSpPr/>
          <p:nvPr/>
        </p:nvSpPr>
        <p:spPr>
          <a:xfrm rot="5400000">
            <a:off x="7765059" y="3124200"/>
            <a:ext cx="495300" cy="419100"/>
          </a:xfrm>
          <a:prstGeom prst="bentUpArrow">
            <a:avLst>
              <a:gd name="adj1" fmla="val 13991"/>
              <a:gd name="adj2" fmla="val 25000"/>
              <a:gd name="adj3" fmla="val 32339"/>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8" name="Graphic 17" descr="Open folder">
            <a:extLst>
              <a:ext uri="{FF2B5EF4-FFF2-40B4-BE49-F238E27FC236}">
                <a16:creationId xmlns:a16="http://schemas.microsoft.com/office/drawing/2014/main" id="{040EB2E5-B5D9-9FBD-7A07-FE22D468DD6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3400" y="3200400"/>
            <a:ext cx="609600" cy="609600"/>
          </a:xfrm>
          <a:prstGeom prst="rect">
            <a:avLst/>
          </a:prstGeom>
        </p:spPr>
      </p:pic>
      <p:pic>
        <p:nvPicPr>
          <p:cNvPr id="20" name="Graphic 19" descr="Open folder">
            <a:extLst>
              <a:ext uri="{FF2B5EF4-FFF2-40B4-BE49-F238E27FC236}">
                <a16:creationId xmlns:a16="http://schemas.microsoft.com/office/drawing/2014/main" id="{B00C58B7-BB16-979E-3B69-AD91581684A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3400" y="3810000"/>
            <a:ext cx="609600" cy="609600"/>
          </a:xfrm>
          <a:prstGeom prst="rect">
            <a:avLst/>
          </a:prstGeom>
        </p:spPr>
      </p:pic>
      <p:sp>
        <p:nvSpPr>
          <p:cNvPr id="22" name="Arrow: Bent-Up 21">
            <a:extLst>
              <a:ext uri="{FF2B5EF4-FFF2-40B4-BE49-F238E27FC236}">
                <a16:creationId xmlns:a16="http://schemas.microsoft.com/office/drawing/2014/main" id="{72FAB9EF-5E44-88F0-14B9-E315E5210B1F}"/>
              </a:ext>
            </a:extLst>
          </p:cNvPr>
          <p:cNvSpPr/>
          <p:nvPr/>
        </p:nvSpPr>
        <p:spPr>
          <a:xfrm rot="5400000">
            <a:off x="7618602" y="3613558"/>
            <a:ext cx="788214" cy="419100"/>
          </a:xfrm>
          <a:prstGeom prst="bentUpArrow">
            <a:avLst>
              <a:gd name="adj1" fmla="val 13991"/>
              <a:gd name="adj2" fmla="val 25000"/>
              <a:gd name="adj3" fmla="val 32339"/>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26" name="Graphic 25" descr="Open folder">
            <a:extLst>
              <a:ext uri="{FF2B5EF4-FFF2-40B4-BE49-F238E27FC236}">
                <a16:creationId xmlns:a16="http://schemas.microsoft.com/office/drawing/2014/main" id="{8571EB2C-7329-B03F-9A18-365C48AADE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71096" y="4293412"/>
            <a:ext cx="609600" cy="609600"/>
          </a:xfrm>
          <a:prstGeom prst="rect">
            <a:avLst/>
          </a:prstGeom>
        </p:spPr>
      </p:pic>
      <p:sp>
        <p:nvSpPr>
          <p:cNvPr id="27" name="Arrow: Bent-Up 26">
            <a:extLst>
              <a:ext uri="{FF2B5EF4-FFF2-40B4-BE49-F238E27FC236}">
                <a16:creationId xmlns:a16="http://schemas.microsoft.com/office/drawing/2014/main" id="{7716CFD7-D1AA-CEA3-3907-8B2F7CB2F8D2}"/>
              </a:ext>
            </a:extLst>
          </p:cNvPr>
          <p:cNvSpPr/>
          <p:nvPr/>
        </p:nvSpPr>
        <p:spPr>
          <a:xfrm rot="5400000">
            <a:off x="7768555" y="4800600"/>
            <a:ext cx="495300" cy="419100"/>
          </a:xfrm>
          <a:prstGeom prst="bentUpArrow">
            <a:avLst>
              <a:gd name="adj1" fmla="val 13991"/>
              <a:gd name="adj2" fmla="val 25000"/>
              <a:gd name="adj3" fmla="val 32339"/>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28" name="Graphic 27" descr="Open folder">
            <a:extLst>
              <a:ext uri="{FF2B5EF4-FFF2-40B4-BE49-F238E27FC236}">
                <a16:creationId xmlns:a16="http://schemas.microsoft.com/office/drawing/2014/main" id="{BFF9A6BF-B9B1-3A40-A1FE-FA436EFFBED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6896" y="4876800"/>
            <a:ext cx="609600" cy="609600"/>
          </a:xfrm>
          <a:prstGeom prst="rect">
            <a:avLst/>
          </a:prstGeom>
        </p:spPr>
      </p:pic>
      <p:pic>
        <p:nvPicPr>
          <p:cNvPr id="29" name="Graphic 28" descr="Open folder">
            <a:extLst>
              <a:ext uri="{FF2B5EF4-FFF2-40B4-BE49-F238E27FC236}">
                <a16:creationId xmlns:a16="http://schemas.microsoft.com/office/drawing/2014/main" id="{AEBEF97B-9C4A-E902-A4AD-056323BFF9B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3400" y="5486400"/>
            <a:ext cx="609600" cy="609600"/>
          </a:xfrm>
          <a:prstGeom prst="rect">
            <a:avLst/>
          </a:prstGeom>
        </p:spPr>
      </p:pic>
      <p:sp>
        <p:nvSpPr>
          <p:cNvPr id="30" name="Arrow: Bent-Up 29">
            <a:extLst>
              <a:ext uri="{FF2B5EF4-FFF2-40B4-BE49-F238E27FC236}">
                <a16:creationId xmlns:a16="http://schemas.microsoft.com/office/drawing/2014/main" id="{9A581C65-21CE-614E-412A-1BFE4322CBB4}"/>
              </a:ext>
            </a:extLst>
          </p:cNvPr>
          <p:cNvSpPr/>
          <p:nvPr/>
        </p:nvSpPr>
        <p:spPr>
          <a:xfrm rot="5400000">
            <a:off x="7622098" y="5289958"/>
            <a:ext cx="788214" cy="419100"/>
          </a:xfrm>
          <a:prstGeom prst="bentUpArrow">
            <a:avLst>
              <a:gd name="adj1" fmla="val 13991"/>
              <a:gd name="adj2" fmla="val 25000"/>
              <a:gd name="adj3" fmla="val 32339"/>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1" name="Arrow: Bent-Up 30">
            <a:extLst>
              <a:ext uri="{FF2B5EF4-FFF2-40B4-BE49-F238E27FC236}">
                <a16:creationId xmlns:a16="http://schemas.microsoft.com/office/drawing/2014/main" id="{1BCCB90B-9B10-06D3-77CB-AE2543D0BB2E}"/>
              </a:ext>
            </a:extLst>
          </p:cNvPr>
          <p:cNvSpPr/>
          <p:nvPr/>
        </p:nvSpPr>
        <p:spPr>
          <a:xfrm rot="5400000">
            <a:off x="6387861" y="3543652"/>
            <a:ext cx="1878095" cy="419100"/>
          </a:xfrm>
          <a:prstGeom prst="bentUpArrow">
            <a:avLst>
              <a:gd name="adj1" fmla="val 13991"/>
              <a:gd name="adj2" fmla="val 25000"/>
              <a:gd name="adj3" fmla="val 32339"/>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715FAA72-24FA-EFB5-8522-7DC7FA61DCA0}"/>
              </a:ext>
            </a:extLst>
          </p:cNvPr>
          <p:cNvSpPr txBox="1"/>
          <p:nvPr/>
        </p:nvSpPr>
        <p:spPr>
          <a:xfrm>
            <a:off x="7263286" y="2133484"/>
            <a:ext cx="992579" cy="369332"/>
          </a:xfrm>
          <a:prstGeom prst="rect">
            <a:avLst/>
          </a:prstGeom>
          <a:noFill/>
        </p:spPr>
        <p:txBody>
          <a:bodyPr wrap="none" rtlCol="0">
            <a:spAutoFit/>
          </a:bodyPr>
          <a:lstStyle/>
          <a:p>
            <a:r>
              <a:rPr lang="en-US" b="1" i="1" dirty="0"/>
              <a:t>dataset</a:t>
            </a:r>
          </a:p>
        </p:txBody>
      </p:sp>
      <p:sp>
        <p:nvSpPr>
          <p:cNvPr id="33" name="TextBox 32">
            <a:extLst>
              <a:ext uri="{FF2B5EF4-FFF2-40B4-BE49-F238E27FC236}">
                <a16:creationId xmlns:a16="http://schemas.microsoft.com/office/drawing/2014/main" id="{41825606-303E-E553-A558-6211FBA0BD0B}"/>
              </a:ext>
            </a:extLst>
          </p:cNvPr>
          <p:cNvSpPr txBox="1"/>
          <p:nvPr/>
        </p:nvSpPr>
        <p:spPr>
          <a:xfrm>
            <a:off x="8051334" y="2749164"/>
            <a:ext cx="684803" cy="369332"/>
          </a:xfrm>
          <a:prstGeom prst="rect">
            <a:avLst/>
          </a:prstGeom>
          <a:noFill/>
        </p:spPr>
        <p:txBody>
          <a:bodyPr wrap="none" rtlCol="0">
            <a:spAutoFit/>
          </a:bodyPr>
          <a:lstStyle/>
          <a:p>
            <a:r>
              <a:rPr lang="en-US" b="1" i="1" dirty="0"/>
              <a:t>train</a:t>
            </a:r>
          </a:p>
        </p:txBody>
      </p:sp>
      <p:sp>
        <p:nvSpPr>
          <p:cNvPr id="34" name="TextBox 33">
            <a:extLst>
              <a:ext uri="{FF2B5EF4-FFF2-40B4-BE49-F238E27FC236}">
                <a16:creationId xmlns:a16="http://schemas.microsoft.com/office/drawing/2014/main" id="{E28BA231-805A-17D3-B96F-372612BF66AC}"/>
              </a:ext>
            </a:extLst>
          </p:cNvPr>
          <p:cNvSpPr txBox="1"/>
          <p:nvPr/>
        </p:nvSpPr>
        <p:spPr>
          <a:xfrm>
            <a:off x="8690296" y="3312271"/>
            <a:ext cx="979755" cy="369332"/>
          </a:xfrm>
          <a:prstGeom prst="rect">
            <a:avLst/>
          </a:prstGeom>
          <a:noFill/>
        </p:spPr>
        <p:txBody>
          <a:bodyPr wrap="none" rtlCol="0">
            <a:spAutoFit/>
          </a:bodyPr>
          <a:lstStyle/>
          <a:p>
            <a:r>
              <a:rPr lang="en-US" b="1" i="1" dirty="0"/>
              <a:t>images</a:t>
            </a:r>
          </a:p>
        </p:txBody>
      </p:sp>
      <p:sp>
        <p:nvSpPr>
          <p:cNvPr id="35" name="TextBox 34">
            <a:extLst>
              <a:ext uri="{FF2B5EF4-FFF2-40B4-BE49-F238E27FC236}">
                <a16:creationId xmlns:a16="http://schemas.microsoft.com/office/drawing/2014/main" id="{944C1F3F-EBAC-F46E-30E3-0715FEE3EC9D}"/>
              </a:ext>
            </a:extLst>
          </p:cNvPr>
          <p:cNvSpPr txBox="1"/>
          <p:nvPr/>
        </p:nvSpPr>
        <p:spPr>
          <a:xfrm>
            <a:off x="8690296" y="3974068"/>
            <a:ext cx="838691" cy="369332"/>
          </a:xfrm>
          <a:prstGeom prst="rect">
            <a:avLst/>
          </a:prstGeom>
          <a:noFill/>
        </p:spPr>
        <p:txBody>
          <a:bodyPr wrap="none" rtlCol="0">
            <a:spAutoFit/>
          </a:bodyPr>
          <a:lstStyle/>
          <a:p>
            <a:r>
              <a:rPr lang="en-US" b="1" i="1" dirty="0"/>
              <a:t>labels</a:t>
            </a:r>
          </a:p>
        </p:txBody>
      </p:sp>
      <p:sp>
        <p:nvSpPr>
          <p:cNvPr id="36" name="TextBox 35">
            <a:extLst>
              <a:ext uri="{FF2B5EF4-FFF2-40B4-BE49-F238E27FC236}">
                <a16:creationId xmlns:a16="http://schemas.microsoft.com/office/drawing/2014/main" id="{381D3110-6078-BA60-B593-D5D1E5E2FBCA}"/>
              </a:ext>
            </a:extLst>
          </p:cNvPr>
          <p:cNvSpPr txBox="1"/>
          <p:nvPr/>
        </p:nvSpPr>
        <p:spPr>
          <a:xfrm>
            <a:off x="8701141" y="5064871"/>
            <a:ext cx="979755" cy="369332"/>
          </a:xfrm>
          <a:prstGeom prst="rect">
            <a:avLst/>
          </a:prstGeom>
          <a:noFill/>
        </p:spPr>
        <p:txBody>
          <a:bodyPr wrap="none" rtlCol="0">
            <a:spAutoFit/>
          </a:bodyPr>
          <a:lstStyle/>
          <a:p>
            <a:r>
              <a:rPr lang="en-US" b="1" i="1" dirty="0"/>
              <a:t>images</a:t>
            </a:r>
          </a:p>
        </p:txBody>
      </p:sp>
      <p:sp>
        <p:nvSpPr>
          <p:cNvPr id="37" name="TextBox 36">
            <a:extLst>
              <a:ext uri="{FF2B5EF4-FFF2-40B4-BE49-F238E27FC236}">
                <a16:creationId xmlns:a16="http://schemas.microsoft.com/office/drawing/2014/main" id="{76C5795C-CA97-9049-9AAF-037283617E53}"/>
              </a:ext>
            </a:extLst>
          </p:cNvPr>
          <p:cNvSpPr txBox="1"/>
          <p:nvPr/>
        </p:nvSpPr>
        <p:spPr>
          <a:xfrm>
            <a:off x="8701141" y="5726668"/>
            <a:ext cx="838691" cy="369332"/>
          </a:xfrm>
          <a:prstGeom prst="rect">
            <a:avLst/>
          </a:prstGeom>
          <a:noFill/>
        </p:spPr>
        <p:txBody>
          <a:bodyPr wrap="none" rtlCol="0">
            <a:spAutoFit/>
          </a:bodyPr>
          <a:lstStyle/>
          <a:p>
            <a:r>
              <a:rPr lang="en-US" b="1" i="1" dirty="0"/>
              <a:t>labels</a:t>
            </a:r>
          </a:p>
        </p:txBody>
      </p:sp>
      <p:sp>
        <p:nvSpPr>
          <p:cNvPr id="38" name="TextBox 37">
            <a:extLst>
              <a:ext uri="{FF2B5EF4-FFF2-40B4-BE49-F238E27FC236}">
                <a16:creationId xmlns:a16="http://schemas.microsoft.com/office/drawing/2014/main" id="{70843D4B-C08E-4C7C-CF64-CB6BD6AF8443}"/>
              </a:ext>
            </a:extLst>
          </p:cNvPr>
          <p:cNvSpPr txBox="1"/>
          <p:nvPr/>
        </p:nvSpPr>
        <p:spPr>
          <a:xfrm>
            <a:off x="8081693" y="4431268"/>
            <a:ext cx="505267" cy="369332"/>
          </a:xfrm>
          <a:prstGeom prst="rect">
            <a:avLst/>
          </a:prstGeom>
          <a:noFill/>
        </p:spPr>
        <p:txBody>
          <a:bodyPr wrap="none" rtlCol="0">
            <a:spAutoFit/>
          </a:bodyPr>
          <a:lstStyle/>
          <a:p>
            <a:r>
              <a:rPr lang="en-US" b="1" i="1" dirty="0" err="1"/>
              <a:t>val</a:t>
            </a:r>
            <a:endParaRPr lang="en-US" b="1" i="1" dirty="0"/>
          </a:p>
        </p:txBody>
      </p:sp>
      <p:pic>
        <p:nvPicPr>
          <p:cNvPr id="43" name="Graphic 42" descr="Open folder">
            <a:extLst>
              <a:ext uri="{FF2B5EF4-FFF2-40B4-BE49-F238E27FC236}">
                <a16:creationId xmlns:a16="http://schemas.microsoft.com/office/drawing/2014/main" id="{F83ED488-17D0-8BDF-5906-A5BD2AEB63B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5207" y="1931686"/>
            <a:ext cx="921807" cy="921807"/>
          </a:xfrm>
          <a:prstGeom prst="rect">
            <a:avLst/>
          </a:prstGeom>
        </p:spPr>
      </p:pic>
      <p:sp>
        <p:nvSpPr>
          <p:cNvPr id="44" name="Arrow: Bent-Up 43">
            <a:extLst>
              <a:ext uri="{FF2B5EF4-FFF2-40B4-BE49-F238E27FC236}">
                <a16:creationId xmlns:a16="http://schemas.microsoft.com/office/drawing/2014/main" id="{465129E1-2476-E6C6-34EA-401B9942F865}"/>
              </a:ext>
            </a:extLst>
          </p:cNvPr>
          <p:cNvSpPr/>
          <p:nvPr/>
        </p:nvSpPr>
        <p:spPr>
          <a:xfrm rot="5400000">
            <a:off x="857323" y="2674217"/>
            <a:ext cx="1180627" cy="633743"/>
          </a:xfrm>
          <a:prstGeom prst="bentUpArrow">
            <a:avLst>
              <a:gd name="adj1" fmla="val 13991"/>
              <a:gd name="adj2" fmla="val 25000"/>
              <a:gd name="adj3" fmla="val 32339"/>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45" name="Graphic 44" descr="Open folder">
            <a:extLst>
              <a:ext uri="{FF2B5EF4-FFF2-40B4-BE49-F238E27FC236}">
                <a16:creationId xmlns:a16="http://schemas.microsoft.com/office/drawing/2014/main" id="{3EEF805E-6E47-EED2-FFA9-22DDED61269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86599" y="2971800"/>
            <a:ext cx="921807" cy="921807"/>
          </a:xfrm>
          <a:prstGeom prst="rect">
            <a:avLst/>
          </a:prstGeom>
        </p:spPr>
      </p:pic>
      <p:sp>
        <p:nvSpPr>
          <p:cNvPr id="47" name="Arrow: Bent-Up 46">
            <a:extLst>
              <a:ext uri="{FF2B5EF4-FFF2-40B4-BE49-F238E27FC236}">
                <a16:creationId xmlns:a16="http://schemas.microsoft.com/office/drawing/2014/main" id="{A0E64F6D-A2B4-E34B-8DBC-1B96D2E6E891}"/>
              </a:ext>
            </a:extLst>
          </p:cNvPr>
          <p:cNvSpPr/>
          <p:nvPr/>
        </p:nvSpPr>
        <p:spPr>
          <a:xfrm rot="5400000">
            <a:off x="-123606" y="4069002"/>
            <a:ext cx="3142487" cy="633743"/>
          </a:xfrm>
          <a:prstGeom prst="bentUpArrow">
            <a:avLst>
              <a:gd name="adj1" fmla="val 13991"/>
              <a:gd name="adj2" fmla="val 25000"/>
              <a:gd name="adj3" fmla="val 32339"/>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49" name="Graphic 48" descr="Document">
            <a:extLst>
              <a:ext uri="{FF2B5EF4-FFF2-40B4-BE49-F238E27FC236}">
                <a16:creationId xmlns:a16="http://schemas.microsoft.com/office/drawing/2014/main" id="{7730EC26-CA15-A27A-5243-17BF9F239A0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29839" y="5355641"/>
            <a:ext cx="806586" cy="806586"/>
          </a:xfrm>
          <a:prstGeom prst="rect">
            <a:avLst/>
          </a:prstGeom>
        </p:spPr>
      </p:pic>
      <p:sp>
        <p:nvSpPr>
          <p:cNvPr id="50" name="TextBox 49">
            <a:extLst>
              <a:ext uri="{FF2B5EF4-FFF2-40B4-BE49-F238E27FC236}">
                <a16:creationId xmlns:a16="http://schemas.microsoft.com/office/drawing/2014/main" id="{A7CC6B4B-37E1-0A09-B76B-C8E77ADBC49C}"/>
              </a:ext>
            </a:extLst>
          </p:cNvPr>
          <p:cNvSpPr txBox="1"/>
          <p:nvPr/>
        </p:nvSpPr>
        <p:spPr>
          <a:xfrm>
            <a:off x="1624945" y="2171480"/>
            <a:ext cx="1826141" cy="369332"/>
          </a:xfrm>
          <a:prstGeom prst="rect">
            <a:avLst/>
          </a:prstGeom>
          <a:noFill/>
        </p:spPr>
        <p:txBody>
          <a:bodyPr wrap="none" rtlCol="0">
            <a:spAutoFit/>
          </a:bodyPr>
          <a:lstStyle/>
          <a:p>
            <a:r>
              <a:rPr lang="en-US" b="1" i="1" dirty="0" err="1"/>
              <a:t>Your_directory</a:t>
            </a:r>
            <a:endParaRPr lang="en-US" b="1" i="1" dirty="0"/>
          </a:p>
        </p:txBody>
      </p:sp>
      <p:sp>
        <p:nvSpPr>
          <p:cNvPr id="51" name="TextBox 50">
            <a:extLst>
              <a:ext uri="{FF2B5EF4-FFF2-40B4-BE49-F238E27FC236}">
                <a16:creationId xmlns:a16="http://schemas.microsoft.com/office/drawing/2014/main" id="{2707BF95-CE5C-8D9B-51C1-736487B74610}"/>
              </a:ext>
            </a:extLst>
          </p:cNvPr>
          <p:cNvSpPr txBox="1"/>
          <p:nvPr/>
        </p:nvSpPr>
        <p:spPr>
          <a:xfrm>
            <a:off x="2533821" y="3352800"/>
            <a:ext cx="992579" cy="369332"/>
          </a:xfrm>
          <a:prstGeom prst="rect">
            <a:avLst/>
          </a:prstGeom>
          <a:noFill/>
        </p:spPr>
        <p:txBody>
          <a:bodyPr wrap="none" rtlCol="0">
            <a:spAutoFit/>
          </a:bodyPr>
          <a:lstStyle/>
          <a:p>
            <a:r>
              <a:rPr lang="en-US" b="1" i="1" dirty="0"/>
              <a:t>dataset</a:t>
            </a:r>
          </a:p>
        </p:txBody>
      </p:sp>
      <p:sp>
        <p:nvSpPr>
          <p:cNvPr id="52" name="TextBox 51">
            <a:extLst>
              <a:ext uri="{FF2B5EF4-FFF2-40B4-BE49-F238E27FC236}">
                <a16:creationId xmlns:a16="http://schemas.microsoft.com/office/drawing/2014/main" id="{D9557C9E-1760-12F9-9818-6A9DFFA57060}"/>
              </a:ext>
            </a:extLst>
          </p:cNvPr>
          <p:cNvSpPr txBox="1"/>
          <p:nvPr/>
        </p:nvSpPr>
        <p:spPr>
          <a:xfrm>
            <a:off x="2365795" y="5643585"/>
            <a:ext cx="1249060" cy="369332"/>
          </a:xfrm>
          <a:prstGeom prst="rect">
            <a:avLst/>
          </a:prstGeom>
          <a:noFill/>
        </p:spPr>
        <p:txBody>
          <a:bodyPr wrap="none" rtlCol="0">
            <a:spAutoFit/>
          </a:bodyPr>
          <a:lstStyle/>
          <a:p>
            <a:r>
              <a:rPr lang="en-US" b="1" i="1" dirty="0" err="1"/>
              <a:t>data.yaml</a:t>
            </a:r>
            <a:endParaRPr lang="en-US" b="1" i="1" dirty="0"/>
          </a:p>
        </p:txBody>
      </p:sp>
      <p:sp>
        <p:nvSpPr>
          <p:cNvPr id="53" name="TextBox 52">
            <a:extLst>
              <a:ext uri="{FF2B5EF4-FFF2-40B4-BE49-F238E27FC236}">
                <a16:creationId xmlns:a16="http://schemas.microsoft.com/office/drawing/2014/main" id="{C4644637-8B4B-0F83-65FA-8281BF472895}"/>
              </a:ext>
            </a:extLst>
          </p:cNvPr>
          <p:cNvSpPr txBox="1"/>
          <p:nvPr/>
        </p:nvSpPr>
        <p:spPr>
          <a:xfrm>
            <a:off x="9791754" y="3349364"/>
            <a:ext cx="2095445" cy="646331"/>
          </a:xfrm>
          <a:prstGeom prst="rect">
            <a:avLst/>
          </a:prstGeom>
          <a:noFill/>
        </p:spPr>
        <p:txBody>
          <a:bodyPr wrap="none" rtlCol="0">
            <a:spAutoFit/>
          </a:bodyPr>
          <a:lstStyle/>
          <a:p>
            <a:r>
              <a:rPr lang="en-US" dirty="0"/>
              <a:t>80% of the original</a:t>
            </a:r>
          </a:p>
          <a:p>
            <a:pPr algn="ctr"/>
            <a:r>
              <a:rPr lang="en-US" dirty="0"/>
              <a:t>(random)</a:t>
            </a:r>
          </a:p>
        </p:txBody>
      </p:sp>
      <p:sp>
        <p:nvSpPr>
          <p:cNvPr id="54" name="TextBox 53">
            <a:extLst>
              <a:ext uri="{FF2B5EF4-FFF2-40B4-BE49-F238E27FC236}">
                <a16:creationId xmlns:a16="http://schemas.microsoft.com/office/drawing/2014/main" id="{9965FD11-52F3-7ADC-72DF-019C413F4881}"/>
              </a:ext>
            </a:extLst>
          </p:cNvPr>
          <p:cNvSpPr txBox="1"/>
          <p:nvPr/>
        </p:nvSpPr>
        <p:spPr>
          <a:xfrm>
            <a:off x="9791753" y="4061936"/>
            <a:ext cx="2377574" cy="923330"/>
          </a:xfrm>
          <a:prstGeom prst="rect">
            <a:avLst/>
          </a:prstGeom>
          <a:noFill/>
        </p:spPr>
        <p:txBody>
          <a:bodyPr wrap="none" rtlCol="0">
            <a:spAutoFit/>
          </a:bodyPr>
          <a:lstStyle/>
          <a:p>
            <a:r>
              <a:rPr lang="en-US" dirty="0"/>
              <a:t>80% of the annotated</a:t>
            </a:r>
          </a:p>
          <a:p>
            <a:pPr algn="ctr"/>
            <a:r>
              <a:rPr lang="en-US" dirty="0"/>
              <a:t>(.</a:t>
            </a:r>
            <a:r>
              <a:rPr lang="en-US" dirty="0" err="1"/>
              <a:t>txts</a:t>
            </a:r>
            <a:r>
              <a:rPr lang="en-US" dirty="0"/>
              <a:t> of the images</a:t>
            </a:r>
          </a:p>
          <a:p>
            <a:pPr algn="ctr"/>
            <a:r>
              <a:rPr lang="en-US" dirty="0"/>
              <a:t>In </a:t>
            </a:r>
            <a:r>
              <a:rPr lang="en-US" i="1" dirty="0"/>
              <a:t>images/</a:t>
            </a:r>
            <a:r>
              <a:rPr lang="en-US" dirty="0"/>
              <a:t>)</a:t>
            </a:r>
          </a:p>
        </p:txBody>
      </p:sp>
      <p:sp>
        <p:nvSpPr>
          <p:cNvPr id="55" name="TextBox 54">
            <a:extLst>
              <a:ext uri="{FF2B5EF4-FFF2-40B4-BE49-F238E27FC236}">
                <a16:creationId xmlns:a16="http://schemas.microsoft.com/office/drawing/2014/main" id="{F56D2D99-D8CF-6311-ECDC-0629783268CD}"/>
              </a:ext>
            </a:extLst>
          </p:cNvPr>
          <p:cNvSpPr txBox="1"/>
          <p:nvPr/>
        </p:nvSpPr>
        <p:spPr>
          <a:xfrm>
            <a:off x="9932420" y="5010150"/>
            <a:ext cx="2095445" cy="646331"/>
          </a:xfrm>
          <a:prstGeom prst="rect">
            <a:avLst/>
          </a:prstGeom>
          <a:noFill/>
        </p:spPr>
        <p:txBody>
          <a:bodyPr wrap="none" rtlCol="0">
            <a:spAutoFit/>
          </a:bodyPr>
          <a:lstStyle/>
          <a:p>
            <a:r>
              <a:rPr lang="en-US" dirty="0"/>
              <a:t>20% of the original</a:t>
            </a:r>
          </a:p>
          <a:p>
            <a:pPr algn="ctr"/>
            <a:r>
              <a:rPr lang="en-US" dirty="0"/>
              <a:t>(remaining)</a:t>
            </a:r>
          </a:p>
        </p:txBody>
      </p:sp>
      <p:sp>
        <p:nvSpPr>
          <p:cNvPr id="56" name="TextBox 55">
            <a:extLst>
              <a:ext uri="{FF2B5EF4-FFF2-40B4-BE49-F238E27FC236}">
                <a16:creationId xmlns:a16="http://schemas.microsoft.com/office/drawing/2014/main" id="{966E7D3B-3B54-2E8A-9C39-3AA8AFC6CDE8}"/>
              </a:ext>
            </a:extLst>
          </p:cNvPr>
          <p:cNvSpPr txBox="1"/>
          <p:nvPr/>
        </p:nvSpPr>
        <p:spPr>
          <a:xfrm>
            <a:off x="9826205" y="5634335"/>
            <a:ext cx="2377574" cy="923330"/>
          </a:xfrm>
          <a:prstGeom prst="rect">
            <a:avLst/>
          </a:prstGeom>
          <a:noFill/>
        </p:spPr>
        <p:txBody>
          <a:bodyPr wrap="none" rtlCol="0">
            <a:spAutoFit/>
          </a:bodyPr>
          <a:lstStyle/>
          <a:p>
            <a:r>
              <a:rPr lang="en-US" dirty="0"/>
              <a:t>20% of the annotated</a:t>
            </a:r>
          </a:p>
          <a:p>
            <a:pPr algn="ctr"/>
            <a:r>
              <a:rPr lang="en-US" dirty="0"/>
              <a:t>(.</a:t>
            </a:r>
            <a:r>
              <a:rPr lang="en-US" dirty="0" err="1"/>
              <a:t>txts</a:t>
            </a:r>
            <a:r>
              <a:rPr lang="en-US" dirty="0"/>
              <a:t> of the images</a:t>
            </a:r>
          </a:p>
          <a:p>
            <a:pPr algn="ctr"/>
            <a:r>
              <a:rPr lang="en-US" dirty="0"/>
              <a:t>In </a:t>
            </a:r>
            <a:r>
              <a:rPr lang="en-US" i="1" dirty="0"/>
              <a:t>images/</a:t>
            </a:r>
            <a:r>
              <a:rPr lang="en-US" dirty="0"/>
              <a:t>)</a:t>
            </a:r>
          </a:p>
        </p:txBody>
      </p:sp>
      <p:cxnSp>
        <p:nvCxnSpPr>
          <p:cNvPr id="58" name="Connector: Elbow 57">
            <a:extLst>
              <a:ext uri="{FF2B5EF4-FFF2-40B4-BE49-F238E27FC236}">
                <a16:creationId xmlns:a16="http://schemas.microsoft.com/office/drawing/2014/main" id="{CDC356F4-401F-7AC3-58EA-C3412E0C523D}"/>
              </a:ext>
            </a:extLst>
          </p:cNvPr>
          <p:cNvCxnSpPr>
            <a:cxnSpLocks/>
            <a:stCxn id="51" idx="3"/>
            <a:endCxn id="14" idx="1"/>
          </p:cNvCxnSpPr>
          <p:nvPr/>
        </p:nvCxnSpPr>
        <p:spPr>
          <a:xfrm flipV="1">
            <a:off x="3526400" y="2236012"/>
            <a:ext cx="3255400" cy="1301454"/>
          </a:xfrm>
          <a:prstGeom prst="bentConnector3">
            <a:avLst>
              <a:gd name="adj1" fmla="val 50000"/>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Arrow: Bent-Up 61">
            <a:extLst>
              <a:ext uri="{FF2B5EF4-FFF2-40B4-BE49-F238E27FC236}">
                <a16:creationId xmlns:a16="http://schemas.microsoft.com/office/drawing/2014/main" id="{8151AB23-DB3A-2954-F153-4A856453A8F9}"/>
              </a:ext>
            </a:extLst>
          </p:cNvPr>
          <p:cNvSpPr/>
          <p:nvPr/>
        </p:nvSpPr>
        <p:spPr>
          <a:xfrm rot="5400000">
            <a:off x="867098" y="3817215"/>
            <a:ext cx="1180627" cy="633743"/>
          </a:xfrm>
          <a:prstGeom prst="bentUpArrow">
            <a:avLst>
              <a:gd name="adj1" fmla="val 13991"/>
              <a:gd name="adj2" fmla="val 25000"/>
              <a:gd name="adj3" fmla="val 32339"/>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63" name="Graphic 62" descr="Document">
            <a:extLst>
              <a:ext uri="{FF2B5EF4-FFF2-40B4-BE49-F238E27FC236}">
                <a16:creationId xmlns:a16="http://schemas.microsoft.com/office/drawing/2014/main" id="{F30632E7-CF8F-CB63-67D5-3070C2E4DA2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33756" y="4153375"/>
            <a:ext cx="806586" cy="806586"/>
          </a:xfrm>
          <a:prstGeom prst="rect">
            <a:avLst/>
          </a:prstGeom>
        </p:spPr>
      </p:pic>
      <p:sp>
        <p:nvSpPr>
          <p:cNvPr id="64" name="TextBox 63">
            <a:extLst>
              <a:ext uri="{FF2B5EF4-FFF2-40B4-BE49-F238E27FC236}">
                <a16:creationId xmlns:a16="http://schemas.microsoft.com/office/drawing/2014/main" id="{42150326-6FA0-60EF-C826-E36415781A47}"/>
              </a:ext>
            </a:extLst>
          </p:cNvPr>
          <p:cNvSpPr txBox="1"/>
          <p:nvPr/>
        </p:nvSpPr>
        <p:spPr>
          <a:xfrm>
            <a:off x="2336156" y="4434358"/>
            <a:ext cx="1364476" cy="369332"/>
          </a:xfrm>
          <a:prstGeom prst="rect">
            <a:avLst/>
          </a:prstGeom>
          <a:noFill/>
        </p:spPr>
        <p:txBody>
          <a:bodyPr wrap="none" rtlCol="0">
            <a:spAutoFit/>
          </a:bodyPr>
          <a:lstStyle/>
          <a:p>
            <a:r>
              <a:rPr lang="en-US" b="1" i="1" dirty="0"/>
              <a:t>training.py</a:t>
            </a:r>
          </a:p>
        </p:txBody>
      </p:sp>
    </p:spTree>
    <p:extLst>
      <p:ext uri="{BB962C8B-B14F-4D97-AF65-F5344CB8AC3E}">
        <p14:creationId xmlns:p14="http://schemas.microsoft.com/office/powerpoint/2010/main" val="31101563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F9B47-963D-892B-FCED-66355AEA55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14CDF-9196-7623-71A4-0B2D556CACEC}"/>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C72D4934-BEA2-4282-414A-207576885546}"/>
              </a:ext>
            </a:extLst>
          </p:cNvPr>
          <p:cNvSpPr>
            <a:spLocks noGrp="1"/>
          </p:cNvSpPr>
          <p:nvPr>
            <p:ph type="body" idx="1"/>
          </p:nvPr>
        </p:nvSpPr>
        <p:spPr>
          <a:xfrm>
            <a:off x="304799" y="1557519"/>
            <a:ext cx="11582400" cy="646331"/>
          </a:xfrm>
        </p:spPr>
        <p:txBody>
          <a:bodyPr/>
          <a:lstStyle/>
          <a:p>
            <a:pPr algn="ctr"/>
            <a:r>
              <a:rPr lang="en-US" sz="2400" b="1" u="sng" dirty="0"/>
              <a:t>Training using your Data – Training the Model</a:t>
            </a:r>
          </a:p>
          <a:p>
            <a:pPr algn="l"/>
            <a:r>
              <a:rPr lang="en-US" dirty="0"/>
              <a:t> </a:t>
            </a:r>
            <a:endParaRPr lang="en-US" i="1" dirty="0">
              <a:solidFill>
                <a:srgbClr val="0000FF"/>
              </a:solidFill>
            </a:endParaRPr>
          </a:p>
        </p:txBody>
      </p:sp>
      <p:sp>
        <p:nvSpPr>
          <p:cNvPr id="8" name="TextBox 7">
            <a:extLst>
              <a:ext uri="{FF2B5EF4-FFF2-40B4-BE49-F238E27FC236}">
                <a16:creationId xmlns:a16="http://schemas.microsoft.com/office/drawing/2014/main" id="{50578C4F-2334-3E94-DDF4-BB09282E7B48}"/>
              </a:ext>
            </a:extLst>
          </p:cNvPr>
          <p:cNvSpPr txBox="1"/>
          <p:nvPr/>
        </p:nvSpPr>
        <p:spPr>
          <a:xfrm>
            <a:off x="381000" y="2090919"/>
            <a:ext cx="11430000" cy="646331"/>
          </a:xfrm>
          <a:prstGeom prst="rect">
            <a:avLst/>
          </a:prstGeom>
          <a:noFill/>
        </p:spPr>
        <p:txBody>
          <a:bodyPr wrap="square" rtlCol="0">
            <a:spAutoFit/>
          </a:bodyPr>
          <a:lstStyle/>
          <a:p>
            <a:r>
              <a:rPr lang="en-US" b="1" i="1" u="sng" dirty="0" err="1"/>
              <a:t>data.yaml</a:t>
            </a:r>
            <a:r>
              <a:rPr lang="en-US" b="1" i="1" u="sng" dirty="0"/>
              <a:t> </a:t>
            </a:r>
            <a:r>
              <a:rPr lang="en-US" b="1" u="sng" dirty="0"/>
              <a:t>–</a:t>
            </a:r>
            <a:r>
              <a:rPr lang="en-US" dirty="0"/>
              <a:t> Now in “</a:t>
            </a:r>
            <a:r>
              <a:rPr lang="en-US" b="1" i="1" dirty="0" err="1"/>
              <a:t>data.yaml</a:t>
            </a:r>
            <a:r>
              <a:rPr lang="en-US" dirty="0"/>
              <a:t>”, paste this code which will contain the information of where “</a:t>
            </a:r>
            <a:r>
              <a:rPr lang="en-US" b="1" i="1" dirty="0"/>
              <a:t>train/</a:t>
            </a:r>
            <a:r>
              <a:rPr lang="en-US" dirty="0"/>
              <a:t>” and “</a:t>
            </a:r>
            <a:r>
              <a:rPr lang="en-US" b="1" i="1" dirty="0" err="1"/>
              <a:t>val</a:t>
            </a:r>
            <a:r>
              <a:rPr lang="en-US" b="1" i="1" dirty="0"/>
              <a:t>/</a:t>
            </a:r>
            <a:r>
              <a:rPr lang="en-US" dirty="0"/>
              <a:t>” folder is so that we can proceed with the training part. </a:t>
            </a:r>
          </a:p>
        </p:txBody>
      </p:sp>
      <p:pic>
        <p:nvPicPr>
          <p:cNvPr id="5" name="Picture 4">
            <a:extLst>
              <a:ext uri="{FF2B5EF4-FFF2-40B4-BE49-F238E27FC236}">
                <a16:creationId xmlns:a16="http://schemas.microsoft.com/office/drawing/2014/main" id="{9AC3FA3F-DDB6-8BAF-C3E8-109D597A5CFC}"/>
              </a:ext>
            </a:extLst>
          </p:cNvPr>
          <p:cNvPicPr>
            <a:picLocks noChangeAspect="1"/>
          </p:cNvPicPr>
          <p:nvPr/>
        </p:nvPicPr>
        <p:blipFill>
          <a:blip r:embed="rId2"/>
          <a:stretch>
            <a:fillRect/>
          </a:stretch>
        </p:blipFill>
        <p:spPr>
          <a:xfrm>
            <a:off x="2071125" y="3200400"/>
            <a:ext cx="8049748" cy="1533739"/>
          </a:xfrm>
          <a:prstGeom prst="rect">
            <a:avLst/>
          </a:prstGeom>
        </p:spPr>
      </p:pic>
      <p:sp>
        <p:nvSpPr>
          <p:cNvPr id="6" name="TextBox 5">
            <a:extLst>
              <a:ext uri="{FF2B5EF4-FFF2-40B4-BE49-F238E27FC236}">
                <a16:creationId xmlns:a16="http://schemas.microsoft.com/office/drawing/2014/main" id="{DD935288-DB92-3BF0-273D-267ADD7834C0}"/>
              </a:ext>
            </a:extLst>
          </p:cNvPr>
          <p:cNvSpPr txBox="1"/>
          <p:nvPr/>
        </p:nvSpPr>
        <p:spPr>
          <a:xfrm>
            <a:off x="381000" y="5272197"/>
            <a:ext cx="11430000" cy="646331"/>
          </a:xfrm>
          <a:prstGeom prst="rect">
            <a:avLst/>
          </a:prstGeom>
          <a:noFill/>
        </p:spPr>
        <p:txBody>
          <a:bodyPr wrap="square" rtlCol="0">
            <a:spAutoFit/>
          </a:bodyPr>
          <a:lstStyle/>
          <a:p>
            <a:pPr algn="ctr"/>
            <a:r>
              <a:rPr lang="en-US" dirty="0"/>
              <a:t>By having this file, the training is much easier as we can use this file as the navigator and train our model using the “</a:t>
            </a:r>
            <a:r>
              <a:rPr lang="en-US" b="1" i="1" dirty="0"/>
              <a:t>training.py</a:t>
            </a:r>
            <a:r>
              <a:rPr lang="en-US" dirty="0"/>
              <a:t>” file. </a:t>
            </a:r>
          </a:p>
        </p:txBody>
      </p:sp>
    </p:spTree>
    <p:extLst>
      <p:ext uri="{BB962C8B-B14F-4D97-AF65-F5344CB8AC3E}">
        <p14:creationId xmlns:p14="http://schemas.microsoft.com/office/powerpoint/2010/main" val="23157518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E5F00-BBF1-B7F0-880F-016C4035D7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9E6DE2-02F5-1454-0CD7-869866BEDDB3}"/>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5032CABA-F7E4-4736-A24A-0C247B881CD4}"/>
              </a:ext>
            </a:extLst>
          </p:cNvPr>
          <p:cNvSpPr>
            <a:spLocks noGrp="1"/>
          </p:cNvSpPr>
          <p:nvPr>
            <p:ph type="body" idx="1"/>
          </p:nvPr>
        </p:nvSpPr>
        <p:spPr>
          <a:xfrm>
            <a:off x="304799" y="1557519"/>
            <a:ext cx="11582400" cy="646331"/>
          </a:xfrm>
        </p:spPr>
        <p:txBody>
          <a:bodyPr/>
          <a:lstStyle/>
          <a:p>
            <a:pPr algn="ctr"/>
            <a:r>
              <a:rPr lang="en-US" sz="2400" b="1" u="sng" dirty="0"/>
              <a:t>Training using your Data – Training the Model Offline (Custom Dataset)</a:t>
            </a:r>
          </a:p>
          <a:p>
            <a:pPr algn="l"/>
            <a:r>
              <a:rPr lang="en-US" dirty="0"/>
              <a:t> </a:t>
            </a:r>
            <a:endParaRPr lang="en-US" i="1" dirty="0">
              <a:solidFill>
                <a:srgbClr val="0000FF"/>
              </a:solidFill>
            </a:endParaRPr>
          </a:p>
        </p:txBody>
      </p:sp>
      <p:sp>
        <p:nvSpPr>
          <p:cNvPr id="8" name="TextBox 7">
            <a:extLst>
              <a:ext uri="{FF2B5EF4-FFF2-40B4-BE49-F238E27FC236}">
                <a16:creationId xmlns:a16="http://schemas.microsoft.com/office/drawing/2014/main" id="{A425B4AA-2528-2050-27DC-3D699D9DE13E}"/>
              </a:ext>
            </a:extLst>
          </p:cNvPr>
          <p:cNvSpPr txBox="1"/>
          <p:nvPr/>
        </p:nvSpPr>
        <p:spPr>
          <a:xfrm>
            <a:off x="381000" y="2090919"/>
            <a:ext cx="11430000" cy="646331"/>
          </a:xfrm>
          <a:prstGeom prst="rect">
            <a:avLst/>
          </a:prstGeom>
          <a:noFill/>
        </p:spPr>
        <p:txBody>
          <a:bodyPr wrap="square" rtlCol="0">
            <a:spAutoFit/>
          </a:bodyPr>
          <a:lstStyle/>
          <a:p>
            <a:r>
              <a:rPr lang="en-US" b="1" i="1" u="sng" dirty="0"/>
              <a:t>training.py </a:t>
            </a:r>
            <a:r>
              <a:rPr lang="en-US" b="1" u="sng" dirty="0"/>
              <a:t>–</a:t>
            </a:r>
            <a:r>
              <a:rPr lang="en-US" dirty="0"/>
              <a:t> Now in “</a:t>
            </a:r>
            <a:r>
              <a:rPr lang="en-US" b="1" i="1" dirty="0"/>
              <a:t>training.py</a:t>
            </a:r>
            <a:r>
              <a:rPr lang="en-US" dirty="0"/>
              <a:t>”, paste this code which will contain the information of where “</a:t>
            </a:r>
            <a:r>
              <a:rPr lang="en-US" b="1" i="1" dirty="0"/>
              <a:t>train/</a:t>
            </a:r>
            <a:r>
              <a:rPr lang="en-US" dirty="0"/>
              <a:t>” and “</a:t>
            </a:r>
            <a:r>
              <a:rPr lang="en-US" b="1" i="1" dirty="0" err="1"/>
              <a:t>val</a:t>
            </a:r>
            <a:r>
              <a:rPr lang="en-US" b="1" i="1" dirty="0"/>
              <a:t>/</a:t>
            </a:r>
            <a:r>
              <a:rPr lang="en-US" dirty="0"/>
              <a:t>” folder is so that we can proceed with the training part. </a:t>
            </a:r>
          </a:p>
        </p:txBody>
      </p:sp>
      <p:pic>
        <p:nvPicPr>
          <p:cNvPr id="5" name="Picture 4">
            <a:extLst>
              <a:ext uri="{FF2B5EF4-FFF2-40B4-BE49-F238E27FC236}">
                <a16:creationId xmlns:a16="http://schemas.microsoft.com/office/drawing/2014/main" id="{CB0D8DD7-ED86-84DB-7D6D-2B4B4A686DE8}"/>
              </a:ext>
            </a:extLst>
          </p:cNvPr>
          <p:cNvPicPr>
            <a:picLocks noChangeAspect="1"/>
          </p:cNvPicPr>
          <p:nvPr/>
        </p:nvPicPr>
        <p:blipFill>
          <a:blip r:embed="rId2"/>
          <a:stretch>
            <a:fillRect/>
          </a:stretch>
        </p:blipFill>
        <p:spPr>
          <a:xfrm>
            <a:off x="2071125" y="3200400"/>
            <a:ext cx="8049748" cy="1533739"/>
          </a:xfrm>
          <a:prstGeom prst="rect">
            <a:avLst/>
          </a:prstGeom>
        </p:spPr>
      </p:pic>
      <p:sp>
        <p:nvSpPr>
          <p:cNvPr id="6" name="TextBox 5">
            <a:extLst>
              <a:ext uri="{FF2B5EF4-FFF2-40B4-BE49-F238E27FC236}">
                <a16:creationId xmlns:a16="http://schemas.microsoft.com/office/drawing/2014/main" id="{FC14B760-7F61-03E4-7857-0A1B40FEB5D8}"/>
              </a:ext>
            </a:extLst>
          </p:cNvPr>
          <p:cNvSpPr txBox="1"/>
          <p:nvPr/>
        </p:nvSpPr>
        <p:spPr>
          <a:xfrm>
            <a:off x="381000" y="5272197"/>
            <a:ext cx="11430000" cy="369332"/>
          </a:xfrm>
          <a:prstGeom prst="rect">
            <a:avLst/>
          </a:prstGeom>
          <a:noFill/>
        </p:spPr>
        <p:txBody>
          <a:bodyPr wrap="square" rtlCol="0">
            <a:spAutoFit/>
          </a:bodyPr>
          <a:lstStyle/>
          <a:p>
            <a:pPr algn="ctr"/>
            <a:r>
              <a:rPr lang="en-US" dirty="0"/>
              <a:t>By running this code, the training of the model starts and it depends on the CPU and GPU power of the device. </a:t>
            </a:r>
          </a:p>
        </p:txBody>
      </p:sp>
      <p:pic>
        <p:nvPicPr>
          <p:cNvPr id="7" name="Picture 6">
            <a:extLst>
              <a:ext uri="{FF2B5EF4-FFF2-40B4-BE49-F238E27FC236}">
                <a16:creationId xmlns:a16="http://schemas.microsoft.com/office/drawing/2014/main" id="{0EE64327-A2BA-A0F9-E9BA-9BC9189A54A3}"/>
              </a:ext>
            </a:extLst>
          </p:cNvPr>
          <p:cNvPicPr>
            <a:picLocks noChangeAspect="1"/>
          </p:cNvPicPr>
          <p:nvPr/>
        </p:nvPicPr>
        <p:blipFill>
          <a:blip r:embed="rId3"/>
          <a:stretch>
            <a:fillRect/>
          </a:stretch>
        </p:blipFill>
        <p:spPr>
          <a:xfrm>
            <a:off x="1675782" y="2786004"/>
            <a:ext cx="8840434" cy="2362530"/>
          </a:xfrm>
          <a:prstGeom prst="rect">
            <a:avLst/>
          </a:prstGeom>
        </p:spPr>
      </p:pic>
      <mc:AlternateContent xmlns:mc="http://schemas.openxmlformats.org/markup-compatibility/2006">
        <mc:Choice xmlns:p14="http://schemas.microsoft.com/office/powerpoint/2010/main" Requires="p14">
          <p:contentPart p14:bwMode="auto" r:id="rId4">
            <p14:nvContentPartPr>
              <p14:cNvPr id="9" name="Ink 8">
                <a:extLst>
                  <a:ext uri="{FF2B5EF4-FFF2-40B4-BE49-F238E27FC236}">
                    <a16:creationId xmlns:a16="http://schemas.microsoft.com/office/drawing/2014/main" id="{CB118BAA-58E8-349C-FB8C-BF6EDD52ED2B}"/>
                  </a:ext>
                </a:extLst>
              </p14:cNvPr>
              <p14:cNvContentPartPr/>
              <p14:nvPr/>
            </p14:nvContentPartPr>
            <p14:xfrm>
              <a:off x="5704458" y="4261016"/>
              <a:ext cx="3657960" cy="76320"/>
            </p14:xfrm>
          </p:contentPart>
        </mc:Choice>
        <mc:Fallback>
          <p:pic>
            <p:nvPicPr>
              <p:cNvPr id="9" name="Ink 8">
                <a:extLst>
                  <a:ext uri="{FF2B5EF4-FFF2-40B4-BE49-F238E27FC236}">
                    <a16:creationId xmlns:a16="http://schemas.microsoft.com/office/drawing/2014/main" id="{CB118BAA-58E8-349C-FB8C-BF6EDD52ED2B}"/>
                  </a:ext>
                </a:extLst>
              </p:cNvPr>
              <p:cNvPicPr/>
              <p:nvPr/>
            </p:nvPicPr>
            <p:blipFill>
              <a:blip r:embed="rId5"/>
              <a:stretch>
                <a:fillRect/>
              </a:stretch>
            </p:blipFill>
            <p:spPr>
              <a:xfrm>
                <a:off x="5641458" y="4198016"/>
                <a:ext cx="3783600" cy="2019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0" name="Ink 9">
                <a:extLst>
                  <a:ext uri="{FF2B5EF4-FFF2-40B4-BE49-F238E27FC236}">
                    <a16:creationId xmlns:a16="http://schemas.microsoft.com/office/drawing/2014/main" id="{7BFCF813-38B4-AB14-8A14-13A1ED9EBF2A}"/>
                  </a:ext>
                </a:extLst>
              </p14:cNvPr>
              <p14:cNvContentPartPr/>
              <p14:nvPr/>
            </p14:nvContentPartPr>
            <p14:xfrm>
              <a:off x="5120178" y="4277216"/>
              <a:ext cx="952200" cy="26640"/>
            </p14:xfrm>
          </p:contentPart>
        </mc:Choice>
        <mc:Fallback>
          <p:pic>
            <p:nvPicPr>
              <p:cNvPr id="10" name="Ink 9">
                <a:extLst>
                  <a:ext uri="{FF2B5EF4-FFF2-40B4-BE49-F238E27FC236}">
                    <a16:creationId xmlns:a16="http://schemas.microsoft.com/office/drawing/2014/main" id="{7BFCF813-38B4-AB14-8A14-13A1ED9EBF2A}"/>
                  </a:ext>
                </a:extLst>
              </p:cNvPr>
              <p:cNvPicPr/>
              <p:nvPr/>
            </p:nvPicPr>
            <p:blipFill>
              <a:blip r:embed="rId7"/>
              <a:stretch>
                <a:fillRect/>
              </a:stretch>
            </p:blipFill>
            <p:spPr>
              <a:xfrm>
                <a:off x="5057538" y="4214576"/>
                <a:ext cx="1077840" cy="152280"/>
              </a:xfrm>
              <a:prstGeom prst="rect">
                <a:avLst/>
              </a:prstGeom>
            </p:spPr>
          </p:pic>
        </mc:Fallback>
      </mc:AlternateContent>
    </p:spTree>
    <p:extLst>
      <p:ext uri="{BB962C8B-B14F-4D97-AF65-F5344CB8AC3E}">
        <p14:creationId xmlns:p14="http://schemas.microsoft.com/office/powerpoint/2010/main" val="14714438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AE04F-982A-B632-C955-085EB4ED12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5D697-94B8-F7BB-1FE5-E6E50B8C4E9B}"/>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0702E614-B9D9-6E30-8463-7BCE2F2A1810}"/>
              </a:ext>
            </a:extLst>
          </p:cNvPr>
          <p:cNvSpPr>
            <a:spLocks noGrp="1"/>
          </p:cNvSpPr>
          <p:nvPr>
            <p:ph type="body" idx="1"/>
          </p:nvPr>
        </p:nvSpPr>
        <p:spPr>
          <a:xfrm>
            <a:off x="304799" y="1557519"/>
            <a:ext cx="11582400" cy="646331"/>
          </a:xfrm>
        </p:spPr>
        <p:txBody>
          <a:bodyPr/>
          <a:lstStyle/>
          <a:p>
            <a:pPr algn="ctr"/>
            <a:r>
              <a:rPr lang="en-US" sz="2400" b="1" u="sng" dirty="0"/>
              <a:t>Training using your Data – Training the Model Offline (Custom Dataset)</a:t>
            </a:r>
          </a:p>
          <a:p>
            <a:pPr algn="l"/>
            <a:r>
              <a:rPr lang="en-US" dirty="0"/>
              <a:t> </a:t>
            </a:r>
            <a:endParaRPr lang="en-US" i="1" dirty="0">
              <a:solidFill>
                <a:srgbClr val="0000FF"/>
              </a:solidFill>
            </a:endParaRPr>
          </a:p>
        </p:txBody>
      </p:sp>
      <p:sp>
        <p:nvSpPr>
          <p:cNvPr id="8" name="TextBox 7">
            <a:extLst>
              <a:ext uri="{FF2B5EF4-FFF2-40B4-BE49-F238E27FC236}">
                <a16:creationId xmlns:a16="http://schemas.microsoft.com/office/drawing/2014/main" id="{66D7E92A-8AB5-4AAF-1D9E-F2C149D032AD}"/>
              </a:ext>
            </a:extLst>
          </p:cNvPr>
          <p:cNvSpPr txBox="1"/>
          <p:nvPr/>
        </p:nvSpPr>
        <p:spPr>
          <a:xfrm>
            <a:off x="381000" y="2090919"/>
            <a:ext cx="11430000" cy="646331"/>
          </a:xfrm>
          <a:prstGeom prst="rect">
            <a:avLst/>
          </a:prstGeom>
          <a:noFill/>
        </p:spPr>
        <p:txBody>
          <a:bodyPr wrap="square" rtlCol="0">
            <a:spAutoFit/>
          </a:bodyPr>
          <a:lstStyle/>
          <a:p>
            <a:r>
              <a:rPr lang="en-US" b="1" u="sng" dirty="0"/>
              <a:t>Trained model –</a:t>
            </a:r>
            <a:r>
              <a:rPr lang="en-US" dirty="0"/>
              <a:t> Now in the directory, we can see a new folder made named “</a:t>
            </a:r>
            <a:r>
              <a:rPr lang="en-US" b="1" i="1" dirty="0"/>
              <a:t>runs/</a:t>
            </a:r>
            <a:r>
              <a:rPr lang="en-US" dirty="0"/>
              <a:t>” from which we will have to take the file named “</a:t>
            </a:r>
            <a:r>
              <a:rPr lang="en-US" b="1" i="1" dirty="0"/>
              <a:t>best.pt</a:t>
            </a:r>
            <a:r>
              <a:rPr lang="en-US" dirty="0"/>
              <a:t>”. </a:t>
            </a:r>
          </a:p>
        </p:txBody>
      </p:sp>
      <p:sp>
        <p:nvSpPr>
          <p:cNvPr id="6" name="TextBox 5">
            <a:extLst>
              <a:ext uri="{FF2B5EF4-FFF2-40B4-BE49-F238E27FC236}">
                <a16:creationId xmlns:a16="http://schemas.microsoft.com/office/drawing/2014/main" id="{85F6B5B5-FBEB-F3C0-3551-07BF5669289C}"/>
              </a:ext>
            </a:extLst>
          </p:cNvPr>
          <p:cNvSpPr txBox="1"/>
          <p:nvPr/>
        </p:nvSpPr>
        <p:spPr>
          <a:xfrm>
            <a:off x="380999" y="3428253"/>
            <a:ext cx="11430000" cy="1815882"/>
          </a:xfrm>
          <a:prstGeom prst="rect">
            <a:avLst/>
          </a:prstGeom>
          <a:noFill/>
        </p:spPr>
        <p:txBody>
          <a:bodyPr wrap="square" rtlCol="0">
            <a:spAutoFit/>
          </a:bodyPr>
          <a:lstStyle/>
          <a:p>
            <a:pPr algn="ctr"/>
            <a:r>
              <a:rPr lang="en-US" sz="2800" dirty="0"/>
              <a:t>The path of “</a:t>
            </a:r>
            <a:r>
              <a:rPr lang="en-US" sz="2800" b="1" i="1" dirty="0"/>
              <a:t>best.pt</a:t>
            </a:r>
            <a:r>
              <a:rPr lang="en-US" sz="2800" dirty="0"/>
              <a:t>” is “</a:t>
            </a:r>
            <a:r>
              <a:rPr lang="en-US" sz="2800" b="1" i="1" dirty="0"/>
              <a:t>runs/detect/train/weights/best.pt</a:t>
            </a:r>
            <a:r>
              <a:rPr lang="en-US" sz="2800" dirty="0"/>
              <a:t>”</a:t>
            </a:r>
          </a:p>
          <a:p>
            <a:pPr algn="ctr"/>
            <a:endParaRPr lang="en-US" sz="2800" dirty="0"/>
          </a:p>
          <a:p>
            <a:pPr algn="ctr"/>
            <a:endParaRPr lang="en-US" sz="2800" dirty="0"/>
          </a:p>
          <a:p>
            <a:pPr algn="ctr"/>
            <a:r>
              <a:rPr lang="en-US" sz="2800" dirty="0"/>
              <a:t>You can now use this path and run the trained model!</a:t>
            </a:r>
          </a:p>
        </p:txBody>
      </p:sp>
    </p:spTree>
    <p:extLst>
      <p:ext uri="{BB962C8B-B14F-4D97-AF65-F5344CB8AC3E}">
        <p14:creationId xmlns:p14="http://schemas.microsoft.com/office/powerpoint/2010/main" val="38052317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058B9-0F36-26D0-1B67-0773C8B1BA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A7220-EFCD-23CA-59C8-31B7810B2CA5}"/>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53F8043C-AC08-C4E9-B2DC-E1F3B72935BB}"/>
              </a:ext>
            </a:extLst>
          </p:cNvPr>
          <p:cNvSpPr>
            <a:spLocks noGrp="1"/>
          </p:cNvSpPr>
          <p:nvPr>
            <p:ph type="body" idx="1"/>
          </p:nvPr>
        </p:nvSpPr>
        <p:spPr>
          <a:xfrm>
            <a:off x="304799" y="1557519"/>
            <a:ext cx="11582400" cy="646331"/>
          </a:xfrm>
        </p:spPr>
        <p:txBody>
          <a:bodyPr/>
          <a:lstStyle/>
          <a:p>
            <a:pPr algn="ctr"/>
            <a:r>
              <a:rPr lang="en-US" sz="2400" b="1" u="sng" dirty="0"/>
              <a:t>Training using your Data – Training the Model</a:t>
            </a:r>
          </a:p>
          <a:p>
            <a:pPr algn="l"/>
            <a:r>
              <a:rPr lang="en-US" dirty="0"/>
              <a:t> </a:t>
            </a:r>
            <a:endParaRPr lang="en-US" i="1" dirty="0">
              <a:solidFill>
                <a:srgbClr val="0000FF"/>
              </a:solidFill>
            </a:endParaRPr>
          </a:p>
        </p:txBody>
      </p:sp>
      <p:sp>
        <p:nvSpPr>
          <p:cNvPr id="8" name="TextBox 7">
            <a:extLst>
              <a:ext uri="{FF2B5EF4-FFF2-40B4-BE49-F238E27FC236}">
                <a16:creationId xmlns:a16="http://schemas.microsoft.com/office/drawing/2014/main" id="{6207EF13-48C3-A4BC-F452-7A83063948F5}"/>
              </a:ext>
            </a:extLst>
          </p:cNvPr>
          <p:cNvSpPr txBox="1"/>
          <p:nvPr/>
        </p:nvSpPr>
        <p:spPr>
          <a:xfrm>
            <a:off x="381000" y="2090919"/>
            <a:ext cx="11430000" cy="646331"/>
          </a:xfrm>
          <a:prstGeom prst="rect">
            <a:avLst/>
          </a:prstGeom>
          <a:noFill/>
        </p:spPr>
        <p:txBody>
          <a:bodyPr wrap="square" rtlCol="0">
            <a:spAutoFit/>
          </a:bodyPr>
          <a:lstStyle/>
          <a:p>
            <a:r>
              <a:rPr lang="en-US" b="1" u="sng" dirty="0"/>
              <a:t>Google </a:t>
            </a:r>
            <a:r>
              <a:rPr lang="en-US" b="1" u="sng" dirty="0" err="1"/>
              <a:t>Colab</a:t>
            </a:r>
            <a:r>
              <a:rPr lang="en-US" b="1" u="sng" dirty="0"/>
              <a:t> –</a:t>
            </a:r>
            <a:r>
              <a:rPr lang="en-US" dirty="0"/>
              <a:t> You can also train your model in Google </a:t>
            </a:r>
            <a:r>
              <a:rPr lang="en-US" dirty="0" err="1"/>
              <a:t>Colab</a:t>
            </a:r>
            <a:r>
              <a:rPr lang="en-US" dirty="0"/>
              <a:t>, which provides free access to online GPUs for free. This allows faster training even if your laptop does not have a powerful GPU.</a:t>
            </a:r>
          </a:p>
        </p:txBody>
      </p:sp>
      <p:pic>
        <p:nvPicPr>
          <p:cNvPr id="7" name="Picture 6">
            <a:extLst>
              <a:ext uri="{FF2B5EF4-FFF2-40B4-BE49-F238E27FC236}">
                <a16:creationId xmlns:a16="http://schemas.microsoft.com/office/drawing/2014/main" id="{B1756668-6960-E81E-76CB-4D2B47D28EA5}"/>
              </a:ext>
            </a:extLst>
          </p:cNvPr>
          <p:cNvPicPr>
            <a:picLocks noChangeAspect="1"/>
          </p:cNvPicPr>
          <p:nvPr/>
        </p:nvPicPr>
        <p:blipFill>
          <a:blip r:embed="rId2"/>
          <a:stretch>
            <a:fillRect/>
          </a:stretch>
        </p:blipFill>
        <p:spPr>
          <a:xfrm>
            <a:off x="381000" y="2895600"/>
            <a:ext cx="4419600" cy="3424510"/>
          </a:xfrm>
          <a:prstGeom prst="rect">
            <a:avLst/>
          </a:prstGeom>
        </p:spPr>
      </p:pic>
      <p:pic>
        <p:nvPicPr>
          <p:cNvPr id="12" name="Picture 11">
            <a:extLst>
              <a:ext uri="{FF2B5EF4-FFF2-40B4-BE49-F238E27FC236}">
                <a16:creationId xmlns:a16="http://schemas.microsoft.com/office/drawing/2014/main" id="{4E528618-CBEF-251C-E114-871E0AC2E398}"/>
              </a:ext>
            </a:extLst>
          </p:cNvPr>
          <p:cNvPicPr>
            <a:picLocks noChangeAspect="1"/>
          </p:cNvPicPr>
          <p:nvPr/>
        </p:nvPicPr>
        <p:blipFill>
          <a:blip r:embed="rId3"/>
          <a:stretch>
            <a:fillRect/>
          </a:stretch>
        </p:blipFill>
        <p:spPr>
          <a:xfrm>
            <a:off x="6685835" y="2895600"/>
            <a:ext cx="5125165" cy="695422"/>
          </a:xfrm>
          <a:prstGeom prst="rect">
            <a:avLst/>
          </a:prstGeom>
        </p:spPr>
      </p:pic>
      <p:pic>
        <p:nvPicPr>
          <p:cNvPr id="18" name="Picture 17">
            <a:extLst>
              <a:ext uri="{FF2B5EF4-FFF2-40B4-BE49-F238E27FC236}">
                <a16:creationId xmlns:a16="http://schemas.microsoft.com/office/drawing/2014/main" id="{92EE640A-26D0-4230-E432-52156C387CEE}"/>
              </a:ext>
            </a:extLst>
          </p:cNvPr>
          <p:cNvPicPr>
            <a:picLocks noChangeAspect="1"/>
          </p:cNvPicPr>
          <p:nvPr/>
        </p:nvPicPr>
        <p:blipFill>
          <a:blip r:embed="rId4"/>
          <a:stretch>
            <a:fillRect/>
          </a:stretch>
        </p:blipFill>
        <p:spPr>
          <a:xfrm>
            <a:off x="7266940" y="3749372"/>
            <a:ext cx="3962953" cy="2610214"/>
          </a:xfrm>
          <a:prstGeom prst="rect">
            <a:avLst/>
          </a:prstGeom>
        </p:spPr>
      </p:pic>
      <p:cxnSp>
        <p:nvCxnSpPr>
          <p:cNvPr id="19" name="Straight Arrow Connector 18">
            <a:extLst>
              <a:ext uri="{FF2B5EF4-FFF2-40B4-BE49-F238E27FC236}">
                <a16:creationId xmlns:a16="http://schemas.microsoft.com/office/drawing/2014/main" id="{0FAF6F21-5912-813E-AD09-BC930271829A}"/>
              </a:ext>
            </a:extLst>
          </p:cNvPr>
          <p:cNvCxnSpPr>
            <a:cxnSpLocks/>
          </p:cNvCxnSpPr>
          <p:nvPr/>
        </p:nvCxnSpPr>
        <p:spPr>
          <a:xfrm flipH="1">
            <a:off x="1219200" y="6096000"/>
            <a:ext cx="1752600"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1E071D77-1550-6983-21B4-9D478BC71DFE}"/>
              </a:ext>
            </a:extLst>
          </p:cNvPr>
          <p:cNvCxnSpPr>
            <a:cxnSpLocks/>
          </p:cNvCxnSpPr>
          <p:nvPr/>
        </p:nvCxnSpPr>
        <p:spPr>
          <a:xfrm flipH="1">
            <a:off x="10439400" y="2971800"/>
            <a:ext cx="1524000" cy="38100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D8E0B8A2-75DF-9321-484E-C0C192F51ECB}"/>
              </a:ext>
            </a:extLst>
          </p:cNvPr>
          <p:cNvCxnSpPr>
            <a:cxnSpLocks/>
          </p:cNvCxnSpPr>
          <p:nvPr/>
        </p:nvCxnSpPr>
        <p:spPr>
          <a:xfrm>
            <a:off x="6096000" y="5181600"/>
            <a:ext cx="1170940"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8CDDE4F4-68FD-EDC0-CDA8-94A60D7428B9}"/>
              </a:ext>
            </a:extLst>
          </p:cNvPr>
          <p:cNvSpPr txBox="1"/>
          <p:nvPr/>
        </p:nvSpPr>
        <p:spPr>
          <a:xfrm>
            <a:off x="5098313" y="4719935"/>
            <a:ext cx="1295400" cy="923330"/>
          </a:xfrm>
          <a:prstGeom prst="rect">
            <a:avLst/>
          </a:prstGeom>
          <a:noFill/>
        </p:spPr>
        <p:txBody>
          <a:bodyPr wrap="square" rtlCol="0">
            <a:spAutoFit/>
          </a:bodyPr>
          <a:lstStyle/>
          <a:p>
            <a:r>
              <a:rPr lang="en-US" b="1" dirty="0"/>
              <a:t>To choose GPU</a:t>
            </a:r>
          </a:p>
        </p:txBody>
      </p:sp>
    </p:spTree>
    <p:extLst>
      <p:ext uri="{BB962C8B-B14F-4D97-AF65-F5344CB8AC3E}">
        <p14:creationId xmlns:p14="http://schemas.microsoft.com/office/powerpoint/2010/main" val="38500953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AD437-43CC-127C-BBF0-DD4854B8D2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8F7696-9E03-9F72-EB51-B7987528B9D9}"/>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A0527469-C7A7-D952-40CA-6A01AB00E409}"/>
              </a:ext>
            </a:extLst>
          </p:cNvPr>
          <p:cNvSpPr>
            <a:spLocks noGrp="1"/>
          </p:cNvSpPr>
          <p:nvPr>
            <p:ph type="body" idx="1"/>
          </p:nvPr>
        </p:nvSpPr>
        <p:spPr>
          <a:xfrm>
            <a:off x="304799" y="1557519"/>
            <a:ext cx="11582400" cy="646331"/>
          </a:xfrm>
        </p:spPr>
        <p:txBody>
          <a:bodyPr/>
          <a:lstStyle/>
          <a:p>
            <a:pPr algn="ctr"/>
            <a:r>
              <a:rPr lang="en-US" sz="2400" b="1" u="sng" dirty="0"/>
              <a:t>Training using your Data – Training the Model</a:t>
            </a:r>
          </a:p>
          <a:p>
            <a:pPr algn="l"/>
            <a:r>
              <a:rPr lang="en-US" dirty="0"/>
              <a:t> </a:t>
            </a:r>
            <a:endParaRPr lang="en-US" i="1" dirty="0">
              <a:solidFill>
                <a:srgbClr val="0000FF"/>
              </a:solidFill>
            </a:endParaRPr>
          </a:p>
        </p:txBody>
      </p:sp>
      <p:sp>
        <p:nvSpPr>
          <p:cNvPr id="8" name="TextBox 7">
            <a:extLst>
              <a:ext uri="{FF2B5EF4-FFF2-40B4-BE49-F238E27FC236}">
                <a16:creationId xmlns:a16="http://schemas.microsoft.com/office/drawing/2014/main" id="{8F13CDDA-5AE6-7C73-1330-0314A7859D46}"/>
              </a:ext>
            </a:extLst>
          </p:cNvPr>
          <p:cNvSpPr txBox="1"/>
          <p:nvPr/>
        </p:nvSpPr>
        <p:spPr>
          <a:xfrm>
            <a:off x="381000" y="2090919"/>
            <a:ext cx="11430000" cy="369332"/>
          </a:xfrm>
          <a:prstGeom prst="rect">
            <a:avLst/>
          </a:prstGeom>
          <a:noFill/>
        </p:spPr>
        <p:txBody>
          <a:bodyPr wrap="square" rtlCol="0">
            <a:spAutoFit/>
          </a:bodyPr>
          <a:lstStyle/>
          <a:p>
            <a:r>
              <a:rPr lang="en-US" b="1" u="sng" dirty="0"/>
              <a:t>Google </a:t>
            </a:r>
            <a:r>
              <a:rPr lang="en-US" b="1" u="sng" dirty="0" err="1"/>
              <a:t>Colab</a:t>
            </a:r>
            <a:r>
              <a:rPr lang="en-US" b="1" u="sng" dirty="0"/>
              <a:t> –</a:t>
            </a:r>
            <a:r>
              <a:rPr lang="en-US" dirty="0"/>
              <a:t> Change the runtime type from CPU to GPU</a:t>
            </a:r>
          </a:p>
        </p:txBody>
      </p:sp>
      <p:pic>
        <p:nvPicPr>
          <p:cNvPr id="14" name="Picture 13">
            <a:extLst>
              <a:ext uri="{FF2B5EF4-FFF2-40B4-BE49-F238E27FC236}">
                <a16:creationId xmlns:a16="http://schemas.microsoft.com/office/drawing/2014/main" id="{DE5A7D90-AE2A-CEE9-2878-5D9DB7680B86}"/>
              </a:ext>
            </a:extLst>
          </p:cNvPr>
          <p:cNvPicPr>
            <a:picLocks noChangeAspect="1"/>
          </p:cNvPicPr>
          <p:nvPr/>
        </p:nvPicPr>
        <p:blipFill>
          <a:blip r:embed="rId2"/>
          <a:stretch>
            <a:fillRect/>
          </a:stretch>
        </p:blipFill>
        <p:spPr>
          <a:xfrm>
            <a:off x="4093136" y="2737250"/>
            <a:ext cx="4005726" cy="3735612"/>
          </a:xfrm>
          <a:prstGeom prst="rect">
            <a:avLst/>
          </a:prstGeom>
        </p:spPr>
      </p:pic>
      <p:cxnSp>
        <p:nvCxnSpPr>
          <p:cNvPr id="4" name="Straight Arrow Connector 3">
            <a:extLst>
              <a:ext uri="{FF2B5EF4-FFF2-40B4-BE49-F238E27FC236}">
                <a16:creationId xmlns:a16="http://schemas.microsoft.com/office/drawing/2014/main" id="{617D026F-FC2F-556D-7D74-515260917929}"/>
              </a:ext>
            </a:extLst>
          </p:cNvPr>
          <p:cNvCxnSpPr>
            <a:cxnSpLocks/>
          </p:cNvCxnSpPr>
          <p:nvPr/>
        </p:nvCxnSpPr>
        <p:spPr>
          <a:xfrm flipH="1">
            <a:off x="5867400" y="4191000"/>
            <a:ext cx="3048000"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3FCC18B5-9080-AFAA-ADAE-E006B85229C6}"/>
              </a:ext>
            </a:extLst>
          </p:cNvPr>
          <p:cNvCxnSpPr>
            <a:cxnSpLocks/>
          </p:cNvCxnSpPr>
          <p:nvPr/>
        </p:nvCxnSpPr>
        <p:spPr>
          <a:xfrm flipH="1">
            <a:off x="8098862" y="6324600"/>
            <a:ext cx="1752600"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D1086BF1-5C20-CE7E-97EC-AF9D6C958270}"/>
              </a:ext>
            </a:extLst>
          </p:cNvPr>
          <p:cNvSpPr txBox="1"/>
          <p:nvPr/>
        </p:nvSpPr>
        <p:spPr>
          <a:xfrm>
            <a:off x="8913303" y="4051058"/>
            <a:ext cx="2775119" cy="369332"/>
          </a:xfrm>
          <a:prstGeom prst="rect">
            <a:avLst/>
          </a:prstGeom>
          <a:noFill/>
        </p:spPr>
        <p:txBody>
          <a:bodyPr wrap="none" rtlCol="0">
            <a:spAutoFit/>
          </a:bodyPr>
          <a:lstStyle/>
          <a:p>
            <a:r>
              <a:rPr lang="en-US" b="1" dirty="0"/>
              <a:t>Choose the GPU option</a:t>
            </a:r>
          </a:p>
        </p:txBody>
      </p:sp>
      <p:sp>
        <p:nvSpPr>
          <p:cNvPr id="10" name="TextBox 9">
            <a:extLst>
              <a:ext uri="{FF2B5EF4-FFF2-40B4-BE49-F238E27FC236}">
                <a16:creationId xmlns:a16="http://schemas.microsoft.com/office/drawing/2014/main" id="{475FA6CE-BBD5-8DB4-A44E-D5AA8CD9D0DC}"/>
              </a:ext>
            </a:extLst>
          </p:cNvPr>
          <p:cNvSpPr txBox="1"/>
          <p:nvPr/>
        </p:nvSpPr>
        <p:spPr>
          <a:xfrm>
            <a:off x="9851462" y="6139934"/>
            <a:ext cx="1676400" cy="369332"/>
          </a:xfrm>
          <a:prstGeom prst="rect">
            <a:avLst/>
          </a:prstGeom>
          <a:noFill/>
        </p:spPr>
        <p:txBody>
          <a:bodyPr wrap="square" rtlCol="0">
            <a:spAutoFit/>
          </a:bodyPr>
          <a:lstStyle/>
          <a:p>
            <a:r>
              <a:rPr lang="en-US" dirty="0"/>
              <a:t>Save</a:t>
            </a:r>
          </a:p>
        </p:txBody>
      </p:sp>
    </p:spTree>
    <p:extLst>
      <p:ext uri="{BB962C8B-B14F-4D97-AF65-F5344CB8AC3E}">
        <p14:creationId xmlns:p14="http://schemas.microsoft.com/office/powerpoint/2010/main" val="12743270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2EDE5-87EB-F3E5-F3D6-39E4D64A14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E5B7-5EB3-2B77-DFD1-E52A51965725}"/>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5CFE07F2-49C1-080D-E31B-C2342EACC9FB}"/>
              </a:ext>
            </a:extLst>
          </p:cNvPr>
          <p:cNvSpPr>
            <a:spLocks noGrp="1"/>
          </p:cNvSpPr>
          <p:nvPr>
            <p:ph type="body" idx="1"/>
          </p:nvPr>
        </p:nvSpPr>
        <p:spPr>
          <a:xfrm>
            <a:off x="304799" y="1557519"/>
            <a:ext cx="11582400" cy="646331"/>
          </a:xfrm>
        </p:spPr>
        <p:txBody>
          <a:bodyPr/>
          <a:lstStyle/>
          <a:p>
            <a:pPr algn="ctr"/>
            <a:r>
              <a:rPr lang="en-US" sz="2400" b="1" u="sng" dirty="0"/>
              <a:t>Training using your Data – Training the Model</a:t>
            </a:r>
          </a:p>
          <a:p>
            <a:pPr algn="l"/>
            <a:r>
              <a:rPr lang="en-US" dirty="0"/>
              <a:t> </a:t>
            </a:r>
            <a:endParaRPr lang="en-US" i="1" dirty="0">
              <a:solidFill>
                <a:srgbClr val="0000FF"/>
              </a:solidFill>
            </a:endParaRPr>
          </a:p>
        </p:txBody>
      </p:sp>
      <p:sp>
        <p:nvSpPr>
          <p:cNvPr id="8" name="TextBox 7">
            <a:extLst>
              <a:ext uri="{FF2B5EF4-FFF2-40B4-BE49-F238E27FC236}">
                <a16:creationId xmlns:a16="http://schemas.microsoft.com/office/drawing/2014/main" id="{7584364A-0D1E-2002-FDE2-79559C00D6C0}"/>
              </a:ext>
            </a:extLst>
          </p:cNvPr>
          <p:cNvSpPr txBox="1"/>
          <p:nvPr/>
        </p:nvSpPr>
        <p:spPr>
          <a:xfrm>
            <a:off x="380999" y="2065350"/>
            <a:ext cx="11430000" cy="369332"/>
          </a:xfrm>
          <a:prstGeom prst="rect">
            <a:avLst/>
          </a:prstGeom>
          <a:noFill/>
        </p:spPr>
        <p:txBody>
          <a:bodyPr wrap="square" rtlCol="0">
            <a:spAutoFit/>
          </a:bodyPr>
          <a:lstStyle/>
          <a:p>
            <a:r>
              <a:rPr lang="en-US" b="1" u="sng" dirty="0"/>
              <a:t>Google </a:t>
            </a:r>
            <a:r>
              <a:rPr lang="en-US" b="1" u="sng" dirty="0" err="1"/>
              <a:t>Colab</a:t>
            </a:r>
            <a:r>
              <a:rPr lang="en-US" b="1" u="sng" dirty="0"/>
              <a:t> –</a:t>
            </a:r>
            <a:r>
              <a:rPr lang="en-US" dirty="0"/>
              <a:t> Run “</a:t>
            </a:r>
            <a:r>
              <a:rPr lang="en-US" b="1" i="1" dirty="0"/>
              <a:t>pip install </a:t>
            </a:r>
            <a:r>
              <a:rPr lang="en-US" b="1" i="1" dirty="0" err="1"/>
              <a:t>ultralytics</a:t>
            </a:r>
            <a:r>
              <a:rPr lang="en-US" dirty="0"/>
              <a:t>” in the coding window.</a:t>
            </a:r>
          </a:p>
        </p:txBody>
      </p:sp>
      <p:pic>
        <p:nvPicPr>
          <p:cNvPr id="12" name="Picture 11">
            <a:extLst>
              <a:ext uri="{FF2B5EF4-FFF2-40B4-BE49-F238E27FC236}">
                <a16:creationId xmlns:a16="http://schemas.microsoft.com/office/drawing/2014/main" id="{57259B57-4378-C890-B907-B90E2951BFAE}"/>
              </a:ext>
            </a:extLst>
          </p:cNvPr>
          <p:cNvPicPr>
            <a:picLocks noChangeAspect="1"/>
          </p:cNvPicPr>
          <p:nvPr/>
        </p:nvPicPr>
        <p:blipFill>
          <a:blip r:embed="rId2"/>
          <a:stretch>
            <a:fillRect/>
          </a:stretch>
        </p:blipFill>
        <p:spPr>
          <a:xfrm>
            <a:off x="1258019" y="3370717"/>
            <a:ext cx="9675962" cy="1360682"/>
          </a:xfrm>
          <a:prstGeom prst="rect">
            <a:avLst/>
          </a:prstGeom>
        </p:spPr>
      </p:pic>
      <p:cxnSp>
        <p:nvCxnSpPr>
          <p:cNvPr id="13" name="Straight Arrow Connector 12">
            <a:extLst>
              <a:ext uri="{FF2B5EF4-FFF2-40B4-BE49-F238E27FC236}">
                <a16:creationId xmlns:a16="http://schemas.microsoft.com/office/drawing/2014/main" id="{6124FA3D-6A6E-4B2B-F3F0-552A271C3348}"/>
              </a:ext>
            </a:extLst>
          </p:cNvPr>
          <p:cNvCxnSpPr>
            <a:cxnSpLocks/>
          </p:cNvCxnSpPr>
          <p:nvPr/>
        </p:nvCxnSpPr>
        <p:spPr>
          <a:xfrm flipV="1">
            <a:off x="1371600" y="4420390"/>
            <a:ext cx="1066800" cy="100392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76823D3E-C07C-5B27-0B8F-9675FD6EE144}"/>
              </a:ext>
            </a:extLst>
          </p:cNvPr>
          <p:cNvSpPr txBox="1"/>
          <p:nvPr/>
        </p:nvSpPr>
        <p:spPr>
          <a:xfrm>
            <a:off x="304799" y="5424310"/>
            <a:ext cx="1943161" cy="461665"/>
          </a:xfrm>
          <a:prstGeom prst="rect">
            <a:avLst/>
          </a:prstGeom>
          <a:noFill/>
        </p:spPr>
        <p:txBody>
          <a:bodyPr wrap="none" rtlCol="0">
            <a:spAutoFit/>
          </a:bodyPr>
          <a:lstStyle/>
          <a:p>
            <a:r>
              <a:rPr lang="en-US" sz="2400" b="1" dirty="0"/>
              <a:t>Run the line</a:t>
            </a:r>
          </a:p>
        </p:txBody>
      </p:sp>
    </p:spTree>
    <p:extLst>
      <p:ext uri="{BB962C8B-B14F-4D97-AF65-F5344CB8AC3E}">
        <p14:creationId xmlns:p14="http://schemas.microsoft.com/office/powerpoint/2010/main" val="35726320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9FEAD-DF14-03EC-5AC9-76A8757A74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187885-D5AF-B7D2-5001-E0C6B119E136}"/>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DC144E5C-92E0-E9D3-AA5D-F738278DFF94}"/>
              </a:ext>
            </a:extLst>
          </p:cNvPr>
          <p:cNvSpPr>
            <a:spLocks noGrp="1"/>
          </p:cNvSpPr>
          <p:nvPr>
            <p:ph type="body" idx="1"/>
          </p:nvPr>
        </p:nvSpPr>
        <p:spPr>
          <a:xfrm>
            <a:off x="304799" y="1557519"/>
            <a:ext cx="11582400" cy="646331"/>
          </a:xfrm>
        </p:spPr>
        <p:txBody>
          <a:bodyPr/>
          <a:lstStyle/>
          <a:p>
            <a:pPr algn="ctr"/>
            <a:r>
              <a:rPr lang="en-US" sz="2400" b="1" u="sng" dirty="0"/>
              <a:t>Training using your Data – Training the Model</a:t>
            </a:r>
          </a:p>
          <a:p>
            <a:pPr algn="l"/>
            <a:r>
              <a:rPr lang="en-US" dirty="0"/>
              <a:t> </a:t>
            </a:r>
            <a:endParaRPr lang="en-US" i="1" dirty="0">
              <a:solidFill>
                <a:srgbClr val="0000FF"/>
              </a:solidFill>
            </a:endParaRPr>
          </a:p>
        </p:txBody>
      </p:sp>
      <p:sp>
        <p:nvSpPr>
          <p:cNvPr id="8" name="TextBox 7">
            <a:extLst>
              <a:ext uri="{FF2B5EF4-FFF2-40B4-BE49-F238E27FC236}">
                <a16:creationId xmlns:a16="http://schemas.microsoft.com/office/drawing/2014/main" id="{2238CA90-9AE1-AF81-4841-67EF6600FE5A}"/>
              </a:ext>
            </a:extLst>
          </p:cNvPr>
          <p:cNvSpPr txBox="1"/>
          <p:nvPr/>
        </p:nvSpPr>
        <p:spPr>
          <a:xfrm>
            <a:off x="380999" y="2065350"/>
            <a:ext cx="11430000" cy="646331"/>
          </a:xfrm>
          <a:prstGeom prst="rect">
            <a:avLst/>
          </a:prstGeom>
          <a:noFill/>
        </p:spPr>
        <p:txBody>
          <a:bodyPr wrap="square" rtlCol="0">
            <a:spAutoFit/>
          </a:bodyPr>
          <a:lstStyle/>
          <a:p>
            <a:r>
              <a:rPr lang="en-US" b="1" u="sng" dirty="0"/>
              <a:t>Google </a:t>
            </a:r>
            <a:r>
              <a:rPr lang="en-US" b="1" u="sng" dirty="0" err="1"/>
              <a:t>Colab</a:t>
            </a:r>
            <a:r>
              <a:rPr lang="en-US" b="1" u="sng" dirty="0"/>
              <a:t> –</a:t>
            </a:r>
            <a:r>
              <a:rPr lang="en-US" dirty="0"/>
              <a:t> Import the “</a:t>
            </a:r>
            <a:r>
              <a:rPr lang="en-US" b="1" i="1" dirty="0"/>
              <a:t>dataset/</a:t>
            </a:r>
            <a:r>
              <a:rPr lang="en-US" dirty="0"/>
              <a:t>” folder as a zip file to the Google </a:t>
            </a:r>
            <a:r>
              <a:rPr lang="en-US" dirty="0" err="1"/>
              <a:t>Colab</a:t>
            </a:r>
            <a:r>
              <a:rPr lang="en-US" dirty="0"/>
              <a:t> workspace. Click on the </a:t>
            </a:r>
            <a:r>
              <a:rPr lang="en-US" b="1" dirty="0"/>
              <a:t>Folder Icon </a:t>
            </a:r>
            <a:r>
              <a:rPr lang="en-US" dirty="0"/>
              <a:t>on the left toolbar, right click and click on “</a:t>
            </a:r>
            <a:r>
              <a:rPr lang="en-US" b="1" dirty="0"/>
              <a:t>upload</a:t>
            </a:r>
            <a:r>
              <a:rPr lang="en-US" dirty="0"/>
              <a:t>” option. </a:t>
            </a:r>
          </a:p>
        </p:txBody>
      </p:sp>
      <p:pic>
        <p:nvPicPr>
          <p:cNvPr id="5" name="Picture 4">
            <a:extLst>
              <a:ext uri="{FF2B5EF4-FFF2-40B4-BE49-F238E27FC236}">
                <a16:creationId xmlns:a16="http://schemas.microsoft.com/office/drawing/2014/main" id="{CA9E5F8A-9B9D-F1F6-620A-87C1E1F6C9F4}"/>
              </a:ext>
            </a:extLst>
          </p:cNvPr>
          <p:cNvPicPr>
            <a:picLocks noChangeAspect="1"/>
          </p:cNvPicPr>
          <p:nvPr/>
        </p:nvPicPr>
        <p:blipFill>
          <a:blip r:embed="rId2"/>
          <a:stretch>
            <a:fillRect/>
          </a:stretch>
        </p:blipFill>
        <p:spPr>
          <a:xfrm>
            <a:off x="2362200" y="3076175"/>
            <a:ext cx="771633" cy="2867425"/>
          </a:xfrm>
          <a:prstGeom prst="rect">
            <a:avLst/>
          </a:prstGeom>
        </p:spPr>
      </p:pic>
      <p:cxnSp>
        <p:nvCxnSpPr>
          <p:cNvPr id="6" name="Straight Arrow Connector 5">
            <a:extLst>
              <a:ext uri="{FF2B5EF4-FFF2-40B4-BE49-F238E27FC236}">
                <a16:creationId xmlns:a16="http://schemas.microsoft.com/office/drawing/2014/main" id="{83E7C50A-F829-B49A-9905-039D32776F2B}"/>
              </a:ext>
            </a:extLst>
          </p:cNvPr>
          <p:cNvCxnSpPr>
            <a:cxnSpLocks/>
          </p:cNvCxnSpPr>
          <p:nvPr/>
        </p:nvCxnSpPr>
        <p:spPr>
          <a:xfrm>
            <a:off x="3048000" y="5514575"/>
            <a:ext cx="1600200"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pic>
        <p:nvPicPr>
          <p:cNvPr id="11" name="Picture 10">
            <a:extLst>
              <a:ext uri="{FF2B5EF4-FFF2-40B4-BE49-F238E27FC236}">
                <a16:creationId xmlns:a16="http://schemas.microsoft.com/office/drawing/2014/main" id="{5105E976-161A-EEC5-EA32-C71093BA67F6}"/>
              </a:ext>
            </a:extLst>
          </p:cNvPr>
          <p:cNvPicPr>
            <a:picLocks noChangeAspect="1"/>
          </p:cNvPicPr>
          <p:nvPr/>
        </p:nvPicPr>
        <p:blipFill>
          <a:blip r:embed="rId3"/>
          <a:stretch>
            <a:fillRect/>
          </a:stretch>
        </p:blipFill>
        <p:spPr>
          <a:xfrm>
            <a:off x="4572000" y="3076175"/>
            <a:ext cx="4050670" cy="2867425"/>
          </a:xfrm>
          <a:prstGeom prst="rect">
            <a:avLst/>
          </a:prstGeom>
        </p:spPr>
      </p:pic>
      <p:cxnSp>
        <p:nvCxnSpPr>
          <p:cNvPr id="14" name="Straight Arrow Connector 13">
            <a:extLst>
              <a:ext uri="{FF2B5EF4-FFF2-40B4-BE49-F238E27FC236}">
                <a16:creationId xmlns:a16="http://schemas.microsoft.com/office/drawing/2014/main" id="{000C1ADB-C75D-6310-8461-B46CFB5BC10F}"/>
              </a:ext>
            </a:extLst>
          </p:cNvPr>
          <p:cNvCxnSpPr>
            <a:cxnSpLocks/>
          </p:cNvCxnSpPr>
          <p:nvPr/>
        </p:nvCxnSpPr>
        <p:spPr>
          <a:xfrm flipH="1" flipV="1">
            <a:off x="5867400" y="3838175"/>
            <a:ext cx="3505200" cy="1"/>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DDA5FFB2-1177-439C-709D-422760176253}"/>
              </a:ext>
            </a:extLst>
          </p:cNvPr>
          <p:cNvSpPr txBox="1"/>
          <p:nvPr/>
        </p:nvSpPr>
        <p:spPr>
          <a:xfrm>
            <a:off x="9372600" y="3499989"/>
            <a:ext cx="1573635" cy="646331"/>
          </a:xfrm>
          <a:prstGeom prst="rect">
            <a:avLst/>
          </a:prstGeom>
          <a:noFill/>
        </p:spPr>
        <p:txBody>
          <a:bodyPr wrap="square" rtlCol="0">
            <a:spAutoFit/>
          </a:bodyPr>
          <a:lstStyle/>
          <a:p>
            <a:r>
              <a:rPr lang="en-US" b="1" dirty="0"/>
              <a:t>Upload the .zip file</a:t>
            </a:r>
          </a:p>
        </p:txBody>
      </p:sp>
    </p:spTree>
    <p:extLst>
      <p:ext uri="{BB962C8B-B14F-4D97-AF65-F5344CB8AC3E}">
        <p14:creationId xmlns:p14="http://schemas.microsoft.com/office/powerpoint/2010/main" val="12772378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0354D-AB32-A4B0-4EBB-AF07DAA5A4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EEB7EF-D7EC-8B6A-5006-FCBEBACEE9E1}"/>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B9D13F21-C895-57BD-6039-6D5582DE720A}"/>
              </a:ext>
            </a:extLst>
          </p:cNvPr>
          <p:cNvSpPr>
            <a:spLocks noGrp="1"/>
          </p:cNvSpPr>
          <p:nvPr>
            <p:ph type="body" idx="1"/>
          </p:nvPr>
        </p:nvSpPr>
        <p:spPr>
          <a:xfrm>
            <a:off x="304799" y="1557519"/>
            <a:ext cx="11582400" cy="646331"/>
          </a:xfrm>
        </p:spPr>
        <p:txBody>
          <a:bodyPr/>
          <a:lstStyle/>
          <a:p>
            <a:pPr algn="ctr"/>
            <a:r>
              <a:rPr lang="en-US" sz="2400" b="1" u="sng" dirty="0"/>
              <a:t>Training using your Data – Training the Model</a:t>
            </a:r>
          </a:p>
          <a:p>
            <a:pPr algn="l"/>
            <a:r>
              <a:rPr lang="en-US" dirty="0"/>
              <a:t> </a:t>
            </a:r>
            <a:endParaRPr lang="en-US" i="1" dirty="0">
              <a:solidFill>
                <a:srgbClr val="0000FF"/>
              </a:solidFill>
            </a:endParaRPr>
          </a:p>
        </p:txBody>
      </p:sp>
      <p:sp>
        <p:nvSpPr>
          <p:cNvPr id="8" name="TextBox 7">
            <a:extLst>
              <a:ext uri="{FF2B5EF4-FFF2-40B4-BE49-F238E27FC236}">
                <a16:creationId xmlns:a16="http://schemas.microsoft.com/office/drawing/2014/main" id="{B24D8EFE-8166-391D-F35A-EEF4C14E0B3A}"/>
              </a:ext>
            </a:extLst>
          </p:cNvPr>
          <p:cNvSpPr txBox="1"/>
          <p:nvPr/>
        </p:nvSpPr>
        <p:spPr>
          <a:xfrm>
            <a:off x="380999" y="2065350"/>
            <a:ext cx="11430000" cy="646331"/>
          </a:xfrm>
          <a:prstGeom prst="rect">
            <a:avLst/>
          </a:prstGeom>
          <a:noFill/>
        </p:spPr>
        <p:txBody>
          <a:bodyPr wrap="square" rtlCol="0">
            <a:spAutoFit/>
          </a:bodyPr>
          <a:lstStyle/>
          <a:p>
            <a:r>
              <a:rPr lang="en-US" b="1" u="sng" dirty="0"/>
              <a:t>Google </a:t>
            </a:r>
            <a:r>
              <a:rPr lang="en-US" b="1" u="sng" dirty="0" err="1"/>
              <a:t>Colab</a:t>
            </a:r>
            <a:r>
              <a:rPr lang="en-US" b="1" u="sng" dirty="0"/>
              <a:t> –</a:t>
            </a:r>
            <a:r>
              <a:rPr lang="en-US" dirty="0"/>
              <a:t> Run </a:t>
            </a:r>
            <a:r>
              <a:rPr lang="en-US" b="1" i="1" dirty="0"/>
              <a:t>“!unzip dataset.zip –d dataset”</a:t>
            </a:r>
            <a:r>
              <a:rPr lang="en-US" dirty="0"/>
              <a:t> in the coding window. This will unzip the “</a:t>
            </a:r>
            <a:r>
              <a:rPr lang="en-US" b="1" i="1" dirty="0"/>
              <a:t>dataset/</a:t>
            </a:r>
            <a:r>
              <a:rPr lang="en-US" dirty="0"/>
              <a:t>” folder. Now the “</a:t>
            </a:r>
            <a:r>
              <a:rPr lang="en-US" b="1" i="1" dirty="0"/>
              <a:t>train/</a:t>
            </a:r>
            <a:r>
              <a:rPr lang="en-US" dirty="0"/>
              <a:t>” and “</a:t>
            </a:r>
            <a:r>
              <a:rPr lang="en-US" b="1" i="1" dirty="0" err="1"/>
              <a:t>val</a:t>
            </a:r>
            <a:r>
              <a:rPr lang="en-US" b="1" i="1" dirty="0"/>
              <a:t>/</a:t>
            </a:r>
            <a:r>
              <a:rPr lang="en-US" dirty="0"/>
              <a:t>” folder will be available to us in Google </a:t>
            </a:r>
            <a:r>
              <a:rPr lang="en-US" dirty="0" err="1"/>
              <a:t>Colab</a:t>
            </a:r>
            <a:r>
              <a:rPr lang="en-US" dirty="0"/>
              <a:t> only for this session. </a:t>
            </a:r>
          </a:p>
        </p:txBody>
      </p:sp>
      <p:sp>
        <p:nvSpPr>
          <p:cNvPr id="17" name="TextBox 16">
            <a:extLst>
              <a:ext uri="{FF2B5EF4-FFF2-40B4-BE49-F238E27FC236}">
                <a16:creationId xmlns:a16="http://schemas.microsoft.com/office/drawing/2014/main" id="{C95D987E-2D24-2AFA-2FBF-49ABBC7650D1}"/>
              </a:ext>
            </a:extLst>
          </p:cNvPr>
          <p:cNvSpPr txBox="1"/>
          <p:nvPr/>
        </p:nvSpPr>
        <p:spPr>
          <a:xfrm>
            <a:off x="304799" y="5424310"/>
            <a:ext cx="1943161" cy="461665"/>
          </a:xfrm>
          <a:prstGeom prst="rect">
            <a:avLst/>
          </a:prstGeom>
          <a:noFill/>
        </p:spPr>
        <p:txBody>
          <a:bodyPr wrap="none" rtlCol="0">
            <a:spAutoFit/>
          </a:bodyPr>
          <a:lstStyle/>
          <a:p>
            <a:r>
              <a:rPr lang="en-US" sz="2400" b="1" dirty="0"/>
              <a:t>Run the line</a:t>
            </a:r>
          </a:p>
        </p:txBody>
      </p:sp>
      <p:pic>
        <p:nvPicPr>
          <p:cNvPr id="7" name="Picture 6">
            <a:extLst>
              <a:ext uri="{FF2B5EF4-FFF2-40B4-BE49-F238E27FC236}">
                <a16:creationId xmlns:a16="http://schemas.microsoft.com/office/drawing/2014/main" id="{0D8429EB-6B71-C61A-E3AE-682E65418C0A}"/>
              </a:ext>
            </a:extLst>
          </p:cNvPr>
          <p:cNvPicPr>
            <a:picLocks noChangeAspect="1"/>
          </p:cNvPicPr>
          <p:nvPr/>
        </p:nvPicPr>
        <p:blipFill>
          <a:blip r:embed="rId2"/>
          <a:stretch>
            <a:fillRect/>
          </a:stretch>
        </p:blipFill>
        <p:spPr>
          <a:xfrm>
            <a:off x="1752600" y="3741820"/>
            <a:ext cx="8125959" cy="895475"/>
          </a:xfrm>
          <a:prstGeom prst="rect">
            <a:avLst/>
          </a:prstGeom>
        </p:spPr>
      </p:pic>
      <p:cxnSp>
        <p:nvCxnSpPr>
          <p:cNvPr id="9" name="Straight Arrow Connector 8">
            <a:extLst>
              <a:ext uri="{FF2B5EF4-FFF2-40B4-BE49-F238E27FC236}">
                <a16:creationId xmlns:a16="http://schemas.microsoft.com/office/drawing/2014/main" id="{4C132AAA-1DE0-A2D5-9FB8-482475C987F6}"/>
              </a:ext>
            </a:extLst>
          </p:cNvPr>
          <p:cNvCxnSpPr>
            <a:cxnSpLocks/>
          </p:cNvCxnSpPr>
          <p:nvPr/>
        </p:nvCxnSpPr>
        <p:spPr>
          <a:xfrm flipV="1">
            <a:off x="1295400" y="4420390"/>
            <a:ext cx="1066800" cy="100392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377366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9C5D2-4F7D-24D1-7E8F-B9770FF52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577E3A-14B1-1AAB-8FF1-CB5B8F0E4357}"/>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481C4283-05D6-46B7-AA90-1710D0E6F9CC}"/>
              </a:ext>
            </a:extLst>
          </p:cNvPr>
          <p:cNvSpPr>
            <a:spLocks noGrp="1"/>
          </p:cNvSpPr>
          <p:nvPr>
            <p:ph type="body" idx="1"/>
          </p:nvPr>
        </p:nvSpPr>
        <p:spPr>
          <a:xfrm>
            <a:off x="304799" y="1557519"/>
            <a:ext cx="11582400" cy="646331"/>
          </a:xfrm>
        </p:spPr>
        <p:txBody>
          <a:bodyPr/>
          <a:lstStyle/>
          <a:p>
            <a:pPr algn="ctr"/>
            <a:r>
              <a:rPr lang="en-US" sz="2400" b="1" u="sng" dirty="0"/>
              <a:t>Training using your Data – Training the Model</a:t>
            </a:r>
          </a:p>
          <a:p>
            <a:pPr algn="l"/>
            <a:r>
              <a:rPr lang="en-US" dirty="0"/>
              <a:t> </a:t>
            </a:r>
            <a:endParaRPr lang="en-US" i="1" dirty="0">
              <a:solidFill>
                <a:srgbClr val="0000FF"/>
              </a:solidFill>
            </a:endParaRPr>
          </a:p>
        </p:txBody>
      </p:sp>
      <p:sp>
        <p:nvSpPr>
          <p:cNvPr id="8" name="TextBox 7">
            <a:extLst>
              <a:ext uri="{FF2B5EF4-FFF2-40B4-BE49-F238E27FC236}">
                <a16:creationId xmlns:a16="http://schemas.microsoft.com/office/drawing/2014/main" id="{49CBCA5B-47C3-29F7-66FC-C1C4785CEBF0}"/>
              </a:ext>
            </a:extLst>
          </p:cNvPr>
          <p:cNvSpPr txBox="1"/>
          <p:nvPr/>
        </p:nvSpPr>
        <p:spPr>
          <a:xfrm>
            <a:off x="380999" y="2065350"/>
            <a:ext cx="11430000" cy="646331"/>
          </a:xfrm>
          <a:prstGeom prst="rect">
            <a:avLst/>
          </a:prstGeom>
          <a:noFill/>
        </p:spPr>
        <p:txBody>
          <a:bodyPr wrap="square" rtlCol="0">
            <a:spAutoFit/>
          </a:bodyPr>
          <a:lstStyle/>
          <a:p>
            <a:r>
              <a:rPr lang="en-US" b="1" u="sng" dirty="0"/>
              <a:t>Google </a:t>
            </a:r>
            <a:r>
              <a:rPr lang="en-US" b="1" u="sng" dirty="0" err="1"/>
              <a:t>Colab</a:t>
            </a:r>
            <a:r>
              <a:rPr lang="en-US" b="1" u="sng" dirty="0"/>
              <a:t> –</a:t>
            </a:r>
            <a:r>
              <a:rPr lang="en-US" dirty="0"/>
              <a:t> Run the code of </a:t>
            </a:r>
            <a:r>
              <a:rPr lang="en-US" dirty="0" err="1"/>
              <a:t>data.yaml</a:t>
            </a:r>
            <a:r>
              <a:rPr lang="en-US" dirty="0"/>
              <a:t> in the following way. This time with the “</a:t>
            </a:r>
            <a:r>
              <a:rPr lang="en-US" b="1" i="1" dirty="0"/>
              <a:t>%%</a:t>
            </a:r>
            <a:r>
              <a:rPr lang="en-US" b="1" i="1" dirty="0" err="1"/>
              <a:t>writefile</a:t>
            </a:r>
            <a:r>
              <a:rPr lang="en-US" b="1" i="1" dirty="0"/>
              <a:t> </a:t>
            </a:r>
            <a:r>
              <a:rPr lang="en-US" b="1" i="1" dirty="0" err="1"/>
              <a:t>data.yaml</a:t>
            </a:r>
            <a:r>
              <a:rPr lang="en-US" dirty="0"/>
              <a:t>” at the top for Google </a:t>
            </a:r>
            <a:r>
              <a:rPr lang="en-US" dirty="0" err="1"/>
              <a:t>colab</a:t>
            </a:r>
            <a:r>
              <a:rPr lang="en-US" dirty="0"/>
              <a:t> to create a new “</a:t>
            </a:r>
            <a:r>
              <a:rPr lang="en-US" b="1" i="1" dirty="0" err="1"/>
              <a:t>data.yaml</a:t>
            </a:r>
            <a:r>
              <a:rPr lang="en-US" dirty="0"/>
              <a:t>”. </a:t>
            </a:r>
          </a:p>
        </p:txBody>
      </p:sp>
      <p:sp>
        <p:nvSpPr>
          <p:cNvPr id="17" name="TextBox 16">
            <a:extLst>
              <a:ext uri="{FF2B5EF4-FFF2-40B4-BE49-F238E27FC236}">
                <a16:creationId xmlns:a16="http://schemas.microsoft.com/office/drawing/2014/main" id="{5DF38EED-FBF9-178D-DF70-2A24EC29E25D}"/>
              </a:ext>
            </a:extLst>
          </p:cNvPr>
          <p:cNvSpPr txBox="1"/>
          <p:nvPr/>
        </p:nvSpPr>
        <p:spPr>
          <a:xfrm>
            <a:off x="351638" y="5514006"/>
            <a:ext cx="1943161" cy="461665"/>
          </a:xfrm>
          <a:prstGeom prst="rect">
            <a:avLst/>
          </a:prstGeom>
          <a:noFill/>
        </p:spPr>
        <p:txBody>
          <a:bodyPr wrap="none" rtlCol="0">
            <a:spAutoFit/>
          </a:bodyPr>
          <a:lstStyle/>
          <a:p>
            <a:r>
              <a:rPr lang="en-US" sz="2400" b="1" dirty="0"/>
              <a:t>Run the line</a:t>
            </a:r>
          </a:p>
        </p:txBody>
      </p:sp>
      <p:pic>
        <p:nvPicPr>
          <p:cNvPr id="5" name="Picture 4">
            <a:extLst>
              <a:ext uri="{FF2B5EF4-FFF2-40B4-BE49-F238E27FC236}">
                <a16:creationId xmlns:a16="http://schemas.microsoft.com/office/drawing/2014/main" id="{C02D26ED-A239-A7BC-74D8-B71C5CDC2F6C}"/>
              </a:ext>
            </a:extLst>
          </p:cNvPr>
          <p:cNvPicPr>
            <a:picLocks noChangeAspect="1"/>
          </p:cNvPicPr>
          <p:nvPr/>
        </p:nvPicPr>
        <p:blipFill>
          <a:blip r:embed="rId2"/>
          <a:stretch>
            <a:fillRect/>
          </a:stretch>
        </p:blipFill>
        <p:spPr>
          <a:xfrm>
            <a:off x="1340450" y="3156039"/>
            <a:ext cx="9511098" cy="2144442"/>
          </a:xfrm>
          <a:prstGeom prst="rect">
            <a:avLst/>
          </a:prstGeom>
        </p:spPr>
      </p:pic>
      <p:cxnSp>
        <p:nvCxnSpPr>
          <p:cNvPr id="6" name="Straight Arrow Connector 5">
            <a:extLst>
              <a:ext uri="{FF2B5EF4-FFF2-40B4-BE49-F238E27FC236}">
                <a16:creationId xmlns:a16="http://schemas.microsoft.com/office/drawing/2014/main" id="{312237AC-C197-A613-EBD5-C07B44F95894}"/>
              </a:ext>
            </a:extLst>
          </p:cNvPr>
          <p:cNvCxnSpPr>
            <a:cxnSpLocks/>
            <a:stCxn id="17" idx="0"/>
          </p:cNvCxnSpPr>
          <p:nvPr/>
        </p:nvCxnSpPr>
        <p:spPr>
          <a:xfrm flipV="1">
            <a:off x="1323219" y="3810000"/>
            <a:ext cx="734181" cy="1704006"/>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0158234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3ABC5-131A-7C05-C0E0-A2A64D2C34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EAA0F-ADE5-AEED-4B19-7B9541A15304}"/>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F817FC5E-6D20-3CC7-24B1-8001384D696C}"/>
              </a:ext>
            </a:extLst>
          </p:cNvPr>
          <p:cNvSpPr>
            <a:spLocks noGrp="1"/>
          </p:cNvSpPr>
          <p:nvPr>
            <p:ph type="body" idx="1"/>
          </p:nvPr>
        </p:nvSpPr>
        <p:spPr>
          <a:xfrm>
            <a:off x="304799" y="1557519"/>
            <a:ext cx="11582400" cy="646331"/>
          </a:xfrm>
        </p:spPr>
        <p:txBody>
          <a:bodyPr/>
          <a:lstStyle/>
          <a:p>
            <a:pPr algn="ctr"/>
            <a:r>
              <a:rPr lang="en-US" sz="2400" b="1" u="sng" dirty="0"/>
              <a:t>Training using your Data – Training the Model</a:t>
            </a:r>
          </a:p>
          <a:p>
            <a:pPr algn="l"/>
            <a:r>
              <a:rPr lang="en-US" dirty="0"/>
              <a:t> </a:t>
            </a:r>
            <a:endParaRPr lang="en-US" i="1" dirty="0">
              <a:solidFill>
                <a:srgbClr val="0000FF"/>
              </a:solidFill>
            </a:endParaRPr>
          </a:p>
        </p:txBody>
      </p:sp>
      <p:sp>
        <p:nvSpPr>
          <p:cNvPr id="8" name="TextBox 7">
            <a:extLst>
              <a:ext uri="{FF2B5EF4-FFF2-40B4-BE49-F238E27FC236}">
                <a16:creationId xmlns:a16="http://schemas.microsoft.com/office/drawing/2014/main" id="{1BA7736E-3E6A-8795-FA86-32176D17F4D1}"/>
              </a:ext>
            </a:extLst>
          </p:cNvPr>
          <p:cNvSpPr txBox="1"/>
          <p:nvPr/>
        </p:nvSpPr>
        <p:spPr>
          <a:xfrm>
            <a:off x="380999" y="2065350"/>
            <a:ext cx="11430000" cy="646331"/>
          </a:xfrm>
          <a:prstGeom prst="rect">
            <a:avLst/>
          </a:prstGeom>
          <a:noFill/>
        </p:spPr>
        <p:txBody>
          <a:bodyPr wrap="square" rtlCol="0">
            <a:spAutoFit/>
          </a:bodyPr>
          <a:lstStyle/>
          <a:p>
            <a:r>
              <a:rPr lang="en-US" b="1" u="sng" dirty="0"/>
              <a:t>Google </a:t>
            </a:r>
            <a:r>
              <a:rPr lang="en-US" b="1" u="sng" dirty="0" err="1"/>
              <a:t>Colab</a:t>
            </a:r>
            <a:r>
              <a:rPr lang="en-US" b="1" u="sng" dirty="0"/>
              <a:t> –</a:t>
            </a:r>
            <a:r>
              <a:rPr lang="en-US" dirty="0"/>
              <a:t> Run the code to start training the model. This time we don’t need to make a “</a:t>
            </a:r>
            <a:r>
              <a:rPr lang="en-US" b="1" i="1" dirty="0"/>
              <a:t>training.py</a:t>
            </a:r>
            <a:r>
              <a:rPr lang="en-US" dirty="0"/>
              <a:t>” file, Google </a:t>
            </a:r>
            <a:r>
              <a:rPr lang="en-US" dirty="0" err="1"/>
              <a:t>Colab</a:t>
            </a:r>
            <a:r>
              <a:rPr lang="en-US" dirty="0"/>
              <a:t> can run and train it using GPUs. </a:t>
            </a:r>
          </a:p>
        </p:txBody>
      </p:sp>
      <p:sp>
        <p:nvSpPr>
          <p:cNvPr id="17" name="TextBox 16">
            <a:extLst>
              <a:ext uri="{FF2B5EF4-FFF2-40B4-BE49-F238E27FC236}">
                <a16:creationId xmlns:a16="http://schemas.microsoft.com/office/drawing/2014/main" id="{F56AAF81-357D-EADF-4143-3B177D678A85}"/>
              </a:ext>
            </a:extLst>
          </p:cNvPr>
          <p:cNvSpPr txBox="1"/>
          <p:nvPr/>
        </p:nvSpPr>
        <p:spPr>
          <a:xfrm>
            <a:off x="351638" y="5514006"/>
            <a:ext cx="1943161" cy="461665"/>
          </a:xfrm>
          <a:prstGeom prst="rect">
            <a:avLst/>
          </a:prstGeom>
          <a:noFill/>
        </p:spPr>
        <p:txBody>
          <a:bodyPr wrap="none" rtlCol="0">
            <a:spAutoFit/>
          </a:bodyPr>
          <a:lstStyle/>
          <a:p>
            <a:r>
              <a:rPr lang="en-US" sz="2400" b="1" dirty="0"/>
              <a:t>Run the line</a:t>
            </a:r>
          </a:p>
        </p:txBody>
      </p:sp>
      <p:pic>
        <p:nvPicPr>
          <p:cNvPr id="7" name="Picture 6">
            <a:extLst>
              <a:ext uri="{FF2B5EF4-FFF2-40B4-BE49-F238E27FC236}">
                <a16:creationId xmlns:a16="http://schemas.microsoft.com/office/drawing/2014/main" id="{F2B4C271-97B1-4AA8-90B6-4F430D0E9304}"/>
              </a:ext>
            </a:extLst>
          </p:cNvPr>
          <p:cNvPicPr>
            <a:picLocks noChangeAspect="1"/>
          </p:cNvPicPr>
          <p:nvPr/>
        </p:nvPicPr>
        <p:blipFill>
          <a:blip r:embed="rId2"/>
          <a:stretch>
            <a:fillRect/>
          </a:stretch>
        </p:blipFill>
        <p:spPr>
          <a:xfrm>
            <a:off x="1323218" y="3348335"/>
            <a:ext cx="9341081" cy="1745278"/>
          </a:xfrm>
          <a:prstGeom prst="rect">
            <a:avLst/>
          </a:prstGeom>
        </p:spPr>
      </p:pic>
      <p:cxnSp>
        <p:nvCxnSpPr>
          <p:cNvPr id="9" name="Straight Arrow Connector 8">
            <a:extLst>
              <a:ext uri="{FF2B5EF4-FFF2-40B4-BE49-F238E27FC236}">
                <a16:creationId xmlns:a16="http://schemas.microsoft.com/office/drawing/2014/main" id="{1E420AF4-E98B-D20B-90D7-9FB7F325324F}"/>
              </a:ext>
            </a:extLst>
          </p:cNvPr>
          <p:cNvCxnSpPr>
            <a:cxnSpLocks/>
          </p:cNvCxnSpPr>
          <p:nvPr/>
        </p:nvCxnSpPr>
        <p:spPr>
          <a:xfrm flipV="1">
            <a:off x="1323219" y="4114800"/>
            <a:ext cx="657981" cy="1399206"/>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F39A2B33-8123-6B64-7451-84231A03178D}"/>
                  </a:ext>
                </a:extLst>
              </p14:cNvPr>
              <p14:cNvContentPartPr/>
              <p14:nvPr/>
            </p14:nvContentPartPr>
            <p14:xfrm>
              <a:off x="5905338" y="6064616"/>
              <a:ext cx="360" cy="360"/>
            </p14:xfrm>
          </p:contentPart>
        </mc:Choice>
        <mc:Fallback xmlns="">
          <p:pic>
            <p:nvPicPr>
              <p:cNvPr id="11" name="Ink 10">
                <a:extLst>
                  <a:ext uri="{FF2B5EF4-FFF2-40B4-BE49-F238E27FC236}">
                    <a16:creationId xmlns:a16="http://schemas.microsoft.com/office/drawing/2014/main" id="{F39A2B33-8123-6B64-7451-84231A03178D}"/>
                  </a:ext>
                </a:extLst>
              </p:cNvPr>
              <p:cNvPicPr/>
              <p:nvPr/>
            </p:nvPicPr>
            <p:blipFill>
              <a:blip r:embed="rId4"/>
              <a:stretch>
                <a:fillRect/>
              </a:stretch>
            </p:blipFill>
            <p:spPr>
              <a:xfrm>
                <a:off x="5842698" y="6001976"/>
                <a:ext cx="126000" cy="126000"/>
              </a:xfrm>
              <a:prstGeom prst="rect">
                <a:avLst/>
              </a:prstGeom>
            </p:spPr>
          </p:pic>
        </mc:Fallback>
      </mc:AlternateContent>
    </p:spTree>
    <p:extLst>
      <p:ext uri="{BB962C8B-B14F-4D97-AF65-F5344CB8AC3E}">
        <p14:creationId xmlns:p14="http://schemas.microsoft.com/office/powerpoint/2010/main" val="20594320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803E7-F919-1971-21DE-808EAC1BBC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87381C-C2F2-F4F8-C809-4031DC6AA934}"/>
              </a:ext>
            </a:extLst>
          </p:cNvPr>
          <p:cNvSpPr>
            <a:spLocks noGrp="1"/>
          </p:cNvSpPr>
          <p:nvPr>
            <p:ph type="title"/>
          </p:nvPr>
        </p:nvSpPr>
        <p:spPr>
          <a:xfrm>
            <a:off x="381000" y="754380"/>
            <a:ext cx="9343567" cy="430887"/>
          </a:xfrm>
        </p:spPr>
        <p:txBody>
          <a:bodyPr/>
          <a:lstStyle/>
          <a:p>
            <a:r>
              <a:rPr lang="en-IN" dirty="0"/>
              <a:t>Deep Learning in Drones- YOLOv8</a:t>
            </a:r>
          </a:p>
        </p:txBody>
      </p:sp>
      <p:sp>
        <p:nvSpPr>
          <p:cNvPr id="3" name="Text Placeholder 2">
            <a:extLst>
              <a:ext uri="{FF2B5EF4-FFF2-40B4-BE49-F238E27FC236}">
                <a16:creationId xmlns:a16="http://schemas.microsoft.com/office/drawing/2014/main" id="{2EC4EFC6-232C-FA71-AF75-83884B83D564}"/>
              </a:ext>
            </a:extLst>
          </p:cNvPr>
          <p:cNvSpPr>
            <a:spLocks noGrp="1"/>
          </p:cNvSpPr>
          <p:nvPr>
            <p:ph type="body" idx="1"/>
          </p:nvPr>
        </p:nvSpPr>
        <p:spPr>
          <a:xfrm>
            <a:off x="304799" y="1557519"/>
            <a:ext cx="11582400" cy="646331"/>
          </a:xfrm>
        </p:spPr>
        <p:txBody>
          <a:bodyPr/>
          <a:lstStyle/>
          <a:p>
            <a:pPr algn="ctr"/>
            <a:r>
              <a:rPr lang="en-US" sz="2400" b="1" u="sng" dirty="0"/>
              <a:t>Training using your Data – Training the Model Online (Custom Dataset)</a:t>
            </a:r>
          </a:p>
          <a:p>
            <a:pPr algn="l"/>
            <a:r>
              <a:rPr lang="en-US" dirty="0"/>
              <a:t> </a:t>
            </a:r>
            <a:endParaRPr lang="en-US" i="1" dirty="0">
              <a:solidFill>
                <a:srgbClr val="0000FF"/>
              </a:solidFill>
            </a:endParaRPr>
          </a:p>
        </p:txBody>
      </p:sp>
      <p:sp>
        <p:nvSpPr>
          <p:cNvPr id="8" name="TextBox 7">
            <a:extLst>
              <a:ext uri="{FF2B5EF4-FFF2-40B4-BE49-F238E27FC236}">
                <a16:creationId xmlns:a16="http://schemas.microsoft.com/office/drawing/2014/main" id="{1F43AAD2-C43C-F535-3635-8092A10B677F}"/>
              </a:ext>
            </a:extLst>
          </p:cNvPr>
          <p:cNvSpPr txBox="1"/>
          <p:nvPr/>
        </p:nvSpPr>
        <p:spPr>
          <a:xfrm>
            <a:off x="380998" y="2065350"/>
            <a:ext cx="11582399" cy="646331"/>
          </a:xfrm>
          <a:prstGeom prst="rect">
            <a:avLst/>
          </a:prstGeom>
          <a:noFill/>
        </p:spPr>
        <p:txBody>
          <a:bodyPr wrap="square" rtlCol="0">
            <a:spAutoFit/>
          </a:bodyPr>
          <a:lstStyle/>
          <a:p>
            <a:r>
              <a:rPr lang="en-US" b="1" u="sng" dirty="0"/>
              <a:t>Google </a:t>
            </a:r>
            <a:r>
              <a:rPr lang="en-US" b="1" u="sng" dirty="0" err="1"/>
              <a:t>Colab</a:t>
            </a:r>
            <a:r>
              <a:rPr lang="en-US" b="1" u="sng" dirty="0"/>
              <a:t> –</a:t>
            </a:r>
            <a:r>
              <a:rPr lang="en-US" dirty="0"/>
              <a:t> The folder </a:t>
            </a:r>
            <a:r>
              <a:rPr lang="en-US" b="1" dirty="0"/>
              <a:t>“Runs”</a:t>
            </a:r>
            <a:r>
              <a:rPr lang="en-US" dirty="0"/>
              <a:t> will have the </a:t>
            </a:r>
            <a:r>
              <a:rPr lang="en-US" b="1" dirty="0"/>
              <a:t>“best.pt”</a:t>
            </a:r>
            <a:r>
              <a:rPr lang="en-US" dirty="0"/>
              <a:t> file for the chosen dataset. Export this file and use this for your drone. </a:t>
            </a:r>
            <a:r>
              <a:rPr lang="en-US" b="1" dirty="0"/>
              <a:t>The training is complete!</a:t>
            </a:r>
          </a:p>
        </p:txBody>
      </p:sp>
      <p:sp>
        <p:nvSpPr>
          <p:cNvPr id="19" name="TextBox 18">
            <a:extLst>
              <a:ext uri="{FF2B5EF4-FFF2-40B4-BE49-F238E27FC236}">
                <a16:creationId xmlns:a16="http://schemas.microsoft.com/office/drawing/2014/main" id="{973120ED-04BB-1543-D14D-575B2AD61CB3}"/>
              </a:ext>
            </a:extLst>
          </p:cNvPr>
          <p:cNvSpPr txBox="1"/>
          <p:nvPr/>
        </p:nvSpPr>
        <p:spPr>
          <a:xfrm>
            <a:off x="8158291" y="5473084"/>
            <a:ext cx="3810000" cy="646331"/>
          </a:xfrm>
          <a:prstGeom prst="rect">
            <a:avLst/>
          </a:prstGeom>
          <a:noFill/>
        </p:spPr>
        <p:txBody>
          <a:bodyPr wrap="square" rtlCol="0">
            <a:spAutoFit/>
          </a:bodyPr>
          <a:lstStyle/>
          <a:p>
            <a:r>
              <a:rPr lang="en-US" b="1" dirty="0"/>
              <a:t>This is the trained model for your dataset. </a:t>
            </a:r>
          </a:p>
        </p:txBody>
      </p:sp>
      <p:pic>
        <p:nvPicPr>
          <p:cNvPr id="5" name="Picture 4">
            <a:extLst>
              <a:ext uri="{FF2B5EF4-FFF2-40B4-BE49-F238E27FC236}">
                <a16:creationId xmlns:a16="http://schemas.microsoft.com/office/drawing/2014/main" id="{74C75F99-40FF-F632-4421-2AA56FF2EBF1}"/>
              </a:ext>
            </a:extLst>
          </p:cNvPr>
          <p:cNvPicPr>
            <a:picLocks noChangeAspect="1"/>
          </p:cNvPicPr>
          <p:nvPr/>
        </p:nvPicPr>
        <p:blipFill>
          <a:blip r:embed="rId2"/>
          <a:stretch>
            <a:fillRect/>
          </a:stretch>
        </p:blipFill>
        <p:spPr>
          <a:xfrm>
            <a:off x="4579191" y="3124200"/>
            <a:ext cx="3033616" cy="3142559"/>
          </a:xfrm>
          <a:prstGeom prst="rect">
            <a:avLst/>
          </a:prstGeom>
        </p:spPr>
      </p:pic>
      <p:cxnSp>
        <p:nvCxnSpPr>
          <p:cNvPr id="6" name="Straight Arrow Connector 5">
            <a:extLst>
              <a:ext uri="{FF2B5EF4-FFF2-40B4-BE49-F238E27FC236}">
                <a16:creationId xmlns:a16="http://schemas.microsoft.com/office/drawing/2014/main" id="{5322709A-8C93-77D6-3D0F-C26AACE2223E}"/>
              </a:ext>
            </a:extLst>
          </p:cNvPr>
          <p:cNvCxnSpPr>
            <a:cxnSpLocks/>
          </p:cNvCxnSpPr>
          <p:nvPr/>
        </p:nvCxnSpPr>
        <p:spPr>
          <a:xfrm flipH="1">
            <a:off x="6786691" y="5791200"/>
            <a:ext cx="1371600" cy="0"/>
          </a:xfrm>
          <a:prstGeom prst="straightConnector1">
            <a:avLst/>
          </a:prstGeom>
          <a:ln w="146050">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446415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F9F5A-809B-3BDF-57F7-5E7547DBC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7DFF79-4FE6-178E-C48E-C582A4364E75}"/>
              </a:ext>
            </a:extLst>
          </p:cNvPr>
          <p:cNvSpPr>
            <a:spLocks noGrp="1"/>
          </p:cNvSpPr>
          <p:nvPr>
            <p:ph type="title"/>
          </p:nvPr>
        </p:nvSpPr>
        <p:spPr>
          <a:xfrm>
            <a:off x="381000" y="754380"/>
            <a:ext cx="9343567" cy="430887"/>
          </a:xfrm>
        </p:spPr>
        <p:txBody>
          <a:bodyPr/>
          <a:lstStyle/>
          <a:p>
            <a:r>
              <a:rPr lang="en-US" dirty="0"/>
              <a:t>Drone Control &amp; Autonomy </a:t>
            </a:r>
            <a:r>
              <a:rPr lang="en-IN" dirty="0"/>
              <a:t>– </a:t>
            </a:r>
            <a:r>
              <a:rPr lang="en-IN" dirty="0" err="1"/>
              <a:t>dronekit</a:t>
            </a:r>
            <a:endParaRPr lang="en-IN" dirty="0"/>
          </a:p>
        </p:txBody>
      </p:sp>
      <p:sp>
        <p:nvSpPr>
          <p:cNvPr id="3" name="Text Placeholder 2">
            <a:extLst>
              <a:ext uri="{FF2B5EF4-FFF2-40B4-BE49-F238E27FC236}">
                <a16:creationId xmlns:a16="http://schemas.microsoft.com/office/drawing/2014/main" id="{D4931208-59E5-7F9A-A427-4CC73E83C3C5}"/>
              </a:ext>
            </a:extLst>
          </p:cNvPr>
          <p:cNvSpPr>
            <a:spLocks noGrp="1"/>
          </p:cNvSpPr>
          <p:nvPr>
            <p:ph type="body" idx="1"/>
          </p:nvPr>
        </p:nvSpPr>
        <p:spPr>
          <a:xfrm>
            <a:off x="381000" y="1600200"/>
            <a:ext cx="11201400" cy="2492990"/>
          </a:xfrm>
        </p:spPr>
        <p:txBody>
          <a:bodyPr/>
          <a:lstStyle/>
          <a:p>
            <a:r>
              <a:rPr lang="en-US" b="1" u="sng" dirty="0"/>
              <a:t>Dronekit:</a:t>
            </a:r>
            <a:r>
              <a:rPr lang="en-US" dirty="0"/>
              <a:t> </a:t>
            </a:r>
            <a:r>
              <a:rPr lang="en-US" dirty="0" err="1"/>
              <a:t>DroneKit</a:t>
            </a:r>
            <a:r>
              <a:rPr lang="en-US" dirty="0"/>
              <a:t>-Python is a </a:t>
            </a:r>
            <a:r>
              <a:rPr lang="en-US" b="1" dirty="0"/>
              <a:t>high-level Python library </a:t>
            </a:r>
            <a:r>
              <a:rPr lang="en-US" dirty="0"/>
              <a:t>used to control drones running </a:t>
            </a:r>
            <a:r>
              <a:rPr lang="en-US" b="1" dirty="0" err="1"/>
              <a:t>ArduPilot</a:t>
            </a:r>
            <a:r>
              <a:rPr lang="en-US" dirty="0"/>
              <a:t> or </a:t>
            </a:r>
            <a:r>
              <a:rPr lang="en-US" b="1" dirty="0"/>
              <a:t>PX4</a:t>
            </a:r>
            <a:r>
              <a:rPr lang="en-US" dirty="0"/>
              <a:t>. </a:t>
            </a:r>
            <a:r>
              <a:rPr lang="en-US" dirty="0" err="1"/>
              <a:t>DroneKit</a:t>
            </a:r>
            <a:r>
              <a:rPr lang="en-US" dirty="0"/>
              <a:t> is an open-source Python library that allows us to </a:t>
            </a:r>
            <a:r>
              <a:rPr lang="en-US" b="1" dirty="0"/>
              <a:t>connect, control, and automate </a:t>
            </a:r>
            <a:r>
              <a:rPr lang="en-US" dirty="0"/>
              <a:t>drones using </a:t>
            </a:r>
            <a:r>
              <a:rPr lang="en-US" b="1" dirty="0"/>
              <a:t>high-level commands.</a:t>
            </a:r>
            <a:r>
              <a:rPr lang="en-US" dirty="0"/>
              <a:t> It enables autonomous flight by letting our programs send movement instructions directly to the flight controller.</a:t>
            </a:r>
          </a:p>
          <a:p>
            <a:r>
              <a:rPr lang="en-US" dirty="0"/>
              <a:t>Uses </a:t>
            </a:r>
            <a:r>
              <a:rPr lang="en-US" b="1" dirty="0" err="1"/>
              <a:t>MAVlink</a:t>
            </a:r>
            <a:r>
              <a:rPr lang="en-US" dirty="0"/>
              <a:t> protocol to communicate with the drone. </a:t>
            </a:r>
            <a:br>
              <a:rPr lang="en-US" dirty="0"/>
            </a:br>
            <a:br>
              <a:rPr lang="en-US" dirty="0"/>
            </a:br>
            <a:r>
              <a:rPr lang="en-US" b="1" dirty="0"/>
              <a:t>It lets the drone execute movements, navigate to positions, and respond to AI decisions in real time.</a:t>
            </a:r>
            <a:endParaRPr lang="en-US" dirty="0"/>
          </a:p>
          <a:p>
            <a:r>
              <a:rPr lang="en-US" b="1" dirty="0"/>
              <a:t>Uses –</a:t>
            </a:r>
          </a:p>
          <a:p>
            <a:br>
              <a:rPr lang="en-US" dirty="0">
                <a:solidFill>
                  <a:schemeClr val="tx1"/>
                </a:solidFill>
              </a:rPr>
            </a:br>
            <a:endParaRPr lang="en-US" dirty="0"/>
          </a:p>
        </p:txBody>
      </p:sp>
      <p:sp>
        <p:nvSpPr>
          <p:cNvPr id="4" name="TextBox 3">
            <a:extLst>
              <a:ext uri="{FF2B5EF4-FFF2-40B4-BE49-F238E27FC236}">
                <a16:creationId xmlns:a16="http://schemas.microsoft.com/office/drawing/2014/main" id="{5E150FAC-A71A-3ECD-7D2F-EB962A65048E}"/>
              </a:ext>
            </a:extLst>
          </p:cNvPr>
          <p:cNvSpPr txBox="1"/>
          <p:nvPr/>
        </p:nvSpPr>
        <p:spPr>
          <a:xfrm>
            <a:off x="304800" y="3830302"/>
            <a:ext cx="5791200" cy="2585323"/>
          </a:xfrm>
          <a:prstGeom prst="rect">
            <a:avLst/>
          </a:prstGeom>
          <a:noFill/>
        </p:spPr>
        <p:txBody>
          <a:bodyPr wrap="square" rtlCol="0">
            <a:spAutoFit/>
          </a:bodyPr>
          <a:lstStyle/>
          <a:p>
            <a:r>
              <a:rPr lang="en-US" dirty="0"/>
              <a:t>• Execute autonomous takeoff, landing, and waypoint missions</a:t>
            </a:r>
            <a:br>
              <a:rPr lang="en-US" dirty="0"/>
            </a:br>
            <a:r>
              <a:rPr lang="en-US" dirty="0"/>
              <a:t>• Move the drone based on AI analysis (YOLO detection → movement)</a:t>
            </a:r>
            <a:br>
              <a:rPr lang="en-US" dirty="0"/>
            </a:br>
            <a:r>
              <a:rPr lang="en-US" dirty="0"/>
              <a:t>• Adjust drone’s velocity or orientation dynamically to center on objects</a:t>
            </a:r>
            <a:br>
              <a:rPr lang="en-US" dirty="0"/>
            </a:br>
            <a:r>
              <a:rPr lang="en-US" dirty="0"/>
              <a:t>• Integrate object detection with flight control for autonomous navigation</a:t>
            </a:r>
          </a:p>
          <a:p>
            <a:endParaRPr lang="en-US" dirty="0"/>
          </a:p>
        </p:txBody>
      </p:sp>
      <p:pic>
        <p:nvPicPr>
          <p:cNvPr id="11" name="Picture 10">
            <a:extLst>
              <a:ext uri="{FF2B5EF4-FFF2-40B4-BE49-F238E27FC236}">
                <a16:creationId xmlns:a16="http://schemas.microsoft.com/office/drawing/2014/main" id="{302377D2-B86D-BE1D-2D3A-00CCFBC133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0" y="3393347"/>
            <a:ext cx="5105400" cy="2781759"/>
          </a:xfrm>
          <a:prstGeom prst="rect">
            <a:avLst/>
          </a:prstGeom>
        </p:spPr>
      </p:pic>
    </p:spTree>
    <p:extLst>
      <p:ext uri="{BB962C8B-B14F-4D97-AF65-F5344CB8AC3E}">
        <p14:creationId xmlns:p14="http://schemas.microsoft.com/office/powerpoint/2010/main" val="27317992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26E97-A881-3EFD-81E3-88FFB0622E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F5EE9C-2C6D-745C-888A-A08BF1C0BDE5}"/>
              </a:ext>
            </a:extLst>
          </p:cNvPr>
          <p:cNvSpPr>
            <a:spLocks noGrp="1"/>
          </p:cNvSpPr>
          <p:nvPr>
            <p:ph type="title"/>
          </p:nvPr>
        </p:nvSpPr>
        <p:spPr>
          <a:xfrm>
            <a:off x="381000" y="754380"/>
            <a:ext cx="9343567" cy="430887"/>
          </a:xfrm>
        </p:spPr>
        <p:txBody>
          <a:bodyPr/>
          <a:lstStyle/>
          <a:p>
            <a:r>
              <a:rPr lang="en-US" dirty="0"/>
              <a:t>Drone Control &amp; Autonomy </a:t>
            </a:r>
            <a:r>
              <a:rPr lang="en-IN" dirty="0"/>
              <a:t>– </a:t>
            </a:r>
            <a:r>
              <a:rPr lang="en-IN" dirty="0" err="1"/>
              <a:t>dronekit</a:t>
            </a:r>
            <a:endParaRPr lang="en-IN" dirty="0"/>
          </a:p>
        </p:txBody>
      </p:sp>
      <p:sp>
        <p:nvSpPr>
          <p:cNvPr id="3" name="Text Placeholder 2">
            <a:extLst>
              <a:ext uri="{FF2B5EF4-FFF2-40B4-BE49-F238E27FC236}">
                <a16:creationId xmlns:a16="http://schemas.microsoft.com/office/drawing/2014/main" id="{771CB84B-59FD-46B0-14E3-664383FE4D20}"/>
              </a:ext>
            </a:extLst>
          </p:cNvPr>
          <p:cNvSpPr>
            <a:spLocks noGrp="1"/>
          </p:cNvSpPr>
          <p:nvPr>
            <p:ph type="body" idx="1"/>
          </p:nvPr>
        </p:nvSpPr>
        <p:spPr>
          <a:xfrm>
            <a:off x="381000" y="1600200"/>
            <a:ext cx="11201400" cy="430887"/>
          </a:xfrm>
        </p:spPr>
        <p:txBody>
          <a:bodyPr/>
          <a:lstStyle/>
          <a:p>
            <a:pPr algn="ctr"/>
            <a:r>
              <a:rPr lang="en-US" sz="2800" b="1" dirty="0"/>
              <a:t>Difference between </a:t>
            </a:r>
            <a:r>
              <a:rPr lang="en-US" sz="2800" b="1" dirty="0" err="1"/>
              <a:t>ArduPilot</a:t>
            </a:r>
            <a:r>
              <a:rPr lang="en-US" sz="2800" b="1" dirty="0"/>
              <a:t> and PX4</a:t>
            </a:r>
          </a:p>
        </p:txBody>
      </p:sp>
      <p:sp>
        <p:nvSpPr>
          <p:cNvPr id="5" name="TextBox 4">
            <a:extLst>
              <a:ext uri="{FF2B5EF4-FFF2-40B4-BE49-F238E27FC236}">
                <a16:creationId xmlns:a16="http://schemas.microsoft.com/office/drawing/2014/main" id="{7E901670-5D09-0A5E-02CE-E730A6331D8D}"/>
              </a:ext>
            </a:extLst>
          </p:cNvPr>
          <p:cNvSpPr txBox="1"/>
          <p:nvPr/>
        </p:nvSpPr>
        <p:spPr>
          <a:xfrm>
            <a:off x="6248400" y="2340300"/>
            <a:ext cx="5791200" cy="3693319"/>
          </a:xfrm>
          <a:prstGeom prst="rect">
            <a:avLst/>
          </a:prstGeom>
          <a:noFill/>
        </p:spPr>
        <p:txBody>
          <a:bodyPr wrap="square" rtlCol="0">
            <a:spAutoFit/>
          </a:bodyPr>
          <a:lstStyle/>
          <a:p>
            <a:pPr algn="ctr"/>
            <a:r>
              <a:rPr lang="en-US" b="1" u="sng" dirty="0"/>
              <a:t>Dronekit-PX4 Python API</a:t>
            </a:r>
          </a:p>
          <a:p>
            <a:pPr algn="l"/>
            <a:endParaRPr lang="en-US" b="1" dirty="0"/>
          </a:p>
          <a:p>
            <a:pPr marL="342900" indent="-342900" algn="l">
              <a:buFont typeface="+mj-lt"/>
              <a:buAutoNum type="arabicPeriod"/>
            </a:pPr>
            <a:r>
              <a:rPr lang="en-US" dirty="0"/>
              <a:t>Works with PX4 Firmware</a:t>
            </a:r>
            <a:endParaRPr lang="en-US" b="1" dirty="0"/>
          </a:p>
          <a:p>
            <a:pPr marL="342900" indent="-342900" algn="l">
              <a:buFont typeface="+mj-lt"/>
              <a:buAutoNum type="arabicPeriod"/>
            </a:pPr>
            <a:endParaRPr lang="en-US" b="1" dirty="0"/>
          </a:p>
          <a:p>
            <a:pPr marL="342900" indent="-342900" algn="l">
              <a:buFont typeface="+mj-lt"/>
              <a:buAutoNum type="arabicPeriod"/>
            </a:pPr>
            <a:r>
              <a:rPr lang="en-US" b="1" dirty="0"/>
              <a:t>Python library- “</a:t>
            </a:r>
            <a:r>
              <a:rPr lang="en-US" b="1" i="1" dirty="0" err="1"/>
              <a:t>mavsdk</a:t>
            </a:r>
            <a:r>
              <a:rPr lang="en-US" b="1" i="1" dirty="0"/>
              <a:t>”</a:t>
            </a:r>
          </a:p>
          <a:p>
            <a:pPr marL="342900" indent="-342900" algn="l">
              <a:buFont typeface="+mj-lt"/>
              <a:buAutoNum type="arabicPeriod"/>
            </a:pPr>
            <a:endParaRPr lang="en-US" b="1" dirty="0"/>
          </a:p>
          <a:p>
            <a:pPr marL="342900" indent="-342900" algn="l">
              <a:buFont typeface="+mj-lt"/>
              <a:buAutoNum type="arabicPeriod"/>
            </a:pPr>
            <a:r>
              <a:rPr lang="en-US" dirty="0"/>
              <a:t>Connectivity- UDP/</a:t>
            </a:r>
            <a:r>
              <a:rPr lang="en-US" dirty="0" err="1"/>
              <a:t>Mavlink</a:t>
            </a:r>
            <a:endParaRPr lang="en-US" b="1" dirty="0"/>
          </a:p>
          <a:p>
            <a:pPr marL="342900" indent="-342900" algn="l">
              <a:buFont typeface="+mj-lt"/>
              <a:buAutoNum type="arabicPeriod"/>
            </a:pPr>
            <a:endParaRPr lang="en-US" b="1" dirty="0"/>
          </a:p>
          <a:p>
            <a:pPr marL="342900" indent="-342900" algn="l">
              <a:buFont typeface="+mj-lt"/>
              <a:buAutoNum type="arabicPeriod"/>
            </a:pPr>
            <a:r>
              <a:rPr lang="en-US" dirty="0"/>
              <a:t>Full mission control &amp; Offboard control</a:t>
            </a:r>
          </a:p>
          <a:p>
            <a:pPr marL="342900" indent="-342900" algn="l">
              <a:buFont typeface="+mj-lt"/>
              <a:buAutoNum type="arabicPeriod"/>
            </a:pPr>
            <a:endParaRPr lang="en-US" dirty="0"/>
          </a:p>
          <a:p>
            <a:pPr marL="342900" indent="-342900" algn="l">
              <a:buFont typeface="+mj-lt"/>
              <a:buAutoNum type="arabicPeriod"/>
            </a:pPr>
            <a:r>
              <a:rPr lang="en-US" dirty="0"/>
              <a:t>More modern API and safety features</a:t>
            </a:r>
          </a:p>
          <a:p>
            <a:pPr marL="342900" indent="-342900" algn="l">
              <a:buFont typeface="+mj-lt"/>
              <a:buAutoNum type="arabicPeriod"/>
            </a:pPr>
            <a:endParaRPr lang="en-US" dirty="0"/>
          </a:p>
          <a:p>
            <a:pPr marL="342900" indent="-342900" algn="l">
              <a:buFont typeface="+mj-lt"/>
              <a:buAutoNum type="arabicPeriod"/>
            </a:pPr>
            <a:r>
              <a:rPr lang="en-US" dirty="0"/>
              <a:t>Used in Industry-grade UAV systems</a:t>
            </a:r>
          </a:p>
        </p:txBody>
      </p:sp>
      <p:cxnSp>
        <p:nvCxnSpPr>
          <p:cNvPr id="7" name="Straight Connector 6">
            <a:extLst>
              <a:ext uri="{FF2B5EF4-FFF2-40B4-BE49-F238E27FC236}">
                <a16:creationId xmlns:a16="http://schemas.microsoft.com/office/drawing/2014/main" id="{50C0D1C3-6EF3-1F38-0431-29C225588659}"/>
              </a:ext>
            </a:extLst>
          </p:cNvPr>
          <p:cNvCxnSpPr/>
          <p:nvPr/>
        </p:nvCxnSpPr>
        <p:spPr>
          <a:xfrm flipV="1">
            <a:off x="6096000" y="2209800"/>
            <a:ext cx="0" cy="3886200"/>
          </a:xfrm>
          <a:prstGeom prst="line">
            <a:avLst/>
          </a:prstGeom>
          <a:ln w="38100"/>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9213C88B-8D94-E7DC-6E6A-D6CC77136662}"/>
              </a:ext>
            </a:extLst>
          </p:cNvPr>
          <p:cNvSpPr txBox="1"/>
          <p:nvPr/>
        </p:nvSpPr>
        <p:spPr>
          <a:xfrm>
            <a:off x="228601" y="2340300"/>
            <a:ext cx="5791200" cy="3693319"/>
          </a:xfrm>
          <a:prstGeom prst="rect">
            <a:avLst/>
          </a:prstGeom>
          <a:noFill/>
        </p:spPr>
        <p:txBody>
          <a:bodyPr wrap="square" rtlCol="0">
            <a:spAutoFit/>
          </a:bodyPr>
          <a:lstStyle/>
          <a:p>
            <a:pPr algn="ctr"/>
            <a:r>
              <a:rPr lang="en-US" b="1" u="sng" dirty="0"/>
              <a:t>Dronekit-</a:t>
            </a:r>
            <a:r>
              <a:rPr lang="en-US" b="1" u="sng" dirty="0" err="1"/>
              <a:t>ArduPilot</a:t>
            </a:r>
            <a:endParaRPr lang="en-US" b="1" u="sng" dirty="0"/>
          </a:p>
          <a:p>
            <a:pPr algn="l"/>
            <a:endParaRPr lang="en-US" b="1" dirty="0"/>
          </a:p>
          <a:p>
            <a:pPr marL="342900" indent="-342900" algn="l">
              <a:buFont typeface="+mj-lt"/>
              <a:buAutoNum type="arabicPeriod"/>
            </a:pPr>
            <a:r>
              <a:rPr lang="en-US" dirty="0"/>
              <a:t>Works with </a:t>
            </a:r>
            <a:r>
              <a:rPr lang="en-US" dirty="0" err="1"/>
              <a:t>ArduPilot</a:t>
            </a:r>
            <a:r>
              <a:rPr lang="en-US" dirty="0"/>
              <a:t> Firmware</a:t>
            </a:r>
            <a:endParaRPr lang="en-US" b="1" dirty="0"/>
          </a:p>
          <a:p>
            <a:pPr marL="342900" indent="-342900" algn="l">
              <a:buFont typeface="+mj-lt"/>
              <a:buAutoNum type="arabicPeriod"/>
            </a:pPr>
            <a:endParaRPr lang="en-US" b="1" dirty="0"/>
          </a:p>
          <a:p>
            <a:pPr marL="342900" indent="-342900" algn="l">
              <a:buFont typeface="+mj-lt"/>
              <a:buAutoNum type="arabicPeriod"/>
            </a:pPr>
            <a:r>
              <a:rPr lang="en-US" b="1" dirty="0"/>
              <a:t>Python library- “</a:t>
            </a:r>
            <a:r>
              <a:rPr lang="en-US" b="1" i="1" dirty="0"/>
              <a:t>dronekit”</a:t>
            </a:r>
            <a:endParaRPr lang="en-US" b="1" dirty="0"/>
          </a:p>
          <a:p>
            <a:pPr marL="342900" indent="-342900" algn="l">
              <a:buFont typeface="+mj-lt"/>
              <a:buAutoNum type="arabicPeriod"/>
            </a:pPr>
            <a:endParaRPr lang="en-US" b="1" dirty="0"/>
          </a:p>
          <a:p>
            <a:pPr marL="342900" indent="-342900" algn="l">
              <a:buFont typeface="+mj-lt"/>
              <a:buAutoNum type="arabicPeriod"/>
            </a:pPr>
            <a:r>
              <a:rPr lang="en-US" dirty="0"/>
              <a:t>Connectivity- Serial/UDP/Telemetry</a:t>
            </a:r>
            <a:endParaRPr lang="en-US" b="1" dirty="0"/>
          </a:p>
          <a:p>
            <a:pPr marL="342900" indent="-342900" algn="l">
              <a:buFont typeface="+mj-lt"/>
              <a:buAutoNum type="arabicPeriod"/>
            </a:pPr>
            <a:endParaRPr lang="en-US" dirty="0"/>
          </a:p>
          <a:p>
            <a:pPr marL="342900" indent="-342900" algn="l">
              <a:buFont typeface="+mj-lt"/>
              <a:buAutoNum type="arabicPeriod"/>
            </a:pPr>
            <a:r>
              <a:rPr lang="en-US" dirty="0"/>
              <a:t>Full mission control &amp; Velocity Commands</a:t>
            </a:r>
          </a:p>
          <a:p>
            <a:pPr marL="342900" indent="-342900" algn="l">
              <a:buFont typeface="+mj-lt"/>
              <a:buAutoNum type="arabicPeriod"/>
            </a:pPr>
            <a:endParaRPr lang="en-US" dirty="0"/>
          </a:p>
          <a:p>
            <a:pPr marL="342900" indent="-342900" algn="l">
              <a:buFont typeface="+mj-lt"/>
              <a:buAutoNum type="arabicPeriod"/>
            </a:pPr>
            <a:r>
              <a:rPr lang="en-US" dirty="0"/>
              <a:t>Easiest API for python control</a:t>
            </a:r>
          </a:p>
          <a:p>
            <a:pPr marL="342900" indent="-342900" algn="l">
              <a:buFont typeface="+mj-lt"/>
              <a:buAutoNum type="arabicPeriod"/>
            </a:pPr>
            <a:endParaRPr lang="en-US" dirty="0"/>
          </a:p>
          <a:p>
            <a:pPr marL="342900" indent="-342900" algn="l">
              <a:buFont typeface="+mj-lt"/>
              <a:buAutoNum type="arabicPeriod"/>
            </a:pPr>
            <a:r>
              <a:rPr lang="en-US" dirty="0"/>
              <a:t>Used in Beginner and Academic Drones</a:t>
            </a:r>
          </a:p>
        </p:txBody>
      </p:sp>
    </p:spTree>
    <p:extLst>
      <p:ext uri="{BB962C8B-B14F-4D97-AF65-F5344CB8AC3E}">
        <p14:creationId xmlns:p14="http://schemas.microsoft.com/office/powerpoint/2010/main" val="11692295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7505B-2AFF-B062-AB00-2383BA6C7C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96AB9-D30B-0796-ABB2-418274FC7B05}"/>
              </a:ext>
            </a:extLst>
          </p:cNvPr>
          <p:cNvSpPr>
            <a:spLocks noGrp="1"/>
          </p:cNvSpPr>
          <p:nvPr>
            <p:ph type="title"/>
          </p:nvPr>
        </p:nvSpPr>
        <p:spPr>
          <a:xfrm>
            <a:off x="381000" y="754380"/>
            <a:ext cx="9343567" cy="430887"/>
          </a:xfrm>
        </p:spPr>
        <p:txBody>
          <a:bodyPr/>
          <a:lstStyle/>
          <a:p>
            <a:r>
              <a:rPr lang="en-IN" dirty="0"/>
              <a:t>Drone Control &amp; Autonomy - </a:t>
            </a:r>
            <a:r>
              <a:rPr lang="en-IN" dirty="0" err="1"/>
              <a:t>dronekit</a:t>
            </a:r>
            <a:endParaRPr lang="en-IN" dirty="0"/>
          </a:p>
        </p:txBody>
      </p:sp>
      <p:sp>
        <p:nvSpPr>
          <p:cNvPr id="3" name="Text Placeholder 2">
            <a:extLst>
              <a:ext uri="{FF2B5EF4-FFF2-40B4-BE49-F238E27FC236}">
                <a16:creationId xmlns:a16="http://schemas.microsoft.com/office/drawing/2014/main" id="{A0BCE279-8078-6B47-320C-C33BC88D10F0}"/>
              </a:ext>
            </a:extLst>
          </p:cNvPr>
          <p:cNvSpPr>
            <a:spLocks noGrp="1"/>
          </p:cNvSpPr>
          <p:nvPr>
            <p:ph type="body" idx="1"/>
          </p:nvPr>
        </p:nvSpPr>
        <p:spPr>
          <a:xfrm>
            <a:off x="344010" y="1600200"/>
            <a:ext cx="11582400" cy="861774"/>
          </a:xfrm>
        </p:spPr>
        <p:txBody>
          <a:bodyPr/>
          <a:lstStyle/>
          <a:p>
            <a:pPr algn="l"/>
            <a:r>
              <a:rPr lang="en-US" sz="2000" b="1" u="sng" dirty="0"/>
              <a:t>Dronekit</a:t>
            </a:r>
            <a:r>
              <a:rPr lang="en-US" sz="2000" b="1" dirty="0"/>
              <a:t>: </a:t>
            </a:r>
            <a:r>
              <a:rPr lang="en-US" dirty="0"/>
              <a:t>This library has few functions that will be used heavily for drone control.</a:t>
            </a:r>
          </a:p>
          <a:p>
            <a:pPr algn="l"/>
            <a:endParaRPr lang="en-US" dirty="0"/>
          </a:p>
          <a:p>
            <a:pPr algn="l"/>
            <a:r>
              <a:rPr lang="en-US" dirty="0"/>
              <a:t> </a:t>
            </a:r>
            <a:endParaRPr lang="en-US" i="1" dirty="0">
              <a:solidFill>
                <a:srgbClr val="0000FF"/>
              </a:solidFill>
            </a:endParaRPr>
          </a:p>
        </p:txBody>
      </p:sp>
      <p:sp>
        <p:nvSpPr>
          <p:cNvPr id="4" name="TextBox 3">
            <a:extLst>
              <a:ext uri="{FF2B5EF4-FFF2-40B4-BE49-F238E27FC236}">
                <a16:creationId xmlns:a16="http://schemas.microsoft.com/office/drawing/2014/main" id="{09547A74-5BA5-EBFE-6257-34F84A9C3B20}"/>
              </a:ext>
            </a:extLst>
          </p:cNvPr>
          <p:cNvSpPr txBox="1"/>
          <p:nvPr/>
        </p:nvSpPr>
        <p:spPr>
          <a:xfrm>
            <a:off x="304800" y="2250281"/>
            <a:ext cx="11658600" cy="3970318"/>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sym typeface="Wingdings" panose="05000000000000000000" pitchFamily="2" charset="2"/>
              </a:rPr>
              <a:t> </a:t>
            </a:r>
            <a:r>
              <a:rPr kumimoji="0" lang="en-US" altLang="en-US" b="1" i="0" u="none" strike="noStrike" cap="none" normalizeH="0" baseline="0" dirty="0">
                <a:ln>
                  <a:noFill/>
                </a:ln>
                <a:solidFill>
                  <a:schemeClr val="tx1"/>
                </a:solidFill>
                <a:effectLst/>
                <a:latin typeface="Arial Unicode MS"/>
              </a:rPr>
              <a:t>from dronekit import connect, </a:t>
            </a:r>
            <a:r>
              <a:rPr kumimoji="0" lang="en-US" altLang="en-US" b="1" i="0" u="none" strike="noStrike" cap="none" normalizeH="0" baseline="0" dirty="0" err="1">
                <a:ln>
                  <a:noFill/>
                </a:ln>
                <a:solidFill>
                  <a:schemeClr val="tx1"/>
                </a:solidFill>
                <a:effectLst/>
                <a:latin typeface="Arial Unicode MS"/>
              </a:rPr>
              <a:t>VehicleMode</a:t>
            </a:r>
            <a:r>
              <a:rPr kumimoji="0" lang="en-US" altLang="en-US" b="1" i="0" u="none" strike="noStrike" cap="none" normalizeH="0" baseline="0" dirty="0">
                <a:ln>
                  <a:noFill/>
                </a:ln>
                <a:solidFill>
                  <a:schemeClr val="tx1"/>
                </a:solidFill>
                <a:effectLst/>
                <a:latin typeface="Arial Unicode MS"/>
              </a:rPr>
              <a:t>, </a:t>
            </a:r>
            <a:r>
              <a:rPr kumimoji="0" lang="en-US" altLang="en-US" b="1" i="0" u="none" strike="noStrike" cap="none" normalizeH="0" baseline="0" dirty="0" err="1">
                <a:ln>
                  <a:noFill/>
                </a:ln>
                <a:solidFill>
                  <a:schemeClr val="tx1"/>
                </a:solidFill>
                <a:effectLst/>
                <a:latin typeface="Arial Unicode MS"/>
              </a:rPr>
              <a:t>LocationGlobalRelative</a:t>
            </a:r>
            <a:r>
              <a:rPr kumimoji="0" lang="en-US" altLang="en-US" b="0" i="0" u="none" strike="noStrike" cap="none" normalizeH="0" baseline="0" dirty="0">
                <a:ln>
                  <a:noFill/>
                </a:ln>
                <a:solidFill>
                  <a:schemeClr val="tx1"/>
                </a:solidFill>
                <a:effectLst/>
              </a:rPr>
              <a:t> → </a:t>
            </a:r>
            <a:r>
              <a:rPr lang="en-US" altLang="en-US" dirty="0">
                <a:solidFill>
                  <a:schemeClr val="tx1"/>
                </a:solidFill>
              </a:rPr>
              <a:t>importing syntaxes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a:ln>
                  <a:noFill/>
                </a:ln>
                <a:solidFill>
                  <a:schemeClr val="tx1"/>
                </a:solidFill>
                <a:effectLst/>
                <a:latin typeface="Arial Unicode MS"/>
              </a:rPr>
              <a:t>connect(‘</a:t>
            </a:r>
            <a:r>
              <a:rPr kumimoji="0" lang="en-US" altLang="en-US" b="1" i="0" u="none" strike="noStrike" cap="none" normalizeH="0" baseline="0" dirty="0" err="1">
                <a:ln>
                  <a:noFill/>
                </a:ln>
                <a:solidFill>
                  <a:schemeClr val="tx1"/>
                </a:solidFill>
                <a:effectLst/>
                <a:latin typeface="Arial Unicode MS"/>
              </a:rPr>
              <a:t>udp:</a:t>
            </a:r>
            <a:r>
              <a:rPr kumimoji="0" lang="en-US" altLang="en-US" i="1" u="none" strike="noStrike" cap="none" normalizeH="0" baseline="0" dirty="0" err="1">
                <a:ln>
                  <a:noFill/>
                </a:ln>
                <a:solidFill>
                  <a:schemeClr val="tx1"/>
                </a:solidFill>
                <a:effectLst/>
                <a:latin typeface="Arial Unicode MS"/>
              </a:rPr>
              <a:t>UDP_address</a:t>
            </a:r>
            <a:r>
              <a:rPr kumimoji="0" lang="en-US" altLang="en-US" b="1" i="0" u="none" strike="noStrike" cap="none" normalizeH="0" baseline="0" dirty="0">
                <a:ln>
                  <a:noFill/>
                </a:ln>
                <a:solidFill>
                  <a:schemeClr val="tx1"/>
                </a:solidFill>
                <a:effectLst/>
                <a:latin typeface="Arial Unicode MS"/>
              </a:rPr>
              <a:t>’, </a:t>
            </a:r>
            <a:r>
              <a:rPr kumimoji="0" lang="en-US" altLang="en-US" b="1" i="0" u="none" strike="noStrike" cap="none" normalizeH="0" baseline="0" dirty="0" err="1">
                <a:ln>
                  <a:noFill/>
                </a:ln>
                <a:solidFill>
                  <a:schemeClr val="tx1"/>
                </a:solidFill>
                <a:effectLst/>
                <a:latin typeface="Arial Unicode MS"/>
              </a:rPr>
              <a:t>wait_ready</a:t>
            </a:r>
            <a:r>
              <a:rPr kumimoji="0" lang="en-US" altLang="en-US" b="1" i="0" u="none" strike="noStrike" cap="none" normalizeH="0" baseline="0" dirty="0">
                <a:ln>
                  <a:noFill/>
                </a:ln>
                <a:solidFill>
                  <a:schemeClr val="tx1"/>
                </a:solidFill>
                <a:effectLst/>
                <a:latin typeface="Arial Unicode MS"/>
              </a:rPr>
              <a:t>=True)</a:t>
            </a:r>
            <a:r>
              <a:rPr kumimoji="0" lang="en-US" altLang="en-US" b="0" i="0" u="none" strike="noStrike" cap="none" normalizeH="0" baseline="0" dirty="0">
                <a:ln>
                  <a:noFill/>
                </a:ln>
                <a:solidFill>
                  <a:schemeClr val="tx1"/>
                </a:solidFill>
                <a:effectLst/>
              </a:rPr>
              <a:t>→ To select the drone by its UDP address. </a:t>
            </a:r>
          </a:p>
          <a:p>
            <a:pPr marL="0" marR="0" lvl="0" indent="0" algn="ctr"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rPr>
              <a:t>[Ex: </a:t>
            </a:r>
            <a:r>
              <a:rPr kumimoji="0" lang="en-US" altLang="en-US" b="1" i="1" u="none" strike="noStrike" cap="none" normalizeH="0" baseline="0" dirty="0">
                <a:ln>
                  <a:noFill/>
                </a:ln>
                <a:solidFill>
                  <a:schemeClr val="tx1"/>
                </a:solidFill>
                <a:effectLst/>
              </a:rPr>
              <a:t>vehicle = connect(‘</a:t>
            </a:r>
            <a:r>
              <a:rPr kumimoji="0" lang="en-US" altLang="en-US" b="1" i="1" u="none" strike="noStrike" cap="none" normalizeH="0" baseline="0" dirty="0" err="1">
                <a:ln>
                  <a:noFill/>
                </a:ln>
                <a:solidFill>
                  <a:schemeClr val="tx1"/>
                </a:solidFill>
                <a:effectLst/>
              </a:rPr>
              <a:t>udp:xxx.x.x.x:xxxxx</a:t>
            </a:r>
            <a:r>
              <a:rPr kumimoji="0" lang="en-US" altLang="en-US" b="1" i="1" u="none" strike="noStrike" cap="none" normalizeH="0" baseline="0" dirty="0">
                <a:ln>
                  <a:noFill/>
                </a:ln>
                <a:solidFill>
                  <a:schemeClr val="tx1"/>
                </a:solidFill>
                <a:effectLst/>
              </a:rPr>
              <a:t>’, </a:t>
            </a:r>
            <a:r>
              <a:rPr kumimoji="0" lang="en-US" altLang="en-US" b="1" i="1" u="none" strike="noStrike" cap="none" normalizeH="0" baseline="0" dirty="0" err="1">
                <a:ln>
                  <a:noFill/>
                </a:ln>
                <a:solidFill>
                  <a:schemeClr val="tx1"/>
                </a:solidFill>
                <a:effectLst/>
              </a:rPr>
              <a:t>wait_ready</a:t>
            </a:r>
            <a:r>
              <a:rPr kumimoji="0" lang="en-US" altLang="en-US" b="1" i="1" u="none" strike="noStrike" cap="none" normalizeH="0" baseline="0" dirty="0">
                <a:ln>
                  <a:noFill/>
                </a:ln>
                <a:solidFill>
                  <a:schemeClr val="tx1"/>
                </a:solidFill>
                <a:effectLst/>
              </a:rPr>
              <a:t>=True) </a:t>
            </a:r>
            <a:r>
              <a:rPr kumimoji="0" lang="en-US" altLang="en-US" b="1" i="1" u="none" strike="noStrike" cap="none" normalizeH="0" baseline="0" dirty="0">
                <a:ln>
                  <a:noFill/>
                </a:ln>
                <a:solidFill>
                  <a:schemeClr val="tx1"/>
                </a:solidFill>
                <a:effectLst/>
                <a:sym typeface="Wingdings" panose="05000000000000000000" pitchFamily="2" charset="2"/>
              </a:rPr>
              <a:t> </a:t>
            </a:r>
            <a:r>
              <a:rPr lang="en-US" altLang="en-US" dirty="0">
                <a:solidFill>
                  <a:schemeClr val="tx1"/>
                </a:solidFill>
                <a:sym typeface="Wingdings" panose="05000000000000000000" pitchFamily="2" charset="2"/>
              </a:rPr>
              <a:t>assigned drone as “vehicle”</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err="1">
                <a:ln>
                  <a:noFill/>
                </a:ln>
                <a:solidFill>
                  <a:schemeClr val="tx1"/>
                </a:solidFill>
                <a:effectLst/>
                <a:latin typeface="Arial Unicode MS"/>
              </a:rPr>
              <a:t>VehicleMode</a:t>
            </a:r>
            <a:r>
              <a:rPr kumimoji="0" lang="en-US" altLang="en-US" b="1" i="0" u="none" strike="noStrike" cap="none" normalizeH="0" baseline="0" dirty="0">
                <a:ln>
                  <a:noFill/>
                </a:ln>
                <a:solidFill>
                  <a:schemeClr val="tx1"/>
                </a:solidFill>
                <a:effectLst/>
                <a:latin typeface="Arial Unicode MS"/>
              </a:rPr>
              <a:t>(“GUIDED“)</a:t>
            </a:r>
            <a:r>
              <a:rPr kumimoji="0" lang="en-US" altLang="en-US" b="0" i="0" u="none" strike="noStrike" cap="none" normalizeH="0" baseline="0" dirty="0">
                <a:ln>
                  <a:noFill/>
                </a:ln>
                <a:solidFill>
                  <a:schemeClr val="tx1"/>
                </a:solidFill>
                <a:effectLst/>
              </a:rPr>
              <a:t>→ To </a:t>
            </a:r>
            <a:r>
              <a:rPr lang="en-US" altLang="en-US" dirty="0">
                <a:solidFill>
                  <a:schemeClr val="tx1"/>
                </a:solidFill>
              </a:rPr>
              <a:t>set the drone in </a:t>
            </a:r>
            <a:r>
              <a:rPr lang="en-US" altLang="en-US" b="1" i="1" dirty="0">
                <a:solidFill>
                  <a:schemeClr val="tx1"/>
                </a:solidFill>
              </a:rPr>
              <a:t>“GUIDED” </a:t>
            </a:r>
            <a:r>
              <a:rPr lang="en-US" altLang="en-US" dirty="0">
                <a:solidFill>
                  <a:schemeClr val="tx1"/>
                </a:solidFill>
              </a:rPr>
              <a:t>mode </a:t>
            </a:r>
            <a:r>
              <a:rPr kumimoji="0" lang="en-US" altLang="en-US" b="0" i="0" u="none" strike="noStrike" cap="none" normalizeH="0" baseline="0" dirty="0">
                <a:ln>
                  <a:noFill/>
                </a:ln>
                <a:solidFill>
                  <a:schemeClr val="tx1"/>
                </a:solidFill>
                <a:effectLst/>
              </a:rPr>
              <a:t>(autopilot) </a:t>
            </a:r>
          </a:p>
          <a:p>
            <a:pPr marL="0" marR="0" lvl="0" indent="0" algn="ctr"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rPr>
              <a:t>[Ex: </a:t>
            </a:r>
            <a:r>
              <a:rPr kumimoji="0" lang="en-US" altLang="en-US" b="1" i="1" u="none" strike="noStrike" cap="none" normalizeH="0" baseline="0" dirty="0" err="1">
                <a:ln>
                  <a:noFill/>
                </a:ln>
                <a:solidFill>
                  <a:schemeClr val="tx1"/>
                </a:solidFill>
                <a:effectLst/>
              </a:rPr>
              <a:t>vehicle.mode</a:t>
            </a:r>
            <a:r>
              <a:rPr kumimoji="0" lang="en-US" altLang="en-US" b="1" i="1" u="none" strike="noStrike" cap="none" normalizeH="0" baseline="0" dirty="0">
                <a:ln>
                  <a:noFill/>
                </a:ln>
                <a:solidFill>
                  <a:schemeClr val="tx1"/>
                </a:solidFill>
                <a:effectLst/>
              </a:rPr>
              <a:t> = </a:t>
            </a:r>
            <a:r>
              <a:rPr kumimoji="0" lang="en-US" altLang="en-US" b="1" i="1" u="none" strike="noStrike" cap="none" normalizeH="0" baseline="0" dirty="0" err="1">
                <a:ln>
                  <a:noFill/>
                </a:ln>
                <a:solidFill>
                  <a:schemeClr val="tx1"/>
                </a:solidFill>
                <a:effectLst/>
              </a:rPr>
              <a:t>VehicleMode</a:t>
            </a:r>
            <a:r>
              <a:rPr kumimoji="0" lang="en-US" altLang="en-US" b="1" i="1" u="none" strike="noStrike" cap="none" normalizeH="0" baseline="0" dirty="0">
                <a:ln>
                  <a:noFill/>
                </a:ln>
                <a:solidFill>
                  <a:schemeClr val="tx1"/>
                </a:solidFill>
                <a:effectLst/>
              </a:rPr>
              <a:t>(“GUIDED”)</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algn="l" rtl="0"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a:ln>
                  <a:noFill/>
                </a:ln>
                <a:solidFill>
                  <a:schemeClr val="tx1"/>
                </a:solidFill>
                <a:effectLst/>
                <a:latin typeface="Arial Unicode MS"/>
              </a:rPr>
              <a:t>___.armed</a:t>
            </a:r>
            <a:r>
              <a:rPr kumimoji="0" lang="en-US" altLang="en-US" b="0" i="0" u="none" strike="noStrike" cap="none" normalizeH="0" baseline="0" dirty="0">
                <a:ln>
                  <a:noFill/>
                </a:ln>
                <a:solidFill>
                  <a:schemeClr val="tx1"/>
                </a:solidFill>
                <a:effectLst/>
              </a:rPr>
              <a:t>→ To arm the motors of the drone (Turn on at idle). </a:t>
            </a:r>
          </a:p>
          <a:p>
            <a:pPr algn="ctr" rtl="0" eaLnBrk="0" fontAlgn="base" hangingPunct="0">
              <a:spcBef>
                <a:spcPct val="0"/>
              </a:spcBef>
              <a:spcAft>
                <a:spcPct val="0"/>
              </a:spcAft>
            </a:pPr>
            <a:r>
              <a:rPr kumimoji="0" lang="en-US" altLang="en-US" b="0" i="0" u="none" strike="noStrike" cap="none" normalizeH="0" baseline="0" dirty="0">
                <a:ln>
                  <a:noFill/>
                </a:ln>
                <a:solidFill>
                  <a:schemeClr val="tx1"/>
                </a:solidFill>
                <a:effectLst/>
              </a:rPr>
              <a:t>[Ex: </a:t>
            </a:r>
            <a:r>
              <a:rPr kumimoji="0" lang="en-US" altLang="en-US" b="1" i="1" u="none" strike="noStrike" cap="none" normalizeH="0" baseline="0" dirty="0" err="1">
                <a:ln>
                  <a:noFill/>
                </a:ln>
                <a:solidFill>
                  <a:schemeClr val="tx1"/>
                </a:solidFill>
                <a:effectLst/>
              </a:rPr>
              <a:t>vehicle.armed</a:t>
            </a:r>
            <a:r>
              <a:rPr kumimoji="0" lang="en-US" altLang="en-US" b="1" i="1" u="none" strike="noStrike" cap="none" normalizeH="0" baseline="0" dirty="0">
                <a:ln>
                  <a:noFill/>
                </a:ln>
                <a:solidFill>
                  <a:schemeClr val="tx1"/>
                </a:solidFill>
                <a:effectLst/>
              </a:rPr>
              <a:t> = True </a:t>
            </a:r>
            <a:r>
              <a:rPr kumimoji="0" lang="en-US" altLang="en-US" b="1" i="1" u="none" strike="noStrike" cap="none" normalizeH="0" baseline="0" dirty="0">
                <a:ln>
                  <a:noFill/>
                </a:ln>
                <a:solidFill>
                  <a:schemeClr val="tx1"/>
                </a:solidFill>
                <a:effectLst/>
                <a:sym typeface="Wingdings" panose="05000000000000000000" pitchFamily="2" charset="2"/>
              </a:rPr>
              <a:t> </a:t>
            </a:r>
            <a:r>
              <a:rPr kumimoji="0" lang="en-US" altLang="en-US" u="none" strike="noStrike" cap="none" normalizeH="0" baseline="0" dirty="0">
                <a:ln>
                  <a:noFill/>
                </a:ln>
                <a:solidFill>
                  <a:schemeClr val="tx1"/>
                </a:solidFill>
                <a:effectLst/>
                <a:sym typeface="Wingdings" panose="05000000000000000000" pitchFamily="2" charset="2"/>
              </a:rPr>
              <a:t>Motors initialized and at idle power</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lang="en-US" altLang="en-US" b="1" dirty="0">
                <a:solidFill>
                  <a:schemeClr val="tx1"/>
                </a:solidFill>
                <a:latin typeface="Arial Unicode MS"/>
              </a:rPr>
              <a:t>___</a:t>
            </a:r>
            <a:r>
              <a:rPr kumimoji="0" lang="en-US" altLang="en-US" b="1" i="0" u="none" strike="noStrike" cap="none" normalizeH="0" baseline="0" dirty="0">
                <a:ln>
                  <a:noFill/>
                </a:ln>
                <a:solidFill>
                  <a:schemeClr val="tx1"/>
                </a:solidFill>
                <a:effectLst/>
                <a:latin typeface="Arial Unicode MS"/>
              </a:rPr>
              <a:t>.</a:t>
            </a:r>
            <a:r>
              <a:rPr kumimoji="0" lang="en-US" altLang="en-US" b="1" i="0" u="none" strike="noStrike" cap="none" normalizeH="0" baseline="0" dirty="0" err="1">
                <a:ln>
                  <a:noFill/>
                </a:ln>
                <a:solidFill>
                  <a:schemeClr val="tx1"/>
                </a:solidFill>
                <a:effectLst/>
                <a:latin typeface="Arial Unicode MS"/>
              </a:rPr>
              <a:t>simple_takeoff</a:t>
            </a:r>
            <a:r>
              <a:rPr kumimoji="0" lang="en-US" altLang="en-US" b="1" i="0" u="none" strike="noStrike" cap="none" normalizeH="0" baseline="0" dirty="0">
                <a:ln>
                  <a:noFill/>
                </a:ln>
                <a:solidFill>
                  <a:schemeClr val="tx1"/>
                </a:solidFill>
                <a:effectLst/>
                <a:latin typeface="Arial Unicode MS"/>
              </a:rPr>
              <a:t>(x)</a:t>
            </a:r>
            <a:r>
              <a:rPr kumimoji="0" lang="en-US" altLang="en-US" b="0" i="0" u="none" strike="noStrike" cap="none" normalizeH="0" baseline="0" dirty="0">
                <a:ln>
                  <a:noFill/>
                </a:ln>
                <a:solidFill>
                  <a:schemeClr val="tx1"/>
                </a:solidFill>
                <a:effectLst/>
              </a:rPr>
              <a:t>→ To takeoff to </a:t>
            </a:r>
            <a:r>
              <a:rPr kumimoji="0" lang="en-US" altLang="en-US" b="1" i="1" u="none" strike="noStrike" cap="none" normalizeH="0" baseline="0" dirty="0">
                <a:ln>
                  <a:noFill/>
                </a:ln>
                <a:solidFill>
                  <a:schemeClr val="tx1"/>
                </a:solidFill>
                <a:effectLst/>
              </a:rPr>
              <a:t>“x”</a:t>
            </a:r>
            <a:r>
              <a:rPr lang="en-US" altLang="en-US" dirty="0">
                <a:solidFill>
                  <a:schemeClr val="tx1"/>
                </a:solidFill>
              </a:rPr>
              <a:t> altitude</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err="1">
                <a:ln>
                  <a:noFill/>
                </a:ln>
                <a:solidFill>
                  <a:schemeClr val="tx1"/>
                </a:solidFill>
                <a:effectLst/>
                <a:latin typeface="Arial Unicode MS"/>
              </a:rPr>
              <a:t>send_body_velocity</a:t>
            </a:r>
            <a:r>
              <a:rPr kumimoji="0" lang="en-US" altLang="en-US" b="1" i="0" u="none" strike="noStrike" cap="none" normalizeH="0" baseline="0" dirty="0">
                <a:ln>
                  <a:noFill/>
                </a:ln>
                <a:solidFill>
                  <a:schemeClr val="tx1"/>
                </a:solidFill>
                <a:effectLst/>
                <a:latin typeface="Arial Unicode MS"/>
              </a:rPr>
              <a:t>(</a:t>
            </a:r>
            <a:r>
              <a:rPr kumimoji="0" lang="en-US" altLang="en-US" b="1" i="0" u="none" strike="noStrike" cap="none" normalizeH="0" baseline="0" dirty="0" err="1">
                <a:ln>
                  <a:noFill/>
                </a:ln>
                <a:solidFill>
                  <a:schemeClr val="tx1"/>
                </a:solidFill>
                <a:effectLst/>
                <a:latin typeface="Arial Unicode MS"/>
              </a:rPr>
              <a:t>vx</a:t>
            </a:r>
            <a:r>
              <a:rPr kumimoji="0" lang="en-US" altLang="en-US" b="1" i="0" u="none" strike="noStrike" cap="none" normalizeH="0" baseline="0" dirty="0">
                <a:ln>
                  <a:noFill/>
                </a:ln>
                <a:solidFill>
                  <a:schemeClr val="tx1"/>
                </a:solidFill>
                <a:effectLst/>
                <a:latin typeface="Arial Unicode MS"/>
              </a:rPr>
              <a:t>, </a:t>
            </a:r>
            <a:r>
              <a:rPr kumimoji="0" lang="en-US" altLang="en-US" b="1" i="0" u="none" strike="noStrike" cap="none" normalizeH="0" baseline="0" dirty="0" err="1">
                <a:ln>
                  <a:noFill/>
                </a:ln>
                <a:solidFill>
                  <a:schemeClr val="tx1"/>
                </a:solidFill>
                <a:effectLst/>
                <a:latin typeface="Arial Unicode MS"/>
              </a:rPr>
              <a:t>vy</a:t>
            </a:r>
            <a:r>
              <a:rPr kumimoji="0" lang="en-US" altLang="en-US" b="1" i="0" u="none" strike="noStrike" cap="none" normalizeH="0" baseline="0" dirty="0">
                <a:ln>
                  <a:noFill/>
                </a:ln>
                <a:solidFill>
                  <a:schemeClr val="tx1"/>
                </a:solidFill>
                <a:effectLst/>
                <a:latin typeface="Arial Unicode MS"/>
              </a:rPr>
              <a:t>, </a:t>
            </a:r>
            <a:r>
              <a:rPr kumimoji="0" lang="en-US" altLang="en-US" b="1" i="0" u="none" strike="noStrike" cap="none" normalizeH="0" baseline="0" dirty="0" err="1">
                <a:ln>
                  <a:noFill/>
                </a:ln>
                <a:solidFill>
                  <a:schemeClr val="tx1"/>
                </a:solidFill>
                <a:effectLst/>
                <a:latin typeface="Arial Unicode MS"/>
              </a:rPr>
              <a:t>vz</a:t>
            </a:r>
            <a:r>
              <a:rPr kumimoji="0" lang="en-US" altLang="en-US" b="1" i="0" u="none" strike="noStrike" cap="none" normalizeH="0" baseline="0" dirty="0">
                <a:ln>
                  <a:noFill/>
                </a:ln>
                <a:solidFill>
                  <a:schemeClr val="tx1"/>
                </a:solidFill>
                <a:effectLst/>
                <a:latin typeface="Arial Unicode MS"/>
              </a:rPr>
              <a:t>)</a:t>
            </a:r>
            <a:r>
              <a:rPr kumimoji="0" lang="en-US" altLang="en-US" b="0" i="0" u="none" strike="noStrike" cap="none" normalizeH="0" baseline="0" dirty="0">
                <a:ln>
                  <a:noFill/>
                </a:ln>
                <a:solidFill>
                  <a:schemeClr val="tx1"/>
                </a:solidFill>
                <a:effectLst/>
              </a:rPr>
              <a:t>→ To move the drone towards a position using the x, y and z velocity. (in m/s)</a:t>
            </a:r>
            <a:endParaRPr lang="en-US" dirty="0"/>
          </a:p>
        </p:txBody>
      </p:sp>
    </p:spTree>
    <p:extLst>
      <p:ext uri="{BB962C8B-B14F-4D97-AF65-F5344CB8AC3E}">
        <p14:creationId xmlns:p14="http://schemas.microsoft.com/office/powerpoint/2010/main" val="25450320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FCC78-8899-0EC1-73ED-F9C30637DE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38E4ED-B331-8B1F-CEA1-3E3B0CF17AC3}"/>
              </a:ext>
            </a:extLst>
          </p:cNvPr>
          <p:cNvSpPr>
            <a:spLocks noGrp="1"/>
          </p:cNvSpPr>
          <p:nvPr>
            <p:ph type="title"/>
          </p:nvPr>
        </p:nvSpPr>
        <p:spPr>
          <a:xfrm>
            <a:off x="381000" y="754380"/>
            <a:ext cx="9343567" cy="430887"/>
          </a:xfrm>
        </p:spPr>
        <p:txBody>
          <a:bodyPr/>
          <a:lstStyle/>
          <a:p>
            <a:r>
              <a:rPr lang="en-IN" dirty="0"/>
              <a:t>Drone Control &amp; Autonomy - </a:t>
            </a:r>
            <a:r>
              <a:rPr lang="en-IN" dirty="0" err="1"/>
              <a:t>dronekit</a:t>
            </a:r>
            <a:endParaRPr lang="en-IN" dirty="0"/>
          </a:p>
        </p:txBody>
      </p:sp>
      <p:sp>
        <p:nvSpPr>
          <p:cNvPr id="3" name="Text Placeholder 2">
            <a:extLst>
              <a:ext uri="{FF2B5EF4-FFF2-40B4-BE49-F238E27FC236}">
                <a16:creationId xmlns:a16="http://schemas.microsoft.com/office/drawing/2014/main" id="{7FF98F35-5113-DAE1-372E-A63EA1978CA2}"/>
              </a:ext>
            </a:extLst>
          </p:cNvPr>
          <p:cNvSpPr>
            <a:spLocks noGrp="1"/>
          </p:cNvSpPr>
          <p:nvPr>
            <p:ph type="body" idx="1"/>
          </p:nvPr>
        </p:nvSpPr>
        <p:spPr>
          <a:xfrm>
            <a:off x="344010" y="1600200"/>
            <a:ext cx="11582400" cy="861774"/>
          </a:xfrm>
        </p:spPr>
        <p:txBody>
          <a:bodyPr/>
          <a:lstStyle/>
          <a:p>
            <a:pPr algn="l"/>
            <a:r>
              <a:rPr lang="en-US" sz="2000" b="1" u="sng" dirty="0"/>
              <a:t>Dronekit</a:t>
            </a:r>
            <a:r>
              <a:rPr lang="en-US" sz="2000" b="1" dirty="0"/>
              <a:t>: </a:t>
            </a:r>
            <a:r>
              <a:rPr lang="en-US" dirty="0"/>
              <a:t>This library has few functions that will be used heavily for drone control.</a:t>
            </a:r>
          </a:p>
          <a:p>
            <a:pPr algn="l"/>
            <a:endParaRPr lang="en-US" dirty="0"/>
          </a:p>
          <a:p>
            <a:pPr algn="l"/>
            <a:r>
              <a:rPr lang="en-US" dirty="0"/>
              <a:t> </a:t>
            </a:r>
            <a:endParaRPr lang="en-US" i="1" dirty="0">
              <a:solidFill>
                <a:srgbClr val="0000FF"/>
              </a:solidFill>
            </a:endParaRPr>
          </a:p>
        </p:txBody>
      </p:sp>
      <p:sp>
        <p:nvSpPr>
          <p:cNvPr id="4" name="TextBox 3">
            <a:extLst>
              <a:ext uri="{FF2B5EF4-FFF2-40B4-BE49-F238E27FC236}">
                <a16:creationId xmlns:a16="http://schemas.microsoft.com/office/drawing/2014/main" id="{0D07FB3D-2638-386A-24AE-BDFCD687C7BB}"/>
              </a:ext>
            </a:extLst>
          </p:cNvPr>
          <p:cNvSpPr txBox="1"/>
          <p:nvPr/>
        </p:nvSpPr>
        <p:spPr>
          <a:xfrm>
            <a:off x="304800" y="2250281"/>
            <a:ext cx="11811000" cy="424731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sym typeface="Wingdings" panose="05000000000000000000" pitchFamily="2" charset="2"/>
              </a:rPr>
              <a:t> </a:t>
            </a:r>
            <a:r>
              <a:rPr kumimoji="0" lang="en-US" altLang="en-US" b="1" i="0" u="none" strike="noStrike" cap="none" normalizeH="0" baseline="0" dirty="0" err="1">
                <a:ln>
                  <a:noFill/>
                </a:ln>
                <a:solidFill>
                  <a:schemeClr val="tx1"/>
                </a:solidFill>
                <a:effectLst/>
                <a:latin typeface="Arial Unicode MS"/>
              </a:rPr>
              <a:t>send_ned_velocity</a:t>
            </a:r>
            <a:r>
              <a:rPr kumimoji="0" lang="en-US" altLang="en-US" b="1" i="0" u="none" strike="noStrike" cap="none" normalizeH="0" baseline="0" dirty="0">
                <a:ln>
                  <a:noFill/>
                </a:ln>
                <a:solidFill>
                  <a:schemeClr val="tx1"/>
                </a:solidFill>
                <a:effectLst/>
                <a:latin typeface="Arial Unicode MS"/>
              </a:rPr>
              <a:t>(</a:t>
            </a:r>
            <a:r>
              <a:rPr kumimoji="0" lang="en-US" altLang="en-US" b="1" i="0" u="none" strike="noStrike" cap="none" normalizeH="0" baseline="0" dirty="0" err="1">
                <a:ln>
                  <a:noFill/>
                </a:ln>
                <a:solidFill>
                  <a:schemeClr val="tx1"/>
                </a:solidFill>
                <a:effectLst/>
                <a:latin typeface="Arial Unicode MS"/>
              </a:rPr>
              <a:t>vx,vy,vx,duration</a:t>
            </a:r>
            <a:r>
              <a:rPr kumimoji="0" lang="en-US" altLang="en-US" b="1" i="0" u="none" strike="noStrike" cap="none" normalizeH="0" baseline="0" dirty="0">
                <a:ln>
                  <a:noFill/>
                </a:ln>
                <a:solidFill>
                  <a:schemeClr val="tx1"/>
                </a:solidFill>
                <a:effectLst/>
                <a:latin typeface="Arial Unicode MS"/>
              </a:rPr>
              <a:t>)</a:t>
            </a:r>
            <a:r>
              <a:rPr kumimoji="0" lang="en-US" altLang="en-US" b="0" i="0" u="none" strike="noStrike" cap="none" normalizeH="0" baseline="0" dirty="0">
                <a:ln>
                  <a:noFill/>
                </a:ln>
                <a:solidFill>
                  <a:schemeClr val="tx1"/>
                </a:solidFill>
                <a:effectLst/>
              </a:rPr>
              <a:t>→ </a:t>
            </a:r>
            <a:r>
              <a:rPr lang="en-US" altLang="en-US" dirty="0">
                <a:solidFill>
                  <a:schemeClr val="tx1"/>
                </a:solidFill>
              </a:rPr>
              <a:t>Move the drone in specific velocity in </a:t>
            </a:r>
            <a:r>
              <a:rPr lang="en-US" altLang="en-US" b="1" dirty="0">
                <a:solidFill>
                  <a:schemeClr val="tx1"/>
                </a:solidFill>
              </a:rPr>
              <a:t>NED</a:t>
            </a:r>
            <a:r>
              <a:rPr lang="en-US" altLang="en-US" dirty="0">
                <a:solidFill>
                  <a:schemeClr val="tx1"/>
                </a:solidFill>
              </a:rPr>
              <a:t> frame (North, East, Down)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err="1">
                <a:ln>
                  <a:noFill/>
                </a:ln>
                <a:solidFill>
                  <a:schemeClr val="tx1"/>
                </a:solidFill>
                <a:effectLst/>
                <a:latin typeface="Arial Unicode MS"/>
              </a:rPr>
              <a:t>condition_yaw</a:t>
            </a:r>
            <a:r>
              <a:rPr kumimoji="0" lang="en-US" altLang="en-US" b="1" i="0" u="none" strike="noStrike" cap="none" normalizeH="0" baseline="0" dirty="0">
                <a:ln>
                  <a:noFill/>
                </a:ln>
                <a:solidFill>
                  <a:schemeClr val="tx1"/>
                </a:solidFill>
                <a:effectLst/>
                <a:latin typeface="Arial Unicode MS"/>
              </a:rPr>
              <a:t>(x)</a:t>
            </a:r>
            <a:r>
              <a:rPr kumimoji="0" lang="en-US" altLang="en-US" b="0" i="0" u="none" strike="noStrike" cap="none" normalizeH="0" baseline="0" dirty="0">
                <a:ln>
                  <a:noFill/>
                </a:ln>
                <a:solidFill>
                  <a:schemeClr val="tx1"/>
                </a:solidFill>
                <a:effectLst/>
              </a:rPr>
              <a:t>→ To rotate the drone to </a:t>
            </a:r>
            <a:r>
              <a:rPr kumimoji="0" lang="en-US" altLang="en-US" b="1" i="0" u="none" strike="noStrike" cap="none" normalizeH="0" baseline="0" dirty="0">
                <a:ln>
                  <a:noFill/>
                </a:ln>
                <a:solidFill>
                  <a:schemeClr val="tx1"/>
                </a:solidFill>
                <a:effectLst/>
              </a:rPr>
              <a:t>“x” </a:t>
            </a:r>
            <a:r>
              <a:rPr kumimoji="0" lang="en-US" altLang="en-US" i="0" u="none" strike="noStrike" cap="none" normalizeH="0" baseline="0" dirty="0">
                <a:ln>
                  <a:noFill/>
                </a:ln>
                <a:solidFill>
                  <a:schemeClr val="tx1"/>
                </a:solidFill>
                <a:effectLst/>
              </a:rPr>
              <a:t>degrees in the clockwise direction</a:t>
            </a:r>
            <a:r>
              <a:rPr kumimoji="0" lang="en-US" altLang="en-US"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err="1">
                <a:ln>
                  <a:noFill/>
                </a:ln>
                <a:solidFill>
                  <a:schemeClr val="tx1"/>
                </a:solidFill>
                <a:effectLst/>
                <a:latin typeface="Arial Unicode MS"/>
              </a:rPr>
              <a:t>VehicleMode</a:t>
            </a:r>
            <a:r>
              <a:rPr kumimoji="0" lang="en-US" altLang="en-US" b="1" i="0" u="none" strike="noStrike" cap="none" normalizeH="0" baseline="0" dirty="0">
                <a:ln>
                  <a:noFill/>
                </a:ln>
                <a:solidFill>
                  <a:schemeClr val="tx1"/>
                </a:solidFill>
                <a:effectLst/>
                <a:latin typeface="Arial Unicode MS"/>
              </a:rPr>
              <a:t>(“LAND“) </a:t>
            </a:r>
            <a:r>
              <a:rPr kumimoji="0" lang="en-US" altLang="en-US" b="0" i="0" u="none" strike="noStrike" cap="none" normalizeH="0" baseline="0" dirty="0">
                <a:ln>
                  <a:noFill/>
                </a:ln>
                <a:solidFill>
                  <a:schemeClr val="tx1"/>
                </a:solidFill>
                <a:effectLst/>
              </a:rPr>
              <a:t>→ To </a:t>
            </a:r>
            <a:r>
              <a:rPr lang="en-US" altLang="en-US" dirty="0">
                <a:solidFill>
                  <a:schemeClr val="tx1"/>
                </a:solidFill>
              </a:rPr>
              <a:t>land the drone at the current position. </a:t>
            </a:r>
            <a:endParaRPr kumimoji="0" lang="en-US" altLang="en-US"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rPr>
              <a:t>[Ex: </a:t>
            </a:r>
            <a:r>
              <a:rPr kumimoji="0" lang="en-US" altLang="en-US" b="1" i="1" u="none" strike="noStrike" cap="none" normalizeH="0" baseline="0" dirty="0" err="1">
                <a:ln>
                  <a:noFill/>
                </a:ln>
                <a:solidFill>
                  <a:schemeClr val="tx1"/>
                </a:solidFill>
                <a:effectLst/>
              </a:rPr>
              <a:t>vehicle.mode</a:t>
            </a:r>
            <a:r>
              <a:rPr kumimoji="0" lang="en-US" altLang="en-US" b="1" i="1" u="none" strike="noStrike" cap="none" normalizeH="0" baseline="0" dirty="0">
                <a:ln>
                  <a:noFill/>
                </a:ln>
                <a:solidFill>
                  <a:schemeClr val="tx1"/>
                </a:solidFill>
                <a:effectLst/>
              </a:rPr>
              <a:t> = </a:t>
            </a:r>
            <a:r>
              <a:rPr kumimoji="0" lang="en-US" altLang="en-US" b="1" i="1" u="none" strike="noStrike" cap="none" normalizeH="0" baseline="0" dirty="0" err="1">
                <a:ln>
                  <a:noFill/>
                </a:ln>
                <a:solidFill>
                  <a:schemeClr val="tx1"/>
                </a:solidFill>
                <a:effectLst/>
              </a:rPr>
              <a:t>VehicleMode</a:t>
            </a:r>
            <a:r>
              <a:rPr kumimoji="0" lang="en-US" altLang="en-US" b="1" i="1" u="none" strike="noStrike" cap="none" normalizeH="0" baseline="0" dirty="0">
                <a:ln>
                  <a:noFill/>
                </a:ln>
                <a:solidFill>
                  <a:schemeClr val="tx1"/>
                </a:solidFill>
                <a:effectLst/>
              </a:rPr>
              <a:t>(“LAND”)</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algn="l" rtl="0"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Unicode MS"/>
              </a:rPr>
              <a:t> </a:t>
            </a:r>
            <a:r>
              <a:rPr kumimoji="0" lang="en-US" altLang="en-US" b="1" i="0" u="none" strike="noStrike" cap="none" normalizeH="0" baseline="0" dirty="0">
                <a:ln>
                  <a:noFill/>
                </a:ln>
                <a:solidFill>
                  <a:schemeClr val="tx1"/>
                </a:solidFill>
                <a:effectLst/>
                <a:latin typeface="Arial Unicode MS"/>
              </a:rPr>
              <a:t>___.</a:t>
            </a:r>
            <a:r>
              <a:rPr kumimoji="0" lang="en-US" altLang="en-US" b="1" i="0" u="none" strike="noStrike" cap="none" normalizeH="0" baseline="0" dirty="0" err="1">
                <a:ln>
                  <a:noFill/>
                </a:ln>
                <a:solidFill>
                  <a:schemeClr val="tx1"/>
                </a:solidFill>
                <a:effectLst/>
                <a:latin typeface="Arial Unicode MS"/>
              </a:rPr>
              <a:t>simple_goto</a:t>
            </a:r>
            <a:r>
              <a:rPr kumimoji="0" lang="en-US" altLang="en-US" b="1" i="0" u="none" strike="noStrike" cap="none" normalizeH="0" baseline="0" dirty="0">
                <a:ln>
                  <a:noFill/>
                </a:ln>
                <a:solidFill>
                  <a:schemeClr val="tx1"/>
                </a:solidFill>
                <a:effectLst/>
                <a:latin typeface="Arial Unicode MS"/>
              </a:rPr>
              <a:t>(</a:t>
            </a:r>
            <a:r>
              <a:rPr kumimoji="0" lang="en-US" altLang="en-US" b="1" i="0" u="none" strike="noStrike" cap="none" normalizeH="0" baseline="0" dirty="0" err="1">
                <a:ln>
                  <a:noFill/>
                </a:ln>
                <a:solidFill>
                  <a:schemeClr val="tx1"/>
                </a:solidFill>
                <a:effectLst/>
                <a:latin typeface="Arial Unicode MS"/>
              </a:rPr>
              <a:t>LocationGlobalRelative</a:t>
            </a:r>
            <a:r>
              <a:rPr kumimoji="0" lang="en-US" altLang="en-US" b="1" i="0" u="none" strike="noStrike" cap="none" normalizeH="0" baseline="0" dirty="0">
                <a:ln>
                  <a:noFill/>
                </a:ln>
                <a:solidFill>
                  <a:schemeClr val="tx1"/>
                </a:solidFill>
                <a:effectLst/>
                <a:latin typeface="Arial Unicode MS"/>
              </a:rPr>
              <a:t>( </a:t>
            </a:r>
            <a:r>
              <a:rPr kumimoji="0" lang="en-US" altLang="en-US" b="1" i="0" u="none" strike="noStrike" cap="none" normalizeH="0" baseline="0" dirty="0" err="1">
                <a:ln>
                  <a:noFill/>
                </a:ln>
                <a:solidFill>
                  <a:schemeClr val="tx1"/>
                </a:solidFill>
                <a:effectLst/>
                <a:latin typeface="Arial Unicode MS"/>
              </a:rPr>
              <a:t>lat</a:t>
            </a:r>
            <a:r>
              <a:rPr kumimoji="0" lang="en-US" altLang="en-US" b="1" i="0" u="none" strike="noStrike" cap="none" normalizeH="0" baseline="0" dirty="0">
                <a:ln>
                  <a:noFill/>
                </a:ln>
                <a:solidFill>
                  <a:schemeClr val="tx1"/>
                </a:solidFill>
                <a:effectLst/>
                <a:latin typeface="Arial Unicode MS"/>
              </a:rPr>
              <a:t> , </a:t>
            </a:r>
            <a:r>
              <a:rPr kumimoji="0" lang="en-US" altLang="en-US" b="1" i="0" u="none" strike="noStrike" cap="none" normalizeH="0" baseline="0" dirty="0" err="1">
                <a:ln>
                  <a:noFill/>
                </a:ln>
                <a:solidFill>
                  <a:schemeClr val="tx1"/>
                </a:solidFill>
                <a:effectLst/>
                <a:latin typeface="Arial Unicode MS"/>
              </a:rPr>
              <a:t>lon</a:t>
            </a:r>
            <a:r>
              <a:rPr kumimoji="0" lang="en-US" altLang="en-US" b="1" i="0" u="none" strike="noStrike" cap="none" normalizeH="0" baseline="0" dirty="0">
                <a:ln>
                  <a:noFill/>
                </a:ln>
                <a:solidFill>
                  <a:schemeClr val="tx1"/>
                </a:solidFill>
                <a:effectLst/>
                <a:latin typeface="Arial Unicode MS"/>
              </a:rPr>
              <a:t> , alt ))</a:t>
            </a:r>
            <a:r>
              <a:rPr kumimoji="0" lang="en-US" altLang="en-US" b="0" i="0" u="none" strike="noStrike" cap="none" normalizeH="0" baseline="0" dirty="0">
                <a:ln>
                  <a:noFill/>
                </a:ln>
                <a:solidFill>
                  <a:schemeClr val="tx1"/>
                </a:solidFill>
                <a:effectLst/>
              </a:rPr>
              <a:t>→ To fly the drone to a GPS location.</a:t>
            </a:r>
          </a:p>
          <a:p>
            <a:pPr algn="ctr" rtl="0" eaLnBrk="0" fontAlgn="base" hangingPunct="0">
              <a:spcBef>
                <a:spcPct val="0"/>
              </a:spcBef>
              <a:spcAft>
                <a:spcPct val="0"/>
              </a:spcAft>
            </a:pPr>
            <a:r>
              <a:rPr kumimoji="0" lang="en-US" altLang="en-US" b="0" i="0" u="none" strike="noStrike" cap="none" normalizeH="0" baseline="0" dirty="0">
                <a:ln>
                  <a:noFill/>
                </a:ln>
                <a:solidFill>
                  <a:schemeClr val="tx1"/>
                </a:solidFill>
                <a:effectLst/>
              </a:rPr>
              <a:t>[Ex: </a:t>
            </a:r>
            <a:r>
              <a:rPr lang="en-US" b="1" i="1" dirty="0" err="1"/>
              <a:t>vehicle.simple_goto</a:t>
            </a:r>
            <a:r>
              <a:rPr lang="en-US" b="1" i="1" dirty="0"/>
              <a:t>(</a:t>
            </a:r>
            <a:r>
              <a:rPr lang="en-US" b="1" i="1" dirty="0" err="1"/>
              <a:t>LocationGlobalRelative</a:t>
            </a:r>
            <a:r>
              <a:rPr lang="en-US" b="1" i="1" dirty="0"/>
              <a:t>(-35.363261, 149.165230, 2))</a:t>
            </a:r>
            <a:r>
              <a:rPr kumimoji="0" lang="en-US" altLang="en-US" b="0" i="1" u="none" strike="noStrike" cap="none" normalizeH="0" baseline="0" dirty="0">
                <a:ln>
                  <a:noFill/>
                </a:ln>
                <a:solidFill>
                  <a:schemeClr val="tx1"/>
                </a:solidFill>
                <a:effectLst/>
              </a:rPr>
              <a:t>]</a:t>
            </a:r>
            <a:endParaRPr kumimoji="0" lang="en-US" altLang="en-US" b="0" i="1"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 </a:t>
            </a:r>
            <a:r>
              <a:rPr lang="en-US" altLang="en-US" b="1" dirty="0">
                <a:solidFill>
                  <a:schemeClr val="tx1"/>
                </a:solidFill>
                <a:latin typeface="Arial Unicode MS"/>
              </a:rPr>
              <a:t>___</a:t>
            </a:r>
            <a:r>
              <a:rPr kumimoji="0" lang="en-US" altLang="en-US" b="1" i="0" u="none" strike="noStrike" cap="none" normalizeH="0" baseline="0" dirty="0">
                <a:ln>
                  <a:noFill/>
                </a:ln>
                <a:solidFill>
                  <a:schemeClr val="tx1"/>
                </a:solidFill>
                <a:effectLst/>
                <a:latin typeface="Arial Unicode MS"/>
              </a:rPr>
              <a:t>.</a:t>
            </a:r>
            <a:r>
              <a:rPr kumimoji="0" lang="en-US" altLang="en-US" b="1" i="0" u="none" strike="noStrike" cap="none" normalizeH="0" baseline="0" dirty="0" err="1">
                <a:ln>
                  <a:noFill/>
                </a:ln>
                <a:solidFill>
                  <a:schemeClr val="tx1"/>
                </a:solidFill>
                <a:effectLst/>
                <a:latin typeface="Arial Unicode MS"/>
              </a:rPr>
              <a:t>location.global_frame</a:t>
            </a:r>
            <a:r>
              <a:rPr lang="en-US" altLang="en-US" b="1" dirty="0">
                <a:solidFill>
                  <a:schemeClr val="tx1"/>
                </a:solidFill>
                <a:latin typeface="Arial Unicode MS"/>
              </a:rPr>
              <a:t> </a:t>
            </a:r>
            <a:r>
              <a:rPr kumimoji="0" lang="en-US" altLang="en-US" b="0" i="0" u="none" strike="noStrike" cap="none" normalizeH="0" baseline="0" dirty="0">
                <a:ln>
                  <a:noFill/>
                </a:ln>
                <a:solidFill>
                  <a:schemeClr val="tx1"/>
                </a:solidFill>
                <a:effectLst/>
              </a:rPr>
              <a:t>→ To get the GPS coordinates of the drone in latitude, longitude and altitude order.</a:t>
            </a:r>
          </a:p>
          <a:p>
            <a:pPr algn="ctr" rtl="0" eaLnBrk="0" fontAlgn="base" hangingPunct="0">
              <a:spcBef>
                <a:spcPct val="0"/>
              </a:spcBef>
              <a:spcAft>
                <a:spcPct val="0"/>
              </a:spcAft>
            </a:pPr>
            <a:r>
              <a:rPr kumimoji="0" lang="en-US" altLang="en-US" b="0" i="0" u="none" strike="noStrike" cap="none" normalizeH="0" baseline="0" dirty="0">
                <a:ln>
                  <a:noFill/>
                </a:ln>
                <a:solidFill>
                  <a:schemeClr val="tx1"/>
                </a:solidFill>
                <a:effectLst/>
              </a:rPr>
              <a:t>[Ex: </a:t>
            </a:r>
            <a:r>
              <a:rPr kumimoji="0" lang="en-US" altLang="en-US" b="1" i="1" u="none" strike="noStrike" cap="none" normalizeH="0" baseline="0" dirty="0" err="1">
                <a:ln>
                  <a:noFill/>
                </a:ln>
                <a:solidFill>
                  <a:schemeClr val="tx1"/>
                </a:solidFill>
                <a:effectLst/>
              </a:rPr>
              <a:t>lat</a:t>
            </a:r>
            <a:r>
              <a:rPr kumimoji="0" lang="en-US" altLang="en-US" b="1" i="1" u="none" strike="noStrike" cap="none" normalizeH="0" baseline="0" dirty="0">
                <a:ln>
                  <a:noFill/>
                </a:ln>
                <a:solidFill>
                  <a:schemeClr val="tx1"/>
                </a:solidFill>
                <a:effectLst/>
              </a:rPr>
              <a:t> , </a:t>
            </a:r>
            <a:r>
              <a:rPr kumimoji="0" lang="en-US" altLang="en-US" b="1" i="1" u="none" strike="noStrike" cap="none" normalizeH="0" baseline="0" dirty="0" err="1">
                <a:ln>
                  <a:noFill/>
                </a:ln>
                <a:solidFill>
                  <a:schemeClr val="tx1"/>
                </a:solidFill>
                <a:effectLst/>
              </a:rPr>
              <a:t>lon</a:t>
            </a:r>
            <a:r>
              <a:rPr kumimoji="0" lang="en-US" altLang="en-US" b="1" i="1" u="none" strike="noStrike" cap="none" normalizeH="0" baseline="0" dirty="0">
                <a:ln>
                  <a:noFill/>
                </a:ln>
                <a:solidFill>
                  <a:schemeClr val="tx1"/>
                </a:solidFill>
                <a:effectLst/>
              </a:rPr>
              <a:t> , alt = </a:t>
            </a:r>
            <a:r>
              <a:rPr lang="en-US" b="1" i="1" dirty="0" err="1"/>
              <a:t>vehicle.location.global_frame</a:t>
            </a:r>
            <a:r>
              <a:rPr kumimoji="0" lang="en-US" altLang="en-US" b="0" i="1" u="none" strike="noStrike" cap="none" normalizeH="0" baseline="0" dirty="0">
                <a:ln>
                  <a:noFill/>
                </a:ln>
                <a:solidFill>
                  <a:schemeClr val="tx1"/>
                </a:solidFill>
                <a:effectLst/>
              </a:rPr>
              <a:t>]</a:t>
            </a:r>
            <a:endParaRPr kumimoji="0" lang="en-US" altLang="en-US" b="0" i="1"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dirty="0">
                <a:solidFill>
                  <a:schemeClr val="tx1"/>
                </a:solidFill>
                <a:latin typeface="Arial Unicode MS"/>
              </a:rPr>
              <a:t>___</a:t>
            </a:r>
            <a:r>
              <a:rPr kumimoji="0" lang="en-US" altLang="en-US" b="1" i="0" u="none" strike="noStrike" cap="none" normalizeH="0" baseline="0" dirty="0">
                <a:ln>
                  <a:noFill/>
                </a:ln>
                <a:solidFill>
                  <a:schemeClr val="tx1"/>
                </a:solidFill>
                <a:effectLst/>
                <a:latin typeface="Arial Unicode MS"/>
              </a:rPr>
              <a:t>.battery</a:t>
            </a:r>
            <a:r>
              <a:rPr kumimoji="0" lang="en-US" altLang="en-US" b="0" i="0" u="none" strike="noStrike" cap="none" normalizeH="0" baseline="0" dirty="0">
                <a:ln>
                  <a:noFill/>
                </a:ln>
                <a:solidFill>
                  <a:schemeClr val="tx1"/>
                </a:solidFill>
                <a:effectLst/>
              </a:rPr>
              <a:t>→ To get the drone’s power information.</a:t>
            </a:r>
          </a:p>
          <a:p>
            <a:pPr algn="ctr" rtl="0" eaLnBrk="0" fontAlgn="base" hangingPunct="0">
              <a:spcBef>
                <a:spcPct val="0"/>
              </a:spcBef>
              <a:spcAft>
                <a:spcPct val="0"/>
              </a:spcAft>
            </a:pPr>
            <a:r>
              <a:rPr kumimoji="0" lang="en-US" altLang="en-US" b="0" i="0" u="none" strike="noStrike" cap="none" normalizeH="0" baseline="0" dirty="0">
                <a:ln>
                  <a:noFill/>
                </a:ln>
                <a:solidFill>
                  <a:schemeClr val="tx1"/>
                </a:solidFill>
                <a:effectLst/>
              </a:rPr>
              <a:t>[Ex output: </a:t>
            </a:r>
            <a:r>
              <a:rPr kumimoji="0" lang="en-US" altLang="en-US" b="1" i="1" u="none" strike="noStrike" cap="none" normalizeH="0" baseline="0" dirty="0">
                <a:ln>
                  <a:noFill/>
                </a:ln>
                <a:solidFill>
                  <a:schemeClr val="tx1"/>
                </a:solidFill>
                <a:effectLst/>
              </a:rPr>
              <a:t>Battery(voltage=11.4,current=0.5,level=87)</a:t>
            </a:r>
            <a:r>
              <a:rPr kumimoji="0" lang="en-US" altLang="en-US" b="0" i="1" u="none" strike="noStrike" cap="none" normalizeH="0" baseline="0" dirty="0">
                <a:ln>
                  <a:noFill/>
                </a:ln>
                <a:solidFill>
                  <a:schemeClr val="tx1"/>
                </a:solidFill>
                <a:effectLst/>
              </a:rPr>
              <a:t>]</a:t>
            </a:r>
            <a:endParaRPr kumimoji="0" lang="en-US" altLang="en-US" b="0" i="1"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006077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07E56-4774-F44C-38A7-F4190B320F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32EBD-250C-9B64-C320-C668CACB01EA}"/>
              </a:ext>
            </a:extLst>
          </p:cNvPr>
          <p:cNvSpPr>
            <a:spLocks noGrp="1"/>
          </p:cNvSpPr>
          <p:nvPr>
            <p:ph type="title"/>
          </p:nvPr>
        </p:nvSpPr>
        <p:spPr>
          <a:xfrm>
            <a:off x="381000" y="754380"/>
            <a:ext cx="9343567" cy="430887"/>
          </a:xfrm>
        </p:spPr>
        <p:txBody>
          <a:bodyPr/>
          <a:lstStyle/>
          <a:p>
            <a:r>
              <a:rPr lang="en-IN" dirty="0"/>
              <a:t>Drone Control &amp; Autonomy - </a:t>
            </a:r>
            <a:r>
              <a:rPr lang="en-IN" dirty="0" err="1"/>
              <a:t>dronekit</a:t>
            </a:r>
            <a:endParaRPr lang="en-IN" dirty="0"/>
          </a:p>
        </p:txBody>
      </p:sp>
      <p:sp>
        <p:nvSpPr>
          <p:cNvPr id="3" name="Text Placeholder 2">
            <a:extLst>
              <a:ext uri="{FF2B5EF4-FFF2-40B4-BE49-F238E27FC236}">
                <a16:creationId xmlns:a16="http://schemas.microsoft.com/office/drawing/2014/main" id="{4D15073D-708D-A8F6-0C78-AB00C1980ABB}"/>
              </a:ext>
            </a:extLst>
          </p:cNvPr>
          <p:cNvSpPr>
            <a:spLocks noGrp="1"/>
          </p:cNvSpPr>
          <p:nvPr>
            <p:ph type="body" idx="1"/>
          </p:nvPr>
        </p:nvSpPr>
        <p:spPr>
          <a:xfrm>
            <a:off x="344010" y="1600200"/>
            <a:ext cx="11582400" cy="861774"/>
          </a:xfrm>
        </p:spPr>
        <p:txBody>
          <a:bodyPr/>
          <a:lstStyle/>
          <a:p>
            <a:pPr algn="l"/>
            <a:r>
              <a:rPr lang="en-US" sz="2000" b="1" u="sng" dirty="0"/>
              <a:t>Dronekit</a:t>
            </a:r>
            <a:r>
              <a:rPr lang="en-US" sz="2000" b="1" dirty="0"/>
              <a:t>: </a:t>
            </a:r>
            <a:r>
              <a:rPr lang="en-US" dirty="0"/>
              <a:t>This library has few functions that will be used heavily for drone control.</a:t>
            </a:r>
          </a:p>
          <a:p>
            <a:pPr algn="l"/>
            <a:endParaRPr lang="en-US" dirty="0"/>
          </a:p>
          <a:p>
            <a:pPr algn="l"/>
            <a:r>
              <a:rPr lang="en-US" dirty="0"/>
              <a:t> </a:t>
            </a:r>
            <a:endParaRPr lang="en-US" i="1" dirty="0">
              <a:solidFill>
                <a:srgbClr val="0000FF"/>
              </a:solidFill>
            </a:endParaRPr>
          </a:p>
        </p:txBody>
      </p:sp>
      <p:sp>
        <p:nvSpPr>
          <p:cNvPr id="4" name="TextBox 3">
            <a:extLst>
              <a:ext uri="{FF2B5EF4-FFF2-40B4-BE49-F238E27FC236}">
                <a16:creationId xmlns:a16="http://schemas.microsoft.com/office/drawing/2014/main" id="{F2D4B940-D8A9-41E8-8C58-1C13449F2CC8}"/>
              </a:ext>
            </a:extLst>
          </p:cNvPr>
          <p:cNvSpPr txBox="1"/>
          <p:nvPr/>
        </p:nvSpPr>
        <p:spPr>
          <a:xfrm>
            <a:off x="304800" y="2250281"/>
            <a:ext cx="11811000" cy="1477328"/>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sym typeface="Wingdings" panose="05000000000000000000" pitchFamily="2" charset="2"/>
              </a:rPr>
              <a:t> </a:t>
            </a:r>
            <a:r>
              <a:rPr kumimoji="0" lang="en-US" altLang="en-US" b="1" i="0" u="none" strike="noStrike" cap="none" normalizeH="0" baseline="0" dirty="0">
                <a:ln>
                  <a:noFill/>
                </a:ln>
                <a:solidFill>
                  <a:schemeClr val="tx1"/>
                </a:solidFill>
                <a:effectLst/>
                <a:latin typeface="Arial Unicode MS"/>
                <a:sym typeface="Wingdings" panose="05000000000000000000" pitchFamily="2" charset="2"/>
              </a:rPr>
              <a:t>___.</a:t>
            </a:r>
            <a:r>
              <a:rPr kumimoji="0" lang="en-US" altLang="en-US" b="1" i="0" u="none" strike="noStrike" cap="none" normalizeH="0" baseline="0" dirty="0" err="1">
                <a:ln>
                  <a:noFill/>
                </a:ln>
                <a:solidFill>
                  <a:schemeClr val="tx1"/>
                </a:solidFill>
                <a:effectLst/>
                <a:latin typeface="Arial Unicode MS"/>
                <a:sym typeface="Wingdings" panose="05000000000000000000" pitchFamily="2" charset="2"/>
              </a:rPr>
              <a:t>attitude.xyz</a:t>
            </a:r>
            <a:r>
              <a:rPr kumimoji="0" lang="en-US" altLang="en-US" b="0" i="0" u="none" strike="noStrike" cap="none" normalizeH="0" baseline="0" dirty="0">
                <a:ln>
                  <a:noFill/>
                </a:ln>
                <a:solidFill>
                  <a:schemeClr val="tx1"/>
                </a:solidFill>
                <a:effectLst/>
              </a:rPr>
              <a:t>→ To get the attitude details of the drone </a:t>
            </a:r>
            <a:r>
              <a:rPr lang="en-US" altLang="en-US" dirty="0">
                <a:solidFill>
                  <a:schemeClr val="tx1"/>
                </a:solidFill>
              </a:rPr>
              <a:t>(Roll, Pitch, Yaw)</a:t>
            </a:r>
          </a:p>
          <a:p>
            <a:pPr algn="ctr" rtl="0" eaLnBrk="0" fontAlgn="base" hangingPunct="0">
              <a:spcBef>
                <a:spcPct val="0"/>
              </a:spcBef>
              <a:spcAft>
                <a:spcPct val="0"/>
              </a:spcAft>
            </a:pPr>
            <a:r>
              <a:rPr kumimoji="0" lang="en-US" altLang="en-US" b="0" i="0" u="none" strike="noStrike" cap="none" normalizeH="0" baseline="0" dirty="0">
                <a:ln>
                  <a:noFill/>
                </a:ln>
                <a:solidFill>
                  <a:schemeClr val="tx1"/>
                </a:solidFill>
                <a:effectLst/>
              </a:rPr>
              <a:t>[Ex: </a:t>
            </a:r>
            <a:r>
              <a:rPr lang="en-US" altLang="en-US" b="1" i="1" dirty="0">
                <a:solidFill>
                  <a:schemeClr val="tx1"/>
                </a:solidFill>
              </a:rPr>
              <a:t>roll = </a:t>
            </a:r>
            <a:r>
              <a:rPr kumimoji="0" lang="en-US" altLang="en-US" b="1" i="1" u="none" strike="noStrike" cap="none" normalizeH="0" baseline="0" dirty="0" err="1">
                <a:ln>
                  <a:noFill/>
                </a:ln>
                <a:solidFill>
                  <a:schemeClr val="tx1"/>
                </a:solidFill>
                <a:effectLst/>
              </a:rPr>
              <a:t>vehicle.</a:t>
            </a:r>
            <a:r>
              <a:rPr lang="en-US" altLang="en-US" b="1" i="1" dirty="0" err="1">
                <a:solidFill>
                  <a:schemeClr val="tx1"/>
                </a:solidFill>
              </a:rPr>
              <a:t>attitude.roll</a:t>
            </a:r>
            <a:r>
              <a:rPr kumimoji="0" lang="en-US" altLang="en-US" b="0" i="0" u="none" strike="noStrike" cap="none" normalizeH="0" baseline="0" dirty="0">
                <a:ln>
                  <a:noFill/>
                </a:ln>
                <a:solidFill>
                  <a:schemeClr val="tx1"/>
                </a:solidFill>
                <a:effectLst/>
              </a:rPr>
              <a:t>]</a:t>
            </a:r>
          </a:p>
          <a:p>
            <a:pPr algn="ctr" rtl="0" eaLnBrk="0" fontAlgn="base" hangingPunct="0">
              <a:spcBef>
                <a:spcPct val="0"/>
              </a:spcBef>
              <a:spcAft>
                <a:spcPct val="0"/>
              </a:spcAft>
            </a:pPr>
            <a:r>
              <a:rPr kumimoji="0" lang="en-US" altLang="en-US" b="0" i="0" u="none" strike="noStrike" cap="none" normalizeH="0" baseline="0" dirty="0">
                <a:ln>
                  <a:noFill/>
                </a:ln>
                <a:solidFill>
                  <a:schemeClr val="tx1"/>
                </a:solidFill>
                <a:effectLst/>
              </a:rPr>
              <a:t>[Ex: </a:t>
            </a:r>
            <a:r>
              <a:rPr lang="en-US" altLang="en-US" b="1" i="1" dirty="0">
                <a:solidFill>
                  <a:schemeClr val="tx1"/>
                </a:solidFill>
              </a:rPr>
              <a:t>pitch = </a:t>
            </a:r>
            <a:r>
              <a:rPr kumimoji="0" lang="en-US" altLang="en-US" b="1" i="1" u="none" strike="noStrike" cap="none" normalizeH="0" baseline="0" dirty="0" err="1">
                <a:ln>
                  <a:noFill/>
                </a:ln>
                <a:solidFill>
                  <a:schemeClr val="tx1"/>
                </a:solidFill>
                <a:effectLst/>
              </a:rPr>
              <a:t>vehicle.</a:t>
            </a:r>
            <a:r>
              <a:rPr lang="en-US" altLang="en-US" b="1" i="1" dirty="0" err="1">
                <a:solidFill>
                  <a:schemeClr val="tx1"/>
                </a:solidFill>
              </a:rPr>
              <a:t>attitude.pitch</a:t>
            </a:r>
            <a:r>
              <a:rPr kumimoji="0" lang="en-US" altLang="en-US" b="0" i="0" u="none" strike="noStrike" cap="none" normalizeH="0" baseline="0" dirty="0">
                <a:ln>
                  <a:noFill/>
                </a:ln>
                <a:solidFill>
                  <a:schemeClr val="tx1"/>
                </a:solidFill>
                <a:effectLst/>
              </a:rPr>
              <a:t>]</a:t>
            </a:r>
          </a:p>
          <a:p>
            <a:pPr algn="ctr" rtl="0" eaLnBrk="0" fontAlgn="base" hangingPunct="0">
              <a:spcBef>
                <a:spcPct val="0"/>
              </a:spcBef>
              <a:spcAft>
                <a:spcPct val="0"/>
              </a:spcAft>
            </a:pPr>
            <a:r>
              <a:rPr kumimoji="0" lang="en-US" altLang="en-US" b="0" i="0" u="none" strike="noStrike" cap="none" normalizeH="0" baseline="0" dirty="0">
                <a:ln>
                  <a:noFill/>
                </a:ln>
                <a:solidFill>
                  <a:schemeClr val="tx1"/>
                </a:solidFill>
                <a:effectLst/>
              </a:rPr>
              <a:t>[Ex: </a:t>
            </a:r>
            <a:r>
              <a:rPr lang="en-US" altLang="en-US" b="1" i="1" dirty="0">
                <a:solidFill>
                  <a:schemeClr val="tx1"/>
                </a:solidFill>
              </a:rPr>
              <a:t>yaw = </a:t>
            </a:r>
            <a:r>
              <a:rPr kumimoji="0" lang="en-US" altLang="en-US" b="1" i="1" u="none" strike="noStrike" cap="none" normalizeH="0" baseline="0" dirty="0" err="1">
                <a:ln>
                  <a:noFill/>
                </a:ln>
                <a:solidFill>
                  <a:schemeClr val="tx1"/>
                </a:solidFill>
                <a:effectLst/>
              </a:rPr>
              <a:t>vehicle.</a:t>
            </a:r>
            <a:r>
              <a:rPr lang="en-US" altLang="en-US" b="1" i="1" dirty="0" err="1">
                <a:solidFill>
                  <a:schemeClr val="tx1"/>
                </a:solidFill>
              </a:rPr>
              <a:t>attitude.yaw</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532356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1665286d-7d6c-42a6-808a-cdde5b84478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9EBA03CFCA60E4C8C9E595285D92076" ma:contentTypeVersion="11" ma:contentTypeDescription="Create a new document." ma:contentTypeScope="" ma:versionID="56d17bc2f4479e7bc1d986f8921854f5">
  <xsd:schema xmlns:xsd="http://www.w3.org/2001/XMLSchema" xmlns:xs="http://www.w3.org/2001/XMLSchema" xmlns:p="http://schemas.microsoft.com/office/2006/metadata/properties" xmlns:ns3="1665286d-7d6c-42a6-808a-cdde5b844789" targetNamespace="http://schemas.microsoft.com/office/2006/metadata/properties" ma:root="true" ma:fieldsID="ba7b09c72afb431bff26738b381db975" ns3:_="">
    <xsd:import namespace="1665286d-7d6c-42a6-808a-cdde5b844789"/>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SystemTags" minOccurs="0"/>
                <xsd:element ref="ns3:MediaServiceGenerationTime" minOccurs="0"/>
                <xsd:element ref="ns3:MediaServiceEventHashCode" minOccurs="0"/>
                <xsd:element ref="ns3:MediaServiceOCR" minOccurs="0"/>
                <xsd:element ref="ns3:MediaLengthInSecond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65286d-7d6c-42a6-808a-cdde5b8447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MediaLengthInSeconds" ma:hidden="true" ma:internalName="MediaLengthInSeconds" ma:readOnly="true">
      <xsd:simpleType>
        <xsd:restriction base="dms:Unknown"/>
      </xsd:simpleType>
    </xsd:element>
    <xsd:element name="_activity" ma:index="18"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AE8E61-98E7-49FE-8FEC-66C83EA2E687}">
  <ds:schemaRefs>
    <ds:schemaRef ds:uri="http://schemas.microsoft.com/sharepoint/v3/contenttype/forms"/>
  </ds:schemaRefs>
</ds:datastoreItem>
</file>

<file path=customXml/itemProps2.xml><?xml version="1.0" encoding="utf-8"?>
<ds:datastoreItem xmlns:ds="http://schemas.openxmlformats.org/officeDocument/2006/customXml" ds:itemID="{47AEF2D8-4033-4271-AEB7-BA242EE64B51}">
  <ds:schemaRefs>
    <ds:schemaRef ds:uri="http://schemas.microsoft.com/office/2006/metadata/properties"/>
    <ds:schemaRef ds:uri="http://www.w3.org/XML/1998/namespace"/>
    <ds:schemaRef ds:uri="http://schemas.microsoft.com/office/2006/documentManagement/types"/>
    <ds:schemaRef ds:uri="http://schemas.microsoft.com/office/infopath/2007/PartnerControls"/>
    <ds:schemaRef ds:uri="http://purl.org/dc/terms/"/>
    <ds:schemaRef ds:uri="http://purl.org/dc/elements/1.1/"/>
    <ds:schemaRef ds:uri="http://schemas.openxmlformats.org/package/2006/metadata/core-properties"/>
    <ds:schemaRef ds:uri="1665286d-7d6c-42a6-808a-cdde5b844789"/>
    <ds:schemaRef ds:uri="http://purl.org/dc/dcmitype/"/>
  </ds:schemaRefs>
</ds:datastoreItem>
</file>

<file path=customXml/itemProps3.xml><?xml version="1.0" encoding="utf-8"?>
<ds:datastoreItem xmlns:ds="http://schemas.openxmlformats.org/officeDocument/2006/customXml" ds:itemID="{7AB67AF8-AC53-4929-BC43-3C25067026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65286d-7d6c-42a6-808a-cdde5b84478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13432</TotalTime>
  <Words>6059</Words>
  <Application>Microsoft Office PowerPoint</Application>
  <PresentationFormat>Widescreen</PresentationFormat>
  <Paragraphs>545</Paragraphs>
  <Slides>76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76</vt:i4>
      </vt:variant>
    </vt:vector>
  </HeadingPairs>
  <TitlesOfParts>
    <vt:vector size="84" baseType="lpstr">
      <vt:lpstr>Aptos</vt:lpstr>
      <vt:lpstr>Arial</vt:lpstr>
      <vt:lpstr>Arial MT</vt:lpstr>
      <vt:lpstr>Arial Unicode MS</vt:lpstr>
      <vt:lpstr>Calibri</vt:lpstr>
      <vt:lpstr>Verdana</vt:lpstr>
      <vt:lpstr>Wingdings</vt:lpstr>
      <vt:lpstr>Office Theme</vt:lpstr>
      <vt:lpstr>PowerPoint Presentation</vt:lpstr>
      <vt:lpstr>PowerPoint Presentation</vt:lpstr>
      <vt:lpstr>PowerPoint Presentation</vt:lpstr>
      <vt:lpstr>Artificial Intelligence in Drones</vt:lpstr>
      <vt:lpstr>Artificial Intelligence in Drones- Computer Vision</vt:lpstr>
      <vt:lpstr>Artificial Intelligence in Drones- Computer Vision</vt:lpstr>
      <vt:lpstr>Artificial Intelligence in Drones- Computer Vision</vt:lpstr>
      <vt:lpstr>Artificial Intelligence in Drones- Computer Vision</vt:lpstr>
      <vt:lpstr>Artificial Intelligence in Drones- Computer Vision</vt:lpstr>
      <vt:lpstr>Artificial Intelligence in Drones- Computer Vision</vt:lpstr>
      <vt:lpstr>Artificial Intelligence in Drones- Computer Vision</vt:lpstr>
      <vt:lpstr>Artificial Intelligence in Drones- Computer Vision</vt:lpstr>
      <vt:lpstr>Artificial Intelligence in Drones- Computer Vision</vt:lpstr>
      <vt:lpstr>Artificial Intelligence in Drones- Computer Vision</vt:lpstr>
      <vt:lpstr>Artificial Intelligence in Drones- Computer Vision</vt:lpstr>
      <vt:lpstr>Artificial Intelligence in Drones- Computer Vision</vt:lpstr>
      <vt:lpstr>Artificial Intelligence in Drones- Computer Vision</vt:lpstr>
      <vt:lpstr>Artificial Intelligence in Drones- Computer Vision</vt:lpstr>
      <vt:lpstr>Artificial Intelligence in Drones- Computer Vision</vt:lpstr>
      <vt:lpstr>Artificial Intelligence in Drones- Computer Vision</vt:lpstr>
      <vt:lpstr>Artificial Intelligence in Drones- Computer Vision</vt:lpstr>
      <vt:lpstr>Artificial Intelligence in Drones- Computer Vision</vt:lpstr>
      <vt:lpstr>Artificial Intelligence in Drones- Computer Vision</vt:lpstr>
      <vt:lpstr>Artificial Intelligence in Drones- Computer Vision</vt:lpstr>
      <vt:lpstr>Artificial Intelligence in Drones- Computer Vision</vt:lpstr>
      <vt:lpstr>PowerPoint Presentation</vt:lpstr>
      <vt:lpstr>Deep Learning in Drones –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Deep Learning in Drones- YOLOv8</vt:lpstr>
      <vt:lpstr>Drone Control &amp; Autonomy – dronekit</vt:lpstr>
      <vt:lpstr>Drone Control &amp; Autonomy – dronekit</vt:lpstr>
      <vt:lpstr>Drone Control &amp; Autonomy - dronekit</vt:lpstr>
      <vt:lpstr>Drone Control &amp; Autonomy - dronekit</vt:lpstr>
      <vt:lpstr>Drone Control &amp; Autonomy - dronekit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vinay chamola</dc:creator>
  <cp:lastModifiedBy>Hemanth YT kumar</cp:lastModifiedBy>
  <cp:revision>62</cp:revision>
  <dcterms:created xsi:type="dcterms:W3CDTF">2025-03-12T21:33:22Z</dcterms:created>
  <dcterms:modified xsi:type="dcterms:W3CDTF">2025-12-13T11:32:24Z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2023-01-20T00:00:00Z</vt:filetime>
  </property>
  <property fmtid="{D5CDD505-2E9C-101B-9397-08002B2CF9AE}" pid="3" name="Creator">
    <vt:lpwstr>Microsoft® PowerPoint® 2016</vt:lpwstr>
  </property>
  <property fmtid="{D5CDD505-2E9C-101B-9397-08002B2CF9AE}" pid="4" name="LastSaved">
    <vt:filetime>2025-03-12T00:00:00Z</vt:filetime>
  </property>
  <property fmtid="{D5CDD505-2E9C-101B-9397-08002B2CF9AE}" pid="5" name="Producer">
    <vt:lpwstr>Microsoft® PowerPoint® 2016</vt:lpwstr>
  </property>
  <property fmtid="{D5CDD505-2E9C-101B-9397-08002B2CF9AE}" pid="6" name="ContentTypeId">
    <vt:lpwstr>0x01010099EBA03CFCA60E4C8C9E595285D92076</vt:lpwstr>
  </property>
</Properties>
</file>