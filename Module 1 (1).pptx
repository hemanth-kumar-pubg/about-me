
<file path=[Content_Types].xml><?xml version="1.0" encoding="utf-8"?>
<Types xmlns="http://schemas.openxmlformats.org/package/2006/content-types">
  <Default Extension="bin" ContentType="image/unknown"/>
  <Default Extension="gif" ContentType="image/gif"/>
  <Default Extension="jfif" ContentType="image/jpeg"/>
  <Default Extension="jpeg" ContentType="image/jpeg"/>
  <Default Extension="jpg" ContentType="image/jp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1.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media/image54.jpg" ContentType="image/jpeg"/>
  <Override PartName="/ppt/media/image55.jpg" ContentType="image/jpeg"/>
  <Override PartName="/ppt/media/image62.jpg" ContentType="image/jpeg"/>
  <Override PartName="/ppt/media/image67.jpg" ContentType="image/jpeg"/>
  <Override PartName="/ppt/media/image70.jpg" ContentType="image/jpeg"/>
  <Override PartName="/ppt/media/image72.jpg" ContentType="image/jpeg"/>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media/image75.jpg" ContentType="image/jpeg"/>
  <Override PartName="/ppt/media/image77.jpg" ContentType="image/jpeg"/>
  <Override PartName="/ppt/ink/ink21.xml" ContentType="application/inkml+xml"/>
  <Override PartName="/ppt/media/image81.jpg" ContentType="image/jpeg"/>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media/image82.jpg" ContentType="image/jpeg"/>
  <Override PartName="/ppt/media/image86.jpg" ContentType="image/jpeg"/>
  <Override PartName="/ppt/media/image89.jpg" ContentType="image/jpeg"/>
  <Override PartName="/ppt/media/image94.jpg" ContentType="image/jpeg"/>
  <Override PartName="/ppt/media/image99.jpg" ContentType="image/jpeg"/>
  <Override PartName="/ppt/media/image100.jpg" ContentType="image/jpeg"/>
  <Override PartName="/ppt/media/image104.jpg" ContentType="image/jpeg"/>
  <Override PartName="/ppt/media/image106.jpg" ContentType="image/jpeg"/>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media/image112.jpg" ContentType="image/jpeg"/>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media/image117.jpg" ContentType="image/jpeg"/>
  <Override PartName="/ppt/media/image118.jpg" ContentType="image/jpeg"/>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10"/>
  </p:notesMasterIdLst>
  <p:sldIdLst>
    <p:sldId id="256" r:id="rId5"/>
    <p:sldId id="257" r:id="rId6"/>
    <p:sldId id="258" r:id="rId7"/>
    <p:sldId id="298" r:id="rId8"/>
    <p:sldId id="299" r:id="rId9"/>
    <p:sldId id="300" r:id="rId10"/>
    <p:sldId id="301" r:id="rId11"/>
    <p:sldId id="262" r:id="rId12"/>
    <p:sldId id="302" r:id="rId13"/>
    <p:sldId id="303" r:id="rId14"/>
    <p:sldId id="304" r:id="rId15"/>
    <p:sldId id="259" r:id="rId16"/>
    <p:sldId id="260" r:id="rId17"/>
    <p:sldId id="305" r:id="rId18"/>
    <p:sldId id="307" r:id="rId19"/>
    <p:sldId id="309" r:id="rId20"/>
    <p:sldId id="306" r:id="rId21"/>
    <p:sldId id="261" r:id="rId22"/>
    <p:sldId id="263" r:id="rId23"/>
    <p:sldId id="264" r:id="rId24"/>
    <p:sldId id="265" r:id="rId25"/>
    <p:sldId id="266" r:id="rId26"/>
    <p:sldId id="268" r:id="rId27"/>
    <p:sldId id="378" r:id="rId28"/>
    <p:sldId id="380" r:id="rId29"/>
    <p:sldId id="379" r:id="rId30"/>
    <p:sldId id="381" r:id="rId31"/>
    <p:sldId id="382" r:id="rId32"/>
    <p:sldId id="383" r:id="rId33"/>
    <p:sldId id="384" r:id="rId34"/>
    <p:sldId id="385" r:id="rId35"/>
    <p:sldId id="267" r:id="rId36"/>
    <p:sldId id="269" r:id="rId37"/>
    <p:sldId id="311" r:id="rId38"/>
    <p:sldId id="270" r:id="rId39"/>
    <p:sldId id="272" r:id="rId40"/>
    <p:sldId id="312" r:id="rId41"/>
    <p:sldId id="313" r:id="rId42"/>
    <p:sldId id="314" r:id="rId43"/>
    <p:sldId id="315" r:id="rId44"/>
    <p:sldId id="316" r:id="rId45"/>
    <p:sldId id="317" r:id="rId46"/>
    <p:sldId id="318" r:id="rId47"/>
    <p:sldId id="319" r:id="rId48"/>
    <p:sldId id="320" r:id="rId49"/>
    <p:sldId id="366" r:id="rId50"/>
    <p:sldId id="321" r:id="rId51"/>
    <p:sldId id="322" r:id="rId52"/>
    <p:sldId id="323" r:id="rId53"/>
    <p:sldId id="353" r:id="rId54"/>
    <p:sldId id="324" r:id="rId55"/>
    <p:sldId id="325" r:id="rId56"/>
    <p:sldId id="326" r:id="rId57"/>
    <p:sldId id="327" r:id="rId58"/>
    <p:sldId id="328" r:id="rId59"/>
    <p:sldId id="329" r:id="rId60"/>
    <p:sldId id="354" r:id="rId61"/>
    <p:sldId id="330" r:id="rId62"/>
    <p:sldId id="331" r:id="rId63"/>
    <p:sldId id="332" r:id="rId64"/>
    <p:sldId id="333" r:id="rId65"/>
    <p:sldId id="334" r:id="rId66"/>
    <p:sldId id="335" r:id="rId67"/>
    <p:sldId id="336" r:id="rId68"/>
    <p:sldId id="337" r:id="rId69"/>
    <p:sldId id="338" r:id="rId70"/>
    <p:sldId id="339" r:id="rId71"/>
    <p:sldId id="340" r:id="rId72"/>
    <p:sldId id="341" r:id="rId73"/>
    <p:sldId id="342" r:id="rId74"/>
    <p:sldId id="343" r:id="rId75"/>
    <p:sldId id="344" r:id="rId76"/>
    <p:sldId id="345" r:id="rId77"/>
    <p:sldId id="308" r:id="rId78"/>
    <p:sldId id="346" r:id="rId79"/>
    <p:sldId id="310" r:id="rId80"/>
    <p:sldId id="367" r:id="rId81"/>
    <p:sldId id="368" r:id="rId82"/>
    <p:sldId id="347" r:id="rId83"/>
    <p:sldId id="348" r:id="rId84"/>
    <p:sldId id="369" r:id="rId85"/>
    <p:sldId id="349" r:id="rId86"/>
    <p:sldId id="350" r:id="rId87"/>
    <p:sldId id="351" r:id="rId88"/>
    <p:sldId id="360" r:id="rId89"/>
    <p:sldId id="352" r:id="rId90"/>
    <p:sldId id="355" r:id="rId91"/>
    <p:sldId id="356" r:id="rId92"/>
    <p:sldId id="357" r:id="rId93"/>
    <p:sldId id="358" r:id="rId94"/>
    <p:sldId id="359" r:id="rId95"/>
    <p:sldId id="361" r:id="rId96"/>
    <p:sldId id="376" r:id="rId97"/>
    <p:sldId id="377" r:id="rId98"/>
    <p:sldId id="362" r:id="rId99"/>
    <p:sldId id="363" r:id="rId100"/>
    <p:sldId id="364" r:id="rId101"/>
    <p:sldId id="365" r:id="rId102"/>
    <p:sldId id="271" r:id="rId103"/>
    <p:sldId id="370" r:id="rId104"/>
    <p:sldId id="371" r:id="rId105"/>
    <p:sldId id="372" r:id="rId106"/>
    <p:sldId id="373" r:id="rId107"/>
    <p:sldId id="374" r:id="rId108"/>
    <p:sldId id="375" r:id="rId10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20" autoAdjust="0"/>
  </p:normalViewPr>
  <p:slideViewPr>
    <p:cSldViewPr>
      <p:cViewPr varScale="1">
        <p:scale>
          <a:sx n="91" d="100"/>
          <a:sy n="91" d="100"/>
        </p:scale>
        <p:origin x="341"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viewProps" Target="view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2:54.228"/>
    </inkml:context>
    <inkml:brush xml:id="br0">
      <inkml:brushProperty name="width" value="0.35" units="cm"/>
      <inkml:brushProperty name="height" value="0.35" units="cm"/>
      <inkml:brushProperty name="color" value="#F8F8F8"/>
    </inkml:brush>
  </inkml:definitions>
  <inkml:trace contextRef="#ctx0" brushRef="#br0">2384 3 24575,'-88'-1'0,"10"-1"0,0 4 0,-95 14 0,102-8 0,-1-3 0,-106-6 0,68-1 0,-27 1 0,-178 3 0,77 23 0,-52 1 0,-265-27-1365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08.034"/>
    </inkml:context>
    <inkml:brush xml:id="br0">
      <inkml:brushProperty name="width" value="0.35" units="cm"/>
      <inkml:brushProperty name="height" value="0.35" units="cm"/>
      <inkml:brushProperty name="color" value="#F8F8F8"/>
    </inkml:brush>
  </inkml:definitions>
  <inkml:trace contextRef="#ctx0" brushRef="#br0">2956 135 24550,'-2955'0'0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11.499"/>
    </inkml:context>
    <inkml:brush xml:id="br0">
      <inkml:brushProperty name="width" value="0.35" units="cm"/>
      <inkml:brushProperty name="height" value="0.35" units="cm"/>
      <inkml:brushProperty name="color" value="#F8F8F8"/>
    </inkml:brush>
  </inkml:definitions>
  <inkml:trace contextRef="#ctx0" brushRef="#br0">1 1 24575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12.041"/>
    </inkml:context>
    <inkml:brush xml:id="br0">
      <inkml:brushProperty name="width" value="0.35" units="cm"/>
      <inkml:brushProperty name="height" value="0.35" units="cm"/>
      <inkml:brushProperty name="color" value="#F8F8F8"/>
    </inkml:brush>
  </inkml:definitions>
  <inkml:trace contextRef="#ctx0" brushRef="#br0">1 1 24575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29.826"/>
    </inkml:context>
    <inkml:brush xml:id="br0">
      <inkml:brushProperty name="width" value="0.35" units="cm"/>
      <inkml:brushProperty name="height" value="0.35" units="cm"/>
      <inkml:brushProperty name="color" value="#F8F8F8"/>
    </inkml:brush>
  </inkml:definitions>
  <inkml:trace contextRef="#ctx0" brushRef="#br0">0 23 24575,'2'1'0,"-1"0"0,1 0 0,-1 0 0,1 0 0,0 0 0,0 0 0,-1-1 0,1 1 0,0-1 0,0 1 0,0-1 0,0 0 0,-1 1 0,1-1 0,0 0 0,4-1 0,-4 1 0,415 10 0,56 3 0,-208 6 0,-86-2 0,328-11 0,-466-10 0,51-12 0,39-3 0,53 14 0,70-6 0,-15-3 0,-107 8 0,-27-4 0,48-1 0,261 12 0,-409-1 0,-1 1 0,1 0 0,-1 0 0,1 0 0,-1 1 0,1 0 0,-1 0 0,0 0 0,0 0 0,0 1 0,0-1 0,0 1 0,-1 0 0,1 0 0,-1 1 0,0-1 0,6 8 0,5 7 0,-1 1 0,13 27 0,-21-37 0,3 8 0,-1 1 0,0 1 0,-2-1 0,0 1 0,3 33 0,0-5 0,12 39 0,-16-69 0,-2 0 0,0 1 0,0-1 0,-2 0 0,-3 33 0,1 4 0,2-28 0,1 1 0,1 0 0,12 51 0,-12-71 0,-1 0 0,0 0 0,0 0 0,0 0 0,-1 0 0,0 0 0,-2 11 0,2-15 0,0-1 0,-1 0 0,0 1 0,0-1 0,1 0 0,-2 0 0,1 1 0,0-1 0,0 0 0,0 0 0,-1 0 0,0 0 0,1-1 0,-1 1 0,0 0 0,1-1 0,-1 1 0,0-1 0,0 1 0,-1-1 0,1 0 0,0 0 0,0 0 0,-4 1 0,-33 8 0,-76 7 0,65-11 0,-224 13 0,179-15 0,-132 18 0,48-2 0,110-10 0,-80 2 0,57-12 0,-277 17 0,191 6 0,-199 0 0,-767-23 0,1009-11 0,36-1 0,96 11 0,-1 1 0,1-1 0,-1 0 0,1 0 0,-1-1 0,1 1 0,0-1 0,-1 1 0,1-1 0,0 0 0,0 0 0,0 0 0,1-1 0,-1 1 0,0-1 0,1 1 0,-5-7 0,4 1 0,-1 0 0,1 0 0,0 0 0,1-1 0,-3-16 0,1 8 0,-5-39 0,-3-85 0,12 139 0,-1-9 0,1 0 0,0 0 0,0 0 0,1 0 0,2-11 0,-2 19 0,0 0 0,1 0 0,-1 0 0,0-1 0,1 1 0,0 1 0,-1-1 0,1 0 0,1 0 0,-1 1 0,0-1 0,0 1 0,1 0 0,0 0 0,-1-1 0,1 2 0,0-1 0,0 0 0,0 1 0,5-3 0,17-6 0,1 1 0,41-10 0,-61 18 0,37-9 0,0 3 0,82-4 0,353 0 0,-293 1 0,4-1 0,4 1 0,-5 12 0,245-4 0,-241-9 0,-30 1 0,24-1 0,-137 9 0,66-9 0,8-9 0,-38 12 0,84-4 0,-132 11 0,-24 0 0,-1 0 0,0 1 0,1 1 0,-1 0 0,15 3 0,-25-3 0,1 0 0,-1 0 0,0 0 0,1 0 0,-1 1 0,0-1 0,0 1 0,0 0 0,0 0 0,0 0 0,0 0 0,0 0 0,-1 0 0,1 0 0,-1 0 0,0 1 0,1-1 0,-1 0 0,0 1 0,-1-1 0,1 1 0,0-1 0,-1 1 0,1 4 0,1 8 0,-1 0 0,0 0 0,-3 20 0,1-11 0,1-21 0,0 0 0,-1 0 0,1 0 0,-1 0 0,0-1 0,0 1 0,0 0 0,0 0 0,0 0 0,-1-1 0,1 1 0,-1-1 0,0 1 0,0-1 0,0 0 0,0 0 0,0 1 0,0-1 0,0-1 0,-1 1 0,1 0 0,-1-1 0,1 1 0,-1-1 0,0 1 0,0-1 0,1 0 0,-1-1 0,0 1 0,-5 1 0,-10 1 0,1-1 0,-1 0 0,-34-2 0,38 0 0,-113-1 0,-633 2 0,500 21 0,-26-1 0,178-19 0,-146-7 0,52-24 0,-56-4 0,237 31 0,1-1 0,0-1 0,-25-9 0,23 7 0,1 0 0,-32-3 0,36 7 0,0 0 0,0-2 0,1 0 0,-1 0 0,-15-8 0,31 11 0,0 1 0,0 0 0,0-1 0,0 1 0,0 0 0,0-1 0,0 1 0,1-1 0,-1 0 0,0 1 0,0-1 0,1 0 0,-1 1 0,0-1 0,1 0 0,-1 0 0,1 0 0,-1 1 0,1-1 0,-1 0 0,1 0 0,0 0 0,-1 0 0,1 0 0,0 0 0,0 0 0,0 0 0,0 0 0,0 0 0,0 0 0,0 0 0,0 0 0,0 0 0,0 0 0,0 0 0,1 0 0,-1 0 0,0 0 0,1 1 0,-1-1 0,1 0 0,-1 0 0,1 0 0,-1 0 0,1 1 0,-1-1 0,1 0 0,0 0 0,0 1 0,-1-1 0,3 0 0,5-7 0,0 1 0,0 1 0,17-10 0,-18 12 0,34-20 0,0 2 0,2 2 0,56-18 0,-64 21-1365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11.499"/>
    </inkml:context>
    <inkml:brush xml:id="br0">
      <inkml:brushProperty name="width" value="0.35" units="cm"/>
      <inkml:brushProperty name="height" value="0.35" units="cm"/>
      <inkml:brushProperty name="color" value="#F8F8F8"/>
    </inkml:brush>
  </inkml:definitions>
  <inkml:trace contextRef="#ctx0" brushRef="#br0">1 1 24575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12.041"/>
    </inkml:context>
    <inkml:brush xml:id="br0">
      <inkml:brushProperty name="width" value="0.35" units="cm"/>
      <inkml:brushProperty name="height" value="0.35" units="cm"/>
      <inkml:brushProperty name="color" value="#F8F8F8"/>
    </inkml:brush>
  </inkml:definitions>
  <inkml:trace contextRef="#ctx0" brushRef="#br0">1 1 24575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2:54.228"/>
    </inkml:context>
    <inkml:brush xml:id="br0">
      <inkml:brushProperty name="width" value="0.35" units="cm"/>
      <inkml:brushProperty name="height" value="0.35" units="cm"/>
      <inkml:brushProperty name="color" value="#F8F8F8"/>
    </inkml:brush>
  </inkml:definitions>
  <inkml:trace contextRef="#ctx0" brushRef="#br0">2384 3 24575,'-88'-1'0,"10"-1"0,0 4 0,-95 14 0,102-8 0,-1-3 0,-106-6 0,68-1 0,-27 1 0,-178 3 0,77 23 0,-52 1 0,-265-27-1365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08.034"/>
    </inkml:context>
    <inkml:brush xml:id="br0">
      <inkml:brushProperty name="width" value="0.35" units="cm"/>
      <inkml:brushProperty name="height" value="0.35" units="cm"/>
      <inkml:brushProperty name="color" value="#F8F8F8"/>
    </inkml:brush>
  </inkml:definitions>
  <inkml:trace contextRef="#ctx0" brushRef="#br0">2956 135 24550,'-2955'0'0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11.499"/>
    </inkml:context>
    <inkml:brush xml:id="br0">
      <inkml:brushProperty name="width" value="0.35" units="cm"/>
      <inkml:brushProperty name="height" value="0.35" units="cm"/>
      <inkml:brushProperty name="color" value="#F8F8F8"/>
    </inkml:brush>
  </inkml:definitions>
  <inkml:trace contextRef="#ctx0" brushRef="#br0">1 1 24575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12.041"/>
    </inkml:context>
    <inkml:brush xml:id="br0">
      <inkml:brushProperty name="width" value="0.35" units="cm"/>
      <inkml:brushProperty name="height" value="0.35" units="cm"/>
      <inkml:brushProperty name="color" value="#F8F8F8"/>
    </inkml:brush>
  </inkml:definitions>
  <inkml:trace contextRef="#ctx0" brushRef="#br0">1 1 24575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3T20:33:29.826"/>
    </inkml:context>
    <inkml:brush xml:id="br0">
      <inkml:brushProperty name="width" value="0.35" units="cm"/>
      <inkml:brushProperty name="height" value="0.35" units="cm"/>
      <inkml:brushProperty name="color" value="#F8F8F8"/>
    </inkml:brush>
  </inkml:definitions>
  <inkml:trace contextRef="#ctx0" brushRef="#br0">0 23 24575,'2'1'0,"-1"0"0,1 0 0,-1 0 0,1 0 0,0 0 0,0 0 0,-1-1 0,1 1 0,0-1 0,0 1 0,0-1 0,0 0 0,-1 1 0,1-1 0,0 0 0,4-1 0,-4 1 0,415 10 0,56 3 0,-208 6 0,-86-2 0,328-11 0,-466-10 0,51-12 0,39-3 0,53 14 0,70-6 0,-15-3 0,-107 8 0,-27-4 0,48-1 0,261 12 0,-409-1 0,-1 1 0,1 0 0,-1 0 0,1 0 0,-1 1 0,1 0 0,-1 0 0,0 0 0,0 0 0,0 1 0,0-1 0,0 1 0,-1 0 0,1 0 0,-1 1 0,0-1 0,6 8 0,5 7 0,-1 1 0,13 27 0,-21-37 0,3 8 0,-1 1 0,0 1 0,-2-1 0,0 1 0,3 33 0,0-5 0,12 39 0,-16-69 0,-2 0 0,0 1 0,0-1 0,-2 0 0,-3 33 0,1 4 0,2-28 0,1 1 0,1 0 0,12 51 0,-12-71 0,-1 0 0,0 0 0,0 0 0,0 0 0,-1 0 0,0 0 0,-2 11 0,2-15 0,0-1 0,-1 0 0,0 1 0,0-1 0,1 0 0,-2 0 0,1 1 0,0-1 0,0 0 0,0 0 0,-1 0 0,0 0 0,1-1 0,-1 1 0,0 0 0,1-1 0,-1 1 0,0-1 0,0 1 0,-1-1 0,1 0 0,0 0 0,0 0 0,-4 1 0,-33 8 0,-76 7 0,65-11 0,-224 13 0,179-15 0,-132 18 0,48-2 0,110-10 0,-80 2 0,57-12 0,-277 17 0,191 6 0,-199 0 0,-767-23 0,1009-11 0,36-1 0,96 11 0,-1 1 0,1-1 0,-1 0 0,1 0 0,-1-1 0,1 1 0,0-1 0,-1 1 0,1-1 0,0 0 0,0 0 0,0 0 0,1-1 0,-1 1 0,0-1 0,1 1 0,-5-7 0,4 1 0,-1 0 0,1 0 0,0 0 0,1-1 0,-3-16 0,1 8 0,-5-39 0,-3-85 0,12 139 0,-1-9 0,1 0 0,0 0 0,0 0 0,1 0 0,2-11 0,-2 19 0,0 0 0,1 0 0,-1 0 0,0-1 0,1 1 0,0 1 0,-1-1 0,1 0 0,1 0 0,-1 1 0,0-1 0,0 1 0,1 0 0,0 0 0,-1-1 0,1 2 0,0-1 0,0 0 0,0 1 0,5-3 0,17-6 0,1 1 0,41-10 0,-61 18 0,37-9 0,0 3 0,82-4 0,353 0 0,-293 1 0,4-1 0,4 1 0,-5 12 0,245-4 0,-241-9 0,-30 1 0,24-1 0,-137 9 0,66-9 0,8-9 0,-38 12 0,84-4 0,-132 11 0,-24 0 0,-1 0 0,0 1 0,1 1 0,-1 0 0,15 3 0,-25-3 0,1 0 0,-1 0 0,0 0 0,1 0 0,-1 1 0,0-1 0,0 1 0,0 0 0,0 0 0,0 0 0,0 0 0,0 0 0,-1 0 0,1 0 0,-1 0 0,0 1 0,1-1 0,-1 0 0,0 1 0,-1-1 0,1 1 0,0-1 0,-1 1 0,1 4 0,1 8 0,-1 0 0,0 0 0,-3 20 0,1-11 0,1-21 0,0 0 0,-1 0 0,1 0 0,-1 0 0,0-1 0,0 1 0,0 0 0,0 0 0,0 0 0,-1-1 0,1 1 0,-1-1 0,0 1 0,0-1 0,0 0 0,0 0 0,0 1 0,0-1 0,0-1 0,-1 1 0,1 0 0,-1-1 0,1 1 0,-1-1 0,0 1 0,0-1 0,1 0 0,-1-1 0,0 1 0,-5 1 0,-10 1 0,1-1 0,-1 0 0,-34-2 0,38 0 0,-113-1 0,-633 2 0,500 21 0,-26-1 0,178-19 0,-146-7 0,52-24 0,-56-4 0,237 31 0,1-1 0,0-1 0,-25-9 0,23 7 0,1 0 0,-32-3 0,36 7 0,0 0 0,0-2 0,1 0 0,-1 0 0,-15-8 0,31 11 0,0 1 0,0 0 0,0-1 0,0 1 0,0 0 0,0-1 0,0 1 0,1-1 0,-1 0 0,0 1 0,0-1 0,1 0 0,-1 1 0,0-1 0,1 0 0,-1 0 0,1 0 0,-1 1 0,1-1 0,-1 0 0,1 0 0,0 0 0,-1 0 0,1 0 0,0 0 0,0 0 0,0 0 0,0 0 0,0 0 0,0 0 0,0 0 0,0 0 0,0 0 0,0 0 0,0 0 0,1 0 0,-1 0 0,0 0 0,1 1 0,-1-1 0,1 0 0,-1 0 0,1 0 0,-1 0 0,1 1 0,-1-1 0,1 0 0,0 0 0,0 1 0,-1-1 0,3 0 0,5-7 0,0 1 0,0 1 0,17-10 0,-18 12 0,34-20 0,0 2 0,2 2 0,56-18 0,-64 21-1365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9:54:37.044"/>
    </inkml:context>
    <inkml:brush xml:id="br0">
      <inkml:brushProperty name="width" value="0.35" units="cm"/>
      <inkml:brushProperty name="height" value="0.35" units="cm"/>
      <inkml:brushProperty name="color" value="#FFFFFF"/>
    </inkml:brush>
  </inkml:definitions>
  <inkml:trace contextRef="#ctx0" brushRef="#br0">79 250 24575,'-1'7'0,"0"0"0,-1 0 0,0 0 0,0 0 0,0 0 0,-5 6 0,0 6 0,-4 10 0,2-8 0,1 1 0,2-1 0,0 1 0,1 1 0,1-1 0,-1 28 0,4-21 0,4 172 0,0-179 0,1 0 0,1 0 0,0-1 0,2 0 0,0 0 0,13 24 0,-19-43 0,0 0 0,0 0 0,0 0 0,0 0 0,0-1 0,0 1 0,1-1 0,-1 1 0,1-1 0,-1 1 0,1-1 0,-1 0 0,1 0 0,0 1 0,0-1 0,-1 0 0,1-1 0,0 1 0,2 0 0,-2 0 0,-1-1 0,1-1 0,0 1 0,-1 0 0,1 0 0,-1-1 0,1 1 0,0 0 0,-1-1 0,1 0 0,-1 1 0,1-1 0,-1 0 0,0 0 0,1 0 0,-1 0 0,0 0 0,2-2 0,4-4 0,-1 0 0,-1 0 0,1-1 0,-1 0 0,-1 0 0,0 0 0,4-10 0,9-33 0,-3 0 0,-1-1 0,9-88 0,-3 14 0,11-87 0,3-16 0,-26 210 0,-7 18 0,1 1 0,-1 0 0,0 0 0,0 0 0,0 0 0,1 0 0,-1 0 0,0 0 0,0 0 0,0 0 0,1 0 0,-1 0 0,0 0 0,0 0 0,1 0 0,-1 0 0,0 0 0,0 0 0,0 0 0,1 0 0,-1 0 0,0 0 0,0 1 0,0-1 0,0 0 0,1 0 0,-1 0 0,0 0 0,0 0 0,0 0 0,0 1 0,1-1 0,-1 0 0,0 0 0,0 0 0,0 0 0,0 1 0,0-1 0,0 0 0,0 0 0,0 0 0,0 1 0,10 34 0,-3 69 0,-7 115 0,-3-94 0,3-2-1365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9:54:39.32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9:54:46.15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9:54:53.383"/>
    </inkml:context>
    <inkml:brush xml:id="br0">
      <inkml:brushProperty name="width" value="0.35" units="cm"/>
      <inkml:brushProperty name="height" value="0.35" units="cm"/>
      <inkml:brushProperty name="color" value="#FFFFFF"/>
    </inkml:brush>
  </inkml:definitions>
  <inkml:trace contextRef="#ctx0" brushRef="#br0">0 487 24530,'6697'-486'0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9:55:01.224"/>
    </inkml:context>
    <inkml:brush xml:id="br0">
      <inkml:brushProperty name="width" value="0.35" units="cm"/>
      <inkml:brushProperty name="height" value="0.35" units="cm"/>
      <inkml:brushProperty name="color" value="#FFFFFF"/>
    </inkml:brush>
  </inkml:definitions>
  <inkml:trace contextRef="#ctx0" brushRef="#br0">2438 76 24575,'-13'0'0,"-44"1"0,1-3 0,-76-12 0,69 6 0,0 3 0,-118 5 0,68 3 0,-1391-3 0,1480-2 64,0-1 1,0 0-1,0-2 0,-26-9 0,20 6-907,-50-8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9:55:07.549"/>
    </inkml:context>
    <inkml:brush xml:id="br0">
      <inkml:brushProperty name="width" value="0.35" units="cm"/>
      <inkml:brushProperty name="height" value="0.35" units="cm"/>
      <inkml:brushProperty name="color" value="#FFFFFF"/>
    </inkml:brush>
  </inkml:definitions>
  <inkml:trace contextRef="#ctx0" brushRef="#br0">6337 0 23513,'-6337'78'0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9:55:12.469"/>
    </inkml:context>
    <inkml:brush xml:id="br0">
      <inkml:brushProperty name="width" value="0.35" units="cm"/>
      <inkml:brushProperty name="height" value="0.35" units="cm"/>
      <inkml:brushProperty name="color" value="#FFFFFF"/>
    </inkml:brush>
  </inkml:definitions>
  <inkml:trace contextRef="#ctx0" brushRef="#br0">184 0 24575,'-1'8'0,"0"-1"0,0 1 0,-1-1 0,0 0 0,-1 0 0,1 0 0,-1 0 0,-6 9 0,4-7 0,1 0 0,0 1 0,-5 16 0,-49 197 0,29-89 0,-1 4 0,24-115 0,1 0 0,1 0 0,-1 43 0,6 74 0,1-59 0,-1 871 0,12-720 0,0-8 0,4 77 0,-8-178 0,18 125 0,-8-96 0,-18-143 0,28 413 0,-30 156 0,3-537 0,10 58 0,1 28 0,-8-68 0,17 89 0,1 0 0,-7 4 0,20 351 0,-37-428 0,2 138 0,12-117 0,-8-60 0,3 54 0,-10-20 0,0-46 0,2-1 0,0 1 0,1-1 0,1 1 0,1-1 0,9 32 0,-2-20 0,-1 0 0,-1 1 0,-3 0 0,-1 0 0,-1 1 0,-3 46 0,-2 1 0,3 116 0,11-122 0,-7-51 0,3 45 0,-9 34 0,2 44 0,11-80 0,-7-51 0,-2 0 0,3 27 0,-5 359 0,-3-193 0,7-162-1365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7:19:18.757"/>
    </inkml:context>
    <inkml:brush xml:id="br0">
      <inkml:brushProperty name="width" value="0.35" units="cm"/>
      <inkml:brushProperty name="height" value="0.35" units="cm"/>
      <inkml:brushProperty name="color" value="#FFFFFF"/>
    </inkml:brush>
  </inkml:definitions>
  <inkml:trace contextRef="#ctx0" brushRef="#br0">4785 63 24575,'-23'-1'0,"-44"-8"0,-11-2 0,-452 9 0,270 4 0,-1314-2 0,1333 11 0,15-1 0,-890-10 0,896-15 0,154 8 0,30 2 0,-47-14 0,44 10 0,28 4 0,19 3 0,26 1 0,38 7 0,0 2 0,78 20 0,-23-3 0,132 21 0,323 48 0,-331-81 0,-133-11 0,150 3 0,112 5 0,109 65 0,-296-38 0,123 9 0,-78-13 0,-79-14 0,302-1 0,-426-18 0,-26 0 0,-35 0 0,-1678 0 0,1674-1 0,-46-9 0,46 5 0,-43-1 0,-1560 5 224,770 3-1813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7:19:18.757"/>
    </inkml:context>
    <inkml:brush xml:id="br0">
      <inkml:brushProperty name="width" value="0.35" units="cm"/>
      <inkml:brushProperty name="height" value="0.35" units="cm"/>
      <inkml:brushProperty name="color" value="#FFFFFF"/>
    </inkml:brush>
  </inkml:definitions>
  <inkml:trace contextRef="#ctx0" brushRef="#br0">4785 63 24575,'-23'-1'0,"-44"-8"0,-11-2 0,-452 9 0,270 4 0,-1314-2 0,1333 11 0,15-1 0,-890-10 0,896-15 0,154 8 0,30 2 0,-47-14 0,44 10 0,28 4 0,19 3 0,26 1 0,38 7 0,0 2 0,78 20 0,-23-3 0,132 21 0,323 48 0,-331-81 0,-133-11 0,150 3 0,112 5 0,109 65 0,-296-38 0,123 9 0,-78-13 0,-79-14 0,302-1 0,-426-18 0,-26 0 0,-35 0 0,-1678 0 0,1674-1 0,-46-9 0,46 5 0,-43-1 0,-1560 5 224,770 3-1813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21:39:20.657"/>
    </inkml:context>
    <inkml:brush xml:id="br0">
      <inkml:brushProperty name="width" value="0.35" units="cm"/>
      <inkml:brushProperty name="height" value="0.35" units="cm"/>
      <inkml:brushProperty name="color" value="#FFFFFF"/>
    </inkml:brush>
  </inkml:definitions>
  <inkml:trace contextRef="#ctx0" brushRef="#br0">2659 466 24575,'-182'-2'0,"-196"4"0,356 1 0,1 1 0,0 0 0,0 2 0,0 0 0,0 2 0,-37 19 0,-34 11 0,66-30 0,0-2 0,-1-1 0,0-1 0,-29 0 0,28-2 0,14 0 0,0 2 0,-1-1 0,1 2 0,1 0 0,-1 1 0,-15 8 0,-38 15 0,39-22 0,-41 6 0,0 0 0,68-13 0,-1 1 0,1-1 0,0 0 0,-1 0 0,1 1 0,0-1 0,-1 0 0,1 1 0,0-1 0,-1 1 0,1 0 0,0 0 0,0-1 0,0 1 0,0 0 0,-2 2 0,19 2 0,40-1 0,37-3 0,193-4 0,-176-8 0,42-2 0,-31 13 0,-363 12 0,-34 1 0,-324-14 0,594 1 0,1 0 0,-1 0 0,0-1 0,1 0 0,-1 0 0,1 0 0,-1-1 0,1 0 0,-6-3 0,10 4 0,-1 1 0,1-1 0,0 0 0,0 0 0,0 0 0,0 0 0,0 0 0,0 0 0,0 0 0,0 0 0,0-1 0,1 1 0,-1 0 0,0 0 0,1-1 0,-1 1 0,1-1 0,-1 1 0,1 0 0,0-1 0,-1 1 0,1-1 0,0 1 0,0-1 0,0 1 0,0 0 0,1-1 0,-1 1 0,0-1 0,0 1 0,1-1 0,-1 1 0,1 0 0,0-1 0,-1 1 0,1 0 0,0 0 0,-1-1 0,1 1 0,2-2 0,6-8 0,1 0 0,0 1 0,0 0 0,1 0 0,1 1 0,-1 1 0,1 0 0,15-7 0,33-25 0,-27 13 0,-19 14 0,2 1 0,0 0 0,0 2 0,22-12 0,-3 8 0,0 0 0,1 3 0,65-13 0,116-5 0,-167 24 0,395-22 0,3 28 0,-172 1 0,-257-4 0,1 0 0,-1-2 0,0 0 0,0-1 0,0-1 0,0-1 0,-1 0 0,0-1 0,30-20 0,-47 27 0,1 1 0,-1-1 0,0 1 0,1-1 0,-1 0 0,0 0 0,0 0 0,0 1 0,1-1 0,-1 0 0,0-1 0,0 1 0,0 0 0,-1 0 0,1 0 0,0-1 0,0 1 0,-1 0 0,1-1 0,0 1 0,-1 0 0,0-1 0,1 1 0,-1-1 0,0 1 0,0-1 0,1 1 0,-2-3 0,1 2 0,-2 0 0,1 1 0,0-1 0,0 0 0,0 0 0,-1 1 0,1-1 0,-1 0 0,0 1 0,1 0 0,-1-1 0,0 1 0,0 0 0,0 0 0,0 0 0,0 0 0,0 0 0,0 1 0,-3-2 0,-30-8 0,-39-6 0,-4-1 0,15 3 0,-2 3 0,-129-4 0,-387 13 0,288 4 0,-932-2 0,1176-3 0,0-2 0,-54-11 0,-21-4 0,107 18 0,-4 1 0,1-2 0,0 0 0,-32-10 0,52 13 0,0 0 0,0 0 0,0 0 0,0 0 0,0 0 0,0 0 0,0 0 0,1 0 0,-1 0 0,0 0 0,0 0 0,0 0 0,0 0 0,0 0 0,0 0 0,0 0 0,0 0 0,0 0 0,0-1 0,0 1 0,1 0 0,-1 0 0,0 0 0,0 0 0,0 0 0,0 0 0,0 0 0,0 0 0,0 0 0,0 0 0,0 0 0,0 0 0,0 0 0,0 0 0,0-1 0,0 1 0,0 0 0,0 0 0,0 0 0,0 0 0,0 0 0,0 0 0,0 0 0,0 0 0,0 0 0,0 0 0,0-1 0,0 1 0,0 0 0,0 0 0,0 0 0,0 0 0,0 0 0,0 0 0,0 0 0,0 0 0,0 0 0,16-3 0,22 0 0,776 4 0,-805-1 0,2-1 0,0 2 0,0-1 0,1 1 0,-1 1 0,16 3 0,-24-4 0,-1 0 0,1 0 0,-1 1 0,1-1 0,-1 0 0,0 1 0,1 0 0,-1-1 0,0 1 0,0 0 0,0 0 0,0 0 0,-1 0 0,1 0 0,0 1 0,-1-1 0,1 0 0,-1 1 0,0-1 0,0 1 0,0 0 0,0-1 0,-1 1 0,1 0 0,-1-1 0,1 1 0,-1 5 0,1 11 0,-1 0 0,0 1 0,-2-1 0,0 1 0,-8 32 0,8-49 0,1 1 0,-1-1 0,0 0 0,0 0 0,0 0 0,0 0 0,-1 0 0,1 0 0,-1-1 0,0 1 0,1-1 0,-1 0 0,0 0 0,0 0 0,-1 0 0,1 0 0,0-1 0,-1 1 0,1-1 0,-1 0 0,1 0 0,-1 0 0,1 0 0,-5-1 0,-12 2 0,0-1 0,0-1 0,-28-3 0,9 0 0,-488 1 154,293 3-1673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21:39:54.418"/>
    </inkml:context>
    <inkml:brush xml:id="br0">
      <inkml:brushProperty name="width" value="0.35" units="cm"/>
      <inkml:brushProperty name="height" value="0.35" units="cm"/>
      <inkml:brushProperty name="color" value="#FFFFFF"/>
    </inkml:brush>
  </inkml:definitions>
  <inkml:trace contextRef="#ctx0" brushRef="#br0">2153 955 24575,'-16'0'0,"-36"0"0,0-1 0,-74-13 0,93 10 0,-1 1 0,-54 2 0,57 1 0,-1 0 0,1-2 0,-37-7 0,31 3 0,0 2 0,1 1 0,-47 3 0,-42-2 0,43-10 0,50 6 0,-44-2 0,-19 8 0,46 1 0,-1-2 0,-79-13 0,87 8 0,-1 2 0,0 1 0,0 2 0,-54 6 0,94-4 0,-1-1 0,1 1 0,-1 0 0,1 0 0,0 0 0,0 0 0,-1 1 0,1-1 0,0 1 0,0 0 0,0 0 0,1 0 0,-1 0 0,0 0 0,1 1 0,-1-1 0,1 1 0,0 0 0,0-1 0,0 1 0,0 0 0,0 0 0,1 0 0,0 1 0,-1-1 0,1 0 0,0 1 0,0-1 0,0 5 0,-2 11 0,1 0 0,1 1 0,1-1 0,3 24 0,-2-13 0,-1 78 0,2 52 0,-2-158 0,1 0 0,-1 0 0,0-1 0,0 1 0,1 0 0,-1 0 0,1-1 0,-1 1 0,1 0 0,0-1 0,0 1 0,0 0 0,0-1 0,0 1 0,0-1 0,2 2 0,-2-2 0,0 0 0,0-1 0,0 1 0,0-1 0,0 0 0,0 1 0,0-1 0,0 0 0,0 1 0,0-1 0,0 0 0,0 0 0,0 0 0,0 0 0,1 0 0,-1 0 0,0 0 0,0-1 0,0 1 0,1-1 0,2 0 0,0-1 0,0 0 0,0 0 0,0 0 0,-1-1 0,1 1 0,-1-1 0,0 0 0,1 0 0,-1 0 0,-1-1 0,4-3 0,0-3 0,0 0 0,-1 0 0,0 0 0,-1-1 0,0 0 0,-1 0 0,0 0 0,-1 0 0,0 0 0,0-1 0,-1 1 0,-1-1 0,0 1 0,-1-1 0,0 1 0,0 0 0,-1-1 0,-1 1 0,0 0 0,0 0 0,-6-11 0,3 12 0,1-1 0,1 0 0,0 0 0,0 0 0,1 0 0,1-1 0,0 0 0,0 1 0,1-1 0,0 0 0,1 0 0,3-17 0,-2 22 0,0 0 0,1 0 0,0-1 0,1 1 0,-1 0 0,1 1 0,1-1 0,-1 0 0,1 1 0,0 0 0,1 0 0,-1 0 0,1 0 0,0 1 0,1 0 0,-1 0 0,1 0 0,0 1 0,0 0 0,11-5 0,14-6 0,0 2 0,0 2 0,1 0 0,55-9 0,-36 13 0,1 1 0,65 3 0,-85 1 0,0-1 0,0-1 0,35-10 0,-27 5 0,42-3 0,-4 8 0,-51 4 0,0-1 0,0-2 0,0-1 0,49-12 0,189-55 0,-40 33 0,-144 26 0,-53 6 0,-1 0 0,39-17 0,-42 14 0,-1 1 0,1 1 0,47-7 0,16 2 0,-50 6 0,58-2 0,-83 8 0,1 0 0,-1 1 0,0 1 0,0-1 0,0 2 0,17 5 0,-23-5 0,1 0 0,-1 0 0,1 0 0,-1 1 0,0 0 0,-1 1 0,1-1 0,-1 1 0,0 0 0,0 0 0,0 1 0,5 8 0,-8-12 0,-1 0 0,1 1 0,-1-1 0,0 0 0,1 0 0,-1 1 0,0-1 0,-1 0 0,1 1 0,0-1 0,-1 1 0,1-1 0,-1 1 0,0-1 0,0 1 0,0 0 0,-1 3 0,1-5 0,-1 1 0,0-1 0,0 1 0,0-1 0,0 0 0,0 1 0,-1-1 0,1 0 0,0 0 0,0 0 0,-1 0 0,1 0 0,-1 0 0,1 0 0,-1-1 0,1 1 0,-1 0 0,0-1 0,1 1 0,-1-1 0,0 0 0,1 0 0,-1 1 0,0-1 0,1 0 0,-1 0 0,0-1 0,-2 1 0,-16-2 0,0-1 0,0-1 0,0-1 0,0-1 0,1 0 0,-19-10 0,-20-5 0,-147-40 0,169 53 0,-1 1 0,0 2 0,-71 0 0,-182 4 0,-376-47 0,250 27 0,405 21 0,-39 0 0,0 1 0,0 3 0,-72 15 0,115-18 0,-1 1 0,1 0 0,-1 0 0,1 1 0,0 0 0,0 0 0,0 0 0,0 1 0,1 1 0,-1-1 0,1 1 0,0 0 0,0 0 0,1 0 0,0 1 0,-7 9 0,-20 27 0,26-37 0,1 2 0,-1-1 0,1 0 0,1 1 0,0 0 0,0 0 0,0 1 0,1-1 0,0 1 0,0-1 0,1 1 0,-3 14 0,4-16 0,0 0 0,1 1 0,0-1 0,0 0 0,0 0 0,1 0 0,0 0 0,0 0 0,1 0 0,0 0 0,0 0 0,4 9 0,-3-11 0,0 0 0,0 0 0,1 0 0,-1 0 0,1-1 0,0 1 0,0-1 0,0 0 0,0 0 0,1-1 0,-1 1 0,1-1 0,-1 0 0,1 0 0,8 2 0,4 0 0,-1-1 0,1 0 0,0-1 0,0-1 0,1 0 0,-1-2 0,0 0 0,0-1 0,0 0 0,31-9 0,-27 4 0,1 0 0,-2-2 0,1 0 0,-1-1 0,-1-1 0,0-1 0,33-27 0,-41 29 0,-1-2 0,-1 1 0,0-1 0,14-25 0,7-10 0,-9 23 0,0 1 0,2 1 0,0 0 0,45-30 0,-16 13 0,-31 23 0,1 2 0,0 1 0,0 1 0,45-18 0,102-24 0,-104 35 0,13-3 0,143-21 0,-9 7 0,-128 18 0,0 5 0,164-6 0,-24 21 0,-1610-2 0,1362 1 0,1 1 0,-32 8 0,30-5 0,-47 3 0,-176 14 0,106 4 0,33-5 0,67-12 0,-2-1 0,-75 3 0,110-10 0,-1 0 0,0 0 0,1 0 0,-1 2 0,1-1 0,0 1 0,-18 8 0,-1 3 0,-29 21 0,20-12 0,30-19 0,0 0 0,0 0 0,1 1 0,-1 0 0,1 0 0,0 0 0,0 1 0,1 0 0,0 0 0,0 0 0,0 1 0,1 0 0,0 0 0,0 0 0,0 0 0,1 0 0,0 1 0,1 0 0,0-1 0,0 1 0,1 0 0,-1 0 0,2 0 0,-1 11 0,1-15 0,0 0 0,0 0 0,1-1 0,-1 1 0,1 0 0,-1 0 0,1-1 0,1 1 0,-1-1 0,0 1 0,1-1 0,0 1 0,-1-1 0,4 4 0,-3-5 0,0 0 0,0-1 0,0 1 0,0-1 0,0 1 0,0-1 0,1 0 0,-1 0 0,0 0 0,1 0 0,-1 0 0,1-1 0,-1 1 0,1-1 0,-1 1 0,1-1 0,-1 0 0,1 0 0,-1 0 0,1 0 0,-1-1 0,4 0 0,13-3 0,-1-1 0,1 0 0,-1-2 0,25-12 0,-24 10 0,-1 1 0,2 0 0,-1 2 0,34-7 0,33 4-135,106 4-1,-134 4-958,97 0-5732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21:40:06.36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21:39:20.657"/>
    </inkml:context>
    <inkml:brush xml:id="br0">
      <inkml:brushProperty name="width" value="0.35" units="cm"/>
      <inkml:brushProperty name="height" value="0.35" units="cm"/>
      <inkml:brushProperty name="color" value="#FFFFFF"/>
    </inkml:brush>
  </inkml:definitions>
  <inkml:trace contextRef="#ctx0" brushRef="#br0">2659 466 24575,'-182'-2'0,"-196"4"0,356 1 0,1 1 0,0 0 0,0 2 0,0 0 0,0 2 0,-37 19 0,-34 11 0,66-30 0,0-2 0,-1-1 0,0-1 0,-29 0 0,28-2 0,14 0 0,0 2 0,-1-1 0,1 2 0,1 0 0,-1 1 0,-15 8 0,-38 15 0,39-22 0,-41 6 0,0 0 0,68-13 0,-1 1 0,1-1 0,0 0 0,-1 0 0,1 1 0,0-1 0,-1 0 0,1 1 0,0-1 0,-1 1 0,1 0 0,0 0 0,0-1 0,0 1 0,0 0 0,-2 2 0,19 2 0,40-1 0,37-3 0,193-4 0,-176-8 0,42-2 0,-31 13 0,-363 12 0,-34 1 0,-324-14 0,594 1 0,1 0 0,-1 0 0,0-1 0,1 0 0,-1 0 0,1 0 0,-1-1 0,1 0 0,-6-3 0,10 4 0,-1 1 0,1-1 0,0 0 0,0 0 0,0 0 0,0 0 0,0 0 0,0 0 0,0 0 0,0 0 0,0-1 0,1 1 0,-1 0 0,0 0 0,1-1 0,-1 1 0,1-1 0,-1 1 0,1 0 0,0-1 0,-1 1 0,1-1 0,0 1 0,0-1 0,0 1 0,0 0 0,1-1 0,-1 1 0,0-1 0,0 1 0,1-1 0,-1 1 0,1 0 0,0-1 0,-1 1 0,1 0 0,0 0 0,-1-1 0,1 1 0,2-2 0,6-8 0,1 0 0,0 1 0,0 0 0,1 0 0,1 1 0,-1 1 0,1 0 0,15-7 0,33-25 0,-27 13 0,-19 14 0,2 1 0,0 0 0,0 2 0,22-12 0,-3 8 0,0 0 0,1 3 0,65-13 0,116-5 0,-167 24 0,395-22 0,3 28 0,-172 1 0,-257-4 0,1 0 0,-1-2 0,0 0 0,0-1 0,0-1 0,0-1 0,-1 0 0,0-1 0,30-20 0,-47 27 0,1 1 0,-1-1 0,0 1 0,1-1 0,-1 0 0,0 0 0,0 0 0,0 1 0,1-1 0,-1 0 0,0-1 0,0 1 0,0 0 0,-1 0 0,1 0 0,0-1 0,0 1 0,-1 0 0,1-1 0,0 1 0,-1 0 0,0-1 0,1 1 0,-1-1 0,0 1 0,0-1 0,1 1 0,-2-3 0,1 2 0,-2 0 0,1 1 0,0-1 0,0 0 0,0 0 0,-1 1 0,1-1 0,-1 0 0,0 1 0,1 0 0,-1-1 0,0 1 0,0 0 0,0 0 0,0 0 0,0 0 0,0 0 0,0 1 0,-3-2 0,-30-8 0,-39-6 0,-4-1 0,15 3 0,-2 3 0,-129-4 0,-387 13 0,288 4 0,-932-2 0,1176-3 0,0-2 0,-54-11 0,-21-4 0,107 18 0,-4 1 0,1-2 0,0 0 0,-32-10 0,52 13 0,0 0 0,0 0 0,0 0 0,0 0 0,0 0 0,0 0 0,0 0 0,1 0 0,-1 0 0,0 0 0,0 0 0,0 0 0,0 0 0,0 0 0,0 0 0,0 0 0,0 0 0,0 0 0,0-1 0,0 1 0,1 0 0,-1 0 0,0 0 0,0 0 0,0 0 0,0 0 0,0 0 0,0 0 0,0 0 0,0 0 0,0 0 0,0 0 0,0 0 0,0 0 0,0-1 0,0 1 0,0 0 0,0 0 0,0 0 0,0 0 0,0 0 0,0 0 0,0 0 0,0 0 0,0 0 0,0 0 0,0-1 0,0 1 0,0 0 0,0 0 0,0 0 0,0 0 0,0 0 0,0 0 0,0 0 0,0 0 0,0 0 0,16-3 0,22 0 0,776 4 0,-805-1 0,2-1 0,0 2 0,0-1 0,1 1 0,-1 1 0,16 3 0,-24-4 0,-1 0 0,1 0 0,-1 1 0,1-1 0,-1 0 0,0 1 0,1 0 0,-1-1 0,0 1 0,0 0 0,0 0 0,0 0 0,-1 0 0,1 0 0,0 1 0,-1-1 0,1 0 0,-1 1 0,0-1 0,0 1 0,0 0 0,0-1 0,-1 1 0,1 0 0,-1-1 0,1 1 0,-1 5 0,1 11 0,-1 0 0,0 1 0,-2-1 0,0 1 0,-8 32 0,8-49 0,1 1 0,-1-1 0,0 0 0,0 0 0,0 0 0,0 0 0,-1 0 0,1 0 0,-1-1 0,0 1 0,1-1 0,-1 0 0,0 0 0,0 0 0,-1 0 0,1 0 0,0-1 0,-1 1 0,1-1 0,-1 0 0,1 0 0,-1 0 0,1 0 0,-5-1 0,-12 2 0,0-1 0,0-1 0,-28-3 0,9 0 0,-488 1 154,293 3-1673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21:39:54.418"/>
    </inkml:context>
    <inkml:brush xml:id="br0">
      <inkml:brushProperty name="width" value="0.35" units="cm"/>
      <inkml:brushProperty name="height" value="0.35" units="cm"/>
      <inkml:brushProperty name="color" value="#FFFFFF"/>
    </inkml:brush>
  </inkml:definitions>
  <inkml:trace contextRef="#ctx0" brushRef="#br0">2153 955 24575,'-16'0'0,"-36"0"0,0-1 0,-74-13 0,93 10 0,-1 1 0,-54 2 0,57 1 0,-1 0 0,1-2 0,-37-7 0,31 3 0,0 2 0,1 1 0,-47 3 0,-42-2 0,43-10 0,50 6 0,-44-2 0,-19 8 0,46 1 0,-1-2 0,-79-13 0,87 8 0,-1 2 0,0 1 0,0 2 0,-54 6 0,94-4 0,-1-1 0,1 1 0,-1 0 0,1 0 0,0 0 0,0 0 0,-1 1 0,1-1 0,0 1 0,0 0 0,0 0 0,1 0 0,-1 0 0,0 0 0,1 1 0,-1-1 0,1 1 0,0 0 0,0-1 0,0 1 0,0 0 0,0 0 0,1 0 0,0 1 0,-1-1 0,1 0 0,0 1 0,0-1 0,0 5 0,-2 11 0,1 0 0,1 1 0,1-1 0,3 24 0,-2-13 0,-1 78 0,2 52 0,-2-158 0,1 0 0,-1 0 0,0-1 0,0 1 0,1 0 0,-1 0 0,1-1 0,-1 1 0,1 0 0,0-1 0,0 1 0,0 0 0,0-1 0,0 1 0,0-1 0,2 2 0,-2-2 0,0 0 0,0-1 0,0 1 0,0-1 0,0 0 0,0 1 0,0-1 0,0 0 0,0 1 0,0-1 0,0 0 0,0 0 0,0 0 0,0 0 0,1 0 0,-1 0 0,0 0 0,0-1 0,0 1 0,1-1 0,2 0 0,0-1 0,0 0 0,0 0 0,0 0 0,-1-1 0,1 1 0,-1-1 0,0 0 0,1 0 0,-1 0 0,-1-1 0,4-3 0,0-3 0,0 0 0,-1 0 0,0 0 0,-1-1 0,0 0 0,-1 0 0,0 0 0,-1 0 0,0 0 0,0-1 0,-1 1 0,-1-1 0,0 1 0,-1-1 0,0 1 0,0 0 0,-1-1 0,-1 1 0,0 0 0,0 0 0,-6-11 0,3 12 0,1-1 0,1 0 0,0 0 0,0 0 0,1 0 0,1-1 0,0 0 0,0 1 0,1-1 0,0 0 0,1 0 0,3-17 0,-2 22 0,0 0 0,1 0 0,0-1 0,1 1 0,-1 0 0,1 1 0,1-1 0,-1 0 0,1 1 0,0 0 0,1 0 0,-1 0 0,1 0 0,0 1 0,1 0 0,-1 0 0,1 0 0,0 1 0,0 0 0,11-5 0,14-6 0,0 2 0,0 2 0,1 0 0,55-9 0,-36 13 0,1 1 0,65 3 0,-85 1 0,0-1 0,0-1 0,35-10 0,-27 5 0,42-3 0,-4 8 0,-51 4 0,0-1 0,0-2 0,0-1 0,49-12 0,189-55 0,-40 33 0,-144 26 0,-53 6 0,-1 0 0,39-17 0,-42 14 0,-1 1 0,1 1 0,47-7 0,16 2 0,-50 6 0,58-2 0,-83 8 0,1 0 0,-1 1 0,0 1 0,0-1 0,0 2 0,17 5 0,-23-5 0,1 0 0,-1 0 0,1 0 0,-1 1 0,0 0 0,-1 1 0,1-1 0,-1 1 0,0 0 0,0 0 0,0 1 0,5 8 0,-8-12 0,-1 0 0,1 1 0,-1-1 0,0 0 0,1 0 0,-1 1 0,0-1 0,-1 0 0,1 1 0,0-1 0,-1 1 0,1-1 0,-1 1 0,0-1 0,0 1 0,0 0 0,-1 3 0,1-5 0,-1 1 0,0-1 0,0 1 0,0-1 0,0 0 0,0 1 0,-1-1 0,1 0 0,0 0 0,0 0 0,-1 0 0,1 0 0,-1 0 0,1 0 0,-1-1 0,1 1 0,-1 0 0,0-1 0,1 1 0,-1-1 0,0 0 0,1 0 0,-1 1 0,0-1 0,1 0 0,-1 0 0,0-1 0,-2 1 0,-16-2 0,0-1 0,0-1 0,0-1 0,0-1 0,1 0 0,-19-10 0,-20-5 0,-147-40 0,169 53 0,-1 1 0,0 2 0,-71 0 0,-182 4 0,-376-47 0,250 27 0,405 21 0,-39 0 0,0 1 0,0 3 0,-72 15 0,115-18 0,-1 1 0,1 0 0,-1 0 0,1 1 0,0 0 0,0 0 0,0 0 0,0 1 0,1 1 0,-1-1 0,1 1 0,0 0 0,0 0 0,1 0 0,0 1 0,-7 9 0,-20 27 0,26-37 0,1 2 0,-1-1 0,1 0 0,1 1 0,0 0 0,0 0 0,0 1 0,1-1 0,0 1 0,0-1 0,1 1 0,-3 14 0,4-16 0,0 0 0,1 1 0,0-1 0,0 0 0,0 0 0,1 0 0,0 0 0,0 0 0,1 0 0,0 0 0,0 0 0,4 9 0,-3-11 0,0 0 0,0 0 0,1 0 0,-1 0 0,1-1 0,0 1 0,0-1 0,0 0 0,0 0 0,1-1 0,-1 1 0,1-1 0,-1 0 0,1 0 0,8 2 0,4 0 0,-1-1 0,1 0 0,0-1 0,0-1 0,1 0 0,-1-2 0,0 0 0,0-1 0,0 0 0,31-9 0,-27 4 0,1 0 0,-2-2 0,1 0 0,-1-1 0,-1-1 0,0-1 0,33-27 0,-41 29 0,-1-2 0,-1 1 0,0-1 0,14-25 0,7-10 0,-9 23 0,0 1 0,2 1 0,0 0 0,45-30 0,-16 13 0,-31 23 0,1 2 0,0 1 0,0 1 0,45-18 0,102-24 0,-104 35 0,13-3 0,143-21 0,-9 7 0,-128 18 0,0 5 0,164-6 0,-24 21 0,-1610-2 0,1362 1 0,1 1 0,-32 8 0,30-5 0,-47 3 0,-176 14 0,106 4 0,33-5 0,67-12 0,-2-1 0,-75 3 0,110-10 0,-1 0 0,0 0 0,1 0 0,-1 2 0,1-1 0,0 1 0,-18 8 0,-1 3 0,-29 21 0,20-12 0,30-19 0,0 0 0,0 0 0,1 1 0,-1 0 0,1 0 0,0 0 0,0 1 0,1 0 0,0 0 0,0 0 0,0 1 0,1 0 0,0 0 0,0 0 0,0 0 0,1 0 0,0 1 0,1 0 0,0-1 0,0 1 0,1 0 0,-1 0 0,2 0 0,-1 11 0,1-15 0,0 0 0,0 0 0,1-1 0,-1 1 0,1 0 0,-1 0 0,1-1 0,1 1 0,-1-1 0,0 1 0,1-1 0,0 1 0,-1-1 0,4 4 0,-3-5 0,0 0 0,0-1 0,0 1 0,0-1 0,0 1 0,0-1 0,1 0 0,-1 0 0,0 0 0,1 0 0,-1 0 0,1-1 0,-1 1 0,1-1 0,-1 1 0,1-1 0,-1 0 0,1 0 0,-1 0 0,1 0 0,-1-1 0,4 0 0,13-3 0,-1-1 0,1 0 0,-1-2 0,25-12 0,-24 10 0,-1 1 0,2 0 0,-1 2 0,34-7 0,33 4-135,106 4-1,-134 4-958,97 0-5732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21:40:06.36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5.990"/>
    </inkml:context>
    <inkml:brush xml:id="br0">
      <inkml:brushProperty name="width" value="0.35" units="cm"/>
      <inkml:brushProperty name="height" value="0.35" units="cm"/>
      <inkml:brushProperty name="color" value="#FFFFFF"/>
    </inkml:brush>
  </inkml:definitions>
  <inkml:trace contextRef="#ctx0" brushRef="#br0">48 114 24575,'-2'156'0,"5"172"0,-2-308 0,2-1 0,0 1 0,1-1 0,1 0 0,11 26 0,-13-41 0,-2-6 0,-2-16 0,-4-28 0,-8-30 0,-23-104 0,28 153 0,2 0 0,0 0 0,2-1 0,-2-51 0,14 88 0,2 13 0,332 827 0,-318-781 0,-23-67 0,0 0 0,-1 1 0,1-1 0,-1 0 0,1 0 0,-1 0 0,0 1 0,1-1 0,-1 0 0,0 1 0,0-1 0,0 0 0,0 0 0,0 1 0,0-1 0,0 0 0,-1 1 0,1 0 0,-17-23 0,-144-300 0,84 164 0,43 89 0,-45-96 0,78 162 0,0 0 0,0 1 0,0-1 0,1 0 0,-1 0 0,1-1 0,-1 1 0,1 0 0,-1 0 0,1-4 0,1 6 0,-1 0 0,0 0 0,1-1 0,-1 1 0,0 0 0,1 0 0,-1 0 0,0 0 0,1 0 0,-1 0 0,1 0 0,-1 0 0,0 0 0,1 0 0,-1 0 0,0 0 0,1 0 0,-1 0 0,0 1 0,1-1 0,-1 0 0,0 0 0,1 0 0,-1 0 0,0 1 0,1-1 0,-1 0 0,0 0 0,0 1 0,1-1 0,-1 0 0,0 0 0,0 1 0,1 0 0,40 41 0,-33-32 0,16 16 0,1 0 0,1-1 0,2-2 0,0-1 0,60 36 0,-36-30 0,159 72 0,-207-99 0,0 1 0,0-1 0,0 1 0,0-1 0,0 0 0,1-1 0,-1 1 0,0-1 0,1 0 0,-1 0 0,0 0 0,1-1 0,-1 1 0,0-1 0,5-1 0,-6 0 0,0 0 0,0 0 0,0 0 0,-1 0 0,1 0 0,0 0 0,-1-1 0,0 1 0,1-1 0,-1 0 0,0 0 0,0 0 0,-1 0 0,1 0 0,0 0 0,-1 0 0,0 0 0,0-1 0,1-4 0,3-14 0,0 0 0,-2-1 0,2-42 0,-9-74 0,0 73 0,0-205 0,1 246 30,-1 0 0,-10-36-1,4 19-1483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8.232"/>
    </inkml:context>
    <inkml:brush xml:id="br0">
      <inkml:brushProperty name="width" value="0.35" units="cm"/>
      <inkml:brushProperty name="height" value="0.35" units="cm"/>
      <inkml:brushProperty name="color" value="#FFFFFF"/>
    </inkml:brush>
  </inkml:definitions>
  <inkml:trace contextRef="#ctx0" brushRef="#br0">29 534 24575,'1'23'0,"1"0"0,1 0 0,1 0 0,0-1 0,13 32 0,49 106 0,-29-77 0,-29-63 0,-6-11 0,1-1 0,1 1 0,0-1 0,0 0 0,1 0 0,0-1 0,0 1 0,7 7 0,-11-15 0,-1 0 0,0 1 0,0-1 0,0 0 0,0 0 0,0 0 0,0 0 0,0 0 0,0 0 0,0 1 0,1-1 0,-1 0 0,0 0 0,0 0 0,0 0 0,0 0 0,0 0 0,1 0 0,-1 0 0,0 0 0,0 0 0,0 0 0,0 0 0,1 0 0,-1 0 0,0 0 0,0 0 0,0 0 0,0 0 0,0 0 0,1 0 0,-1 0 0,0 0 0,0 0 0,0 0 0,0 0 0,1 0 0,-1 0 0,0 0 0,0 0 0,0 0 0,0 0 0,0-1 0,0 1 0,1 0 0,-1 0 0,0 0 0,0 0 0,0 0 0,0 0 0,0-1 0,0 1 0,0 0 0,0 0 0,0 0 0,0 0 0,0 0 0,0-1 0,0 1 0,0 0 0,0 0 0,0 0 0,0 0 0,0-1 0,0 1 0,0 0 0,0 0 0,0 0 0,0-1 0,0-9 0,-1-1 0,0 1 0,-5-19 0,-1-8 0,-15-95 0,-56-179 0,45 199-682,-33-210-1,59 255-6143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42.295"/>
    </inkml:context>
    <inkml:brush xml:id="br0">
      <inkml:brushProperty name="width" value="0.35" units="cm"/>
      <inkml:brushProperty name="height" value="0.35" units="cm"/>
      <inkml:brushProperty name="color" value="#FFFFFF"/>
    </inkml:brush>
  </inkml:definitions>
  <inkml:trace contextRef="#ctx0" brushRef="#br0">0 1079 24575,'92'-68'0,"-28"6"0,-40 38 0,49-41 0,-69 62 0,0 1 0,0-1 0,0 0 0,1 1 0,-1 0 0,1 0 0,-1 0 0,1 1 0,0 0 0,0 0 0,0 0 0,0 0 0,0 1 0,-1-1 0,1 1 0,0 1 0,0-1 0,0 1 0,8 1 0,-3 2 0,0 0 0,-1 0 0,1 1 0,-1 0 0,0 1 0,-1 0 0,1 0 0,10 11 0,17 15 0,-1 2 0,-1 2 0,-2 1 0,-2 1 0,-1 1 0,-3 2 0,33 65 0,-56-100 0,10 21 0,-8-24 0,-2-17 0,-5-19 0,-2 1 0,-14-62 0,7 44 0,-10-38 0,-3 0 0,-71-162 0,60 167 0,3-2 0,-39-169 0,63 216 0,-2 1 0,-2 1 0,-29-63 0,41 99 0,0-1 0,0 0 0,0 0 0,-1 1 0,1-1 0,0 0 0,-1 1 0,1-1 0,-1 0 0,1 1 0,0-1 0,-1 1 0,1-1 0,-1 1 0,0-1 0,1 1 0,-1-1 0,1 1 0,-1-1 0,0 1 0,1 0 0,-1-1 0,-1 1 0,2 1 0,0 0 0,0 0 0,-1 0 0,1 0 0,0 0 0,0-1 0,0 1 0,0 0 0,0 0 0,1 0 0,-1 0 0,0 0 0,0 0 0,1 0 0,-1 0 0,0 0 0,1 0 0,-1 0 0,1 0 0,30 65 0,4-1 0,46 66 0,-31-53 0,86 153 0,110 256 0,-235-461 0,-8-17 0,1 0 0,0 1 0,0-1 0,1-1 0,0 1 0,1-1 0,-1 0 0,14 14 0,-19-22 0,0 1 0,1-1 0,-1 0 0,0 0 0,0 0 0,1 1 0,-1-1 0,0 0 0,1 0 0,-1 0 0,0 0 0,0 1 0,1-1 0,-1 0 0,0 0 0,1 0 0,-1 0 0,0 0 0,1 0 0,-1 0 0,0 0 0,1 0 0,-1 0 0,1 0 0,-1 0 0,0 0 0,1 0 0,-1 0 0,0 0 0,0-1 0,1 1 0,-1 0 0,0 0 0,1 0 0,-1 0 0,0-1 0,0 1 0,1 0 0,-1 0 0,0-1 0,0 1 0,1 0 0,-1 0 0,0-1 0,0 1 0,0 0 0,0-1 0,1 1 0,-1 0 0,0-1 0,0 1 0,0 0 0,0-1 0,0 1 0,0-1 0,2-23 0,-7-13 81,-13-53 1,5 33-1610,1-7-5298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0:06:07.89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5.990"/>
    </inkml:context>
    <inkml:brush xml:id="br0">
      <inkml:brushProperty name="width" value="0.35" units="cm"/>
      <inkml:brushProperty name="height" value="0.35" units="cm"/>
      <inkml:brushProperty name="color" value="#FFFFFF"/>
    </inkml:brush>
  </inkml:definitions>
  <inkml:trace contextRef="#ctx0" brushRef="#br0">48 114 24575,'-2'156'0,"5"172"0,-2-308 0,2-1 0,0 1 0,1-1 0,1 0 0,11 26 0,-13-41 0,-2-6 0,-2-16 0,-4-28 0,-8-30 0,-23-104 0,28 153 0,2 0 0,0 0 0,2-1 0,-2-51 0,14 88 0,2 13 0,332 827 0,-318-781 0,-23-67 0,0 0 0,-1 1 0,1-1 0,-1 0 0,1 0 0,-1 0 0,0 1 0,1-1 0,-1 0 0,0 1 0,0-1 0,0 0 0,0 0 0,0 1 0,0-1 0,0 0 0,-1 1 0,1 0 0,-17-23 0,-144-300 0,84 164 0,43 89 0,-45-96 0,78 162 0,0 0 0,0 1 0,0-1 0,1 0 0,-1 0 0,1-1 0,-1 1 0,1 0 0,-1 0 0,1-4 0,1 6 0,-1 0 0,0 0 0,1-1 0,-1 1 0,0 0 0,1 0 0,-1 0 0,0 0 0,1 0 0,-1 0 0,1 0 0,-1 0 0,0 0 0,1 0 0,-1 0 0,0 0 0,1 0 0,-1 0 0,0 1 0,1-1 0,-1 0 0,0 0 0,1 0 0,-1 0 0,0 1 0,1-1 0,-1 0 0,0 0 0,0 1 0,1-1 0,-1 0 0,0 0 0,0 1 0,1 0 0,40 41 0,-33-32 0,16 16 0,1 0 0,1-1 0,2-2 0,0-1 0,60 36 0,-36-30 0,159 72 0,-207-99 0,0 1 0,0-1 0,0 1 0,0-1 0,0 0 0,1-1 0,-1 1 0,0-1 0,1 0 0,-1 0 0,0 0 0,1-1 0,-1 1 0,0-1 0,5-1 0,-6 0 0,0 0 0,0 0 0,0 0 0,-1 0 0,1 0 0,0 0 0,-1-1 0,0 1 0,1-1 0,-1 0 0,0 0 0,0 0 0,-1 0 0,1 0 0,0 0 0,-1 0 0,0 0 0,0-1 0,1-4 0,3-14 0,0 0 0,-2-1 0,2-42 0,-9-74 0,0 73 0,0-205 0,1 246 30,-1 0 0,-10-36-1,4 19-1483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8.232"/>
    </inkml:context>
    <inkml:brush xml:id="br0">
      <inkml:brushProperty name="width" value="0.35" units="cm"/>
      <inkml:brushProperty name="height" value="0.35" units="cm"/>
      <inkml:brushProperty name="color" value="#FFFFFF"/>
    </inkml:brush>
  </inkml:definitions>
  <inkml:trace contextRef="#ctx0" brushRef="#br0">29 534 24575,'1'23'0,"1"0"0,1 0 0,1 0 0,0-1 0,13 32 0,49 106 0,-29-77 0,-29-63 0,-6-11 0,1-1 0,1 1 0,0-1 0,0 0 0,1 0 0,0-1 0,0 1 0,7 7 0,-11-15 0,-1 0 0,0 1 0,0-1 0,0 0 0,0 0 0,0 0 0,0 0 0,0 0 0,0 0 0,0 1 0,1-1 0,-1 0 0,0 0 0,0 0 0,0 0 0,0 0 0,0 0 0,1 0 0,-1 0 0,0 0 0,0 0 0,0 0 0,0 0 0,1 0 0,-1 0 0,0 0 0,0 0 0,0 0 0,0 0 0,0 0 0,1 0 0,-1 0 0,0 0 0,0 0 0,0 0 0,0 0 0,1 0 0,-1 0 0,0 0 0,0 0 0,0 0 0,0 0 0,0-1 0,0 1 0,1 0 0,-1 0 0,0 0 0,0 0 0,0 0 0,0 0 0,0-1 0,0 1 0,0 0 0,0 0 0,0 0 0,0 0 0,0 0 0,0-1 0,0 1 0,0 0 0,0 0 0,0 0 0,0 0 0,0-1 0,0 1 0,0 0 0,0 0 0,0 0 0,0-1 0,0-9 0,-1-1 0,0 1 0,-5-19 0,-1-8 0,-15-95 0,-56-179 0,45 199-682,-33-210-1,59 255-6143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42.295"/>
    </inkml:context>
    <inkml:brush xml:id="br0">
      <inkml:brushProperty name="width" value="0.35" units="cm"/>
      <inkml:brushProperty name="height" value="0.35" units="cm"/>
      <inkml:brushProperty name="color" value="#FFFFFF"/>
    </inkml:brush>
  </inkml:definitions>
  <inkml:trace contextRef="#ctx0" brushRef="#br0">0 1079 24575,'92'-68'0,"-28"6"0,-40 38 0,49-41 0,-69 62 0,0 1 0,0-1 0,0 0 0,1 1 0,-1 0 0,1 0 0,-1 0 0,1 1 0,0 0 0,0 0 0,0 0 0,0 0 0,0 1 0,-1-1 0,1 1 0,0 1 0,0-1 0,0 1 0,8 1 0,-3 2 0,0 0 0,-1 0 0,1 1 0,-1 0 0,0 1 0,-1 0 0,1 0 0,10 11 0,17 15 0,-1 2 0,-1 2 0,-2 1 0,-2 1 0,-1 1 0,-3 2 0,33 65 0,-56-100 0,10 21 0,-8-24 0,-2-17 0,-5-19 0,-2 1 0,-14-62 0,7 44 0,-10-38 0,-3 0 0,-71-162 0,60 167 0,3-2 0,-39-169 0,63 216 0,-2 1 0,-2 1 0,-29-63 0,41 99 0,0-1 0,0 0 0,0 0 0,-1 1 0,1-1 0,0 0 0,-1 1 0,1-1 0,-1 0 0,1 1 0,0-1 0,-1 1 0,1-1 0,-1 1 0,0-1 0,1 1 0,-1-1 0,1 1 0,-1-1 0,0 1 0,1 0 0,-1-1 0,-1 1 0,2 1 0,0 0 0,0 0 0,-1 0 0,1 0 0,0 0 0,0-1 0,0 1 0,0 0 0,0 0 0,1 0 0,-1 0 0,0 0 0,0 0 0,1 0 0,-1 0 0,0 0 0,1 0 0,-1 0 0,1 0 0,30 65 0,4-1 0,46 66 0,-31-53 0,86 153 0,110 256 0,-235-461 0,-8-17 0,1 0 0,0 1 0,0-1 0,1-1 0,0 1 0,1-1 0,-1 0 0,14 14 0,-19-22 0,0 1 0,1-1 0,-1 0 0,0 0 0,0 0 0,1 1 0,-1-1 0,0 0 0,1 0 0,-1 0 0,0 0 0,0 1 0,1-1 0,-1 0 0,0 0 0,1 0 0,-1 0 0,0 0 0,1 0 0,-1 0 0,0 0 0,1 0 0,-1 0 0,1 0 0,-1 0 0,0 0 0,1 0 0,-1 0 0,0 0 0,0-1 0,1 1 0,-1 0 0,0 0 0,1 0 0,-1 0 0,0-1 0,0 1 0,1 0 0,-1 0 0,0-1 0,0 1 0,1 0 0,-1 0 0,0-1 0,0 1 0,0 0 0,0-1 0,1 1 0,-1 0 0,0-1 0,0 1 0,0 0 0,0-1 0,0 1 0,0-1 0,2-23 0,-7-13 81,-13-53 1,5 33-1610,1-7-5298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0:06:07.89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5.990"/>
    </inkml:context>
    <inkml:brush xml:id="br0">
      <inkml:brushProperty name="width" value="0.35" units="cm"/>
      <inkml:brushProperty name="height" value="0.35" units="cm"/>
      <inkml:brushProperty name="color" value="#FFFFFF"/>
    </inkml:brush>
  </inkml:definitions>
  <inkml:trace contextRef="#ctx0" brushRef="#br0">48 114 24575,'-2'156'0,"5"172"0,-2-308 0,2-1 0,0 1 0,1-1 0,1 0 0,11 26 0,-13-41 0,-2-6 0,-2-16 0,-4-28 0,-8-30 0,-23-104 0,28 153 0,2 0 0,0 0 0,2-1 0,-2-51 0,14 88 0,2 13 0,332 827 0,-318-781 0,-23-67 0,0 0 0,-1 1 0,1-1 0,-1 0 0,1 0 0,-1 0 0,0 1 0,1-1 0,-1 0 0,0 1 0,0-1 0,0 0 0,0 0 0,0 1 0,0-1 0,0 0 0,-1 1 0,1 0 0,-17-23 0,-144-300 0,84 164 0,43 89 0,-45-96 0,78 162 0,0 0 0,0 1 0,0-1 0,1 0 0,-1 0 0,1-1 0,-1 1 0,1 0 0,-1 0 0,1-4 0,1 6 0,-1 0 0,0 0 0,1-1 0,-1 1 0,0 0 0,1 0 0,-1 0 0,0 0 0,1 0 0,-1 0 0,1 0 0,-1 0 0,0 0 0,1 0 0,-1 0 0,0 0 0,1 0 0,-1 0 0,0 1 0,1-1 0,-1 0 0,0 0 0,1 0 0,-1 0 0,0 1 0,1-1 0,-1 0 0,0 0 0,0 1 0,1-1 0,-1 0 0,0 0 0,0 1 0,1 0 0,40 41 0,-33-32 0,16 16 0,1 0 0,1-1 0,2-2 0,0-1 0,60 36 0,-36-30 0,159 72 0,-207-99 0,0 1 0,0-1 0,0 1 0,0-1 0,0 0 0,1-1 0,-1 1 0,0-1 0,1 0 0,-1 0 0,0 0 0,1-1 0,-1 1 0,0-1 0,5-1 0,-6 0 0,0 0 0,0 0 0,0 0 0,-1 0 0,1 0 0,0 0 0,-1-1 0,0 1 0,1-1 0,-1 0 0,0 0 0,0 0 0,-1 0 0,1 0 0,0 0 0,-1 0 0,0 0 0,0-1 0,1-4 0,3-14 0,0 0 0,-2-1 0,2-42 0,-9-74 0,0 73 0,0-205 0,1 246 30,-1 0 0,-10-36-1,4 19-1483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8.232"/>
    </inkml:context>
    <inkml:brush xml:id="br0">
      <inkml:brushProperty name="width" value="0.35" units="cm"/>
      <inkml:brushProperty name="height" value="0.35" units="cm"/>
      <inkml:brushProperty name="color" value="#FFFFFF"/>
    </inkml:brush>
  </inkml:definitions>
  <inkml:trace contextRef="#ctx0" brushRef="#br0">29 534 24575,'1'23'0,"1"0"0,1 0 0,1 0 0,0-1 0,13 32 0,49 106 0,-29-77 0,-29-63 0,-6-11 0,1-1 0,1 1 0,0-1 0,0 0 0,1 0 0,0-1 0,0 1 0,7 7 0,-11-15 0,-1 0 0,0 1 0,0-1 0,0 0 0,0 0 0,0 0 0,0 0 0,0 0 0,0 0 0,0 1 0,1-1 0,-1 0 0,0 0 0,0 0 0,0 0 0,0 0 0,0 0 0,1 0 0,-1 0 0,0 0 0,0 0 0,0 0 0,0 0 0,1 0 0,-1 0 0,0 0 0,0 0 0,0 0 0,0 0 0,0 0 0,1 0 0,-1 0 0,0 0 0,0 0 0,0 0 0,0 0 0,1 0 0,-1 0 0,0 0 0,0 0 0,0 0 0,0 0 0,0-1 0,0 1 0,1 0 0,-1 0 0,0 0 0,0 0 0,0 0 0,0 0 0,0-1 0,0 1 0,0 0 0,0 0 0,0 0 0,0 0 0,0 0 0,0-1 0,0 1 0,0 0 0,0 0 0,0 0 0,0 0 0,0-1 0,0 1 0,0 0 0,0 0 0,0 0 0,0-1 0,0-9 0,-1-1 0,0 1 0,-5-19 0,-1-8 0,-15-95 0,-56-179 0,45 199-682,-33-210-1,59 255-6143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42.295"/>
    </inkml:context>
    <inkml:brush xml:id="br0">
      <inkml:brushProperty name="width" value="0.35" units="cm"/>
      <inkml:brushProperty name="height" value="0.35" units="cm"/>
      <inkml:brushProperty name="color" value="#FFFFFF"/>
    </inkml:brush>
  </inkml:definitions>
  <inkml:trace contextRef="#ctx0" brushRef="#br0">0 1079 24575,'92'-68'0,"-28"6"0,-40 38 0,49-41 0,-69 62 0,0 1 0,0-1 0,0 0 0,1 1 0,-1 0 0,1 0 0,-1 0 0,1 1 0,0 0 0,0 0 0,0 0 0,0 0 0,0 1 0,-1-1 0,1 1 0,0 1 0,0-1 0,0 1 0,8 1 0,-3 2 0,0 0 0,-1 0 0,1 1 0,-1 0 0,0 1 0,-1 0 0,1 0 0,10 11 0,17 15 0,-1 2 0,-1 2 0,-2 1 0,-2 1 0,-1 1 0,-3 2 0,33 65 0,-56-100 0,10 21 0,-8-24 0,-2-17 0,-5-19 0,-2 1 0,-14-62 0,7 44 0,-10-38 0,-3 0 0,-71-162 0,60 167 0,3-2 0,-39-169 0,63 216 0,-2 1 0,-2 1 0,-29-63 0,41 99 0,0-1 0,0 0 0,0 0 0,-1 1 0,1-1 0,0 0 0,-1 1 0,1-1 0,-1 0 0,1 1 0,0-1 0,-1 1 0,1-1 0,-1 1 0,0-1 0,1 1 0,-1-1 0,1 1 0,-1-1 0,0 1 0,1 0 0,-1-1 0,-1 1 0,2 1 0,0 0 0,0 0 0,-1 0 0,1 0 0,0 0 0,0-1 0,0 1 0,0 0 0,0 0 0,1 0 0,-1 0 0,0 0 0,0 0 0,1 0 0,-1 0 0,0 0 0,1 0 0,-1 0 0,1 0 0,30 65 0,4-1 0,46 66 0,-31-53 0,86 153 0,110 256 0,-235-461 0,-8-17 0,1 0 0,0 1 0,0-1 0,1-1 0,0 1 0,1-1 0,-1 0 0,14 14 0,-19-22 0,0 1 0,1-1 0,-1 0 0,0 0 0,0 0 0,1 1 0,-1-1 0,0 0 0,1 0 0,-1 0 0,0 0 0,0 1 0,1-1 0,-1 0 0,0 0 0,1 0 0,-1 0 0,0 0 0,1 0 0,-1 0 0,0 0 0,1 0 0,-1 0 0,1 0 0,-1 0 0,0 0 0,1 0 0,-1 0 0,0 0 0,0-1 0,1 1 0,-1 0 0,0 0 0,1 0 0,-1 0 0,0-1 0,0 1 0,1 0 0,-1 0 0,0-1 0,0 1 0,1 0 0,-1 0 0,0-1 0,0 1 0,0 0 0,0-1 0,1 1 0,-1 0 0,0-1 0,0 1 0,0 0 0,0-1 0,0 1 0,0-1 0,2-23 0,-7-13 81,-13-53 1,5 33-1610,1-7-5298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0:06:07.89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5.990"/>
    </inkml:context>
    <inkml:brush xml:id="br0">
      <inkml:brushProperty name="width" value="0.35" units="cm"/>
      <inkml:brushProperty name="height" value="0.35" units="cm"/>
      <inkml:brushProperty name="color" value="#FFFFFF"/>
    </inkml:brush>
  </inkml:definitions>
  <inkml:trace contextRef="#ctx0" brushRef="#br0">48 114 24575,'-2'156'0,"5"172"0,-2-308 0,2-1 0,0 1 0,1-1 0,1 0 0,11 26 0,-13-41 0,-2-6 0,-2-16 0,-4-28 0,-8-30 0,-23-104 0,28 153 0,2 0 0,0 0 0,2-1 0,-2-51 0,14 88 0,2 13 0,332 827 0,-318-781 0,-23-67 0,0 0 0,-1 1 0,1-1 0,-1 0 0,1 0 0,-1 0 0,0 1 0,1-1 0,-1 0 0,0 1 0,0-1 0,0 0 0,0 0 0,0 1 0,0-1 0,0 0 0,-1 1 0,1 0 0,-17-23 0,-144-300 0,84 164 0,43 89 0,-45-96 0,78 162 0,0 0 0,0 1 0,0-1 0,1 0 0,-1 0 0,1-1 0,-1 1 0,1 0 0,-1 0 0,1-4 0,1 6 0,-1 0 0,0 0 0,1-1 0,-1 1 0,0 0 0,1 0 0,-1 0 0,0 0 0,1 0 0,-1 0 0,1 0 0,-1 0 0,0 0 0,1 0 0,-1 0 0,0 0 0,1 0 0,-1 0 0,0 1 0,1-1 0,-1 0 0,0 0 0,1 0 0,-1 0 0,0 1 0,1-1 0,-1 0 0,0 0 0,0 1 0,1-1 0,-1 0 0,0 0 0,0 1 0,1 0 0,40 41 0,-33-32 0,16 16 0,1 0 0,1-1 0,2-2 0,0-1 0,60 36 0,-36-30 0,159 72 0,-207-99 0,0 1 0,0-1 0,0 1 0,0-1 0,0 0 0,1-1 0,-1 1 0,0-1 0,1 0 0,-1 0 0,0 0 0,1-1 0,-1 1 0,0-1 0,5-1 0,-6 0 0,0 0 0,0 0 0,0 0 0,-1 0 0,1 0 0,0 0 0,-1-1 0,0 1 0,1-1 0,-1 0 0,0 0 0,0 0 0,-1 0 0,1 0 0,0 0 0,-1 0 0,0 0 0,0-1 0,1-4 0,3-14 0,0 0 0,-2-1 0,2-42 0,-9-74 0,0 73 0,0-205 0,1 246 30,-1 0 0,-10-36-1,4 19-1483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8.232"/>
    </inkml:context>
    <inkml:brush xml:id="br0">
      <inkml:brushProperty name="width" value="0.35" units="cm"/>
      <inkml:brushProperty name="height" value="0.35" units="cm"/>
      <inkml:brushProperty name="color" value="#FFFFFF"/>
    </inkml:brush>
  </inkml:definitions>
  <inkml:trace contextRef="#ctx0" brushRef="#br0">29 534 24575,'1'23'0,"1"0"0,1 0 0,1 0 0,0-1 0,13 32 0,49 106 0,-29-77 0,-29-63 0,-6-11 0,1-1 0,1 1 0,0-1 0,0 0 0,1 0 0,0-1 0,0 1 0,7 7 0,-11-15 0,-1 0 0,0 1 0,0-1 0,0 0 0,0 0 0,0 0 0,0 0 0,0 0 0,0 0 0,0 1 0,1-1 0,-1 0 0,0 0 0,0 0 0,0 0 0,0 0 0,0 0 0,1 0 0,-1 0 0,0 0 0,0 0 0,0 0 0,0 0 0,1 0 0,-1 0 0,0 0 0,0 0 0,0 0 0,0 0 0,0 0 0,1 0 0,-1 0 0,0 0 0,0 0 0,0 0 0,0 0 0,1 0 0,-1 0 0,0 0 0,0 0 0,0 0 0,0 0 0,0-1 0,0 1 0,1 0 0,-1 0 0,0 0 0,0 0 0,0 0 0,0 0 0,0-1 0,0 1 0,0 0 0,0 0 0,0 0 0,0 0 0,0 0 0,0-1 0,0 1 0,0 0 0,0 0 0,0 0 0,0 0 0,0-1 0,0 1 0,0 0 0,0 0 0,0 0 0,0-1 0,0-9 0,-1-1 0,0 1 0,-5-19 0,-1-8 0,-15-95 0,-56-179 0,45 199-682,-33-210-1,59 255-6143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42.295"/>
    </inkml:context>
    <inkml:brush xml:id="br0">
      <inkml:brushProperty name="width" value="0.35" units="cm"/>
      <inkml:brushProperty name="height" value="0.35" units="cm"/>
      <inkml:brushProperty name="color" value="#FFFFFF"/>
    </inkml:brush>
  </inkml:definitions>
  <inkml:trace contextRef="#ctx0" brushRef="#br0">0 1079 24575,'92'-68'0,"-28"6"0,-40 38 0,49-41 0,-69 62 0,0 1 0,0-1 0,0 0 0,1 1 0,-1 0 0,1 0 0,-1 0 0,1 1 0,0 0 0,0 0 0,0 0 0,0 0 0,0 1 0,-1-1 0,1 1 0,0 1 0,0-1 0,0 1 0,8 1 0,-3 2 0,0 0 0,-1 0 0,1 1 0,-1 0 0,0 1 0,-1 0 0,1 0 0,10 11 0,17 15 0,-1 2 0,-1 2 0,-2 1 0,-2 1 0,-1 1 0,-3 2 0,33 65 0,-56-100 0,10 21 0,-8-24 0,-2-17 0,-5-19 0,-2 1 0,-14-62 0,7 44 0,-10-38 0,-3 0 0,-71-162 0,60 167 0,3-2 0,-39-169 0,63 216 0,-2 1 0,-2 1 0,-29-63 0,41 99 0,0-1 0,0 0 0,0 0 0,-1 1 0,1-1 0,0 0 0,-1 1 0,1-1 0,-1 0 0,1 1 0,0-1 0,-1 1 0,1-1 0,-1 1 0,0-1 0,1 1 0,-1-1 0,1 1 0,-1-1 0,0 1 0,1 0 0,-1-1 0,-1 1 0,2 1 0,0 0 0,0 0 0,-1 0 0,1 0 0,0 0 0,0-1 0,0 1 0,0 0 0,0 0 0,1 0 0,-1 0 0,0 0 0,0 0 0,1 0 0,-1 0 0,0 0 0,1 0 0,-1 0 0,1 0 0,30 65 0,4-1 0,46 66 0,-31-53 0,86 153 0,110 256 0,-235-461 0,-8-17 0,1 0 0,0 1 0,0-1 0,1-1 0,0 1 0,1-1 0,-1 0 0,14 14 0,-19-22 0,0 1 0,1-1 0,-1 0 0,0 0 0,0 0 0,1 1 0,-1-1 0,0 0 0,1 0 0,-1 0 0,0 0 0,0 1 0,1-1 0,-1 0 0,0 0 0,1 0 0,-1 0 0,0 0 0,1 0 0,-1 0 0,0 0 0,1 0 0,-1 0 0,1 0 0,-1 0 0,0 0 0,1 0 0,-1 0 0,0 0 0,0-1 0,1 1 0,-1 0 0,0 0 0,1 0 0,-1 0 0,0-1 0,0 1 0,1 0 0,-1 0 0,0-1 0,0 1 0,1 0 0,-1 0 0,0-1 0,0 1 0,0 0 0,0-1 0,1 1 0,-1 0 0,0-1 0,0 1 0,0 0 0,0-1 0,0 1 0,0-1 0,2-23 0,-7-13 81,-13-53 1,5 33-1610,1-7-5298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0:06:07.89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5.990"/>
    </inkml:context>
    <inkml:brush xml:id="br0">
      <inkml:brushProperty name="width" value="0.35" units="cm"/>
      <inkml:brushProperty name="height" value="0.35" units="cm"/>
      <inkml:brushProperty name="color" value="#FFFFFF"/>
    </inkml:brush>
  </inkml:definitions>
  <inkml:trace contextRef="#ctx0" brushRef="#br0">48 114 24575,'-2'156'0,"5"172"0,-2-308 0,2-1 0,0 1 0,1-1 0,1 0 0,11 26 0,-13-41 0,-2-6 0,-2-16 0,-4-28 0,-8-30 0,-23-104 0,28 153 0,2 0 0,0 0 0,2-1 0,-2-51 0,14 88 0,2 13 0,332 827 0,-318-781 0,-23-67 0,0 0 0,-1 1 0,1-1 0,-1 0 0,1 0 0,-1 0 0,0 1 0,1-1 0,-1 0 0,0 1 0,0-1 0,0 0 0,0 0 0,0 1 0,0-1 0,0 0 0,-1 1 0,1 0 0,-17-23 0,-144-300 0,84 164 0,43 89 0,-45-96 0,78 162 0,0 0 0,0 1 0,0-1 0,1 0 0,-1 0 0,1-1 0,-1 1 0,1 0 0,-1 0 0,1-4 0,1 6 0,-1 0 0,0 0 0,1-1 0,-1 1 0,0 0 0,1 0 0,-1 0 0,0 0 0,1 0 0,-1 0 0,1 0 0,-1 0 0,0 0 0,1 0 0,-1 0 0,0 0 0,1 0 0,-1 0 0,0 1 0,1-1 0,-1 0 0,0 0 0,1 0 0,-1 0 0,0 1 0,1-1 0,-1 0 0,0 0 0,0 1 0,1-1 0,-1 0 0,0 0 0,0 1 0,1 0 0,40 41 0,-33-32 0,16 16 0,1 0 0,1-1 0,2-2 0,0-1 0,60 36 0,-36-30 0,159 72 0,-207-99 0,0 1 0,0-1 0,0 1 0,0-1 0,0 0 0,1-1 0,-1 1 0,0-1 0,1 0 0,-1 0 0,0 0 0,1-1 0,-1 1 0,0-1 0,5-1 0,-6 0 0,0 0 0,0 0 0,0 0 0,-1 0 0,1 0 0,0 0 0,-1-1 0,0 1 0,1-1 0,-1 0 0,0 0 0,0 0 0,-1 0 0,1 0 0,0 0 0,-1 0 0,0 0 0,0-1 0,1-4 0,3-14 0,0 0 0,-2-1 0,2-42 0,-9-74 0,0 73 0,0-205 0,1 246 30,-1 0 0,-10-36-1,4 19-1483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8.232"/>
    </inkml:context>
    <inkml:brush xml:id="br0">
      <inkml:brushProperty name="width" value="0.35" units="cm"/>
      <inkml:brushProperty name="height" value="0.35" units="cm"/>
      <inkml:brushProperty name="color" value="#FFFFFF"/>
    </inkml:brush>
  </inkml:definitions>
  <inkml:trace contextRef="#ctx0" brushRef="#br0">29 534 24575,'1'23'0,"1"0"0,1 0 0,1 0 0,0-1 0,13 32 0,49 106 0,-29-77 0,-29-63 0,-6-11 0,1-1 0,1 1 0,0-1 0,0 0 0,1 0 0,0-1 0,0 1 0,7 7 0,-11-15 0,-1 0 0,0 1 0,0-1 0,0 0 0,0 0 0,0 0 0,0 0 0,0 0 0,0 0 0,0 1 0,1-1 0,-1 0 0,0 0 0,0 0 0,0 0 0,0 0 0,0 0 0,1 0 0,-1 0 0,0 0 0,0 0 0,0 0 0,0 0 0,1 0 0,-1 0 0,0 0 0,0 0 0,0 0 0,0 0 0,0 0 0,1 0 0,-1 0 0,0 0 0,0 0 0,0 0 0,0 0 0,1 0 0,-1 0 0,0 0 0,0 0 0,0 0 0,0 0 0,0-1 0,0 1 0,1 0 0,-1 0 0,0 0 0,0 0 0,0 0 0,0 0 0,0-1 0,0 1 0,0 0 0,0 0 0,0 0 0,0 0 0,0 0 0,0-1 0,0 1 0,0 0 0,0 0 0,0 0 0,0 0 0,0-1 0,0 1 0,0 0 0,0 0 0,0 0 0,0-1 0,0-9 0,-1-1 0,0 1 0,-5-19 0,-1-8 0,-15-95 0,-56-179 0,45 199-682,-33-210-1,59 255-6143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42.295"/>
    </inkml:context>
    <inkml:brush xml:id="br0">
      <inkml:brushProperty name="width" value="0.35" units="cm"/>
      <inkml:brushProperty name="height" value="0.35" units="cm"/>
      <inkml:brushProperty name="color" value="#FFFFFF"/>
    </inkml:brush>
  </inkml:definitions>
  <inkml:trace contextRef="#ctx0" brushRef="#br0">0 1079 24575,'92'-68'0,"-28"6"0,-40 38 0,49-41 0,-69 62 0,0 1 0,0-1 0,0 0 0,1 1 0,-1 0 0,1 0 0,-1 0 0,1 1 0,0 0 0,0 0 0,0 0 0,0 0 0,0 1 0,-1-1 0,1 1 0,0 1 0,0-1 0,0 1 0,8 1 0,-3 2 0,0 0 0,-1 0 0,1 1 0,-1 0 0,0 1 0,-1 0 0,1 0 0,10 11 0,17 15 0,-1 2 0,-1 2 0,-2 1 0,-2 1 0,-1 1 0,-3 2 0,33 65 0,-56-100 0,10 21 0,-8-24 0,-2-17 0,-5-19 0,-2 1 0,-14-62 0,7 44 0,-10-38 0,-3 0 0,-71-162 0,60 167 0,3-2 0,-39-169 0,63 216 0,-2 1 0,-2 1 0,-29-63 0,41 99 0,0-1 0,0 0 0,0 0 0,-1 1 0,1-1 0,0 0 0,-1 1 0,1-1 0,-1 0 0,1 1 0,0-1 0,-1 1 0,1-1 0,-1 1 0,0-1 0,1 1 0,-1-1 0,1 1 0,-1-1 0,0 1 0,1 0 0,-1-1 0,-1 1 0,2 1 0,0 0 0,0 0 0,-1 0 0,1 0 0,0 0 0,0-1 0,0 1 0,0 0 0,0 0 0,1 0 0,-1 0 0,0 0 0,0 0 0,1 0 0,-1 0 0,0 0 0,1 0 0,-1 0 0,1 0 0,30 65 0,4-1 0,46 66 0,-31-53 0,86 153 0,110 256 0,-235-461 0,-8-17 0,1 0 0,0 1 0,0-1 0,1-1 0,0 1 0,1-1 0,-1 0 0,14 14 0,-19-22 0,0 1 0,1-1 0,-1 0 0,0 0 0,0 0 0,1 1 0,-1-1 0,0 0 0,1 0 0,-1 0 0,0 0 0,0 1 0,1-1 0,-1 0 0,0 0 0,1 0 0,-1 0 0,0 0 0,1 0 0,-1 0 0,0 0 0,1 0 0,-1 0 0,1 0 0,-1 0 0,0 0 0,1 0 0,-1 0 0,0 0 0,0-1 0,1 1 0,-1 0 0,0 0 0,1 0 0,-1 0 0,0-1 0,0 1 0,1 0 0,-1 0 0,0-1 0,0 1 0,1 0 0,-1 0 0,0-1 0,0 1 0,0 0 0,0-1 0,1 1 0,-1 0 0,0-1 0,0 1 0,0 0 0,0-1 0,0 1 0,0-1 0,2-23 0,-7-13 81,-13-53 1,5 33-1610,1-7-5298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0:06:07.89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5.990"/>
    </inkml:context>
    <inkml:brush xml:id="br0">
      <inkml:brushProperty name="width" value="0.35" units="cm"/>
      <inkml:brushProperty name="height" value="0.35" units="cm"/>
      <inkml:brushProperty name="color" value="#FFFFFF"/>
    </inkml:brush>
  </inkml:definitions>
  <inkml:trace contextRef="#ctx0" brushRef="#br0">48 114 24575,'-2'156'0,"5"172"0,-2-308 0,2-1 0,0 1 0,1-1 0,1 0 0,11 26 0,-13-41 0,-2-6 0,-2-16 0,-4-28 0,-8-30 0,-23-104 0,28 153 0,2 0 0,0 0 0,2-1 0,-2-51 0,14 88 0,2 13 0,332 827 0,-318-781 0,-23-67 0,0 0 0,-1 1 0,1-1 0,-1 0 0,1 0 0,-1 0 0,0 1 0,1-1 0,-1 0 0,0 1 0,0-1 0,0 0 0,0 0 0,0 1 0,0-1 0,0 0 0,-1 1 0,1 0 0,-17-23 0,-144-300 0,84 164 0,43 89 0,-45-96 0,78 162 0,0 0 0,0 1 0,0-1 0,1 0 0,-1 0 0,1-1 0,-1 1 0,1 0 0,-1 0 0,1-4 0,1 6 0,-1 0 0,0 0 0,1-1 0,-1 1 0,0 0 0,1 0 0,-1 0 0,0 0 0,1 0 0,-1 0 0,1 0 0,-1 0 0,0 0 0,1 0 0,-1 0 0,0 0 0,1 0 0,-1 0 0,0 1 0,1-1 0,-1 0 0,0 0 0,1 0 0,-1 0 0,0 1 0,1-1 0,-1 0 0,0 0 0,0 1 0,1-1 0,-1 0 0,0 0 0,0 1 0,1 0 0,40 41 0,-33-32 0,16 16 0,1 0 0,1-1 0,2-2 0,0-1 0,60 36 0,-36-30 0,159 72 0,-207-99 0,0 1 0,0-1 0,0 1 0,0-1 0,0 0 0,1-1 0,-1 1 0,0-1 0,1 0 0,-1 0 0,0 0 0,1-1 0,-1 1 0,0-1 0,5-1 0,-6 0 0,0 0 0,0 0 0,0 0 0,-1 0 0,1 0 0,0 0 0,-1-1 0,0 1 0,1-1 0,-1 0 0,0 0 0,0 0 0,-1 0 0,1 0 0,0 0 0,-1 0 0,0 0 0,0-1 0,1-4 0,3-14 0,0 0 0,-2-1 0,2-42 0,-9-74 0,0 73 0,0-205 0,1 246 30,-1 0 0,-10-36-1,4 19-1483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38.232"/>
    </inkml:context>
    <inkml:brush xml:id="br0">
      <inkml:brushProperty name="width" value="0.35" units="cm"/>
      <inkml:brushProperty name="height" value="0.35" units="cm"/>
      <inkml:brushProperty name="color" value="#FFFFFF"/>
    </inkml:brush>
  </inkml:definitions>
  <inkml:trace contextRef="#ctx0" brushRef="#br0">29 534 24575,'1'23'0,"1"0"0,1 0 0,1 0 0,0-1 0,13 32 0,49 106 0,-29-77 0,-29-63 0,-6-11 0,1-1 0,1 1 0,0-1 0,0 0 0,1 0 0,0-1 0,0 1 0,7 7 0,-11-15 0,-1 0 0,0 1 0,0-1 0,0 0 0,0 0 0,0 0 0,0 0 0,0 0 0,0 0 0,0 1 0,1-1 0,-1 0 0,0 0 0,0 0 0,0 0 0,0 0 0,0 0 0,1 0 0,-1 0 0,0 0 0,0 0 0,0 0 0,0 0 0,1 0 0,-1 0 0,0 0 0,0 0 0,0 0 0,0 0 0,0 0 0,1 0 0,-1 0 0,0 0 0,0 0 0,0 0 0,0 0 0,1 0 0,-1 0 0,0 0 0,0 0 0,0 0 0,0 0 0,0-1 0,0 1 0,1 0 0,-1 0 0,0 0 0,0 0 0,0 0 0,0 0 0,0-1 0,0 1 0,0 0 0,0 0 0,0 0 0,0 0 0,0 0 0,0-1 0,0 1 0,0 0 0,0 0 0,0 0 0,0 0 0,0-1 0,0 1 0,0 0 0,0 0 0,0 0 0,0-1 0,0-9 0,-1-1 0,0 1 0,-5-19 0,-1-8 0,-15-95 0,-56-179 0,45 199-682,-33-210-1,59 255-6143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09:56:42.295"/>
    </inkml:context>
    <inkml:brush xml:id="br0">
      <inkml:brushProperty name="width" value="0.35" units="cm"/>
      <inkml:brushProperty name="height" value="0.35" units="cm"/>
      <inkml:brushProperty name="color" value="#FFFFFF"/>
    </inkml:brush>
  </inkml:definitions>
  <inkml:trace contextRef="#ctx0" brushRef="#br0">0 1079 24575,'92'-68'0,"-28"6"0,-40 38 0,49-41 0,-69 62 0,0 1 0,0-1 0,0 0 0,1 1 0,-1 0 0,1 0 0,-1 0 0,1 1 0,0 0 0,0 0 0,0 0 0,0 0 0,0 1 0,-1-1 0,1 1 0,0 1 0,0-1 0,0 1 0,8 1 0,-3 2 0,0 0 0,-1 0 0,1 1 0,-1 0 0,0 1 0,-1 0 0,1 0 0,10 11 0,17 15 0,-1 2 0,-1 2 0,-2 1 0,-2 1 0,-1 1 0,-3 2 0,33 65 0,-56-100 0,10 21 0,-8-24 0,-2-17 0,-5-19 0,-2 1 0,-14-62 0,7 44 0,-10-38 0,-3 0 0,-71-162 0,60 167 0,3-2 0,-39-169 0,63 216 0,-2 1 0,-2 1 0,-29-63 0,41 99 0,0-1 0,0 0 0,0 0 0,-1 1 0,1-1 0,0 0 0,-1 1 0,1-1 0,-1 0 0,1 1 0,0-1 0,-1 1 0,1-1 0,-1 1 0,0-1 0,1 1 0,-1-1 0,1 1 0,-1-1 0,0 1 0,1 0 0,-1-1 0,-1 1 0,2 1 0,0 0 0,0 0 0,-1 0 0,1 0 0,0 0 0,0-1 0,0 1 0,0 0 0,0 0 0,1 0 0,-1 0 0,0 0 0,0 0 0,1 0 0,-1 0 0,0 0 0,1 0 0,-1 0 0,1 0 0,30 65 0,4-1 0,46 66 0,-31-53 0,86 153 0,110 256 0,-235-461 0,-8-17 0,1 0 0,0 1 0,0-1 0,1-1 0,0 1 0,1-1 0,-1 0 0,14 14 0,-19-22 0,0 1 0,1-1 0,-1 0 0,0 0 0,0 0 0,1 1 0,-1-1 0,0 0 0,1 0 0,-1 0 0,0 0 0,0 1 0,1-1 0,-1 0 0,0 0 0,1 0 0,-1 0 0,0 0 0,1 0 0,-1 0 0,0 0 0,1 0 0,-1 0 0,1 0 0,-1 0 0,0 0 0,1 0 0,-1 0 0,0 0 0,0-1 0,1 1 0,-1 0 0,0 0 0,1 0 0,-1 0 0,0-1 0,0 1 0,1 0 0,-1 0 0,0-1 0,0 1 0,1 0 0,-1 0 0,0-1 0,0 1 0,0 0 0,0-1 0,1 1 0,-1 0 0,0-1 0,0 1 0,0 0 0,0-1 0,0 1 0,0-1 0,2-23 0,-7-13 81,-13-53 1,5 33-1610,1-7-5298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0:06:07.89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0T10:06:07.89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DA83952-F717-4606-BAC1-09D57D58B988}" type="datetimeFigureOut">
              <a:rPr lang="en-IN" smtClean="0"/>
              <a:t>11-01-2026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EC47D57-7540-4B61-9D9D-E89F8FB4D7A5}" type="slidenum">
              <a:rPr lang="en-IN" smtClean="0"/>
              <a:t>‹#›</a:t>
            </a:fld>
            <a:endParaRPr lang="en-IN"/>
          </a:p>
        </p:txBody>
      </p:sp>
    </p:spTree>
    <p:extLst>
      <p:ext uri="{BB962C8B-B14F-4D97-AF65-F5344CB8AC3E}">
        <p14:creationId xmlns:p14="http://schemas.microsoft.com/office/powerpoint/2010/main" val="3334177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c3d3b2c77_0_22:notes"/>
          <p:cNvSpPr>
            <a:spLocks noGrp="1" noRot="1" noChangeAspect="1"/>
          </p:cNvSpPr>
          <p:nvPr>
            <p:ph type="sldImg" idx="2"/>
          </p:nvPr>
        </p:nvSpPr>
        <p:spPr>
          <a:xfrm>
            <a:off x="4038600" y="857250"/>
            <a:ext cx="4114800" cy="231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7c3d3b2c77_0_22: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37c3d3b2c77_0_22: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7c3d3b2c77_0_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7c3d3b2c77_0_5: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g37c3d3b2c77_0_5: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c3d3b2c77_0_15:notes"/>
          <p:cNvSpPr>
            <a:spLocks noGrp="1" noRot="1" noChangeAspect="1"/>
          </p:cNvSpPr>
          <p:nvPr>
            <p:ph type="sldImg" idx="2"/>
          </p:nvPr>
        </p:nvSpPr>
        <p:spPr>
          <a:xfrm>
            <a:off x="4038600" y="857250"/>
            <a:ext cx="4114800" cy="231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c3d3b2c77_0_15: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r>
              <a:rPr lang="en-US" dirty="0"/>
              <a:t>Airframe: lightweight carbon fiber for speed and durability.</a:t>
            </a:r>
          </a:p>
          <a:p>
            <a:r>
              <a:rPr lang="en-US" dirty="0"/>
              <a:t>Propulsion: counter-rotating propellers for stability and maneuverability.</a:t>
            </a:r>
          </a:p>
          <a:p>
            <a:r>
              <a:rPr lang="en-US" dirty="0"/>
              <a:t>Payload: cameras for real-time control, RPG warheads, high-explosive and shaped charges.</a:t>
            </a:r>
          </a:p>
          <a:p>
            <a:r>
              <a:rPr lang="en-US" dirty="0"/>
              <a:t>Communication: fiber optic links resistant to jamming; encrypted activation signals.</a:t>
            </a:r>
          </a:p>
          <a:p>
            <a:pPr marL="0" lvl="0" indent="0" algn="l" rtl="0">
              <a:spcBef>
                <a:spcPts val="0"/>
              </a:spcBef>
              <a:spcAft>
                <a:spcPts val="0"/>
              </a:spcAft>
              <a:buNone/>
            </a:pPr>
            <a:endParaRPr dirty="0"/>
          </a:p>
        </p:txBody>
      </p:sp>
      <p:sp>
        <p:nvSpPr>
          <p:cNvPr id="164" name="Google Shape;164;g37c3d3b2c77_0_15: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7c3d3b2c77_0_105:notes"/>
          <p:cNvSpPr>
            <a:spLocks noGrp="1" noRot="1" noChangeAspect="1"/>
          </p:cNvSpPr>
          <p:nvPr>
            <p:ph type="sldImg" idx="2"/>
          </p:nvPr>
        </p:nvSpPr>
        <p:spPr>
          <a:xfrm>
            <a:off x="4038600" y="857250"/>
            <a:ext cx="4114800" cy="231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7c3d3b2c77_0_105: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r>
              <a:rPr lang="en-US" dirty="0"/>
              <a:t>Fiber optic cables ensure secure, interference-free communication.</a:t>
            </a:r>
          </a:p>
          <a:p>
            <a:r>
              <a:rPr lang="en-US" dirty="0"/>
              <a:t>AI and real-time video navigation guide drones to precise targets.</a:t>
            </a:r>
          </a:p>
          <a:p>
            <a:r>
              <a:rPr lang="en-US" dirty="0"/>
              <a:t>GPS-denied operations with hidden launch sites and signal shielding.</a:t>
            </a:r>
          </a:p>
          <a:p>
            <a:r>
              <a:rPr lang="en-US" dirty="0"/>
              <a:t>Secondary drones boost signal strength to counteract enemy jamming.</a:t>
            </a:r>
          </a:p>
          <a:p>
            <a:pPr marL="0" lvl="0" indent="0" algn="l" rtl="0">
              <a:spcBef>
                <a:spcPts val="0"/>
              </a:spcBef>
              <a:spcAft>
                <a:spcPts val="0"/>
              </a:spcAft>
              <a:buNone/>
            </a:pPr>
            <a:endParaRPr dirty="0"/>
          </a:p>
        </p:txBody>
      </p:sp>
      <p:sp>
        <p:nvSpPr>
          <p:cNvPr id="171" name="Google Shape;171;g37c3d3b2c77_0_105: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7c3d3b2c77_0_112:notes"/>
          <p:cNvSpPr>
            <a:spLocks noGrp="1" noRot="1" noChangeAspect="1"/>
          </p:cNvSpPr>
          <p:nvPr>
            <p:ph type="sldImg" idx="2"/>
          </p:nvPr>
        </p:nvSpPr>
        <p:spPr>
          <a:xfrm>
            <a:off x="4038600" y="857250"/>
            <a:ext cx="4114800" cy="231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7c3d3b2c77_0_112: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r>
              <a:rPr lang="en-US" dirty="0"/>
              <a:t>Covert launch systems near targets reduce enemy reaction time.</a:t>
            </a:r>
          </a:p>
          <a:p>
            <a:r>
              <a:rPr lang="en-US" dirty="0"/>
              <a:t>Precision strikes on air bases, fuel depots, and strategic bombers.</a:t>
            </a:r>
          </a:p>
          <a:p>
            <a:r>
              <a:rPr lang="en-US" dirty="0"/>
              <a:t>Reduced risk to personnel and lower operational costs.</a:t>
            </a:r>
          </a:p>
          <a:p>
            <a:r>
              <a:rPr lang="en-US" dirty="0"/>
              <a:t>Flexible warhead deployment for varied mission objectives.</a:t>
            </a:r>
          </a:p>
          <a:p>
            <a:pPr marL="0" lvl="0" indent="0" algn="l" rtl="0">
              <a:spcBef>
                <a:spcPts val="0"/>
              </a:spcBef>
              <a:spcAft>
                <a:spcPts val="0"/>
              </a:spcAft>
              <a:buNone/>
            </a:pPr>
            <a:endParaRPr dirty="0"/>
          </a:p>
        </p:txBody>
      </p:sp>
      <p:sp>
        <p:nvSpPr>
          <p:cNvPr id="178" name="Google Shape;178;g37c3d3b2c77_0_112: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7c3d3b2c77_0_119:notes"/>
          <p:cNvSpPr>
            <a:spLocks noGrp="1" noRot="1" noChangeAspect="1"/>
          </p:cNvSpPr>
          <p:nvPr>
            <p:ph type="sldImg" idx="2"/>
          </p:nvPr>
        </p:nvSpPr>
        <p:spPr>
          <a:xfrm>
            <a:off x="4038600" y="857250"/>
            <a:ext cx="4114800" cy="231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c3d3b2c77_0_119: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r>
              <a:rPr lang="en-US" dirty="0"/>
              <a:t>Demonstrates advanced stealth and autonomous operation techniques.</a:t>
            </a:r>
          </a:p>
          <a:p>
            <a:r>
              <a:rPr lang="en-US" dirty="0"/>
              <a:t>Encourages development of resilient communication systems.</a:t>
            </a:r>
          </a:p>
          <a:p>
            <a:r>
              <a:rPr lang="en-US" dirty="0"/>
              <a:t>Expands strategic targeting beyond traditional battle zones.</a:t>
            </a:r>
          </a:p>
          <a:p>
            <a:r>
              <a:rPr lang="en-US" dirty="0"/>
              <a:t>Raises new challenges in countermeasures, ethics, and defense planning.</a:t>
            </a:r>
          </a:p>
          <a:p>
            <a:pPr marL="0" lvl="0" indent="0" algn="l" rtl="0">
              <a:spcBef>
                <a:spcPts val="0"/>
              </a:spcBef>
              <a:spcAft>
                <a:spcPts val="0"/>
              </a:spcAft>
              <a:buNone/>
            </a:pPr>
            <a:endParaRPr dirty="0"/>
          </a:p>
        </p:txBody>
      </p:sp>
      <p:sp>
        <p:nvSpPr>
          <p:cNvPr id="185" name="Google Shape;185;g37c3d3b2c77_0_119: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7c3d3b2c77_0_5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7c3d3b2c77_0_57: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7c3d3b2c77_0_57: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7c3d3b2c77_0_6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7c3d3b2c77_0_67: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37c3d3b2c77_0_67: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7c3d3b2c77_0_8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7c3d3b2c77_0_88: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7c3d3b2c77_0_88: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C47D57-7540-4B61-9D9D-E89F8FB4D7A5}" type="slidenum">
              <a:rPr lang="en-IN" smtClean="0"/>
              <a:t>40</a:t>
            </a:fld>
            <a:endParaRPr lang="en-IN"/>
          </a:p>
        </p:txBody>
      </p:sp>
    </p:spTree>
    <p:extLst>
      <p:ext uri="{BB962C8B-B14F-4D97-AF65-F5344CB8AC3E}">
        <p14:creationId xmlns:p14="http://schemas.microsoft.com/office/powerpoint/2010/main" val="428721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98BF4-7306-105C-9737-D9FC8BE79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F47B5-690B-BF39-9EB1-F47C21913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93F1D-0049-E999-C510-441C414BBB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160325-92DE-178D-F188-4C5D595F4213}"/>
              </a:ext>
            </a:extLst>
          </p:cNvPr>
          <p:cNvSpPr>
            <a:spLocks noGrp="1"/>
          </p:cNvSpPr>
          <p:nvPr>
            <p:ph type="sldNum" sz="quarter" idx="5"/>
          </p:nvPr>
        </p:nvSpPr>
        <p:spPr/>
        <p:txBody>
          <a:bodyPr/>
          <a:lstStyle/>
          <a:p>
            <a:fld id="{EEC47D57-7540-4B61-9D9D-E89F8FB4D7A5}" type="slidenum">
              <a:rPr lang="en-IN" smtClean="0"/>
              <a:t>46</a:t>
            </a:fld>
            <a:endParaRPr lang="en-IN"/>
          </a:p>
        </p:txBody>
      </p:sp>
    </p:spTree>
    <p:extLst>
      <p:ext uri="{BB962C8B-B14F-4D97-AF65-F5344CB8AC3E}">
        <p14:creationId xmlns:p14="http://schemas.microsoft.com/office/powerpoint/2010/main" val="163826158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1.jp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0.jp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140178" y="6538884"/>
            <a:ext cx="3166906" cy="111079"/>
          </a:xfrm>
          <a:prstGeom prst="rect">
            <a:avLst/>
          </a:prstGeom>
        </p:spPr>
      </p:pic>
      <p:sp>
        <p:nvSpPr>
          <p:cNvPr id="17" name="bg object 17"/>
          <p:cNvSpPr/>
          <p:nvPr/>
        </p:nvSpPr>
        <p:spPr>
          <a:xfrm>
            <a:off x="6173723" y="6550151"/>
            <a:ext cx="3104515" cy="47625"/>
          </a:xfrm>
          <a:custGeom>
            <a:avLst/>
            <a:gdLst/>
            <a:ahLst/>
            <a:cxnLst/>
            <a:rect l="l" t="t" r="r" b="b"/>
            <a:pathLst>
              <a:path w="3104515" h="47625">
                <a:moveTo>
                  <a:pt x="3104387" y="0"/>
                </a:moveTo>
                <a:lnTo>
                  <a:pt x="0" y="0"/>
                </a:lnTo>
                <a:lnTo>
                  <a:pt x="0" y="47244"/>
                </a:lnTo>
                <a:lnTo>
                  <a:pt x="3104387" y="47244"/>
                </a:lnTo>
                <a:lnTo>
                  <a:pt x="3104387" y="0"/>
                </a:lnTo>
                <a:close/>
              </a:path>
            </a:pathLst>
          </a:custGeom>
          <a:solidFill>
            <a:srgbClr val="76C2E4"/>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9168383" y="6530334"/>
            <a:ext cx="3023616" cy="126382"/>
          </a:xfrm>
          <a:prstGeom prst="rect">
            <a:avLst/>
          </a:prstGeom>
        </p:spPr>
      </p:pic>
      <p:sp>
        <p:nvSpPr>
          <p:cNvPr id="19" name="bg object 19"/>
          <p:cNvSpPr/>
          <p:nvPr/>
        </p:nvSpPr>
        <p:spPr>
          <a:xfrm>
            <a:off x="9211055" y="6550151"/>
            <a:ext cx="2979420" cy="45720"/>
          </a:xfrm>
          <a:custGeom>
            <a:avLst/>
            <a:gdLst/>
            <a:ahLst/>
            <a:cxnLst/>
            <a:rect l="l" t="t" r="r" b="b"/>
            <a:pathLst>
              <a:path w="2979420" h="45720">
                <a:moveTo>
                  <a:pt x="2979420" y="0"/>
                </a:moveTo>
                <a:lnTo>
                  <a:pt x="0" y="0"/>
                </a:lnTo>
                <a:lnTo>
                  <a:pt x="0" y="45720"/>
                </a:lnTo>
                <a:lnTo>
                  <a:pt x="2979420" y="45720"/>
                </a:lnTo>
                <a:lnTo>
                  <a:pt x="2979420" y="0"/>
                </a:lnTo>
                <a:close/>
              </a:path>
            </a:pathLst>
          </a:custGeom>
          <a:solidFill>
            <a:srgbClr val="E21C23"/>
          </a:solidFill>
        </p:spPr>
        <p:txBody>
          <a:bodyPr wrap="square" lIns="0" tIns="0" rIns="0" bIns="0" rtlCol="0"/>
          <a:lstStyle/>
          <a:p>
            <a:endParaRPr/>
          </a:p>
        </p:txBody>
      </p:sp>
      <p:pic>
        <p:nvPicPr>
          <p:cNvPr id="20" name="bg object 20"/>
          <p:cNvPicPr/>
          <p:nvPr/>
        </p:nvPicPr>
        <p:blipFill>
          <a:blip r:embed="rId4" cstate="print"/>
          <a:stretch>
            <a:fillRect/>
          </a:stretch>
        </p:blipFill>
        <p:spPr>
          <a:xfrm>
            <a:off x="2735579" y="6530339"/>
            <a:ext cx="3520440" cy="128168"/>
          </a:xfrm>
          <a:prstGeom prst="rect">
            <a:avLst/>
          </a:prstGeom>
        </p:spPr>
      </p:pic>
      <p:sp>
        <p:nvSpPr>
          <p:cNvPr id="21" name="bg object 21"/>
          <p:cNvSpPr/>
          <p:nvPr/>
        </p:nvSpPr>
        <p:spPr>
          <a:xfrm>
            <a:off x="2778251" y="6550151"/>
            <a:ext cx="3439795" cy="47625"/>
          </a:xfrm>
          <a:custGeom>
            <a:avLst/>
            <a:gdLst/>
            <a:ahLst/>
            <a:cxnLst/>
            <a:rect l="l" t="t" r="r" b="b"/>
            <a:pathLst>
              <a:path w="3439795" h="47625">
                <a:moveTo>
                  <a:pt x="3439667" y="0"/>
                </a:moveTo>
                <a:lnTo>
                  <a:pt x="0" y="0"/>
                </a:lnTo>
                <a:lnTo>
                  <a:pt x="0" y="47244"/>
                </a:lnTo>
                <a:lnTo>
                  <a:pt x="3439667" y="47244"/>
                </a:lnTo>
                <a:lnTo>
                  <a:pt x="3439667" y="0"/>
                </a:lnTo>
                <a:close/>
              </a:path>
            </a:pathLst>
          </a:custGeom>
          <a:solidFill>
            <a:srgbClr val="FBAF17"/>
          </a:solidFill>
        </p:spPr>
        <p:txBody>
          <a:bodyPr wrap="square" lIns="0" tIns="0" rIns="0" bIns="0" rtlCol="0"/>
          <a:lstStyle/>
          <a:p>
            <a:endParaRPr/>
          </a:p>
        </p:txBody>
      </p:sp>
      <p:pic>
        <p:nvPicPr>
          <p:cNvPr id="22" name="bg object 22"/>
          <p:cNvPicPr/>
          <p:nvPr/>
        </p:nvPicPr>
        <p:blipFill>
          <a:blip r:embed="rId5" cstate="print"/>
          <a:stretch>
            <a:fillRect/>
          </a:stretch>
        </p:blipFill>
        <p:spPr>
          <a:xfrm>
            <a:off x="5951219" y="6533391"/>
            <a:ext cx="3185160" cy="124913"/>
          </a:xfrm>
          <a:prstGeom prst="rect">
            <a:avLst/>
          </a:prstGeom>
        </p:spPr>
      </p:pic>
      <p:sp>
        <p:nvSpPr>
          <p:cNvPr id="23" name="bg object 23"/>
          <p:cNvSpPr/>
          <p:nvPr/>
        </p:nvSpPr>
        <p:spPr>
          <a:xfrm>
            <a:off x="5993891" y="65531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76C2E4"/>
          </a:solidFill>
        </p:spPr>
        <p:txBody>
          <a:bodyPr wrap="square" lIns="0" tIns="0" rIns="0" bIns="0" rtlCol="0"/>
          <a:lstStyle/>
          <a:p>
            <a:endParaRPr/>
          </a:p>
        </p:txBody>
      </p:sp>
      <p:pic>
        <p:nvPicPr>
          <p:cNvPr id="24" name="bg object 24"/>
          <p:cNvPicPr/>
          <p:nvPr/>
        </p:nvPicPr>
        <p:blipFill>
          <a:blip r:embed="rId6" cstate="print"/>
          <a:stretch>
            <a:fillRect/>
          </a:stretch>
        </p:blipFill>
        <p:spPr>
          <a:xfrm>
            <a:off x="2802635" y="6533391"/>
            <a:ext cx="3229356" cy="124913"/>
          </a:xfrm>
          <a:prstGeom prst="rect">
            <a:avLst/>
          </a:prstGeom>
        </p:spPr>
      </p:pic>
      <p:sp>
        <p:nvSpPr>
          <p:cNvPr id="25" name="bg object 25"/>
          <p:cNvSpPr/>
          <p:nvPr/>
        </p:nvSpPr>
        <p:spPr>
          <a:xfrm>
            <a:off x="2845307" y="65531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26" name="bg object 26"/>
          <p:cNvPicPr/>
          <p:nvPr/>
        </p:nvPicPr>
        <p:blipFill>
          <a:blip r:embed="rId7" cstate="print"/>
          <a:stretch>
            <a:fillRect/>
          </a:stretch>
        </p:blipFill>
        <p:spPr>
          <a:xfrm>
            <a:off x="9044939" y="6533391"/>
            <a:ext cx="3147059" cy="124913"/>
          </a:xfrm>
          <a:prstGeom prst="rect">
            <a:avLst/>
          </a:prstGeom>
        </p:spPr>
      </p:pic>
      <p:sp>
        <p:nvSpPr>
          <p:cNvPr id="27" name="bg object 27"/>
          <p:cNvSpPr/>
          <p:nvPr/>
        </p:nvSpPr>
        <p:spPr>
          <a:xfrm>
            <a:off x="9087611" y="6553199"/>
            <a:ext cx="3103245" cy="44450"/>
          </a:xfrm>
          <a:custGeom>
            <a:avLst/>
            <a:gdLst/>
            <a:ahLst/>
            <a:cxnLst/>
            <a:rect l="l" t="t" r="r" b="b"/>
            <a:pathLst>
              <a:path w="3103245" h="44450">
                <a:moveTo>
                  <a:pt x="3102863" y="0"/>
                </a:moveTo>
                <a:lnTo>
                  <a:pt x="0" y="0"/>
                </a:lnTo>
                <a:lnTo>
                  <a:pt x="0" y="44196"/>
                </a:lnTo>
                <a:lnTo>
                  <a:pt x="3102863" y="44196"/>
                </a:lnTo>
                <a:lnTo>
                  <a:pt x="3102863" y="0"/>
                </a:lnTo>
                <a:close/>
              </a:path>
            </a:pathLst>
          </a:custGeom>
          <a:solidFill>
            <a:srgbClr val="FF0000"/>
          </a:solidFill>
        </p:spPr>
        <p:txBody>
          <a:bodyPr wrap="square" lIns="0" tIns="0" rIns="0" bIns="0" rtlCol="0"/>
          <a:lstStyle/>
          <a:p>
            <a:endParaRPr/>
          </a:p>
        </p:txBody>
      </p:sp>
      <p:pic>
        <p:nvPicPr>
          <p:cNvPr id="28" name="bg object 28"/>
          <p:cNvPicPr/>
          <p:nvPr/>
        </p:nvPicPr>
        <p:blipFill>
          <a:blip r:embed="rId8" cstate="print"/>
          <a:stretch>
            <a:fillRect/>
          </a:stretch>
        </p:blipFill>
        <p:spPr>
          <a:xfrm>
            <a:off x="8839200" y="0"/>
            <a:ext cx="2923031" cy="691896"/>
          </a:xfrm>
          <a:prstGeom prst="rect">
            <a:avLst/>
          </a:prstGeom>
        </p:spPr>
      </p:pic>
      <p:pic>
        <p:nvPicPr>
          <p:cNvPr id="29" name="bg object 29"/>
          <p:cNvPicPr/>
          <p:nvPr/>
        </p:nvPicPr>
        <p:blipFill>
          <a:blip r:embed="rId9" cstate="print"/>
          <a:stretch>
            <a:fillRect/>
          </a:stretch>
        </p:blipFill>
        <p:spPr>
          <a:xfrm>
            <a:off x="3116558" y="1284564"/>
            <a:ext cx="3165391" cy="107068"/>
          </a:xfrm>
          <a:prstGeom prst="rect">
            <a:avLst/>
          </a:prstGeom>
        </p:spPr>
      </p:pic>
      <p:sp>
        <p:nvSpPr>
          <p:cNvPr id="30" name="bg object 30"/>
          <p:cNvSpPr/>
          <p:nvPr/>
        </p:nvSpPr>
        <p:spPr>
          <a:xfrm>
            <a:off x="3150107" y="1295399"/>
            <a:ext cx="3103245" cy="44450"/>
          </a:xfrm>
          <a:custGeom>
            <a:avLst/>
            <a:gdLst/>
            <a:ahLst/>
            <a:cxnLst/>
            <a:rect l="l" t="t" r="r" b="b"/>
            <a:pathLst>
              <a:path w="3103245" h="44450">
                <a:moveTo>
                  <a:pt x="3102864" y="0"/>
                </a:moveTo>
                <a:lnTo>
                  <a:pt x="0" y="0"/>
                </a:lnTo>
                <a:lnTo>
                  <a:pt x="0" y="44196"/>
                </a:lnTo>
                <a:lnTo>
                  <a:pt x="3102864" y="44196"/>
                </a:lnTo>
                <a:lnTo>
                  <a:pt x="3102864" y="0"/>
                </a:lnTo>
                <a:close/>
              </a:path>
            </a:pathLst>
          </a:custGeom>
          <a:solidFill>
            <a:srgbClr val="76C2E4"/>
          </a:solidFill>
        </p:spPr>
        <p:txBody>
          <a:bodyPr wrap="square" lIns="0" tIns="0" rIns="0" bIns="0" rtlCol="0"/>
          <a:lstStyle/>
          <a:p>
            <a:endParaRPr/>
          </a:p>
        </p:txBody>
      </p:sp>
      <p:pic>
        <p:nvPicPr>
          <p:cNvPr id="31" name="bg object 31"/>
          <p:cNvPicPr/>
          <p:nvPr/>
        </p:nvPicPr>
        <p:blipFill>
          <a:blip r:embed="rId10" cstate="print"/>
          <a:stretch>
            <a:fillRect/>
          </a:stretch>
        </p:blipFill>
        <p:spPr>
          <a:xfrm>
            <a:off x="0" y="1275642"/>
            <a:ext cx="3186684" cy="124913"/>
          </a:xfrm>
          <a:prstGeom prst="rect">
            <a:avLst/>
          </a:prstGeom>
        </p:spPr>
      </p:pic>
      <p:sp>
        <p:nvSpPr>
          <p:cNvPr id="32" name="bg object 32"/>
          <p:cNvSpPr/>
          <p:nvPr/>
        </p:nvSpPr>
        <p:spPr>
          <a:xfrm>
            <a:off x="0" y="12953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33" name="bg object 33"/>
          <p:cNvPicPr/>
          <p:nvPr/>
        </p:nvPicPr>
        <p:blipFill>
          <a:blip r:embed="rId5" cstate="print"/>
          <a:stretch>
            <a:fillRect/>
          </a:stretch>
        </p:blipFill>
        <p:spPr>
          <a:xfrm>
            <a:off x="6199632" y="1275642"/>
            <a:ext cx="3185160" cy="124913"/>
          </a:xfrm>
          <a:prstGeom prst="rect">
            <a:avLst/>
          </a:prstGeom>
        </p:spPr>
      </p:pic>
      <p:sp>
        <p:nvSpPr>
          <p:cNvPr id="34" name="bg object 34"/>
          <p:cNvSpPr/>
          <p:nvPr/>
        </p:nvSpPr>
        <p:spPr>
          <a:xfrm>
            <a:off x="6242303" y="12953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FF0000"/>
          </a:solidFill>
        </p:spPr>
        <p:txBody>
          <a:bodyPr wrap="square" lIns="0" tIns="0" rIns="0" bIns="0" rtlCol="0"/>
          <a:lstStyle/>
          <a:p>
            <a:endParaRPr/>
          </a:p>
        </p:txBody>
      </p:sp>
      <p:pic>
        <p:nvPicPr>
          <p:cNvPr id="35" name="bg object 35"/>
          <p:cNvPicPr/>
          <p:nvPr/>
        </p:nvPicPr>
        <p:blipFill>
          <a:blip r:embed="rId11" cstate="print"/>
          <a:stretch>
            <a:fillRect/>
          </a:stretch>
        </p:blipFill>
        <p:spPr>
          <a:xfrm>
            <a:off x="280415" y="1671841"/>
            <a:ext cx="7935462" cy="4124684"/>
          </a:xfrm>
          <a:prstGeom prst="rect">
            <a:avLst/>
          </a:prstGeom>
        </p:spPr>
      </p:pic>
      <p:pic>
        <p:nvPicPr>
          <p:cNvPr id="36" name="bg object 36"/>
          <p:cNvPicPr/>
          <p:nvPr/>
        </p:nvPicPr>
        <p:blipFill>
          <a:blip r:embed="rId12" cstate="print"/>
          <a:stretch>
            <a:fillRect/>
          </a:stretch>
        </p:blipFill>
        <p:spPr>
          <a:xfrm>
            <a:off x="7261097" y="4299966"/>
            <a:ext cx="4747259" cy="1592580"/>
          </a:xfrm>
          <a:prstGeom prst="rect">
            <a:avLst/>
          </a:prstGeom>
        </p:spPr>
      </p:pic>
      <p:sp>
        <p:nvSpPr>
          <p:cNvPr id="37" name="bg object 37"/>
          <p:cNvSpPr/>
          <p:nvPr/>
        </p:nvSpPr>
        <p:spPr>
          <a:xfrm>
            <a:off x="7261097" y="4299966"/>
            <a:ext cx="4747260" cy="1592580"/>
          </a:xfrm>
          <a:custGeom>
            <a:avLst/>
            <a:gdLst/>
            <a:ahLst/>
            <a:cxnLst/>
            <a:rect l="l" t="t" r="r" b="b"/>
            <a:pathLst>
              <a:path w="4747259" h="1592579">
                <a:moveTo>
                  <a:pt x="0" y="265429"/>
                </a:moveTo>
                <a:lnTo>
                  <a:pt x="4277" y="217727"/>
                </a:lnTo>
                <a:lnTo>
                  <a:pt x="16609" y="172826"/>
                </a:lnTo>
                <a:lnTo>
                  <a:pt x="36246" y="131477"/>
                </a:lnTo>
                <a:lnTo>
                  <a:pt x="62437" y="94431"/>
                </a:lnTo>
                <a:lnTo>
                  <a:pt x="94431" y="62437"/>
                </a:lnTo>
                <a:lnTo>
                  <a:pt x="131477" y="36246"/>
                </a:lnTo>
                <a:lnTo>
                  <a:pt x="172826" y="16609"/>
                </a:lnTo>
                <a:lnTo>
                  <a:pt x="217727" y="4277"/>
                </a:lnTo>
                <a:lnTo>
                  <a:pt x="265429" y="0"/>
                </a:lnTo>
                <a:lnTo>
                  <a:pt x="4481830" y="0"/>
                </a:lnTo>
                <a:lnTo>
                  <a:pt x="4529532" y="4277"/>
                </a:lnTo>
                <a:lnTo>
                  <a:pt x="4574433" y="16609"/>
                </a:lnTo>
                <a:lnTo>
                  <a:pt x="4615782" y="36246"/>
                </a:lnTo>
                <a:lnTo>
                  <a:pt x="4652828" y="62437"/>
                </a:lnTo>
                <a:lnTo>
                  <a:pt x="4684822" y="94431"/>
                </a:lnTo>
                <a:lnTo>
                  <a:pt x="4711013" y="131477"/>
                </a:lnTo>
                <a:lnTo>
                  <a:pt x="4730650" y="172826"/>
                </a:lnTo>
                <a:lnTo>
                  <a:pt x="4742982" y="217727"/>
                </a:lnTo>
                <a:lnTo>
                  <a:pt x="4747259" y="265429"/>
                </a:lnTo>
                <a:lnTo>
                  <a:pt x="4747259" y="1327149"/>
                </a:lnTo>
                <a:lnTo>
                  <a:pt x="4742982" y="1374862"/>
                </a:lnTo>
                <a:lnTo>
                  <a:pt x="4730650" y="1419768"/>
                </a:lnTo>
                <a:lnTo>
                  <a:pt x="4711013" y="1461119"/>
                </a:lnTo>
                <a:lnTo>
                  <a:pt x="4684822" y="1498164"/>
                </a:lnTo>
                <a:lnTo>
                  <a:pt x="4652828" y="1530155"/>
                </a:lnTo>
                <a:lnTo>
                  <a:pt x="4615782" y="1556341"/>
                </a:lnTo>
                <a:lnTo>
                  <a:pt x="4574433" y="1575974"/>
                </a:lnTo>
                <a:lnTo>
                  <a:pt x="4529532" y="1588303"/>
                </a:lnTo>
                <a:lnTo>
                  <a:pt x="4481830" y="1592579"/>
                </a:lnTo>
                <a:lnTo>
                  <a:pt x="265429" y="1592579"/>
                </a:lnTo>
                <a:lnTo>
                  <a:pt x="217727" y="1588303"/>
                </a:lnTo>
                <a:lnTo>
                  <a:pt x="172826" y="1575974"/>
                </a:lnTo>
                <a:lnTo>
                  <a:pt x="131477" y="1556341"/>
                </a:lnTo>
                <a:lnTo>
                  <a:pt x="94431" y="1530155"/>
                </a:lnTo>
                <a:lnTo>
                  <a:pt x="62437" y="1498164"/>
                </a:lnTo>
                <a:lnTo>
                  <a:pt x="36246" y="1461119"/>
                </a:lnTo>
                <a:lnTo>
                  <a:pt x="16609" y="1419768"/>
                </a:lnTo>
                <a:lnTo>
                  <a:pt x="4277" y="1374862"/>
                </a:lnTo>
                <a:lnTo>
                  <a:pt x="0" y="1327149"/>
                </a:lnTo>
                <a:lnTo>
                  <a:pt x="0" y="265429"/>
                </a:lnTo>
                <a:close/>
              </a:path>
            </a:pathLst>
          </a:custGeom>
          <a:ln w="25908">
            <a:solidFill>
              <a:srgbClr val="41709C"/>
            </a:solidFill>
          </a:ln>
        </p:spPr>
        <p:txBody>
          <a:bodyPr wrap="square" lIns="0" tIns="0" rIns="0" bIns="0" rtlCol="0"/>
          <a:lstStyle/>
          <a:p>
            <a:endParaRPr/>
          </a:p>
        </p:txBody>
      </p:sp>
      <p:sp>
        <p:nvSpPr>
          <p:cNvPr id="2" name="Holder 2"/>
          <p:cNvSpPr>
            <a:spLocks noGrp="1"/>
          </p:cNvSpPr>
          <p:nvPr>
            <p:ph type="ctrTitle"/>
          </p:nvPr>
        </p:nvSpPr>
        <p:spPr>
          <a:xfrm>
            <a:off x="393903" y="424941"/>
            <a:ext cx="7493000" cy="574040"/>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3" name="Holder 3"/>
          <p:cNvSpPr>
            <a:spLocks noGrp="1"/>
          </p:cNvSpPr>
          <p:nvPr>
            <p:ph type="subTitle" idx="4"/>
          </p:nvPr>
        </p:nvSpPr>
        <p:spPr>
          <a:xfrm>
            <a:off x="7504556" y="4647641"/>
            <a:ext cx="4260850" cy="8794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140178" y="6538884"/>
            <a:ext cx="3166906" cy="111079"/>
          </a:xfrm>
          <a:prstGeom prst="rect">
            <a:avLst/>
          </a:prstGeom>
        </p:spPr>
      </p:pic>
      <p:sp>
        <p:nvSpPr>
          <p:cNvPr id="17" name="bg object 17"/>
          <p:cNvSpPr/>
          <p:nvPr/>
        </p:nvSpPr>
        <p:spPr>
          <a:xfrm>
            <a:off x="6173723" y="6550152"/>
            <a:ext cx="3104515" cy="47625"/>
          </a:xfrm>
          <a:custGeom>
            <a:avLst/>
            <a:gdLst/>
            <a:ahLst/>
            <a:cxnLst/>
            <a:rect l="l" t="t" r="r" b="b"/>
            <a:pathLst>
              <a:path w="3104515" h="47625">
                <a:moveTo>
                  <a:pt x="3104387" y="0"/>
                </a:moveTo>
                <a:lnTo>
                  <a:pt x="0" y="0"/>
                </a:lnTo>
                <a:lnTo>
                  <a:pt x="0" y="47244"/>
                </a:lnTo>
                <a:lnTo>
                  <a:pt x="3104387" y="47244"/>
                </a:lnTo>
                <a:lnTo>
                  <a:pt x="3104387" y="0"/>
                </a:lnTo>
                <a:close/>
              </a:path>
            </a:pathLst>
          </a:custGeom>
          <a:solidFill>
            <a:srgbClr val="76C2E4"/>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9168383" y="6530334"/>
            <a:ext cx="3023616" cy="126382"/>
          </a:xfrm>
          <a:prstGeom prst="rect">
            <a:avLst/>
          </a:prstGeom>
        </p:spPr>
      </p:pic>
      <p:sp>
        <p:nvSpPr>
          <p:cNvPr id="19" name="bg object 19"/>
          <p:cNvSpPr/>
          <p:nvPr/>
        </p:nvSpPr>
        <p:spPr>
          <a:xfrm>
            <a:off x="9211056" y="6550152"/>
            <a:ext cx="2979420" cy="45720"/>
          </a:xfrm>
          <a:custGeom>
            <a:avLst/>
            <a:gdLst/>
            <a:ahLst/>
            <a:cxnLst/>
            <a:rect l="l" t="t" r="r" b="b"/>
            <a:pathLst>
              <a:path w="2979420" h="45720">
                <a:moveTo>
                  <a:pt x="2979420" y="0"/>
                </a:moveTo>
                <a:lnTo>
                  <a:pt x="0" y="0"/>
                </a:lnTo>
                <a:lnTo>
                  <a:pt x="0" y="45720"/>
                </a:lnTo>
                <a:lnTo>
                  <a:pt x="2979420" y="45720"/>
                </a:lnTo>
                <a:lnTo>
                  <a:pt x="2979420" y="0"/>
                </a:lnTo>
                <a:close/>
              </a:path>
            </a:pathLst>
          </a:custGeom>
          <a:solidFill>
            <a:srgbClr val="E21C23"/>
          </a:solidFill>
        </p:spPr>
        <p:txBody>
          <a:bodyPr wrap="square" lIns="0" tIns="0" rIns="0" bIns="0" rtlCol="0"/>
          <a:lstStyle/>
          <a:p>
            <a:endParaRPr/>
          </a:p>
        </p:txBody>
      </p:sp>
      <p:pic>
        <p:nvPicPr>
          <p:cNvPr id="20" name="bg object 20"/>
          <p:cNvPicPr/>
          <p:nvPr/>
        </p:nvPicPr>
        <p:blipFill>
          <a:blip r:embed="rId4" cstate="print"/>
          <a:stretch>
            <a:fillRect/>
          </a:stretch>
        </p:blipFill>
        <p:spPr>
          <a:xfrm>
            <a:off x="2735579" y="6530340"/>
            <a:ext cx="3520440" cy="128168"/>
          </a:xfrm>
          <a:prstGeom prst="rect">
            <a:avLst/>
          </a:prstGeom>
        </p:spPr>
      </p:pic>
      <p:sp>
        <p:nvSpPr>
          <p:cNvPr id="21" name="bg object 21"/>
          <p:cNvSpPr/>
          <p:nvPr/>
        </p:nvSpPr>
        <p:spPr>
          <a:xfrm>
            <a:off x="2778251" y="6550152"/>
            <a:ext cx="3439795" cy="47625"/>
          </a:xfrm>
          <a:custGeom>
            <a:avLst/>
            <a:gdLst/>
            <a:ahLst/>
            <a:cxnLst/>
            <a:rect l="l" t="t" r="r" b="b"/>
            <a:pathLst>
              <a:path w="3439795" h="47625">
                <a:moveTo>
                  <a:pt x="3439667" y="0"/>
                </a:moveTo>
                <a:lnTo>
                  <a:pt x="0" y="0"/>
                </a:lnTo>
                <a:lnTo>
                  <a:pt x="0" y="47244"/>
                </a:lnTo>
                <a:lnTo>
                  <a:pt x="3439667" y="47244"/>
                </a:lnTo>
                <a:lnTo>
                  <a:pt x="3439667" y="0"/>
                </a:lnTo>
                <a:close/>
              </a:path>
            </a:pathLst>
          </a:custGeom>
          <a:solidFill>
            <a:srgbClr val="FBAF17"/>
          </a:solidFill>
        </p:spPr>
        <p:txBody>
          <a:bodyPr wrap="square" lIns="0" tIns="0" rIns="0" bIns="0" rtlCol="0"/>
          <a:lstStyle/>
          <a:p>
            <a:endParaRPr/>
          </a:p>
        </p:txBody>
      </p:sp>
      <p:pic>
        <p:nvPicPr>
          <p:cNvPr id="22" name="bg object 22"/>
          <p:cNvPicPr/>
          <p:nvPr/>
        </p:nvPicPr>
        <p:blipFill>
          <a:blip r:embed="rId5" cstate="print"/>
          <a:stretch>
            <a:fillRect/>
          </a:stretch>
        </p:blipFill>
        <p:spPr>
          <a:xfrm>
            <a:off x="8839200" y="0"/>
            <a:ext cx="2923031" cy="691896"/>
          </a:xfrm>
          <a:prstGeom prst="rect">
            <a:avLst/>
          </a:prstGeom>
        </p:spPr>
      </p:pic>
      <p:pic>
        <p:nvPicPr>
          <p:cNvPr id="23" name="bg object 23"/>
          <p:cNvPicPr/>
          <p:nvPr/>
        </p:nvPicPr>
        <p:blipFill>
          <a:blip r:embed="rId6" cstate="print"/>
          <a:stretch>
            <a:fillRect/>
          </a:stretch>
        </p:blipFill>
        <p:spPr>
          <a:xfrm>
            <a:off x="5951220" y="6533391"/>
            <a:ext cx="3185160" cy="124913"/>
          </a:xfrm>
          <a:prstGeom prst="rect">
            <a:avLst/>
          </a:prstGeom>
        </p:spPr>
      </p:pic>
      <p:sp>
        <p:nvSpPr>
          <p:cNvPr id="24" name="bg object 24"/>
          <p:cNvSpPr/>
          <p:nvPr/>
        </p:nvSpPr>
        <p:spPr>
          <a:xfrm>
            <a:off x="5993891" y="6553200"/>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76C2E4"/>
          </a:solidFill>
        </p:spPr>
        <p:txBody>
          <a:bodyPr wrap="square" lIns="0" tIns="0" rIns="0" bIns="0" rtlCol="0"/>
          <a:lstStyle/>
          <a:p>
            <a:endParaRPr/>
          </a:p>
        </p:txBody>
      </p:sp>
      <p:pic>
        <p:nvPicPr>
          <p:cNvPr id="25" name="bg object 25"/>
          <p:cNvPicPr/>
          <p:nvPr/>
        </p:nvPicPr>
        <p:blipFill>
          <a:blip r:embed="rId7" cstate="print"/>
          <a:stretch>
            <a:fillRect/>
          </a:stretch>
        </p:blipFill>
        <p:spPr>
          <a:xfrm>
            <a:off x="2802635" y="6533391"/>
            <a:ext cx="3229356" cy="124913"/>
          </a:xfrm>
          <a:prstGeom prst="rect">
            <a:avLst/>
          </a:prstGeom>
        </p:spPr>
      </p:pic>
      <p:sp>
        <p:nvSpPr>
          <p:cNvPr id="26" name="bg object 26"/>
          <p:cNvSpPr/>
          <p:nvPr/>
        </p:nvSpPr>
        <p:spPr>
          <a:xfrm>
            <a:off x="2845307" y="6553200"/>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27" name="bg object 27"/>
          <p:cNvPicPr/>
          <p:nvPr/>
        </p:nvPicPr>
        <p:blipFill>
          <a:blip r:embed="rId8" cstate="print"/>
          <a:stretch>
            <a:fillRect/>
          </a:stretch>
        </p:blipFill>
        <p:spPr>
          <a:xfrm>
            <a:off x="9044940" y="6533391"/>
            <a:ext cx="3147059" cy="124913"/>
          </a:xfrm>
          <a:prstGeom prst="rect">
            <a:avLst/>
          </a:prstGeom>
        </p:spPr>
      </p:pic>
      <p:sp>
        <p:nvSpPr>
          <p:cNvPr id="28" name="bg object 28"/>
          <p:cNvSpPr/>
          <p:nvPr/>
        </p:nvSpPr>
        <p:spPr>
          <a:xfrm>
            <a:off x="9087611" y="6553200"/>
            <a:ext cx="3103245" cy="44450"/>
          </a:xfrm>
          <a:custGeom>
            <a:avLst/>
            <a:gdLst/>
            <a:ahLst/>
            <a:cxnLst/>
            <a:rect l="l" t="t" r="r" b="b"/>
            <a:pathLst>
              <a:path w="3103245" h="44450">
                <a:moveTo>
                  <a:pt x="3102863" y="0"/>
                </a:moveTo>
                <a:lnTo>
                  <a:pt x="0" y="0"/>
                </a:lnTo>
                <a:lnTo>
                  <a:pt x="0" y="44196"/>
                </a:lnTo>
                <a:lnTo>
                  <a:pt x="3102863" y="44196"/>
                </a:lnTo>
                <a:lnTo>
                  <a:pt x="3102863" y="0"/>
                </a:lnTo>
                <a:close/>
              </a:path>
            </a:pathLst>
          </a:custGeom>
          <a:solidFill>
            <a:srgbClr val="FF0000"/>
          </a:solidFill>
        </p:spPr>
        <p:txBody>
          <a:bodyPr wrap="square" lIns="0" tIns="0" rIns="0" bIns="0" rtlCol="0"/>
          <a:lstStyle/>
          <a:p>
            <a:endParaRPr/>
          </a:p>
        </p:txBody>
      </p:sp>
      <p:pic>
        <p:nvPicPr>
          <p:cNvPr id="29" name="bg object 29"/>
          <p:cNvPicPr/>
          <p:nvPr/>
        </p:nvPicPr>
        <p:blipFill>
          <a:blip r:embed="rId9" cstate="print"/>
          <a:stretch>
            <a:fillRect/>
          </a:stretch>
        </p:blipFill>
        <p:spPr>
          <a:xfrm>
            <a:off x="3116558" y="1284565"/>
            <a:ext cx="3165391" cy="107068"/>
          </a:xfrm>
          <a:prstGeom prst="rect">
            <a:avLst/>
          </a:prstGeom>
        </p:spPr>
      </p:pic>
      <p:sp>
        <p:nvSpPr>
          <p:cNvPr id="30" name="bg object 30"/>
          <p:cNvSpPr/>
          <p:nvPr/>
        </p:nvSpPr>
        <p:spPr>
          <a:xfrm>
            <a:off x="3150107" y="1295400"/>
            <a:ext cx="3103245" cy="44450"/>
          </a:xfrm>
          <a:custGeom>
            <a:avLst/>
            <a:gdLst/>
            <a:ahLst/>
            <a:cxnLst/>
            <a:rect l="l" t="t" r="r" b="b"/>
            <a:pathLst>
              <a:path w="3103245" h="44450">
                <a:moveTo>
                  <a:pt x="3102864" y="0"/>
                </a:moveTo>
                <a:lnTo>
                  <a:pt x="0" y="0"/>
                </a:lnTo>
                <a:lnTo>
                  <a:pt x="0" y="44196"/>
                </a:lnTo>
                <a:lnTo>
                  <a:pt x="3102864" y="44196"/>
                </a:lnTo>
                <a:lnTo>
                  <a:pt x="3102864" y="0"/>
                </a:lnTo>
                <a:close/>
              </a:path>
            </a:pathLst>
          </a:custGeom>
          <a:solidFill>
            <a:srgbClr val="76C2E4"/>
          </a:solidFill>
        </p:spPr>
        <p:txBody>
          <a:bodyPr wrap="square" lIns="0" tIns="0" rIns="0" bIns="0" rtlCol="0"/>
          <a:lstStyle/>
          <a:p>
            <a:endParaRPr/>
          </a:p>
        </p:txBody>
      </p:sp>
      <p:pic>
        <p:nvPicPr>
          <p:cNvPr id="31" name="bg object 31"/>
          <p:cNvPicPr/>
          <p:nvPr/>
        </p:nvPicPr>
        <p:blipFill>
          <a:blip r:embed="rId10" cstate="print"/>
          <a:stretch>
            <a:fillRect/>
          </a:stretch>
        </p:blipFill>
        <p:spPr>
          <a:xfrm>
            <a:off x="0" y="1275642"/>
            <a:ext cx="3186684" cy="124913"/>
          </a:xfrm>
          <a:prstGeom prst="rect">
            <a:avLst/>
          </a:prstGeom>
        </p:spPr>
      </p:pic>
      <p:sp>
        <p:nvSpPr>
          <p:cNvPr id="32" name="bg object 32"/>
          <p:cNvSpPr/>
          <p:nvPr/>
        </p:nvSpPr>
        <p:spPr>
          <a:xfrm>
            <a:off x="0" y="1295400"/>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33" name="bg object 33"/>
          <p:cNvPicPr/>
          <p:nvPr/>
        </p:nvPicPr>
        <p:blipFill>
          <a:blip r:embed="rId6" cstate="print"/>
          <a:stretch>
            <a:fillRect/>
          </a:stretch>
        </p:blipFill>
        <p:spPr>
          <a:xfrm>
            <a:off x="6199632" y="1275642"/>
            <a:ext cx="3185160" cy="124913"/>
          </a:xfrm>
          <a:prstGeom prst="rect">
            <a:avLst/>
          </a:prstGeom>
        </p:spPr>
      </p:pic>
      <p:sp>
        <p:nvSpPr>
          <p:cNvPr id="34" name="bg object 34"/>
          <p:cNvSpPr/>
          <p:nvPr/>
        </p:nvSpPr>
        <p:spPr>
          <a:xfrm>
            <a:off x="6242303" y="1295400"/>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FF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1.png"/><Relationship Id="rId12"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image" Target="../media/image9.png"/><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 Id="rId1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6140178" y="6538884"/>
            <a:ext cx="3166906" cy="111079"/>
          </a:xfrm>
          <a:prstGeom prst="rect">
            <a:avLst/>
          </a:prstGeom>
        </p:spPr>
      </p:pic>
      <p:sp>
        <p:nvSpPr>
          <p:cNvPr id="17" name="bg object 17"/>
          <p:cNvSpPr/>
          <p:nvPr/>
        </p:nvSpPr>
        <p:spPr>
          <a:xfrm>
            <a:off x="6173723" y="6550151"/>
            <a:ext cx="3104515" cy="47625"/>
          </a:xfrm>
          <a:custGeom>
            <a:avLst/>
            <a:gdLst/>
            <a:ahLst/>
            <a:cxnLst/>
            <a:rect l="l" t="t" r="r" b="b"/>
            <a:pathLst>
              <a:path w="3104515" h="47625">
                <a:moveTo>
                  <a:pt x="3104387" y="0"/>
                </a:moveTo>
                <a:lnTo>
                  <a:pt x="0" y="0"/>
                </a:lnTo>
                <a:lnTo>
                  <a:pt x="0" y="47244"/>
                </a:lnTo>
                <a:lnTo>
                  <a:pt x="3104387" y="47244"/>
                </a:lnTo>
                <a:lnTo>
                  <a:pt x="3104387" y="0"/>
                </a:lnTo>
                <a:close/>
              </a:path>
            </a:pathLst>
          </a:custGeom>
          <a:solidFill>
            <a:srgbClr val="76C2E4"/>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9168383" y="6530334"/>
            <a:ext cx="3023616" cy="126382"/>
          </a:xfrm>
          <a:prstGeom prst="rect">
            <a:avLst/>
          </a:prstGeom>
        </p:spPr>
      </p:pic>
      <p:sp>
        <p:nvSpPr>
          <p:cNvPr id="19" name="bg object 19"/>
          <p:cNvSpPr/>
          <p:nvPr/>
        </p:nvSpPr>
        <p:spPr>
          <a:xfrm>
            <a:off x="9211055" y="6550151"/>
            <a:ext cx="2979420" cy="45720"/>
          </a:xfrm>
          <a:custGeom>
            <a:avLst/>
            <a:gdLst/>
            <a:ahLst/>
            <a:cxnLst/>
            <a:rect l="l" t="t" r="r" b="b"/>
            <a:pathLst>
              <a:path w="2979420" h="45720">
                <a:moveTo>
                  <a:pt x="2979420" y="0"/>
                </a:moveTo>
                <a:lnTo>
                  <a:pt x="0" y="0"/>
                </a:lnTo>
                <a:lnTo>
                  <a:pt x="0" y="45720"/>
                </a:lnTo>
                <a:lnTo>
                  <a:pt x="2979420" y="45720"/>
                </a:lnTo>
                <a:lnTo>
                  <a:pt x="2979420" y="0"/>
                </a:lnTo>
                <a:close/>
              </a:path>
            </a:pathLst>
          </a:custGeom>
          <a:solidFill>
            <a:srgbClr val="E21C23"/>
          </a:solidFill>
        </p:spPr>
        <p:txBody>
          <a:bodyPr wrap="square" lIns="0" tIns="0" rIns="0" bIns="0" rtlCol="0"/>
          <a:lstStyle/>
          <a:p>
            <a:endParaRPr/>
          </a:p>
        </p:txBody>
      </p:sp>
      <p:pic>
        <p:nvPicPr>
          <p:cNvPr id="20" name="bg object 20"/>
          <p:cNvPicPr/>
          <p:nvPr/>
        </p:nvPicPr>
        <p:blipFill>
          <a:blip r:embed="rId9" cstate="print"/>
          <a:stretch>
            <a:fillRect/>
          </a:stretch>
        </p:blipFill>
        <p:spPr>
          <a:xfrm>
            <a:off x="2735579" y="6530339"/>
            <a:ext cx="3520440" cy="128168"/>
          </a:xfrm>
          <a:prstGeom prst="rect">
            <a:avLst/>
          </a:prstGeom>
        </p:spPr>
      </p:pic>
      <p:sp>
        <p:nvSpPr>
          <p:cNvPr id="21" name="bg object 21"/>
          <p:cNvSpPr/>
          <p:nvPr/>
        </p:nvSpPr>
        <p:spPr>
          <a:xfrm>
            <a:off x="2778251" y="6550151"/>
            <a:ext cx="3439795" cy="47625"/>
          </a:xfrm>
          <a:custGeom>
            <a:avLst/>
            <a:gdLst/>
            <a:ahLst/>
            <a:cxnLst/>
            <a:rect l="l" t="t" r="r" b="b"/>
            <a:pathLst>
              <a:path w="3439795" h="47625">
                <a:moveTo>
                  <a:pt x="3439667" y="0"/>
                </a:moveTo>
                <a:lnTo>
                  <a:pt x="0" y="0"/>
                </a:lnTo>
                <a:lnTo>
                  <a:pt x="0" y="47244"/>
                </a:lnTo>
                <a:lnTo>
                  <a:pt x="3439667" y="47244"/>
                </a:lnTo>
                <a:lnTo>
                  <a:pt x="3439667" y="0"/>
                </a:lnTo>
                <a:close/>
              </a:path>
            </a:pathLst>
          </a:custGeom>
          <a:solidFill>
            <a:srgbClr val="FBAF17"/>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5951219" y="6533391"/>
            <a:ext cx="3185160" cy="124913"/>
          </a:xfrm>
          <a:prstGeom prst="rect">
            <a:avLst/>
          </a:prstGeom>
        </p:spPr>
      </p:pic>
      <p:sp>
        <p:nvSpPr>
          <p:cNvPr id="23" name="bg object 23"/>
          <p:cNvSpPr/>
          <p:nvPr/>
        </p:nvSpPr>
        <p:spPr>
          <a:xfrm>
            <a:off x="5993891" y="65531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76C2E4"/>
          </a:solidFill>
        </p:spPr>
        <p:txBody>
          <a:bodyPr wrap="square" lIns="0" tIns="0" rIns="0" bIns="0" rtlCol="0"/>
          <a:lstStyle/>
          <a:p>
            <a:endParaRPr/>
          </a:p>
        </p:txBody>
      </p:sp>
      <p:pic>
        <p:nvPicPr>
          <p:cNvPr id="24" name="bg object 24"/>
          <p:cNvPicPr/>
          <p:nvPr/>
        </p:nvPicPr>
        <p:blipFill>
          <a:blip r:embed="rId11" cstate="print"/>
          <a:stretch>
            <a:fillRect/>
          </a:stretch>
        </p:blipFill>
        <p:spPr>
          <a:xfrm>
            <a:off x="2802635" y="6533391"/>
            <a:ext cx="3229356" cy="124913"/>
          </a:xfrm>
          <a:prstGeom prst="rect">
            <a:avLst/>
          </a:prstGeom>
        </p:spPr>
      </p:pic>
      <p:sp>
        <p:nvSpPr>
          <p:cNvPr id="25" name="bg object 25"/>
          <p:cNvSpPr/>
          <p:nvPr/>
        </p:nvSpPr>
        <p:spPr>
          <a:xfrm>
            <a:off x="2845307" y="65531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26" name="bg object 26"/>
          <p:cNvPicPr/>
          <p:nvPr/>
        </p:nvPicPr>
        <p:blipFill>
          <a:blip r:embed="rId12" cstate="print"/>
          <a:stretch>
            <a:fillRect/>
          </a:stretch>
        </p:blipFill>
        <p:spPr>
          <a:xfrm>
            <a:off x="9044939" y="6533391"/>
            <a:ext cx="3147059" cy="124913"/>
          </a:xfrm>
          <a:prstGeom prst="rect">
            <a:avLst/>
          </a:prstGeom>
        </p:spPr>
      </p:pic>
      <p:sp>
        <p:nvSpPr>
          <p:cNvPr id="27" name="bg object 27"/>
          <p:cNvSpPr/>
          <p:nvPr/>
        </p:nvSpPr>
        <p:spPr>
          <a:xfrm>
            <a:off x="9087611" y="6553199"/>
            <a:ext cx="3103245" cy="44450"/>
          </a:xfrm>
          <a:custGeom>
            <a:avLst/>
            <a:gdLst/>
            <a:ahLst/>
            <a:cxnLst/>
            <a:rect l="l" t="t" r="r" b="b"/>
            <a:pathLst>
              <a:path w="3103245" h="44450">
                <a:moveTo>
                  <a:pt x="3102863" y="0"/>
                </a:moveTo>
                <a:lnTo>
                  <a:pt x="0" y="0"/>
                </a:lnTo>
                <a:lnTo>
                  <a:pt x="0" y="44196"/>
                </a:lnTo>
                <a:lnTo>
                  <a:pt x="3102863" y="44196"/>
                </a:lnTo>
                <a:lnTo>
                  <a:pt x="3102863" y="0"/>
                </a:lnTo>
                <a:close/>
              </a:path>
            </a:pathLst>
          </a:custGeom>
          <a:solidFill>
            <a:srgbClr val="FF0000"/>
          </a:solidFill>
        </p:spPr>
        <p:txBody>
          <a:bodyPr wrap="square" lIns="0" tIns="0" rIns="0" bIns="0" rtlCol="0"/>
          <a:lstStyle/>
          <a:p>
            <a:endParaRPr/>
          </a:p>
        </p:txBody>
      </p:sp>
      <p:sp>
        <p:nvSpPr>
          <p:cNvPr id="28" name="bg object 28"/>
          <p:cNvSpPr/>
          <p:nvPr/>
        </p:nvSpPr>
        <p:spPr>
          <a:xfrm>
            <a:off x="6173723" y="6550151"/>
            <a:ext cx="3104515" cy="48895"/>
          </a:xfrm>
          <a:custGeom>
            <a:avLst/>
            <a:gdLst/>
            <a:ahLst/>
            <a:cxnLst/>
            <a:rect l="l" t="t" r="r" b="b"/>
            <a:pathLst>
              <a:path w="3104515" h="48895">
                <a:moveTo>
                  <a:pt x="3104387" y="0"/>
                </a:moveTo>
                <a:lnTo>
                  <a:pt x="0" y="0"/>
                </a:lnTo>
                <a:lnTo>
                  <a:pt x="0" y="48768"/>
                </a:lnTo>
                <a:lnTo>
                  <a:pt x="3104387" y="48768"/>
                </a:lnTo>
                <a:lnTo>
                  <a:pt x="3104387" y="0"/>
                </a:lnTo>
                <a:close/>
              </a:path>
            </a:pathLst>
          </a:custGeom>
          <a:solidFill>
            <a:srgbClr val="76C2E4"/>
          </a:solidFill>
        </p:spPr>
        <p:txBody>
          <a:bodyPr wrap="square" lIns="0" tIns="0" rIns="0" bIns="0" rtlCol="0"/>
          <a:lstStyle/>
          <a:p>
            <a:endParaRPr/>
          </a:p>
        </p:txBody>
      </p:sp>
      <p:sp>
        <p:nvSpPr>
          <p:cNvPr id="29" name="bg object 29"/>
          <p:cNvSpPr/>
          <p:nvPr/>
        </p:nvSpPr>
        <p:spPr>
          <a:xfrm>
            <a:off x="9211055" y="6550151"/>
            <a:ext cx="2981325" cy="45720"/>
          </a:xfrm>
          <a:custGeom>
            <a:avLst/>
            <a:gdLst/>
            <a:ahLst/>
            <a:cxnLst/>
            <a:rect l="l" t="t" r="r" b="b"/>
            <a:pathLst>
              <a:path w="2981325" h="45720">
                <a:moveTo>
                  <a:pt x="2980944" y="0"/>
                </a:moveTo>
                <a:lnTo>
                  <a:pt x="0" y="0"/>
                </a:lnTo>
                <a:lnTo>
                  <a:pt x="0" y="45720"/>
                </a:lnTo>
                <a:lnTo>
                  <a:pt x="2980944" y="45720"/>
                </a:lnTo>
                <a:lnTo>
                  <a:pt x="2980944" y="0"/>
                </a:lnTo>
                <a:close/>
              </a:path>
            </a:pathLst>
          </a:custGeom>
          <a:solidFill>
            <a:srgbClr val="E21C23"/>
          </a:solidFill>
        </p:spPr>
        <p:txBody>
          <a:bodyPr wrap="square" lIns="0" tIns="0" rIns="0" bIns="0" rtlCol="0"/>
          <a:lstStyle/>
          <a:p>
            <a:endParaRPr/>
          </a:p>
        </p:txBody>
      </p:sp>
      <p:sp>
        <p:nvSpPr>
          <p:cNvPr id="30" name="bg object 30"/>
          <p:cNvSpPr/>
          <p:nvPr/>
        </p:nvSpPr>
        <p:spPr>
          <a:xfrm>
            <a:off x="2778251" y="6550151"/>
            <a:ext cx="3441700" cy="48895"/>
          </a:xfrm>
          <a:custGeom>
            <a:avLst/>
            <a:gdLst/>
            <a:ahLst/>
            <a:cxnLst/>
            <a:rect l="l" t="t" r="r" b="b"/>
            <a:pathLst>
              <a:path w="3441700" h="48895">
                <a:moveTo>
                  <a:pt x="3441191" y="0"/>
                </a:moveTo>
                <a:lnTo>
                  <a:pt x="0" y="0"/>
                </a:lnTo>
                <a:lnTo>
                  <a:pt x="0" y="48768"/>
                </a:lnTo>
                <a:lnTo>
                  <a:pt x="3441191" y="48768"/>
                </a:lnTo>
                <a:lnTo>
                  <a:pt x="3441191" y="0"/>
                </a:lnTo>
                <a:close/>
              </a:path>
            </a:pathLst>
          </a:custGeom>
          <a:solidFill>
            <a:srgbClr val="FBAF17"/>
          </a:solidFill>
        </p:spPr>
        <p:txBody>
          <a:bodyPr wrap="square" lIns="0" tIns="0" rIns="0" bIns="0" rtlCol="0"/>
          <a:lstStyle/>
          <a:p>
            <a:endParaRPr/>
          </a:p>
        </p:txBody>
      </p:sp>
      <p:sp>
        <p:nvSpPr>
          <p:cNvPr id="31" name="bg object 31"/>
          <p:cNvSpPr/>
          <p:nvPr/>
        </p:nvSpPr>
        <p:spPr>
          <a:xfrm>
            <a:off x="5993891" y="6553199"/>
            <a:ext cx="3106420" cy="45720"/>
          </a:xfrm>
          <a:custGeom>
            <a:avLst/>
            <a:gdLst/>
            <a:ahLst/>
            <a:cxnLst/>
            <a:rect l="l" t="t" r="r" b="b"/>
            <a:pathLst>
              <a:path w="3106420" h="45720">
                <a:moveTo>
                  <a:pt x="3105912" y="0"/>
                </a:moveTo>
                <a:lnTo>
                  <a:pt x="0" y="0"/>
                </a:lnTo>
                <a:lnTo>
                  <a:pt x="0" y="45720"/>
                </a:lnTo>
                <a:lnTo>
                  <a:pt x="3105912" y="45720"/>
                </a:lnTo>
                <a:lnTo>
                  <a:pt x="3105912" y="0"/>
                </a:lnTo>
                <a:close/>
              </a:path>
            </a:pathLst>
          </a:custGeom>
          <a:solidFill>
            <a:srgbClr val="76C2E4"/>
          </a:solidFill>
        </p:spPr>
        <p:txBody>
          <a:bodyPr wrap="square" lIns="0" tIns="0" rIns="0" bIns="0" rtlCol="0"/>
          <a:lstStyle/>
          <a:p>
            <a:endParaRPr/>
          </a:p>
        </p:txBody>
      </p:sp>
      <p:sp>
        <p:nvSpPr>
          <p:cNvPr id="32" name="bg object 32"/>
          <p:cNvSpPr/>
          <p:nvPr/>
        </p:nvSpPr>
        <p:spPr>
          <a:xfrm>
            <a:off x="2845307" y="6553199"/>
            <a:ext cx="3148965" cy="45720"/>
          </a:xfrm>
          <a:custGeom>
            <a:avLst/>
            <a:gdLst/>
            <a:ahLst/>
            <a:cxnLst/>
            <a:rect l="l" t="t" r="r" b="b"/>
            <a:pathLst>
              <a:path w="3148965" h="45720">
                <a:moveTo>
                  <a:pt x="3148584" y="0"/>
                </a:moveTo>
                <a:lnTo>
                  <a:pt x="0" y="0"/>
                </a:lnTo>
                <a:lnTo>
                  <a:pt x="0" y="45720"/>
                </a:lnTo>
                <a:lnTo>
                  <a:pt x="3148584" y="45720"/>
                </a:lnTo>
                <a:lnTo>
                  <a:pt x="3148584" y="0"/>
                </a:lnTo>
                <a:close/>
              </a:path>
            </a:pathLst>
          </a:custGeom>
          <a:solidFill>
            <a:srgbClr val="FBAF17"/>
          </a:solidFill>
        </p:spPr>
        <p:txBody>
          <a:bodyPr wrap="square" lIns="0" tIns="0" rIns="0" bIns="0" rtlCol="0"/>
          <a:lstStyle/>
          <a:p>
            <a:endParaRPr/>
          </a:p>
        </p:txBody>
      </p:sp>
      <p:sp>
        <p:nvSpPr>
          <p:cNvPr id="33" name="bg object 33"/>
          <p:cNvSpPr/>
          <p:nvPr/>
        </p:nvSpPr>
        <p:spPr>
          <a:xfrm>
            <a:off x="9087611" y="6553199"/>
            <a:ext cx="3104515" cy="45720"/>
          </a:xfrm>
          <a:custGeom>
            <a:avLst/>
            <a:gdLst/>
            <a:ahLst/>
            <a:cxnLst/>
            <a:rect l="l" t="t" r="r" b="b"/>
            <a:pathLst>
              <a:path w="3104515" h="45720">
                <a:moveTo>
                  <a:pt x="3104388" y="0"/>
                </a:moveTo>
                <a:lnTo>
                  <a:pt x="0" y="0"/>
                </a:lnTo>
                <a:lnTo>
                  <a:pt x="0" y="45720"/>
                </a:lnTo>
                <a:lnTo>
                  <a:pt x="3104388" y="45720"/>
                </a:lnTo>
                <a:lnTo>
                  <a:pt x="3104388" y="0"/>
                </a:lnTo>
                <a:close/>
              </a:path>
            </a:pathLst>
          </a:custGeom>
          <a:solidFill>
            <a:srgbClr val="FF0000"/>
          </a:solidFill>
        </p:spPr>
        <p:txBody>
          <a:bodyPr wrap="square" lIns="0" tIns="0" rIns="0" bIns="0" rtlCol="0"/>
          <a:lstStyle/>
          <a:p>
            <a:endParaRPr/>
          </a:p>
        </p:txBody>
      </p:sp>
      <p:pic>
        <p:nvPicPr>
          <p:cNvPr id="34" name="bg object 34"/>
          <p:cNvPicPr/>
          <p:nvPr/>
        </p:nvPicPr>
        <p:blipFill>
          <a:blip r:embed="rId13" cstate="print"/>
          <a:stretch>
            <a:fillRect/>
          </a:stretch>
        </p:blipFill>
        <p:spPr>
          <a:xfrm>
            <a:off x="3116558" y="1284564"/>
            <a:ext cx="3165391" cy="107068"/>
          </a:xfrm>
          <a:prstGeom prst="rect">
            <a:avLst/>
          </a:prstGeom>
        </p:spPr>
      </p:pic>
      <p:sp>
        <p:nvSpPr>
          <p:cNvPr id="35" name="bg object 35"/>
          <p:cNvSpPr/>
          <p:nvPr/>
        </p:nvSpPr>
        <p:spPr>
          <a:xfrm>
            <a:off x="3150107" y="1295399"/>
            <a:ext cx="3103245" cy="44450"/>
          </a:xfrm>
          <a:custGeom>
            <a:avLst/>
            <a:gdLst/>
            <a:ahLst/>
            <a:cxnLst/>
            <a:rect l="l" t="t" r="r" b="b"/>
            <a:pathLst>
              <a:path w="3103245" h="44450">
                <a:moveTo>
                  <a:pt x="3102864" y="0"/>
                </a:moveTo>
                <a:lnTo>
                  <a:pt x="0" y="0"/>
                </a:lnTo>
                <a:lnTo>
                  <a:pt x="0" y="44196"/>
                </a:lnTo>
                <a:lnTo>
                  <a:pt x="3102864" y="44196"/>
                </a:lnTo>
                <a:lnTo>
                  <a:pt x="3102864" y="0"/>
                </a:lnTo>
                <a:close/>
              </a:path>
            </a:pathLst>
          </a:custGeom>
          <a:solidFill>
            <a:srgbClr val="76C2E4"/>
          </a:solidFill>
        </p:spPr>
        <p:txBody>
          <a:bodyPr wrap="square" lIns="0" tIns="0" rIns="0" bIns="0" rtlCol="0"/>
          <a:lstStyle/>
          <a:p>
            <a:endParaRPr/>
          </a:p>
        </p:txBody>
      </p:sp>
      <p:pic>
        <p:nvPicPr>
          <p:cNvPr id="36" name="bg object 36"/>
          <p:cNvPicPr/>
          <p:nvPr/>
        </p:nvPicPr>
        <p:blipFill>
          <a:blip r:embed="rId14" cstate="print"/>
          <a:stretch>
            <a:fillRect/>
          </a:stretch>
        </p:blipFill>
        <p:spPr>
          <a:xfrm>
            <a:off x="0" y="1275642"/>
            <a:ext cx="3186684" cy="124913"/>
          </a:xfrm>
          <a:prstGeom prst="rect">
            <a:avLst/>
          </a:prstGeom>
        </p:spPr>
      </p:pic>
      <p:sp>
        <p:nvSpPr>
          <p:cNvPr id="37" name="bg object 37"/>
          <p:cNvSpPr/>
          <p:nvPr/>
        </p:nvSpPr>
        <p:spPr>
          <a:xfrm>
            <a:off x="0" y="12953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38" name="bg object 38"/>
          <p:cNvPicPr/>
          <p:nvPr/>
        </p:nvPicPr>
        <p:blipFill>
          <a:blip r:embed="rId10" cstate="print"/>
          <a:stretch>
            <a:fillRect/>
          </a:stretch>
        </p:blipFill>
        <p:spPr>
          <a:xfrm>
            <a:off x="6199632" y="1275642"/>
            <a:ext cx="3185160" cy="124913"/>
          </a:xfrm>
          <a:prstGeom prst="rect">
            <a:avLst/>
          </a:prstGeom>
        </p:spPr>
      </p:pic>
      <p:sp>
        <p:nvSpPr>
          <p:cNvPr id="39" name="bg object 39"/>
          <p:cNvSpPr/>
          <p:nvPr/>
        </p:nvSpPr>
        <p:spPr>
          <a:xfrm>
            <a:off x="6242303" y="12953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FF0000"/>
          </a:solidFill>
        </p:spPr>
        <p:txBody>
          <a:bodyPr wrap="square" lIns="0" tIns="0" rIns="0" bIns="0" rtlCol="0"/>
          <a:lstStyle/>
          <a:p>
            <a:endParaRPr/>
          </a:p>
        </p:txBody>
      </p:sp>
      <p:sp>
        <p:nvSpPr>
          <p:cNvPr id="40" name="bg object 40"/>
          <p:cNvSpPr/>
          <p:nvPr/>
        </p:nvSpPr>
        <p:spPr>
          <a:xfrm>
            <a:off x="3150107" y="1295399"/>
            <a:ext cx="3104515" cy="45720"/>
          </a:xfrm>
          <a:custGeom>
            <a:avLst/>
            <a:gdLst/>
            <a:ahLst/>
            <a:cxnLst/>
            <a:rect l="l" t="t" r="r" b="b"/>
            <a:pathLst>
              <a:path w="3104515" h="45719">
                <a:moveTo>
                  <a:pt x="3104388" y="0"/>
                </a:moveTo>
                <a:lnTo>
                  <a:pt x="0" y="0"/>
                </a:lnTo>
                <a:lnTo>
                  <a:pt x="0" y="45720"/>
                </a:lnTo>
                <a:lnTo>
                  <a:pt x="3104388" y="45720"/>
                </a:lnTo>
                <a:lnTo>
                  <a:pt x="3104388" y="0"/>
                </a:lnTo>
                <a:close/>
              </a:path>
            </a:pathLst>
          </a:custGeom>
          <a:solidFill>
            <a:srgbClr val="76C2E4"/>
          </a:solidFill>
        </p:spPr>
        <p:txBody>
          <a:bodyPr wrap="square" lIns="0" tIns="0" rIns="0" bIns="0" rtlCol="0"/>
          <a:lstStyle/>
          <a:p>
            <a:endParaRPr/>
          </a:p>
        </p:txBody>
      </p:sp>
      <p:sp>
        <p:nvSpPr>
          <p:cNvPr id="41" name="bg object 41"/>
          <p:cNvSpPr/>
          <p:nvPr/>
        </p:nvSpPr>
        <p:spPr>
          <a:xfrm>
            <a:off x="0" y="1295399"/>
            <a:ext cx="3150235" cy="45720"/>
          </a:xfrm>
          <a:custGeom>
            <a:avLst/>
            <a:gdLst/>
            <a:ahLst/>
            <a:cxnLst/>
            <a:rect l="l" t="t" r="r" b="b"/>
            <a:pathLst>
              <a:path w="3150235" h="45719">
                <a:moveTo>
                  <a:pt x="3150108" y="0"/>
                </a:moveTo>
                <a:lnTo>
                  <a:pt x="0" y="0"/>
                </a:lnTo>
                <a:lnTo>
                  <a:pt x="0" y="45720"/>
                </a:lnTo>
                <a:lnTo>
                  <a:pt x="3150108" y="45720"/>
                </a:lnTo>
                <a:lnTo>
                  <a:pt x="3150108" y="0"/>
                </a:lnTo>
                <a:close/>
              </a:path>
            </a:pathLst>
          </a:custGeom>
          <a:solidFill>
            <a:srgbClr val="FBAF17"/>
          </a:solidFill>
        </p:spPr>
        <p:txBody>
          <a:bodyPr wrap="square" lIns="0" tIns="0" rIns="0" bIns="0" rtlCol="0"/>
          <a:lstStyle/>
          <a:p>
            <a:endParaRPr/>
          </a:p>
        </p:txBody>
      </p:sp>
      <p:sp>
        <p:nvSpPr>
          <p:cNvPr id="42" name="bg object 42"/>
          <p:cNvSpPr/>
          <p:nvPr/>
        </p:nvSpPr>
        <p:spPr>
          <a:xfrm>
            <a:off x="6242303" y="1295399"/>
            <a:ext cx="3104515" cy="45720"/>
          </a:xfrm>
          <a:custGeom>
            <a:avLst/>
            <a:gdLst/>
            <a:ahLst/>
            <a:cxnLst/>
            <a:rect l="l" t="t" r="r" b="b"/>
            <a:pathLst>
              <a:path w="3104515" h="45719">
                <a:moveTo>
                  <a:pt x="3104388" y="0"/>
                </a:moveTo>
                <a:lnTo>
                  <a:pt x="0" y="0"/>
                </a:lnTo>
                <a:lnTo>
                  <a:pt x="0" y="45720"/>
                </a:lnTo>
                <a:lnTo>
                  <a:pt x="3104388" y="45720"/>
                </a:lnTo>
                <a:lnTo>
                  <a:pt x="3104388" y="0"/>
                </a:lnTo>
                <a:close/>
              </a:path>
            </a:pathLst>
          </a:custGeom>
          <a:solidFill>
            <a:srgbClr val="FF0000"/>
          </a:solidFill>
        </p:spPr>
        <p:txBody>
          <a:bodyPr wrap="square" lIns="0" tIns="0" rIns="0" bIns="0" rtlCol="0"/>
          <a:lstStyle/>
          <a:p>
            <a:endParaRPr/>
          </a:p>
        </p:txBody>
      </p:sp>
      <p:pic>
        <p:nvPicPr>
          <p:cNvPr id="43" name="bg object 43"/>
          <p:cNvPicPr/>
          <p:nvPr/>
        </p:nvPicPr>
        <p:blipFill>
          <a:blip r:embed="rId15" cstate="print"/>
          <a:stretch>
            <a:fillRect/>
          </a:stretch>
        </p:blipFill>
        <p:spPr>
          <a:xfrm>
            <a:off x="8839200" y="0"/>
            <a:ext cx="2924555" cy="693420"/>
          </a:xfrm>
          <a:prstGeom prst="rect">
            <a:avLst/>
          </a:prstGeom>
        </p:spPr>
      </p:pic>
      <p:sp>
        <p:nvSpPr>
          <p:cNvPr id="2" name="Holder 2"/>
          <p:cNvSpPr>
            <a:spLocks noGrp="1"/>
          </p:cNvSpPr>
          <p:nvPr>
            <p:ph type="title"/>
          </p:nvPr>
        </p:nvSpPr>
        <p:spPr>
          <a:xfrm>
            <a:off x="102819" y="334467"/>
            <a:ext cx="9343567" cy="854507"/>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407777" y="6638544"/>
            <a:ext cx="1706879" cy="182879"/>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mrFshcqeea8?feature=oembed" TargetMode="External"/><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8.jfi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9.jfi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0.jfi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4.xml"/><Relationship Id="rId1" Type="http://schemas.openxmlformats.org/officeDocument/2006/relationships/video" Target="https://www.youtube.com/embed/C0KBu2ihp-s?start=19&amp;feature=oembed"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4.xml"/><Relationship Id="rId1" Type="http://schemas.openxmlformats.org/officeDocument/2006/relationships/video" Target="https://www.youtube.com/embed/sds8qRnrlWc?feature=oembed" TargetMode="External"/><Relationship Id="rId4" Type="http://schemas.openxmlformats.org/officeDocument/2006/relationships/image" Target="../media/image45.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7.png"/><Relationship Id="rId3" Type="http://schemas.openxmlformats.org/officeDocument/2006/relationships/image" Target="../media/image46.gif"/><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customXml" Target="../ink/ink5.xml"/><Relationship Id="rId5" Type="http://schemas.openxmlformats.org/officeDocument/2006/relationships/image" Target="NULL"/><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NULL"/><Relationship Id="rId14" Type="http://schemas.openxmlformats.org/officeDocument/2006/relationships/hyperlink" Target="https://www.youtube.com/watch?v=E3i_XHlVCeU&amp;ab_channel=TheEfficientEngineer"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customXml" Target="../ink/ink6.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customXml" Target="../ink/ink7.xml"/></Relationships>
</file>

<file path=ppt/slides/_rels/slide4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51.jpeg"/><Relationship Id="rId3" Type="http://schemas.openxmlformats.org/officeDocument/2006/relationships/notesSlide" Target="../notesSlides/notesSlide11.xml"/><Relationship Id="rId7" Type="http://schemas.openxmlformats.org/officeDocument/2006/relationships/image" Target="../media/image490.png"/><Relationship Id="rId12" Type="http://schemas.openxmlformats.org/officeDocument/2006/relationships/image" Target="../media/image51.png"/><Relationship Id="rId2" Type="http://schemas.openxmlformats.org/officeDocument/2006/relationships/slideLayout" Target="../slideLayouts/slideLayout4.xml"/><Relationship Id="rId1" Type="http://schemas.openxmlformats.org/officeDocument/2006/relationships/video" Target="https://www.youtube.com/embed/5naTo_aaEqY?feature=oembed" TargetMode="External"/><Relationship Id="rId6" Type="http://schemas.openxmlformats.org/officeDocument/2006/relationships/customXml" Target="../ink/ink9.xml"/><Relationship Id="rId11" Type="http://schemas.openxmlformats.org/officeDocument/2006/relationships/customXml" Target="../ink/ink12.xml"/><Relationship Id="rId5" Type="http://schemas.openxmlformats.org/officeDocument/2006/relationships/image" Target="../media/image480.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NUL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bin"/><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slideLayout" Target="../slideLayouts/slideLayout4.xml"/><Relationship Id="rId1" Type="http://schemas.openxmlformats.org/officeDocument/2006/relationships/video" Target="https://www.youtube.com/embed/aFO4PBolwFg?feature=oembed"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59.jpeg"/><Relationship Id="rId7" Type="http://schemas.openxmlformats.org/officeDocument/2006/relationships/image" Target="../media/image63.png"/><Relationship Id="rId2" Type="http://schemas.openxmlformats.org/officeDocument/2006/relationships/image" Target="../media/image58.jpeg"/><Relationship Id="rId1" Type="http://schemas.openxmlformats.org/officeDocument/2006/relationships/slideLayout" Target="../slideLayouts/slideLayout4.xml"/><Relationship Id="rId6" Type="http://schemas.openxmlformats.org/officeDocument/2006/relationships/image" Target="../media/image62.jpg"/><Relationship Id="rId5" Type="http://schemas.openxmlformats.org/officeDocument/2006/relationships/image" Target="../media/image61.gif"/><Relationship Id="rId4" Type="http://schemas.openxmlformats.org/officeDocument/2006/relationships/image" Target="../media/image60.jpeg"/></Relationships>
</file>

<file path=ppt/slides/_rels/slide5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slideLayout" Target="../slideLayouts/slideLayout4.xml"/><Relationship Id="rId1" Type="http://schemas.openxmlformats.org/officeDocument/2006/relationships/video" Target="https://www.youtube.com/embed/feFx-ahQBKc?feature=oembed"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media/image72.jpg"/><Relationship Id="rId7" Type="http://schemas.openxmlformats.org/officeDocument/2006/relationships/customXml" Target="../ink/ink14.xml"/><Relationship Id="rId12" Type="http://schemas.openxmlformats.org/officeDocument/2006/relationships/customXml" Target="../ink/ink17.xml"/><Relationship Id="rId17" Type="http://schemas.openxmlformats.org/officeDocument/2006/relationships/image" Target="NULL"/><Relationship Id="rId2" Type="http://schemas.openxmlformats.org/officeDocument/2006/relationships/image" Target="NULL"/><Relationship Id="rId16" Type="http://schemas.openxmlformats.org/officeDocument/2006/relationships/customXml" Target="../ink/ink19.xml"/><Relationship Id="rId1" Type="http://schemas.openxmlformats.org/officeDocument/2006/relationships/slideLayout" Target="../slideLayouts/slideLayout4.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customXml" Target="../ink/ink13.xml"/><Relationship Id="rId15" Type="http://schemas.openxmlformats.org/officeDocument/2006/relationships/image" Target="NULL"/><Relationship Id="rId10" Type="http://schemas.openxmlformats.org/officeDocument/2006/relationships/customXml" Target="../ink/ink16.xml"/><Relationship Id="rId4" Type="http://schemas.openxmlformats.org/officeDocument/2006/relationships/image" Target="../media/image73.png"/><Relationship Id="rId9" Type="http://schemas.openxmlformats.org/officeDocument/2006/relationships/customXml" Target="../ink/ink15.xml"/><Relationship Id="rId14" Type="http://schemas.openxmlformats.org/officeDocument/2006/relationships/customXml" Target="../ink/ink18.xml"/></Relationships>
</file>

<file path=ppt/slides/_rels/slide6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0.jp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0.jp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64.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6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customXml" Target="../ink/ink20.xml"/><Relationship Id="rId1" Type="http://schemas.openxmlformats.org/officeDocument/2006/relationships/slideLayout" Target="../slideLayouts/slideLayout4.xml"/><Relationship Id="rId5" Type="http://schemas.openxmlformats.org/officeDocument/2006/relationships/image" Target="../media/image76.gif"/><Relationship Id="rId4" Type="http://schemas.openxmlformats.org/officeDocument/2006/relationships/image" Target="../media/image75.jpg"/></Relationships>
</file>

<file path=ppt/slides/_rels/slide7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g"/><Relationship Id="rId1" Type="http://schemas.openxmlformats.org/officeDocument/2006/relationships/slideLayout" Target="../slideLayouts/slideLayout4.xml"/><Relationship Id="rId5" Type="http://schemas.openxmlformats.org/officeDocument/2006/relationships/image" Target="NULL"/><Relationship Id="rId4" Type="http://schemas.openxmlformats.org/officeDocument/2006/relationships/customXml" Target="../ink/ink21.xml"/></Relationships>
</file>

<file path=ppt/slides/_rels/slide7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80.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customXml" Target="../ink/ink22.xml"/><Relationship Id="rId7" Type="http://schemas.openxmlformats.org/officeDocument/2006/relationships/customXml" Target="../ink/ink24.xml"/><Relationship Id="rId2" Type="http://schemas.openxmlformats.org/officeDocument/2006/relationships/image" Target="../media/image81.jpg"/><Relationship Id="rId1" Type="http://schemas.openxmlformats.org/officeDocument/2006/relationships/slideLayout" Target="../slideLayouts/slideLayout4.xml"/><Relationship Id="rId6" Type="http://schemas.openxmlformats.org/officeDocument/2006/relationships/image" Target="NULL"/><Relationship Id="rId5" Type="http://schemas.openxmlformats.org/officeDocument/2006/relationships/customXml" Target="../ink/ink23.xml"/><Relationship Id="rId4" Type="http://schemas.openxmlformats.org/officeDocument/2006/relationships/image" Target="NULL"/></Relationships>
</file>

<file path=ppt/slides/_rels/slide74.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customXml" Target="../ink/ink25.xml"/><Relationship Id="rId7" Type="http://schemas.openxmlformats.org/officeDocument/2006/relationships/customXml" Target="../ink/ink27.xml"/><Relationship Id="rId2" Type="http://schemas.openxmlformats.org/officeDocument/2006/relationships/image" Target="../media/image81.jpg"/><Relationship Id="rId1" Type="http://schemas.openxmlformats.org/officeDocument/2006/relationships/slideLayout" Target="../slideLayouts/slideLayout4.xml"/><Relationship Id="rId6" Type="http://schemas.openxmlformats.org/officeDocument/2006/relationships/image" Target="NULL"/><Relationship Id="rId5" Type="http://schemas.openxmlformats.org/officeDocument/2006/relationships/customXml" Target="../ink/ink26.xml"/><Relationship Id="rId4" Type="http://schemas.openxmlformats.org/officeDocument/2006/relationships/image" Target="NULL"/></Relationships>
</file>

<file path=ppt/slides/_rels/slide75.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84.bin"/><Relationship Id="rId2" Type="http://schemas.openxmlformats.org/officeDocument/2006/relationships/image" Target="../media/image83.jpe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slideLayout" Target="../slideLayouts/slideLayout4.xml"/><Relationship Id="rId1" Type="http://schemas.openxmlformats.org/officeDocument/2006/relationships/video" Target="https://www.youtube.com/embed/dZuCa-C9fXo?feature=oembed"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87.jfif"/><Relationship Id="rId2" Type="http://schemas.openxmlformats.org/officeDocument/2006/relationships/image" Target="../media/image86.jp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88.gif"/><Relationship Id="rId2" Type="http://schemas.openxmlformats.org/officeDocument/2006/relationships/image" Target="NUL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NUL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slideLayout" Target="../slideLayouts/slideLayout4.xml"/><Relationship Id="rId1" Type="http://schemas.openxmlformats.org/officeDocument/2006/relationships/video" Target="https://www.youtube.com/embed/T1A8TQFY46E?feature=oembed" TargetMode="External"/></Relationships>
</file>

<file path=ppt/slides/_rels/slide82.xml.rels><?xml version="1.0" encoding="UTF-8" standalone="yes"?>
<Relationships xmlns="http://schemas.openxmlformats.org/package/2006/relationships"><Relationship Id="rId2" Type="http://schemas.openxmlformats.org/officeDocument/2006/relationships/image" Target="../media/image91.bin"/><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bin"/><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image" Target="../media/image93.bin"/><Relationship Id="rId1" Type="http://schemas.openxmlformats.org/officeDocument/2006/relationships/slideLayout" Target="../slideLayouts/slideLayout4.xml"/><Relationship Id="rId4" Type="http://schemas.openxmlformats.org/officeDocument/2006/relationships/image" Target="../media/image95.jpeg"/></Relationships>
</file>

<file path=ppt/slides/_rels/slide8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slideLayout" Target="../slideLayouts/slideLayout4.xml"/><Relationship Id="rId1" Type="http://schemas.openxmlformats.org/officeDocument/2006/relationships/video" Target="https://www.youtube.com/embed/ZuGPcvC4vbw?feature=oembed" TargetMode="External"/></Relationships>
</file>

<file path=ppt/slides/_rels/slide8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99.jpg"/><Relationship Id="rId2" Type="http://schemas.openxmlformats.org/officeDocument/2006/relationships/image" Target="../media/image91.png"/><Relationship Id="rId1" Type="http://schemas.openxmlformats.org/officeDocument/2006/relationships/slideLayout" Target="../slideLayouts/slideLayout4.xml"/><Relationship Id="rId5" Type="http://schemas.openxmlformats.org/officeDocument/2006/relationships/image" Target="../media/image101.png"/><Relationship Id="rId4" Type="http://schemas.openxmlformats.org/officeDocument/2006/relationships/image" Target="../media/image100.jpg"/></Relationships>
</file>

<file path=ppt/slides/_rels/slide90.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94.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960.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102.jfif"/><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image" Target="../media/image103.png"/><Relationship Id="rId1" Type="http://schemas.openxmlformats.org/officeDocument/2006/relationships/slideLayout" Target="../slideLayouts/slideLayout4.xml"/><Relationship Id="rId4" Type="http://schemas.openxmlformats.org/officeDocument/2006/relationships/image" Target="../media/image105.jfif"/></Relationships>
</file>

<file path=ppt/slides/_rels/slide9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6.jp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8" Type="http://schemas.openxmlformats.org/officeDocument/2006/relationships/customXml" Target="../ink/ink30.xml"/><Relationship Id="rId3" Type="http://schemas.openxmlformats.org/officeDocument/2006/relationships/image" Target="../media/image109.png"/><Relationship Id="rId7" Type="http://schemas.openxmlformats.org/officeDocument/2006/relationships/image" Target="../media/image106.png"/><Relationship Id="rId2" Type="http://schemas.openxmlformats.org/officeDocument/2006/relationships/image" Target="../media/image108.jfif"/><Relationship Id="rId1" Type="http://schemas.openxmlformats.org/officeDocument/2006/relationships/slideLayout" Target="../slideLayouts/slideLayout4.xml"/><Relationship Id="rId6" Type="http://schemas.openxmlformats.org/officeDocument/2006/relationships/customXml" Target="../ink/ink29.xml"/><Relationship Id="rId11" Type="http://schemas.openxmlformats.org/officeDocument/2006/relationships/image" Target="../media/image108.png"/><Relationship Id="rId5" Type="http://schemas.openxmlformats.org/officeDocument/2006/relationships/image" Target="../media/image105.png"/><Relationship Id="rId10" Type="http://schemas.openxmlformats.org/officeDocument/2006/relationships/customXml" Target="../ink/ink31.xml"/><Relationship Id="rId4" Type="http://schemas.openxmlformats.org/officeDocument/2006/relationships/customXml" Target="../ink/ink28.xml"/><Relationship Id="rId9" Type="http://schemas.openxmlformats.org/officeDocument/2006/relationships/image" Target="../media/image107.png"/></Relationships>
</file>

<file path=ppt/slides/_rels/slide9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jpe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8" Type="http://schemas.openxmlformats.org/officeDocument/2006/relationships/customXml" Target="../ink/ink35.xml"/><Relationship Id="rId3" Type="http://schemas.openxmlformats.org/officeDocument/2006/relationships/image" Target="../media/image1010.png"/><Relationship Id="rId7" Type="http://schemas.openxmlformats.org/officeDocument/2006/relationships/image" Target="../media/image1030.png"/><Relationship Id="rId2" Type="http://schemas.openxmlformats.org/officeDocument/2006/relationships/customXml" Target="../ink/ink32.xml"/><Relationship Id="rId1" Type="http://schemas.openxmlformats.org/officeDocument/2006/relationships/slideLayout" Target="../slideLayouts/slideLayout4.xml"/><Relationship Id="rId6" Type="http://schemas.openxmlformats.org/officeDocument/2006/relationships/customXml" Target="../ink/ink34.xml"/><Relationship Id="rId5" Type="http://schemas.openxmlformats.org/officeDocument/2006/relationships/image" Target="../media/image102.png"/><Relationship Id="rId10" Type="http://schemas.openxmlformats.org/officeDocument/2006/relationships/image" Target="../media/image112.jpg"/><Relationship Id="rId4" Type="http://schemas.openxmlformats.org/officeDocument/2006/relationships/customXml" Target="../ink/ink33.xml"/><Relationship Id="rId9" Type="http://schemas.openxmlformats.org/officeDocument/2006/relationships/image" Target="../media/image104.png"/></Relationships>
</file>

<file path=ppt/slides/_rels/slide101.xml.rels><?xml version="1.0" encoding="UTF-8" standalone="yes"?>
<Relationships xmlns="http://schemas.openxmlformats.org/package/2006/relationships"><Relationship Id="rId8" Type="http://schemas.openxmlformats.org/officeDocument/2006/relationships/customXml" Target="../ink/ink39.xml"/><Relationship Id="rId3" Type="http://schemas.openxmlformats.org/officeDocument/2006/relationships/image" Target="../media/image1010.png"/><Relationship Id="rId7" Type="http://schemas.openxmlformats.org/officeDocument/2006/relationships/image" Target="../media/image1030.png"/><Relationship Id="rId2" Type="http://schemas.openxmlformats.org/officeDocument/2006/relationships/customXml" Target="../ink/ink36.xml"/><Relationship Id="rId1" Type="http://schemas.openxmlformats.org/officeDocument/2006/relationships/slideLayout" Target="../slideLayouts/slideLayout4.xml"/><Relationship Id="rId6" Type="http://schemas.openxmlformats.org/officeDocument/2006/relationships/customXml" Target="../ink/ink38.xml"/><Relationship Id="rId11" Type="http://schemas.openxmlformats.org/officeDocument/2006/relationships/image" Target="../media/image114.png"/><Relationship Id="rId5" Type="http://schemas.openxmlformats.org/officeDocument/2006/relationships/image" Target="../media/image102.png"/><Relationship Id="rId10" Type="http://schemas.openxmlformats.org/officeDocument/2006/relationships/image" Target="../media/image113.jfif"/><Relationship Id="rId4" Type="http://schemas.openxmlformats.org/officeDocument/2006/relationships/customXml" Target="../ink/ink37.xml"/><Relationship Id="rId9" Type="http://schemas.openxmlformats.org/officeDocument/2006/relationships/image" Target="../media/image104.png"/></Relationships>
</file>

<file path=ppt/slides/_rels/slide102.xml.rels><?xml version="1.0" encoding="UTF-8" standalone="yes"?>
<Relationships xmlns="http://schemas.openxmlformats.org/package/2006/relationships"><Relationship Id="rId8" Type="http://schemas.openxmlformats.org/officeDocument/2006/relationships/customXml" Target="../ink/ink43.xml"/><Relationship Id="rId3" Type="http://schemas.openxmlformats.org/officeDocument/2006/relationships/image" Target="../media/image1010.png"/><Relationship Id="rId7" Type="http://schemas.openxmlformats.org/officeDocument/2006/relationships/image" Target="../media/image1030.png"/><Relationship Id="rId2" Type="http://schemas.openxmlformats.org/officeDocument/2006/relationships/customXml" Target="../ink/ink40.xml"/><Relationship Id="rId1" Type="http://schemas.openxmlformats.org/officeDocument/2006/relationships/slideLayout" Target="../slideLayouts/slideLayout4.xml"/><Relationship Id="rId6" Type="http://schemas.openxmlformats.org/officeDocument/2006/relationships/customXml" Target="../ink/ink42.xml"/><Relationship Id="rId11" Type="http://schemas.openxmlformats.org/officeDocument/2006/relationships/image" Target="../media/image116.jfif"/><Relationship Id="rId5" Type="http://schemas.openxmlformats.org/officeDocument/2006/relationships/image" Target="../media/image102.png"/><Relationship Id="rId10" Type="http://schemas.openxmlformats.org/officeDocument/2006/relationships/image" Target="../media/image115.jfif"/><Relationship Id="rId4" Type="http://schemas.openxmlformats.org/officeDocument/2006/relationships/customXml" Target="../ink/ink41.xml"/><Relationship Id="rId9" Type="http://schemas.openxmlformats.org/officeDocument/2006/relationships/image" Target="../media/image104.png"/></Relationships>
</file>

<file path=ppt/slides/_rels/slide103.xml.rels><?xml version="1.0" encoding="UTF-8" standalone="yes"?>
<Relationships xmlns="http://schemas.openxmlformats.org/package/2006/relationships"><Relationship Id="rId8" Type="http://schemas.openxmlformats.org/officeDocument/2006/relationships/customXml" Target="../ink/ink47.xml"/><Relationship Id="rId3" Type="http://schemas.openxmlformats.org/officeDocument/2006/relationships/image" Target="../media/image1010.png"/><Relationship Id="rId7" Type="http://schemas.openxmlformats.org/officeDocument/2006/relationships/image" Target="../media/image1030.png"/><Relationship Id="rId2" Type="http://schemas.openxmlformats.org/officeDocument/2006/relationships/customXml" Target="../ink/ink44.xml"/><Relationship Id="rId1" Type="http://schemas.openxmlformats.org/officeDocument/2006/relationships/slideLayout" Target="../slideLayouts/slideLayout4.xml"/><Relationship Id="rId6" Type="http://schemas.openxmlformats.org/officeDocument/2006/relationships/customXml" Target="../ink/ink46.xml"/><Relationship Id="rId11" Type="http://schemas.openxmlformats.org/officeDocument/2006/relationships/image" Target="../media/image118.jpg"/><Relationship Id="rId5" Type="http://schemas.openxmlformats.org/officeDocument/2006/relationships/image" Target="../media/image102.png"/><Relationship Id="rId10" Type="http://schemas.openxmlformats.org/officeDocument/2006/relationships/image" Target="../media/image117.jpg"/><Relationship Id="rId4" Type="http://schemas.openxmlformats.org/officeDocument/2006/relationships/customXml" Target="../ink/ink45.xml"/><Relationship Id="rId9" Type="http://schemas.openxmlformats.org/officeDocument/2006/relationships/image" Target="../media/image104.png"/></Relationships>
</file>

<file path=ppt/slides/_rels/slide104.xml.rels><?xml version="1.0" encoding="UTF-8" standalone="yes"?>
<Relationships xmlns="http://schemas.openxmlformats.org/package/2006/relationships"><Relationship Id="rId8" Type="http://schemas.openxmlformats.org/officeDocument/2006/relationships/customXml" Target="../ink/ink51.xml"/><Relationship Id="rId3" Type="http://schemas.openxmlformats.org/officeDocument/2006/relationships/image" Target="../media/image1010.png"/><Relationship Id="rId7" Type="http://schemas.openxmlformats.org/officeDocument/2006/relationships/image" Target="../media/image1030.png"/><Relationship Id="rId2" Type="http://schemas.openxmlformats.org/officeDocument/2006/relationships/customXml" Target="../ink/ink48.xml"/><Relationship Id="rId1" Type="http://schemas.openxmlformats.org/officeDocument/2006/relationships/slideLayout" Target="../slideLayouts/slideLayout4.xml"/><Relationship Id="rId6" Type="http://schemas.openxmlformats.org/officeDocument/2006/relationships/customXml" Target="../ink/ink50.xml"/><Relationship Id="rId11" Type="http://schemas.openxmlformats.org/officeDocument/2006/relationships/image" Target="../media/image120.jfif"/><Relationship Id="rId5" Type="http://schemas.openxmlformats.org/officeDocument/2006/relationships/image" Target="../media/image102.png"/><Relationship Id="rId10" Type="http://schemas.openxmlformats.org/officeDocument/2006/relationships/image" Target="../media/image119.jfif"/><Relationship Id="rId4" Type="http://schemas.openxmlformats.org/officeDocument/2006/relationships/customXml" Target="../ink/ink49.xml"/><Relationship Id="rId9" Type="http://schemas.openxmlformats.org/officeDocument/2006/relationships/image" Target="../media/image104.png"/></Relationships>
</file>

<file path=ppt/slides/_rels/slide10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customXml" Target="../ink/ink52.xml"/><Relationship Id="rId1" Type="http://schemas.openxmlformats.org/officeDocument/2006/relationships/slideLayout" Target="../slideLayouts/slideLayout4.xml"/><Relationship Id="rId6" Type="http://schemas.openxmlformats.org/officeDocument/2006/relationships/image" Target="../media/image95.jpeg"/><Relationship Id="rId5" Type="http://schemas.openxmlformats.org/officeDocument/2006/relationships/image" Target="../media/image122.webp"/><Relationship Id="rId4" Type="http://schemas.openxmlformats.org/officeDocument/2006/relationships/image" Target="../media/image121.jfi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5436" y="-304800"/>
            <a:ext cx="12267820" cy="7772400"/>
            <a:chOff x="-70453" y="-304800"/>
            <a:chExt cx="12267820" cy="7772400"/>
          </a:xfrm>
        </p:grpSpPr>
        <p:pic>
          <p:nvPicPr>
            <p:cNvPr id="3" name="object 3"/>
            <p:cNvPicPr/>
            <p:nvPr/>
          </p:nvPicPr>
          <p:blipFill>
            <a:blip r:embed="rId2" cstate="print"/>
            <a:stretch>
              <a:fillRect/>
            </a:stretch>
          </p:blipFill>
          <p:spPr>
            <a:xfrm>
              <a:off x="-70453" y="-304800"/>
              <a:ext cx="12267820" cy="7772400"/>
            </a:xfrm>
            <a:prstGeom prst="rect">
              <a:avLst/>
            </a:prstGeom>
          </p:spPr>
        </p:pic>
        <p:sp>
          <p:nvSpPr>
            <p:cNvPr id="23" name="object 23"/>
            <p:cNvSpPr/>
            <p:nvPr/>
          </p:nvSpPr>
          <p:spPr>
            <a:xfrm>
              <a:off x="0" y="3352800"/>
              <a:ext cx="11582400" cy="2743200"/>
            </a:xfrm>
            <a:custGeom>
              <a:avLst/>
              <a:gdLst/>
              <a:ahLst/>
              <a:cxnLst/>
              <a:rect l="l" t="t" r="r" b="b"/>
              <a:pathLst>
                <a:path w="11582400" h="2743200">
                  <a:moveTo>
                    <a:pt x="11582400" y="0"/>
                  </a:moveTo>
                  <a:lnTo>
                    <a:pt x="0" y="0"/>
                  </a:lnTo>
                  <a:lnTo>
                    <a:pt x="0" y="2743200"/>
                  </a:lnTo>
                  <a:lnTo>
                    <a:pt x="11582400" y="2743200"/>
                  </a:lnTo>
                  <a:lnTo>
                    <a:pt x="11582400" y="0"/>
                  </a:lnTo>
                  <a:close/>
                </a:path>
              </a:pathLst>
            </a:custGeom>
            <a:solidFill>
              <a:srgbClr val="0F1141"/>
            </a:solidFill>
          </p:spPr>
          <p:txBody>
            <a:bodyPr wrap="square" lIns="0" tIns="0" rIns="0" bIns="0" rtlCol="0"/>
            <a:lstStyle/>
            <a:p>
              <a:endParaRPr dirty="0"/>
            </a:p>
          </p:txBody>
        </p:sp>
        <p:sp>
          <p:nvSpPr>
            <p:cNvPr id="24" name="object 24"/>
            <p:cNvSpPr/>
            <p:nvPr/>
          </p:nvSpPr>
          <p:spPr>
            <a:xfrm>
              <a:off x="3860291" y="6096000"/>
              <a:ext cx="3862070" cy="76200"/>
            </a:xfrm>
            <a:custGeom>
              <a:avLst/>
              <a:gdLst/>
              <a:ahLst/>
              <a:cxnLst/>
              <a:rect l="l" t="t" r="r" b="b"/>
              <a:pathLst>
                <a:path w="3862070" h="76200">
                  <a:moveTo>
                    <a:pt x="3861816" y="0"/>
                  </a:moveTo>
                  <a:lnTo>
                    <a:pt x="0" y="0"/>
                  </a:lnTo>
                  <a:lnTo>
                    <a:pt x="0" y="76200"/>
                  </a:lnTo>
                  <a:lnTo>
                    <a:pt x="3861816" y="76200"/>
                  </a:lnTo>
                  <a:lnTo>
                    <a:pt x="3861816" y="0"/>
                  </a:lnTo>
                  <a:close/>
                </a:path>
              </a:pathLst>
            </a:custGeom>
            <a:solidFill>
              <a:srgbClr val="76C2E4"/>
            </a:solidFill>
          </p:spPr>
          <p:txBody>
            <a:bodyPr wrap="square" lIns="0" tIns="0" rIns="0" bIns="0" rtlCol="0"/>
            <a:lstStyle/>
            <a:p>
              <a:endParaRPr/>
            </a:p>
          </p:txBody>
        </p:sp>
        <p:sp>
          <p:nvSpPr>
            <p:cNvPr id="25" name="object 25"/>
            <p:cNvSpPr/>
            <p:nvPr/>
          </p:nvSpPr>
          <p:spPr>
            <a:xfrm>
              <a:off x="0" y="6096000"/>
              <a:ext cx="3860800" cy="76200"/>
            </a:xfrm>
            <a:custGeom>
              <a:avLst/>
              <a:gdLst/>
              <a:ahLst/>
              <a:cxnLst/>
              <a:rect l="l" t="t" r="r" b="b"/>
              <a:pathLst>
                <a:path w="3860800" h="76200">
                  <a:moveTo>
                    <a:pt x="3860291" y="0"/>
                  </a:moveTo>
                  <a:lnTo>
                    <a:pt x="0" y="0"/>
                  </a:lnTo>
                  <a:lnTo>
                    <a:pt x="0" y="76200"/>
                  </a:lnTo>
                  <a:lnTo>
                    <a:pt x="3860291" y="76200"/>
                  </a:lnTo>
                  <a:lnTo>
                    <a:pt x="3860291" y="0"/>
                  </a:lnTo>
                  <a:close/>
                </a:path>
              </a:pathLst>
            </a:custGeom>
            <a:solidFill>
              <a:srgbClr val="FBAF17"/>
            </a:solidFill>
          </p:spPr>
          <p:txBody>
            <a:bodyPr wrap="square" lIns="0" tIns="0" rIns="0" bIns="0" rtlCol="0"/>
            <a:lstStyle/>
            <a:p>
              <a:endParaRPr/>
            </a:p>
          </p:txBody>
        </p:sp>
        <p:sp>
          <p:nvSpPr>
            <p:cNvPr id="26" name="object 26"/>
            <p:cNvSpPr/>
            <p:nvPr/>
          </p:nvSpPr>
          <p:spPr>
            <a:xfrm>
              <a:off x="7722107" y="6096000"/>
              <a:ext cx="3860800" cy="76200"/>
            </a:xfrm>
            <a:custGeom>
              <a:avLst/>
              <a:gdLst/>
              <a:ahLst/>
              <a:cxnLst/>
              <a:rect l="l" t="t" r="r" b="b"/>
              <a:pathLst>
                <a:path w="3860800" h="76200">
                  <a:moveTo>
                    <a:pt x="3860292" y="0"/>
                  </a:moveTo>
                  <a:lnTo>
                    <a:pt x="0" y="0"/>
                  </a:lnTo>
                  <a:lnTo>
                    <a:pt x="0" y="76200"/>
                  </a:lnTo>
                  <a:lnTo>
                    <a:pt x="3860292" y="76200"/>
                  </a:lnTo>
                  <a:lnTo>
                    <a:pt x="3860292" y="0"/>
                  </a:lnTo>
                  <a:close/>
                </a:path>
              </a:pathLst>
            </a:custGeom>
            <a:solidFill>
              <a:srgbClr val="FF0000"/>
            </a:solidFill>
          </p:spPr>
          <p:txBody>
            <a:bodyPr wrap="square" lIns="0" tIns="0" rIns="0" bIns="0" rtlCol="0"/>
            <a:lstStyle/>
            <a:p>
              <a:endParaRPr/>
            </a:p>
          </p:txBody>
        </p:sp>
        <p:pic>
          <p:nvPicPr>
            <p:cNvPr id="27" name="object 27"/>
            <p:cNvPicPr/>
            <p:nvPr/>
          </p:nvPicPr>
          <p:blipFill>
            <a:blip r:embed="rId3" cstate="print"/>
            <a:stretch>
              <a:fillRect/>
            </a:stretch>
          </p:blipFill>
          <p:spPr>
            <a:xfrm>
              <a:off x="102107" y="3161284"/>
              <a:ext cx="2633472" cy="2385060"/>
            </a:xfrm>
            <a:prstGeom prst="rect">
              <a:avLst/>
            </a:prstGeom>
          </p:spPr>
        </p:pic>
      </p:grpSp>
      <p:sp>
        <p:nvSpPr>
          <p:cNvPr id="28" name="object 28"/>
          <p:cNvSpPr txBox="1"/>
          <p:nvPr/>
        </p:nvSpPr>
        <p:spPr>
          <a:xfrm>
            <a:off x="304800" y="5354827"/>
            <a:ext cx="2012314" cy="623570"/>
          </a:xfrm>
          <a:prstGeom prst="rect">
            <a:avLst/>
          </a:prstGeom>
        </p:spPr>
        <p:txBody>
          <a:bodyPr vert="horz" wrap="square" lIns="0" tIns="12700" rIns="0" bIns="0" rtlCol="0">
            <a:spAutoFit/>
          </a:bodyPr>
          <a:lstStyle/>
          <a:p>
            <a:pPr marL="154305">
              <a:lnSpc>
                <a:spcPts val="3370"/>
              </a:lnSpc>
              <a:spcBef>
                <a:spcPts val="100"/>
              </a:spcBef>
            </a:pPr>
            <a:r>
              <a:rPr sz="2900" b="1" dirty="0">
                <a:solidFill>
                  <a:srgbClr val="FFFFFF"/>
                </a:solidFill>
                <a:latin typeface="Arial"/>
                <a:cs typeface="Arial"/>
              </a:rPr>
              <a:t>BITS</a:t>
            </a:r>
            <a:r>
              <a:rPr sz="2900" b="1" spc="-5" dirty="0">
                <a:solidFill>
                  <a:srgbClr val="FFFFFF"/>
                </a:solidFill>
                <a:latin typeface="Arial"/>
                <a:cs typeface="Arial"/>
              </a:rPr>
              <a:t> </a:t>
            </a:r>
            <a:r>
              <a:rPr sz="2900" spc="-10" dirty="0">
                <a:solidFill>
                  <a:srgbClr val="FFFFFF"/>
                </a:solidFill>
                <a:latin typeface="Arial MT"/>
                <a:cs typeface="Arial MT"/>
              </a:rPr>
              <a:t>Pilani</a:t>
            </a:r>
            <a:endParaRPr sz="2900" dirty="0">
              <a:latin typeface="Arial MT"/>
              <a:cs typeface="Arial MT"/>
            </a:endParaRPr>
          </a:p>
          <a:p>
            <a:pPr>
              <a:lnSpc>
                <a:spcPts val="1330"/>
              </a:lnSpc>
            </a:pPr>
            <a:r>
              <a:rPr lang="en-US" sz="1200" dirty="0">
                <a:solidFill>
                  <a:srgbClr val="FFFFFF"/>
                </a:solidFill>
                <a:latin typeface="Arial MT"/>
                <a:cs typeface="Arial MT"/>
              </a:rPr>
              <a:t>    </a:t>
            </a:r>
            <a:r>
              <a:rPr sz="1200" dirty="0">
                <a:solidFill>
                  <a:srgbClr val="FFFFFF"/>
                </a:solidFill>
                <a:latin typeface="Arial MT"/>
                <a:cs typeface="Arial MT"/>
              </a:rPr>
              <a:t>Pilani</a:t>
            </a:r>
            <a:r>
              <a:rPr sz="1200" spc="-30" dirty="0">
                <a:solidFill>
                  <a:srgbClr val="FFFFFF"/>
                </a:solidFill>
                <a:latin typeface="Arial MT"/>
                <a:cs typeface="Arial MT"/>
              </a:rPr>
              <a:t> </a:t>
            </a:r>
            <a:r>
              <a:rPr sz="1200" spc="-10" dirty="0">
                <a:solidFill>
                  <a:srgbClr val="FFFFFF"/>
                </a:solidFill>
                <a:latin typeface="Arial MT"/>
                <a:cs typeface="Arial MT"/>
              </a:rPr>
              <a:t>Campus</a:t>
            </a:r>
            <a:endParaRPr sz="1200" dirty="0">
              <a:latin typeface="Arial MT"/>
              <a:cs typeface="Arial MT"/>
            </a:endParaRPr>
          </a:p>
        </p:txBody>
      </p:sp>
      <p:sp>
        <p:nvSpPr>
          <p:cNvPr id="32" name="object 32"/>
          <p:cNvSpPr txBox="1">
            <a:spLocks noGrp="1"/>
          </p:cNvSpPr>
          <p:nvPr>
            <p:ph type="ftr" sz="quarter" idx="5"/>
          </p:nvPr>
        </p:nvSpPr>
        <p:spPr>
          <a:xfrm>
            <a:off x="9067800" y="7185328"/>
            <a:ext cx="3275456" cy="169277"/>
          </a:xfrm>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29" name="object 29"/>
          <p:cNvSpPr txBox="1"/>
          <p:nvPr/>
        </p:nvSpPr>
        <p:spPr>
          <a:xfrm>
            <a:off x="3734053" y="5354827"/>
            <a:ext cx="5043805" cy="574040"/>
          </a:xfrm>
          <a:prstGeom prst="rect">
            <a:avLst/>
          </a:prstGeom>
        </p:spPr>
        <p:txBody>
          <a:bodyPr vert="horz" wrap="square" lIns="0" tIns="43180" rIns="0" bIns="0" rtlCol="0">
            <a:spAutoFit/>
          </a:bodyPr>
          <a:lstStyle/>
          <a:p>
            <a:pPr>
              <a:lnSpc>
                <a:spcPct val="100000"/>
              </a:lnSpc>
              <a:spcBef>
                <a:spcPts val="340"/>
              </a:spcBef>
            </a:pPr>
            <a:r>
              <a:rPr sz="1600" dirty="0">
                <a:solidFill>
                  <a:srgbClr val="FFFFFF"/>
                </a:solidFill>
                <a:latin typeface="Arial MT"/>
                <a:cs typeface="Arial MT"/>
              </a:rPr>
              <a:t>Dr.</a:t>
            </a:r>
            <a:r>
              <a:rPr sz="1600" spc="-10" dirty="0">
                <a:solidFill>
                  <a:srgbClr val="FFFFFF"/>
                </a:solidFill>
                <a:latin typeface="Arial MT"/>
                <a:cs typeface="Arial MT"/>
              </a:rPr>
              <a:t> </a:t>
            </a:r>
            <a:r>
              <a:rPr sz="1600" dirty="0">
                <a:solidFill>
                  <a:srgbClr val="FFFFFF"/>
                </a:solidFill>
                <a:latin typeface="Arial MT"/>
                <a:cs typeface="Arial MT"/>
              </a:rPr>
              <a:t>Vinay</a:t>
            </a:r>
            <a:r>
              <a:rPr sz="1600" spc="-45" dirty="0">
                <a:solidFill>
                  <a:srgbClr val="FFFFFF"/>
                </a:solidFill>
                <a:latin typeface="Arial MT"/>
                <a:cs typeface="Arial MT"/>
              </a:rPr>
              <a:t> </a:t>
            </a:r>
            <a:r>
              <a:rPr sz="1600" spc="-10" dirty="0">
                <a:solidFill>
                  <a:srgbClr val="FFFFFF"/>
                </a:solidFill>
                <a:latin typeface="Arial MT"/>
                <a:cs typeface="Arial MT"/>
              </a:rPr>
              <a:t>Chamola</a:t>
            </a:r>
            <a:endParaRPr sz="1600">
              <a:latin typeface="Arial MT"/>
              <a:cs typeface="Arial MT"/>
            </a:endParaRPr>
          </a:p>
          <a:p>
            <a:pPr>
              <a:lnSpc>
                <a:spcPct val="100000"/>
              </a:lnSpc>
              <a:spcBef>
                <a:spcPts val="240"/>
              </a:spcBef>
            </a:pPr>
            <a:r>
              <a:rPr sz="1600" dirty="0">
                <a:solidFill>
                  <a:srgbClr val="FFFFFF"/>
                </a:solidFill>
                <a:latin typeface="Arial MT"/>
                <a:cs typeface="Arial MT"/>
              </a:rPr>
              <a:t>Department</a:t>
            </a:r>
            <a:r>
              <a:rPr sz="1600" spc="-15" dirty="0">
                <a:solidFill>
                  <a:srgbClr val="FFFFFF"/>
                </a:solidFill>
                <a:latin typeface="Arial MT"/>
                <a:cs typeface="Arial MT"/>
              </a:rPr>
              <a:t> </a:t>
            </a:r>
            <a:r>
              <a:rPr sz="1600" dirty="0">
                <a:solidFill>
                  <a:srgbClr val="FFFFFF"/>
                </a:solidFill>
                <a:latin typeface="Arial MT"/>
                <a:cs typeface="Arial MT"/>
              </a:rPr>
              <a:t>of</a:t>
            </a:r>
            <a:r>
              <a:rPr sz="1600" spc="-30" dirty="0">
                <a:solidFill>
                  <a:srgbClr val="FFFFFF"/>
                </a:solidFill>
                <a:latin typeface="Arial MT"/>
                <a:cs typeface="Arial MT"/>
              </a:rPr>
              <a:t> </a:t>
            </a:r>
            <a:r>
              <a:rPr sz="1600" dirty="0">
                <a:solidFill>
                  <a:srgbClr val="FFFFFF"/>
                </a:solidFill>
                <a:latin typeface="Arial MT"/>
                <a:cs typeface="Arial MT"/>
              </a:rPr>
              <a:t>Electrical</a:t>
            </a:r>
            <a:r>
              <a:rPr sz="1600" spc="-60" dirty="0">
                <a:solidFill>
                  <a:srgbClr val="FFFFFF"/>
                </a:solidFill>
                <a:latin typeface="Arial MT"/>
                <a:cs typeface="Arial MT"/>
              </a:rPr>
              <a:t> </a:t>
            </a:r>
            <a:r>
              <a:rPr sz="1600" dirty="0">
                <a:solidFill>
                  <a:srgbClr val="FFFFFF"/>
                </a:solidFill>
                <a:latin typeface="Arial MT"/>
                <a:cs typeface="Arial MT"/>
              </a:rPr>
              <a:t>and</a:t>
            </a:r>
            <a:r>
              <a:rPr sz="1600" spc="-25" dirty="0">
                <a:solidFill>
                  <a:srgbClr val="FFFFFF"/>
                </a:solidFill>
                <a:latin typeface="Arial MT"/>
                <a:cs typeface="Arial MT"/>
              </a:rPr>
              <a:t> </a:t>
            </a:r>
            <a:r>
              <a:rPr sz="1600" dirty="0">
                <a:solidFill>
                  <a:srgbClr val="FFFFFF"/>
                </a:solidFill>
                <a:latin typeface="Arial MT"/>
                <a:cs typeface="Arial MT"/>
              </a:rPr>
              <a:t>Electronics,</a:t>
            </a:r>
            <a:r>
              <a:rPr sz="1600" spc="-55" dirty="0">
                <a:solidFill>
                  <a:srgbClr val="FFFFFF"/>
                </a:solidFill>
                <a:latin typeface="Arial MT"/>
                <a:cs typeface="Arial MT"/>
              </a:rPr>
              <a:t> </a:t>
            </a:r>
            <a:r>
              <a:rPr sz="1600" dirty="0">
                <a:solidFill>
                  <a:srgbClr val="FFFFFF"/>
                </a:solidFill>
                <a:latin typeface="Arial MT"/>
                <a:cs typeface="Arial MT"/>
              </a:rPr>
              <a:t>Pilani</a:t>
            </a:r>
            <a:r>
              <a:rPr sz="1600" spc="-65" dirty="0">
                <a:solidFill>
                  <a:srgbClr val="FFFFFF"/>
                </a:solidFill>
                <a:latin typeface="Arial MT"/>
                <a:cs typeface="Arial MT"/>
              </a:rPr>
              <a:t> </a:t>
            </a:r>
            <a:r>
              <a:rPr sz="1600" spc="-10" dirty="0">
                <a:solidFill>
                  <a:srgbClr val="FFFFFF"/>
                </a:solidFill>
                <a:latin typeface="Arial MT"/>
                <a:cs typeface="Arial MT"/>
              </a:rPr>
              <a:t>Campus</a:t>
            </a:r>
            <a:endParaRPr sz="1600">
              <a:latin typeface="Arial MT"/>
              <a:cs typeface="Arial MT"/>
            </a:endParaRPr>
          </a:p>
        </p:txBody>
      </p:sp>
      <p:sp>
        <p:nvSpPr>
          <p:cNvPr id="30" name="object 30"/>
          <p:cNvSpPr txBox="1"/>
          <p:nvPr/>
        </p:nvSpPr>
        <p:spPr>
          <a:xfrm>
            <a:off x="3734053" y="3919850"/>
            <a:ext cx="6247765" cy="751488"/>
          </a:xfrm>
          <a:prstGeom prst="rect">
            <a:avLst/>
          </a:prstGeom>
        </p:spPr>
        <p:txBody>
          <a:bodyPr vert="horz" wrap="square" lIns="0" tIns="12700" rIns="0" bIns="0" rtlCol="0">
            <a:spAutoFit/>
          </a:bodyPr>
          <a:lstStyle/>
          <a:p>
            <a:pPr>
              <a:lnSpc>
                <a:spcPct val="100000"/>
              </a:lnSpc>
              <a:spcBef>
                <a:spcPts val="100"/>
              </a:spcBef>
            </a:pPr>
            <a:r>
              <a:rPr lang="en-US" sz="2400" b="1" spc="-10" dirty="0">
                <a:solidFill>
                  <a:srgbClr val="FFFFFF"/>
                </a:solidFill>
                <a:latin typeface="Arial"/>
                <a:cs typeface="Arial"/>
              </a:rPr>
              <a:t>Communication and Computation for Drones</a:t>
            </a:r>
            <a:endParaRPr sz="2400" dirty="0">
              <a:latin typeface="Arial"/>
              <a:cs typeface="Arial"/>
            </a:endParaRPr>
          </a:p>
        </p:txBody>
      </p:sp>
      <p:sp>
        <p:nvSpPr>
          <p:cNvPr id="31" name="object 31"/>
          <p:cNvSpPr txBox="1"/>
          <p:nvPr/>
        </p:nvSpPr>
        <p:spPr>
          <a:xfrm>
            <a:off x="9314433" y="5640120"/>
            <a:ext cx="2131695" cy="289823"/>
          </a:xfrm>
          <a:prstGeom prst="rect">
            <a:avLst/>
          </a:prstGeom>
        </p:spPr>
        <p:txBody>
          <a:bodyPr vert="horz" wrap="square" lIns="0" tIns="12700" rIns="0" bIns="0" rtlCol="0">
            <a:spAutoFit/>
          </a:bodyPr>
          <a:lstStyle/>
          <a:p>
            <a:pPr>
              <a:lnSpc>
                <a:spcPct val="100000"/>
              </a:lnSpc>
              <a:spcBef>
                <a:spcPts val="100"/>
              </a:spcBef>
            </a:pPr>
            <a:r>
              <a:rPr sz="1800" dirty="0">
                <a:solidFill>
                  <a:srgbClr val="FFFFFF"/>
                </a:solidFill>
                <a:latin typeface="Arial MT"/>
                <a:cs typeface="Arial MT"/>
              </a:rPr>
              <a:t>Date:</a:t>
            </a:r>
            <a:r>
              <a:rPr sz="1800" spc="-15" dirty="0">
                <a:solidFill>
                  <a:srgbClr val="FFFFFF"/>
                </a:solidFill>
                <a:latin typeface="Arial MT"/>
                <a:cs typeface="Arial MT"/>
              </a:rPr>
              <a:t> </a:t>
            </a:r>
            <a:r>
              <a:rPr lang="en-US" spc="-15" dirty="0">
                <a:solidFill>
                  <a:srgbClr val="FFFFFF"/>
                </a:solidFill>
                <a:latin typeface="Arial MT"/>
                <a:cs typeface="Arial MT"/>
              </a:rPr>
              <a:t>1st</a:t>
            </a:r>
            <a:r>
              <a:rPr sz="1800" spc="-15" dirty="0">
                <a:solidFill>
                  <a:srgbClr val="FFFFFF"/>
                </a:solidFill>
                <a:latin typeface="Arial MT"/>
                <a:cs typeface="Arial MT"/>
              </a:rPr>
              <a:t> </a:t>
            </a:r>
            <a:r>
              <a:rPr lang="en-US" spc="-15" dirty="0">
                <a:solidFill>
                  <a:srgbClr val="FFFFFF"/>
                </a:solidFill>
                <a:latin typeface="Arial MT"/>
                <a:cs typeface="Arial MT"/>
              </a:rPr>
              <a:t>Aug</a:t>
            </a:r>
            <a:r>
              <a:rPr sz="1800" dirty="0">
                <a:solidFill>
                  <a:srgbClr val="FFFFFF"/>
                </a:solidFill>
                <a:latin typeface="Arial MT"/>
                <a:cs typeface="Arial MT"/>
              </a:rPr>
              <a:t>,</a:t>
            </a:r>
            <a:r>
              <a:rPr sz="1800" spc="-20" dirty="0">
                <a:solidFill>
                  <a:srgbClr val="FFFFFF"/>
                </a:solidFill>
                <a:latin typeface="Arial MT"/>
                <a:cs typeface="Arial MT"/>
              </a:rPr>
              <a:t>20</a:t>
            </a:r>
            <a:r>
              <a:rPr lang="en-US" spc="-20" dirty="0">
                <a:solidFill>
                  <a:srgbClr val="FFFFFF"/>
                </a:solidFill>
                <a:latin typeface="Arial MT"/>
                <a:cs typeface="Arial MT"/>
              </a:rPr>
              <a:t>25</a:t>
            </a:r>
            <a:endParaRPr sz="1800" dirty="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7c3d3b2c77_0_22"/>
          <p:cNvSpPr txBox="1">
            <a:spLocks noGrp="1"/>
          </p:cNvSpPr>
          <p:nvPr>
            <p:ph type="title"/>
          </p:nvPr>
        </p:nvSpPr>
        <p:spPr>
          <a:xfrm>
            <a:off x="102819" y="334467"/>
            <a:ext cx="9343500" cy="8619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US"/>
              <a:t>Operation Spider Web – A Modern Drone Tactic</a:t>
            </a:r>
            <a:endParaRPr/>
          </a:p>
          <a:p>
            <a:pPr marL="0" lvl="0" indent="0" algn="l" rtl="0">
              <a:spcBef>
                <a:spcPts val="0"/>
              </a:spcBef>
              <a:spcAft>
                <a:spcPts val="0"/>
              </a:spcAft>
              <a:buNone/>
            </a:pPr>
            <a:endParaRPr/>
          </a:p>
        </p:txBody>
      </p:sp>
      <p:sp>
        <p:nvSpPr>
          <p:cNvPr id="153" name="Google Shape;153;g37c3d3b2c77_0_22"/>
          <p:cNvSpPr txBox="1">
            <a:spLocks noGrp="1"/>
          </p:cNvSpPr>
          <p:nvPr>
            <p:ph type="body" idx="1"/>
          </p:nvPr>
        </p:nvSpPr>
        <p:spPr>
          <a:xfrm>
            <a:off x="609600" y="1867940"/>
            <a:ext cx="10972800" cy="4490100"/>
          </a:xfrm>
          <a:prstGeom prst="rect">
            <a:avLst/>
          </a:prstGeom>
        </p:spPr>
        <p:txBody>
          <a:bodyPr spcFirstLastPara="1" wrap="square" lIns="0" tIns="0" rIns="0" bIns="0" anchor="t" anchorCtr="0">
            <a:spAutoFit/>
          </a:bodyPr>
          <a:lstStyle/>
          <a:p>
            <a:pPr marL="457200" lvl="0" indent="-342900" algn="l" rtl="0">
              <a:lnSpc>
                <a:spcPct val="115000"/>
              </a:lnSpc>
              <a:spcBef>
                <a:spcPts val="0"/>
              </a:spcBef>
              <a:spcAft>
                <a:spcPts val="0"/>
              </a:spcAft>
              <a:buSzPts val="1800"/>
              <a:buChar char="●"/>
            </a:pPr>
            <a:r>
              <a:rPr lang="en-US" sz="2200"/>
              <a:t>Drones are no longer used only for surveillance; they are now being deployed for offensive operations.</a:t>
            </a:r>
            <a:br>
              <a:rPr lang="en-US" sz="2200"/>
            </a:br>
            <a:endParaRPr sz="2200"/>
          </a:p>
          <a:p>
            <a:pPr marL="457200" lvl="0" indent="-342900" algn="l" rtl="0">
              <a:lnSpc>
                <a:spcPct val="115000"/>
              </a:lnSpc>
              <a:spcBef>
                <a:spcPts val="0"/>
              </a:spcBef>
              <a:spcAft>
                <a:spcPts val="0"/>
              </a:spcAft>
              <a:buSzPts val="1800"/>
              <a:buChar char="●"/>
            </a:pPr>
            <a:r>
              <a:rPr lang="en-US" sz="2200"/>
              <a:t>Operation Spider Web is a real military mission where many small drones worked together like a spider’s web.</a:t>
            </a:r>
            <a:br>
              <a:rPr lang="en-US" sz="2200"/>
            </a:br>
            <a:endParaRPr sz="2200"/>
          </a:p>
          <a:p>
            <a:pPr marL="457200" lvl="0" indent="-342900" algn="l" rtl="0">
              <a:lnSpc>
                <a:spcPct val="115000"/>
              </a:lnSpc>
              <a:spcBef>
                <a:spcPts val="0"/>
              </a:spcBef>
              <a:spcAft>
                <a:spcPts val="0"/>
              </a:spcAft>
              <a:buSzPts val="1800"/>
              <a:buChar char="●"/>
            </a:pPr>
            <a:r>
              <a:rPr lang="en-US" sz="2200"/>
              <a:t>These drones were used to carry out a precise strike deep inside enemy territory.</a:t>
            </a:r>
            <a:br>
              <a:rPr lang="en-US" sz="2200"/>
            </a:br>
            <a:endParaRPr sz="2200"/>
          </a:p>
          <a:p>
            <a:pPr marL="457200" lvl="0" indent="-342900" algn="l" rtl="0">
              <a:lnSpc>
                <a:spcPct val="115000"/>
              </a:lnSpc>
              <a:spcBef>
                <a:spcPts val="0"/>
              </a:spcBef>
              <a:spcAft>
                <a:spcPts val="0"/>
              </a:spcAft>
              <a:buSzPts val="1800"/>
              <a:buChar char="●"/>
            </a:pPr>
            <a:r>
              <a:rPr lang="en-US" sz="2200"/>
              <a:t>Watch carefully to see how technology, communication, and coordination are key to modern drone warfare.</a:t>
            </a:r>
            <a:endParaRPr sz="2200"/>
          </a:p>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37c3d3b2c77_0_5"/>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Operation Spider Web – A Modern Drone Tactic</a:t>
            </a:r>
            <a:endParaRPr/>
          </a:p>
        </p:txBody>
      </p:sp>
      <p:pic>
        <p:nvPicPr>
          <p:cNvPr id="2" name="Online Media 1" title="How Ukraine FPV drones Truck Attack Happened? #ukraine #russia #Spiderweb">
            <a:hlinkClick r:id="" action="ppaction://media"/>
            <a:extLst>
              <a:ext uri="{FF2B5EF4-FFF2-40B4-BE49-F238E27FC236}">
                <a16:creationId xmlns:a16="http://schemas.microsoft.com/office/drawing/2014/main" id="{D84031F8-3917-76FD-3FD5-4CD8349615AF}"/>
              </a:ext>
            </a:extLst>
          </p:cNvPr>
          <p:cNvPicPr>
            <a:picLocks noRot="1" noChangeAspect="1"/>
          </p:cNvPicPr>
          <p:nvPr>
            <a:videoFile r:link="rId1"/>
          </p:nvPr>
        </p:nvPicPr>
        <p:blipFill>
          <a:blip r:embed="rId4"/>
          <a:stretch>
            <a:fillRect/>
          </a:stretch>
        </p:blipFill>
        <p:spPr>
          <a:xfrm>
            <a:off x="1371600" y="1524000"/>
            <a:ext cx="8509000" cy="48075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7c3d3b2c77_0_15"/>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US"/>
              <a:t>Operation Spider Web – A Modern Drone Tactic</a:t>
            </a:r>
            <a:endParaRPr/>
          </a:p>
        </p:txBody>
      </p:sp>
      <p:sp>
        <p:nvSpPr>
          <p:cNvPr id="167" name="Google Shape;167;g37c3d3b2c77_0_15"/>
          <p:cNvSpPr txBox="1">
            <a:spLocks noGrp="1"/>
          </p:cNvSpPr>
          <p:nvPr>
            <p:ph type="body" idx="1"/>
          </p:nvPr>
        </p:nvSpPr>
        <p:spPr>
          <a:xfrm>
            <a:off x="107550" y="1651525"/>
            <a:ext cx="11976900" cy="648900"/>
          </a:xfrm>
          <a:prstGeom prst="rect">
            <a:avLst/>
          </a:prstGeom>
        </p:spPr>
        <p:txBody>
          <a:bodyPr spcFirstLastPara="1" wrap="square" lIns="0" tIns="0" rIns="0" bIns="0" anchor="t" anchorCtr="0">
            <a:spAutoFit/>
          </a:bodyPr>
          <a:lstStyle/>
          <a:p>
            <a:pPr marL="457200" lvl="0" indent="0" algn="l" rtl="0">
              <a:lnSpc>
                <a:spcPct val="115000"/>
              </a:lnSpc>
              <a:spcBef>
                <a:spcPts val="0"/>
              </a:spcBef>
              <a:spcAft>
                <a:spcPts val="0"/>
              </a:spcAft>
              <a:buNone/>
            </a:pPr>
            <a:r>
              <a:rPr lang="en-US" sz="2100" b="1" dirty="0">
                <a:solidFill>
                  <a:schemeClr val="dk1"/>
                </a:solidFill>
                <a:latin typeface="Arial"/>
                <a:ea typeface="Arial"/>
                <a:cs typeface="Arial"/>
                <a:sym typeface="Arial"/>
              </a:rPr>
              <a:t>Q1: What are the key components of the drones used in Ukraine's operations?</a:t>
            </a:r>
            <a:endParaRPr sz="2100" b="1" dirty="0">
              <a:solidFill>
                <a:schemeClr val="dk1"/>
              </a:solidFill>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7c3d3b2c77_0_105"/>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Operation Spider Web – A Modern Drone Tactic</a:t>
            </a:r>
            <a:endParaRPr/>
          </a:p>
        </p:txBody>
      </p:sp>
      <p:sp>
        <p:nvSpPr>
          <p:cNvPr id="174" name="Google Shape;174;g37c3d3b2c77_0_105"/>
          <p:cNvSpPr txBox="1">
            <a:spLocks noGrp="1"/>
          </p:cNvSpPr>
          <p:nvPr>
            <p:ph type="body" idx="1"/>
          </p:nvPr>
        </p:nvSpPr>
        <p:spPr>
          <a:xfrm>
            <a:off x="107550" y="1651525"/>
            <a:ext cx="11976900" cy="1764000"/>
          </a:xfrm>
          <a:prstGeom prst="rect">
            <a:avLst/>
          </a:prstGeom>
        </p:spPr>
        <p:txBody>
          <a:bodyPr spcFirstLastPara="1" wrap="square" lIns="0" tIns="0" rIns="0" bIns="0" anchor="t" anchorCtr="0">
            <a:spAutoFit/>
          </a:bodyPr>
          <a:lstStyle/>
          <a:p>
            <a:pPr marL="457200" lvl="0" indent="0" algn="l" rtl="0">
              <a:lnSpc>
                <a:spcPct val="115000"/>
              </a:lnSpc>
              <a:spcBef>
                <a:spcPts val="0"/>
              </a:spcBef>
              <a:spcAft>
                <a:spcPts val="0"/>
              </a:spcAft>
              <a:buNone/>
            </a:pPr>
            <a:r>
              <a:rPr lang="en-US" sz="2100">
                <a:solidFill>
                  <a:schemeClr val="dk1"/>
                </a:solidFill>
                <a:latin typeface="Arial"/>
                <a:ea typeface="Arial"/>
                <a:cs typeface="Arial"/>
                <a:sym typeface="Arial"/>
              </a:rPr>
              <a:t>Q1: What are the key components of the drones used in Ukraine's operations?</a:t>
            </a:r>
            <a:endParaRPr sz="210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a:solidFill>
                <a:schemeClr val="dk1"/>
              </a:solidFill>
              <a:latin typeface="Arial"/>
              <a:ea typeface="Arial"/>
              <a:cs typeface="Arial"/>
              <a:sym typeface="Arial"/>
            </a:endParaRPr>
          </a:p>
          <a:p>
            <a:pPr marL="457200" lvl="0" indent="0" algn="l" rtl="0">
              <a:lnSpc>
                <a:spcPct val="115000"/>
              </a:lnSpc>
              <a:spcBef>
                <a:spcPts val="0"/>
              </a:spcBef>
              <a:spcAft>
                <a:spcPts val="0"/>
              </a:spcAft>
              <a:buNone/>
            </a:pPr>
            <a:r>
              <a:rPr lang="en-US" sz="2100" b="1">
                <a:solidFill>
                  <a:schemeClr val="dk1"/>
                </a:solidFill>
                <a:latin typeface="Arial"/>
                <a:ea typeface="Arial"/>
                <a:cs typeface="Arial"/>
                <a:sym typeface="Arial"/>
              </a:rPr>
              <a:t>Q2:How do Ukrainian drones differ in their control mechanisms compared to conventional models?</a:t>
            </a:r>
            <a:endParaRPr sz="2100" b="1">
              <a:solidFill>
                <a:schemeClr val="dk1"/>
              </a:solidFill>
              <a:latin typeface="Arial"/>
              <a:ea typeface="Arial"/>
              <a:cs typeface="Arial"/>
              <a:sym typeface="Arial"/>
            </a:endParaRPr>
          </a:p>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7c3d3b2c77_0_112"/>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Operation Spider Web – A Modern Drone Tactic</a:t>
            </a:r>
            <a:endParaRPr/>
          </a:p>
        </p:txBody>
      </p:sp>
      <p:sp>
        <p:nvSpPr>
          <p:cNvPr id="181" name="Google Shape;181;g37c3d3b2c77_0_112"/>
          <p:cNvSpPr txBox="1">
            <a:spLocks noGrp="1"/>
          </p:cNvSpPr>
          <p:nvPr>
            <p:ph type="body" idx="1"/>
          </p:nvPr>
        </p:nvSpPr>
        <p:spPr>
          <a:xfrm>
            <a:off x="107550" y="1651525"/>
            <a:ext cx="11976900" cy="3250800"/>
          </a:xfrm>
          <a:prstGeom prst="rect">
            <a:avLst/>
          </a:prstGeom>
        </p:spPr>
        <p:txBody>
          <a:bodyPr spcFirstLastPara="1" wrap="square" lIns="0" tIns="0" rIns="0" bIns="0" anchor="t" anchorCtr="0">
            <a:spAutoFit/>
          </a:bodyPr>
          <a:lstStyle/>
          <a:p>
            <a:pPr marL="457200" lvl="0" indent="0" algn="l" rtl="0">
              <a:lnSpc>
                <a:spcPct val="115000"/>
              </a:lnSpc>
              <a:spcBef>
                <a:spcPts val="0"/>
              </a:spcBef>
              <a:spcAft>
                <a:spcPts val="0"/>
              </a:spcAft>
              <a:buNone/>
            </a:pPr>
            <a:r>
              <a:rPr lang="en-US" sz="2100">
                <a:solidFill>
                  <a:schemeClr val="dk1"/>
                </a:solidFill>
                <a:latin typeface="Arial"/>
                <a:ea typeface="Arial"/>
                <a:cs typeface="Arial"/>
                <a:sym typeface="Arial"/>
              </a:rPr>
              <a:t>Q1: What are the key components of the drones used in Ukraine's operations?</a:t>
            </a:r>
            <a:endParaRPr sz="210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a:solidFill>
                <a:schemeClr val="dk1"/>
              </a:solidFill>
              <a:latin typeface="Arial"/>
              <a:ea typeface="Arial"/>
              <a:cs typeface="Arial"/>
              <a:sym typeface="Arial"/>
            </a:endParaRPr>
          </a:p>
          <a:p>
            <a:pPr marL="457200" lvl="0" indent="0" algn="l" rtl="0">
              <a:lnSpc>
                <a:spcPct val="115000"/>
              </a:lnSpc>
              <a:spcBef>
                <a:spcPts val="0"/>
              </a:spcBef>
              <a:spcAft>
                <a:spcPts val="0"/>
              </a:spcAft>
              <a:buNone/>
            </a:pPr>
            <a:r>
              <a:rPr lang="en-US" sz="2100">
                <a:solidFill>
                  <a:schemeClr val="dk1"/>
                </a:solidFill>
                <a:latin typeface="Arial"/>
                <a:ea typeface="Arial"/>
                <a:cs typeface="Arial"/>
                <a:sym typeface="Arial"/>
              </a:rPr>
              <a:t>Q2:How do Ukrainian drones differ in their control mechanisms compared to conventional models?</a:t>
            </a:r>
            <a:endParaRPr sz="210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a:solidFill>
                <a:schemeClr val="dk1"/>
              </a:solidFill>
              <a:latin typeface="Arial"/>
              <a:ea typeface="Arial"/>
              <a:cs typeface="Arial"/>
              <a:sym typeface="Arial"/>
            </a:endParaRPr>
          </a:p>
          <a:p>
            <a:pPr marL="457200" lvl="0" indent="0" algn="l" rtl="0">
              <a:lnSpc>
                <a:spcPct val="115000"/>
              </a:lnSpc>
              <a:spcBef>
                <a:spcPts val="0"/>
              </a:spcBef>
              <a:spcAft>
                <a:spcPts val="0"/>
              </a:spcAft>
              <a:buNone/>
            </a:pPr>
            <a:r>
              <a:rPr lang="en-US" sz="2100" b="1">
                <a:solidFill>
                  <a:schemeClr val="dk1"/>
                </a:solidFill>
                <a:latin typeface="Arial"/>
                <a:ea typeface="Arial"/>
                <a:cs typeface="Arial"/>
                <a:sym typeface="Arial"/>
              </a:rPr>
              <a:t>Q3:What practical advantages do these drone technologies offer in military operations?</a:t>
            </a:r>
            <a:endParaRPr sz="2100" b="1">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a:solidFill>
                <a:schemeClr val="dk1"/>
              </a:solidFill>
              <a:latin typeface="Arial"/>
              <a:ea typeface="Arial"/>
              <a:cs typeface="Arial"/>
              <a:sym typeface="Arial"/>
            </a:endParaRPr>
          </a:p>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7c3d3b2c77_0_119"/>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Operation Spider Web – A Modern Drone Tactic</a:t>
            </a:r>
            <a:endParaRPr/>
          </a:p>
        </p:txBody>
      </p:sp>
      <p:sp>
        <p:nvSpPr>
          <p:cNvPr id="188" name="Google Shape;188;g37c3d3b2c77_0_119"/>
          <p:cNvSpPr txBox="1">
            <a:spLocks noGrp="1"/>
          </p:cNvSpPr>
          <p:nvPr>
            <p:ph type="body" idx="1"/>
          </p:nvPr>
        </p:nvSpPr>
        <p:spPr>
          <a:xfrm>
            <a:off x="107550" y="1651525"/>
            <a:ext cx="11976900" cy="3994200"/>
          </a:xfrm>
          <a:prstGeom prst="rect">
            <a:avLst/>
          </a:prstGeom>
        </p:spPr>
        <p:txBody>
          <a:bodyPr spcFirstLastPara="1" wrap="square" lIns="0" tIns="0" rIns="0" bIns="0" anchor="t" anchorCtr="0">
            <a:spAutoFit/>
          </a:bodyPr>
          <a:lstStyle/>
          <a:p>
            <a:pPr marL="457200" lvl="0" indent="0" algn="l" rtl="0">
              <a:lnSpc>
                <a:spcPct val="115000"/>
              </a:lnSpc>
              <a:spcBef>
                <a:spcPts val="0"/>
              </a:spcBef>
              <a:spcAft>
                <a:spcPts val="0"/>
              </a:spcAft>
              <a:buNone/>
            </a:pPr>
            <a:r>
              <a:rPr lang="en-US" sz="2100" dirty="0">
                <a:solidFill>
                  <a:schemeClr val="dk1"/>
                </a:solidFill>
                <a:latin typeface="Arial"/>
                <a:ea typeface="Arial"/>
                <a:cs typeface="Arial"/>
                <a:sym typeface="Arial"/>
              </a:rPr>
              <a:t>Q1: What are the key components of the drones used in Ukraine's operations?</a:t>
            </a:r>
            <a:endParaRPr sz="2100"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r>
              <a:rPr lang="en-US" sz="2100" dirty="0">
                <a:solidFill>
                  <a:schemeClr val="dk1"/>
                </a:solidFill>
                <a:latin typeface="Arial"/>
                <a:ea typeface="Arial"/>
                <a:cs typeface="Arial"/>
                <a:sym typeface="Arial"/>
              </a:rPr>
              <a:t>Q2:How do Ukrainian drones differ in their control mechanisms compared to conventional models?</a:t>
            </a:r>
            <a:endParaRPr sz="2100"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r>
              <a:rPr lang="en-US" sz="2100" dirty="0">
                <a:solidFill>
                  <a:schemeClr val="dk1"/>
                </a:solidFill>
                <a:latin typeface="Arial"/>
                <a:ea typeface="Arial"/>
                <a:cs typeface="Arial"/>
                <a:sym typeface="Arial"/>
              </a:rPr>
              <a:t>Q3:What practical advantages do these drone technologies offer in military operations?</a:t>
            </a:r>
            <a:endParaRPr sz="2100"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r>
              <a:rPr lang="en-US" sz="2100" b="1" dirty="0">
                <a:solidFill>
                  <a:schemeClr val="dk1"/>
                </a:solidFill>
                <a:latin typeface="Arial"/>
                <a:ea typeface="Arial"/>
                <a:cs typeface="Arial"/>
                <a:sym typeface="Arial"/>
              </a:rPr>
              <a:t>Q4:How can these developments influence the future of drone technology and warfare?</a:t>
            </a:r>
            <a:endParaRPr sz="2100" b="1"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dirty="0">
              <a:solidFill>
                <a:schemeClr val="dk1"/>
              </a:solidFill>
              <a:latin typeface="Arial"/>
              <a:ea typeface="Arial"/>
              <a:cs typeface="Arial"/>
              <a:sym typeface="Arial"/>
            </a:endParaRPr>
          </a:p>
          <a:p>
            <a:pPr marL="457200" lvl="0" indent="0" algn="l" rtl="0">
              <a:lnSpc>
                <a:spcPct val="115000"/>
              </a:lnSpc>
              <a:spcBef>
                <a:spcPts val="0"/>
              </a:spcBef>
              <a:spcAft>
                <a:spcPts val="0"/>
              </a:spcAft>
              <a:buNone/>
            </a:pPr>
            <a:endParaRPr sz="2100" b="1" dirty="0">
              <a:solidFill>
                <a:schemeClr val="dk1"/>
              </a:solidFill>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9602-12EB-7FE3-843E-3171492D910D}"/>
              </a:ext>
            </a:extLst>
          </p:cNvPr>
          <p:cNvSpPr>
            <a:spLocks noGrp="1"/>
          </p:cNvSpPr>
          <p:nvPr>
            <p:ph type="title"/>
          </p:nvPr>
        </p:nvSpPr>
        <p:spPr>
          <a:xfrm>
            <a:off x="102819" y="334467"/>
            <a:ext cx="9343567" cy="430887"/>
          </a:xfrm>
        </p:spPr>
        <p:txBody>
          <a:bodyPr/>
          <a:lstStyle/>
          <a:p>
            <a:r>
              <a:rPr lang="en-IN" dirty="0"/>
              <a:t>History of Drones</a:t>
            </a:r>
          </a:p>
        </p:txBody>
      </p:sp>
      <p:pic>
        <p:nvPicPr>
          <p:cNvPr id="4098" name="Picture 2" descr="Drones: where did they come from and where will they go?">
            <a:extLst>
              <a:ext uri="{FF2B5EF4-FFF2-40B4-BE49-F238E27FC236}">
                <a16:creationId xmlns:a16="http://schemas.microsoft.com/office/drawing/2014/main" id="{C0EF7DD8-E8B2-A31B-D754-A141EA451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10591800" cy="4898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526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7c3d3b2c77_0_57"/>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Types of Drone Users</a:t>
            </a:r>
            <a:endParaRPr/>
          </a:p>
        </p:txBody>
      </p:sp>
      <p:graphicFrame>
        <p:nvGraphicFramePr>
          <p:cNvPr id="195" name="Google Shape;195;g37c3d3b2c77_0_57"/>
          <p:cNvGraphicFramePr/>
          <p:nvPr/>
        </p:nvGraphicFramePr>
        <p:xfrm>
          <a:off x="355175" y="1650875"/>
          <a:ext cx="10932750" cy="1372265"/>
        </p:xfrm>
        <a:graphic>
          <a:graphicData uri="http://schemas.openxmlformats.org/drawingml/2006/table">
            <a:tbl>
              <a:tblPr>
                <a:noFill/>
              </a:tblPr>
              <a:tblGrid>
                <a:gridCol w="1944400">
                  <a:extLst>
                    <a:ext uri="{9D8B030D-6E8A-4147-A177-3AD203B41FA5}">
                      <a16:colId xmlns:a16="http://schemas.microsoft.com/office/drawing/2014/main" val="20000"/>
                    </a:ext>
                  </a:extLst>
                </a:gridCol>
                <a:gridCol w="2428700">
                  <a:extLst>
                    <a:ext uri="{9D8B030D-6E8A-4147-A177-3AD203B41FA5}">
                      <a16:colId xmlns:a16="http://schemas.microsoft.com/office/drawing/2014/main" val="20001"/>
                    </a:ext>
                  </a:extLst>
                </a:gridCol>
                <a:gridCol w="2186550">
                  <a:extLst>
                    <a:ext uri="{9D8B030D-6E8A-4147-A177-3AD203B41FA5}">
                      <a16:colId xmlns:a16="http://schemas.microsoft.com/office/drawing/2014/main" val="20002"/>
                    </a:ext>
                  </a:extLst>
                </a:gridCol>
                <a:gridCol w="2418500">
                  <a:extLst>
                    <a:ext uri="{9D8B030D-6E8A-4147-A177-3AD203B41FA5}">
                      <a16:colId xmlns:a16="http://schemas.microsoft.com/office/drawing/2014/main" val="20003"/>
                    </a:ext>
                  </a:extLst>
                </a:gridCol>
                <a:gridCol w="1954600">
                  <a:extLst>
                    <a:ext uri="{9D8B030D-6E8A-4147-A177-3AD203B41FA5}">
                      <a16:colId xmlns:a16="http://schemas.microsoft.com/office/drawing/2014/main" val="20004"/>
                    </a:ext>
                  </a:extLst>
                </a:gridCol>
              </a:tblGrid>
              <a:tr h="640775">
                <a:tc>
                  <a:txBody>
                    <a:bodyPr/>
                    <a:lstStyle/>
                    <a:p>
                      <a:pPr marL="0" lvl="0" indent="0" algn="ctr" rtl="0">
                        <a:lnSpc>
                          <a:spcPct val="115000"/>
                        </a:lnSpc>
                        <a:spcBef>
                          <a:spcPts val="0"/>
                        </a:spcBef>
                        <a:spcAft>
                          <a:spcPts val="0"/>
                        </a:spcAft>
                        <a:buNone/>
                      </a:pPr>
                      <a:r>
                        <a:rPr lang="en-US" sz="1700" b="1"/>
                        <a:t>User Type</a:t>
                      </a:r>
                      <a:endParaRPr sz="17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a:t>Most Common Vehicle</a:t>
                      </a:r>
                      <a:endParaRPr sz="17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a:t>Programming Tools</a:t>
                      </a:r>
                      <a:endParaRPr sz="17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a:t>Knowledge Required</a:t>
                      </a:r>
                      <a:endParaRPr sz="17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a:t>Examples</a:t>
                      </a:r>
                      <a:endParaRPr sz="17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16175">
                <a:tc>
                  <a:txBody>
                    <a:bodyPr/>
                    <a:lstStyle/>
                    <a:p>
                      <a:pPr marL="0" lvl="0" indent="0" algn="l" rtl="0">
                        <a:spcBef>
                          <a:spcPts val="0"/>
                        </a:spcBef>
                        <a:spcAft>
                          <a:spcPts val="0"/>
                        </a:spcAft>
                        <a:buNone/>
                      </a:pPr>
                      <a:r>
                        <a:rPr lang="en-US"/>
                        <a:t>Pilot</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t>Closed architecture drones</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t>GUI-based software</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t>Basic technical knowledge, flight rules</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t>Racing pilot, photographer</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96" name="Google Shape;196;g37c3d3b2c77_0_57"/>
          <p:cNvPicPr preferRelativeResize="0"/>
          <p:nvPr/>
        </p:nvPicPr>
        <p:blipFill>
          <a:blip r:embed="rId3">
            <a:alphaModFix/>
          </a:blip>
          <a:stretch>
            <a:fillRect/>
          </a:stretch>
        </p:blipFill>
        <p:spPr>
          <a:xfrm>
            <a:off x="355163" y="3184475"/>
            <a:ext cx="4832332" cy="3175001"/>
          </a:xfrm>
          <a:prstGeom prst="rect">
            <a:avLst/>
          </a:prstGeom>
          <a:noFill/>
          <a:ln>
            <a:noFill/>
          </a:ln>
        </p:spPr>
      </p:pic>
      <p:pic>
        <p:nvPicPr>
          <p:cNvPr id="197" name="Google Shape;197;g37c3d3b2c77_0_57"/>
          <p:cNvPicPr preferRelativeResize="0"/>
          <p:nvPr/>
        </p:nvPicPr>
        <p:blipFill>
          <a:blip r:embed="rId4">
            <a:alphaModFix/>
          </a:blip>
          <a:stretch>
            <a:fillRect/>
          </a:stretch>
        </p:blipFill>
        <p:spPr>
          <a:xfrm>
            <a:off x="5549750" y="3171888"/>
            <a:ext cx="5274500" cy="3200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7c3d3b2c77_0_67"/>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Types of Drone Users</a:t>
            </a:r>
            <a:endParaRPr/>
          </a:p>
        </p:txBody>
      </p:sp>
      <p:graphicFrame>
        <p:nvGraphicFramePr>
          <p:cNvPr id="204" name="Google Shape;204;g37c3d3b2c77_0_67"/>
          <p:cNvGraphicFramePr/>
          <p:nvPr/>
        </p:nvGraphicFramePr>
        <p:xfrm>
          <a:off x="403600" y="1602425"/>
          <a:ext cx="10932750" cy="1920905"/>
        </p:xfrm>
        <a:graphic>
          <a:graphicData uri="http://schemas.openxmlformats.org/drawingml/2006/table">
            <a:tbl>
              <a:tblPr>
                <a:noFill/>
              </a:tblPr>
              <a:tblGrid>
                <a:gridCol w="1944400">
                  <a:extLst>
                    <a:ext uri="{9D8B030D-6E8A-4147-A177-3AD203B41FA5}">
                      <a16:colId xmlns:a16="http://schemas.microsoft.com/office/drawing/2014/main" val="20000"/>
                    </a:ext>
                  </a:extLst>
                </a:gridCol>
                <a:gridCol w="2428700">
                  <a:extLst>
                    <a:ext uri="{9D8B030D-6E8A-4147-A177-3AD203B41FA5}">
                      <a16:colId xmlns:a16="http://schemas.microsoft.com/office/drawing/2014/main" val="20001"/>
                    </a:ext>
                  </a:extLst>
                </a:gridCol>
                <a:gridCol w="2186550">
                  <a:extLst>
                    <a:ext uri="{9D8B030D-6E8A-4147-A177-3AD203B41FA5}">
                      <a16:colId xmlns:a16="http://schemas.microsoft.com/office/drawing/2014/main" val="20002"/>
                    </a:ext>
                  </a:extLst>
                </a:gridCol>
                <a:gridCol w="2418500">
                  <a:extLst>
                    <a:ext uri="{9D8B030D-6E8A-4147-A177-3AD203B41FA5}">
                      <a16:colId xmlns:a16="http://schemas.microsoft.com/office/drawing/2014/main" val="20003"/>
                    </a:ext>
                  </a:extLst>
                </a:gridCol>
                <a:gridCol w="1954600">
                  <a:extLst>
                    <a:ext uri="{9D8B030D-6E8A-4147-A177-3AD203B41FA5}">
                      <a16:colId xmlns:a16="http://schemas.microsoft.com/office/drawing/2014/main" val="20004"/>
                    </a:ext>
                  </a:extLst>
                </a:gridCol>
              </a:tblGrid>
              <a:tr h="640775">
                <a:tc>
                  <a:txBody>
                    <a:bodyPr/>
                    <a:lstStyle/>
                    <a:p>
                      <a:pPr marL="0" lvl="0" indent="0" algn="ctr" rtl="0">
                        <a:lnSpc>
                          <a:spcPct val="115000"/>
                        </a:lnSpc>
                        <a:spcBef>
                          <a:spcPts val="0"/>
                        </a:spcBef>
                        <a:spcAft>
                          <a:spcPts val="0"/>
                        </a:spcAft>
                        <a:buNone/>
                      </a:pPr>
                      <a:r>
                        <a:rPr lang="en-US" sz="1700" b="1"/>
                        <a:t>User Type</a:t>
                      </a:r>
                      <a:endParaRPr sz="1700" b="1"/>
                    </a:p>
                  </a:txBody>
                  <a:tcPr marL="91425" marR="91425" marT="91425" marB="91425"/>
                </a:tc>
                <a:tc>
                  <a:txBody>
                    <a:bodyPr/>
                    <a:lstStyle/>
                    <a:p>
                      <a:pPr marL="0" lvl="0" indent="0" algn="ctr" rtl="0">
                        <a:lnSpc>
                          <a:spcPct val="115000"/>
                        </a:lnSpc>
                        <a:spcBef>
                          <a:spcPts val="0"/>
                        </a:spcBef>
                        <a:spcAft>
                          <a:spcPts val="0"/>
                        </a:spcAft>
                        <a:buNone/>
                      </a:pPr>
                      <a:r>
                        <a:rPr lang="en-US" sz="1700" b="1"/>
                        <a:t>Most Common Vehicle</a:t>
                      </a:r>
                      <a:endParaRPr sz="1700" b="1"/>
                    </a:p>
                  </a:txBody>
                  <a:tcPr marL="91425" marR="91425" marT="91425" marB="91425"/>
                </a:tc>
                <a:tc>
                  <a:txBody>
                    <a:bodyPr/>
                    <a:lstStyle/>
                    <a:p>
                      <a:pPr marL="0" lvl="0" indent="0" algn="ctr" rtl="0">
                        <a:lnSpc>
                          <a:spcPct val="115000"/>
                        </a:lnSpc>
                        <a:spcBef>
                          <a:spcPts val="0"/>
                        </a:spcBef>
                        <a:spcAft>
                          <a:spcPts val="0"/>
                        </a:spcAft>
                        <a:buNone/>
                      </a:pPr>
                      <a:r>
                        <a:rPr lang="en-US" sz="1700" b="1"/>
                        <a:t>Programming Tools</a:t>
                      </a:r>
                      <a:endParaRPr sz="1700" b="1"/>
                    </a:p>
                  </a:txBody>
                  <a:tcPr marL="91425" marR="91425" marT="91425" marB="91425"/>
                </a:tc>
                <a:tc>
                  <a:txBody>
                    <a:bodyPr/>
                    <a:lstStyle/>
                    <a:p>
                      <a:pPr marL="0" lvl="0" indent="0" algn="ctr" rtl="0">
                        <a:lnSpc>
                          <a:spcPct val="115000"/>
                        </a:lnSpc>
                        <a:spcBef>
                          <a:spcPts val="0"/>
                        </a:spcBef>
                        <a:spcAft>
                          <a:spcPts val="0"/>
                        </a:spcAft>
                        <a:buNone/>
                      </a:pPr>
                      <a:r>
                        <a:rPr lang="en-US" sz="1700" b="1"/>
                        <a:t>Knowledge Required</a:t>
                      </a:r>
                      <a:endParaRPr sz="1700" b="1"/>
                    </a:p>
                  </a:txBody>
                  <a:tcPr marL="91425" marR="91425" marT="91425" marB="91425"/>
                </a:tc>
                <a:tc>
                  <a:txBody>
                    <a:bodyPr/>
                    <a:lstStyle/>
                    <a:p>
                      <a:pPr marL="0" lvl="0" indent="0" algn="ctr" rtl="0">
                        <a:lnSpc>
                          <a:spcPct val="115000"/>
                        </a:lnSpc>
                        <a:spcBef>
                          <a:spcPts val="0"/>
                        </a:spcBef>
                        <a:spcAft>
                          <a:spcPts val="0"/>
                        </a:spcAft>
                        <a:buNone/>
                      </a:pPr>
                      <a:r>
                        <a:rPr lang="en-US" sz="1700" b="1"/>
                        <a:t>Examples</a:t>
                      </a:r>
                      <a:endParaRPr sz="1700" b="1"/>
                    </a:p>
                  </a:txBody>
                  <a:tcPr marL="91425" marR="91425" marT="91425" marB="91425"/>
                </a:tc>
                <a:extLst>
                  <a:ext uri="{0D108BD9-81ED-4DB2-BD59-A6C34878D82A}">
                    <a16:rowId xmlns:a16="http://schemas.microsoft.com/office/drawing/2014/main" val="10000"/>
                  </a:ext>
                </a:extLst>
              </a:tr>
              <a:tr h="616175">
                <a:tc>
                  <a:txBody>
                    <a:bodyPr/>
                    <a:lstStyle/>
                    <a:p>
                      <a:pPr marL="0" lvl="0" indent="0" algn="l" rtl="0">
                        <a:spcBef>
                          <a:spcPts val="0"/>
                        </a:spcBef>
                        <a:spcAft>
                          <a:spcPts val="0"/>
                        </a:spcAft>
                        <a:buNone/>
                      </a:pPr>
                      <a:r>
                        <a:rPr lang="en-US"/>
                        <a:t>Researcher (using drones as tools)</a:t>
                      </a:r>
                      <a:endParaRPr/>
                    </a:p>
                  </a:txBody>
                  <a:tcPr marL="91425" marR="91425" marT="91425" marB="91425"/>
                </a:tc>
                <a:tc>
                  <a:txBody>
                    <a:bodyPr/>
                    <a:lstStyle/>
                    <a:p>
                      <a:pPr marL="0" lvl="0" indent="0" algn="l" rtl="0">
                        <a:spcBef>
                          <a:spcPts val="0"/>
                        </a:spcBef>
                        <a:spcAft>
                          <a:spcPts val="0"/>
                        </a:spcAft>
                        <a:buNone/>
                      </a:pPr>
                      <a:r>
                        <a:rPr lang="en-US"/>
                        <a:t>Mostly closed or limited open systems</a:t>
                      </a:r>
                      <a:endParaRPr/>
                    </a:p>
                  </a:txBody>
                  <a:tcPr marL="91425" marR="91425" marT="91425" marB="91425"/>
                </a:tc>
                <a:tc>
                  <a:txBody>
                    <a:bodyPr/>
                    <a:lstStyle/>
                    <a:p>
                      <a:pPr marL="0" lvl="0" indent="0" algn="l" rtl="0">
                        <a:spcBef>
                          <a:spcPts val="0"/>
                        </a:spcBef>
                        <a:spcAft>
                          <a:spcPts val="0"/>
                        </a:spcAft>
                        <a:buNone/>
                      </a:pPr>
                      <a:r>
                        <a:rPr lang="en-US"/>
                        <a:t>GUI or SDK Type 1</a:t>
                      </a:r>
                      <a:endParaRPr/>
                    </a:p>
                  </a:txBody>
                  <a:tcPr marL="91425" marR="91425" marT="91425" marB="91425"/>
                </a:tc>
                <a:tc>
                  <a:txBody>
                    <a:bodyPr/>
                    <a:lstStyle/>
                    <a:p>
                      <a:pPr marL="0" lvl="0" indent="0" algn="l" rtl="0">
                        <a:spcBef>
                          <a:spcPts val="0"/>
                        </a:spcBef>
                        <a:spcAft>
                          <a:spcPts val="0"/>
                        </a:spcAft>
                        <a:buNone/>
                      </a:pPr>
                      <a:r>
                        <a:rPr lang="en-US"/>
                        <a:t>Maker-style knowledge; research tasks unrelated to drone design</a:t>
                      </a:r>
                      <a:endParaRPr/>
                    </a:p>
                  </a:txBody>
                  <a:tcPr marL="91425" marR="91425" marT="91425" marB="91425"/>
                </a:tc>
                <a:tc>
                  <a:txBody>
                    <a:bodyPr/>
                    <a:lstStyle/>
                    <a:p>
                      <a:pPr marL="0" lvl="0" indent="0" algn="l" rtl="0">
                        <a:spcBef>
                          <a:spcPts val="0"/>
                        </a:spcBef>
                        <a:spcAft>
                          <a:spcPts val="0"/>
                        </a:spcAft>
                        <a:buNone/>
                      </a:pPr>
                      <a:r>
                        <a:rPr lang="en-US"/>
                        <a:t>AI, SLAM algorithms</a:t>
                      </a:r>
                      <a:endParaRPr/>
                    </a:p>
                  </a:txBody>
                  <a:tcPr marL="91425" marR="91425" marT="91425" marB="91425"/>
                </a:tc>
                <a:extLst>
                  <a:ext uri="{0D108BD9-81ED-4DB2-BD59-A6C34878D82A}">
                    <a16:rowId xmlns:a16="http://schemas.microsoft.com/office/drawing/2014/main" val="10001"/>
                  </a:ext>
                </a:extLst>
              </a:tr>
            </a:tbl>
          </a:graphicData>
        </a:graphic>
      </p:graphicFrame>
      <p:pic>
        <p:nvPicPr>
          <p:cNvPr id="205" name="Google Shape;205;g37c3d3b2c77_0_67"/>
          <p:cNvPicPr preferRelativeResize="0"/>
          <p:nvPr/>
        </p:nvPicPr>
        <p:blipFill>
          <a:blip r:embed="rId3">
            <a:alphaModFix/>
          </a:blip>
          <a:stretch>
            <a:fillRect/>
          </a:stretch>
        </p:blipFill>
        <p:spPr>
          <a:xfrm>
            <a:off x="823350" y="3523330"/>
            <a:ext cx="4922325" cy="2974644"/>
          </a:xfrm>
          <a:prstGeom prst="rect">
            <a:avLst/>
          </a:prstGeom>
          <a:noFill/>
          <a:ln>
            <a:noFill/>
          </a:ln>
        </p:spPr>
      </p:pic>
      <p:pic>
        <p:nvPicPr>
          <p:cNvPr id="206" name="Google Shape;206;g37c3d3b2c77_0_67"/>
          <p:cNvPicPr preferRelativeResize="0"/>
          <p:nvPr/>
        </p:nvPicPr>
        <p:blipFill>
          <a:blip r:embed="rId4">
            <a:alphaModFix/>
          </a:blip>
          <a:stretch>
            <a:fillRect/>
          </a:stretch>
        </p:blipFill>
        <p:spPr>
          <a:xfrm>
            <a:off x="5941277" y="3523330"/>
            <a:ext cx="5395074" cy="29746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37c3d3b2c77_0_88"/>
          <p:cNvSpPr txBox="1">
            <a:spLocks noGrp="1"/>
          </p:cNvSpPr>
          <p:nvPr>
            <p:ph type="title"/>
          </p:nvPr>
        </p:nvSpPr>
        <p:spPr>
          <a:xfrm>
            <a:off x="102819" y="334467"/>
            <a:ext cx="9343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Types of Drone Users</a:t>
            </a:r>
            <a:endParaRPr/>
          </a:p>
        </p:txBody>
      </p:sp>
      <p:graphicFrame>
        <p:nvGraphicFramePr>
          <p:cNvPr id="213" name="Google Shape;213;g37c3d3b2c77_0_88"/>
          <p:cNvGraphicFramePr/>
          <p:nvPr>
            <p:extLst>
              <p:ext uri="{D42A27DB-BD31-4B8C-83A1-F6EECF244321}">
                <p14:modId xmlns:p14="http://schemas.microsoft.com/office/powerpoint/2010/main" val="3646045009"/>
              </p:ext>
            </p:extLst>
          </p:nvPr>
        </p:nvGraphicFramePr>
        <p:xfrm>
          <a:off x="381000" y="1424445"/>
          <a:ext cx="10932750" cy="1372265"/>
        </p:xfrm>
        <a:graphic>
          <a:graphicData uri="http://schemas.openxmlformats.org/drawingml/2006/table">
            <a:tbl>
              <a:tblPr>
                <a:noFill/>
              </a:tblPr>
              <a:tblGrid>
                <a:gridCol w="1944400">
                  <a:extLst>
                    <a:ext uri="{9D8B030D-6E8A-4147-A177-3AD203B41FA5}">
                      <a16:colId xmlns:a16="http://schemas.microsoft.com/office/drawing/2014/main" val="20000"/>
                    </a:ext>
                  </a:extLst>
                </a:gridCol>
                <a:gridCol w="2428700">
                  <a:extLst>
                    <a:ext uri="{9D8B030D-6E8A-4147-A177-3AD203B41FA5}">
                      <a16:colId xmlns:a16="http://schemas.microsoft.com/office/drawing/2014/main" val="20001"/>
                    </a:ext>
                  </a:extLst>
                </a:gridCol>
                <a:gridCol w="2186550">
                  <a:extLst>
                    <a:ext uri="{9D8B030D-6E8A-4147-A177-3AD203B41FA5}">
                      <a16:colId xmlns:a16="http://schemas.microsoft.com/office/drawing/2014/main" val="20002"/>
                    </a:ext>
                  </a:extLst>
                </a:gridCol>
                <a:gridCol w="2418500">
                  <a:extLst>
                    <a:ext uri="{9D8B030D-6E8A-4147-A177-3AD203B41FA5}">
                      <a16:colId xmlns:a16="http://schemas.microsoft.com/office/drawing/2014/main" val="20003"/>
                    </a:ext>
                  </a:extLst>
                </a:gridCol>
                <a:gridCol w="1954600">
                  <a:extLst>
                    <a:ext uri="{9D8B030D-6E8A-4147-A177-3AD203B41FA5}">
                      <a16:colId xmlns:a16="http://schemas.microsoft.com/office/drawing/2014/main" val="20004"/>
                    </a:ext>
                  </a:extLst>
                </a:gridCol>
              </a:tblGrid>
              <a:tr h="640775">
                <a:tc>
                  <a:txBody>
                    <a:bodyPr/>
                    <a:lstStyle/>
                    <a:p>
                      <a:pPr marL="0" lvl="0" indent="0" algn="ctr" rtl="0">
                        <a:lnSpc>
                          <a:spcPct val="115000"/>
                        </a:lnSpc>
                        <a:spcBef>
                          <a:spcPts val="0"/>
                        </a:spcBef>
                        <a:spcAft>
                          <a:spcPts val="0"/>
                        </a:spcAft>
                        <a:buNone/>
                      </a:pPr>
                      <a:r>
                        <a:rPr lang="en-US" sz="1700" b="1"/>
                        <a:t>User Type</a:t>
                      </a:r>
                      <a:endParaRPr sz="1700"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a:t>Most Common Vehicle</a:t>
                      </a:r>
                      <a:endParaRPr sz="1700"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dirty="0"/>
                        <a:t>Programming Tools</a:t>
                      </a:r>
                      <a:endParaRPr sz="1700" b="1" dirty="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a:t>Knowledge Required</a:t>
                      </a:r>
                      <a:endParaRPr sz="1700"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700" b="1" dirty="0"/>
                        <a:t>Examples</a:t>
                      </a:r>
                      <a:endParaRPr sz="1700" b="1" dirty="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16175">
                <a:tc>
                  <a:txBody>
                    <a:bodyPr/>
                    <a:lstStyle/>
                    <a:p>
                      <a:pPr marL="0" lvl="0" indent="0" algn="l" rtl="0">
                        <a:spcBef>
                          <a:spcPts val="0"/>
                        </a:spcBef>
                        <a:spcAft>
                          <a:spcPts val="0"/>
                        </a:spcAft>
                        <a:buNone/>
                      </a:pPr>
                      <a:r>
                        <a:rPr lang="en-US"/>
                        <a:t>Specialist Researcher</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Kit-like open architectures</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SDK Type 2 or 3</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Scientific knowledge on robotics and controls</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t>Advanced research platforms</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214" name="Google Shape;214;g37c3d3b2c77_0_88"/>
          <p:cNvPicPr preferRelativeResize="0"/>
          <p:nvPr/>
        </p:nvPicPr>
        <p:blipFill rotWithShape="1">
          <a:blip r:embed="rId3">
            <a:alphaModFix/>
          </a:blip>
          <a:srcRect l="9643" t="14996" r="10331" b="17721"/>
          <a:stretch/>
        </p:blipFill>
        <p:spPr>
          <a:xfrm>
            <a:off x="3031525" y="3574625"/>
            <a:ext cx="5386349" cy="2909901"/>
          </a:xfrm>
          <a:prstGeom prst="rect">
            <a:avLst/>
          </a:prstGeom>
          <a:noFill/>
          <a:ln>
            <a:noFill/>
          </a:ln>
        </p:spPr>
      </p:pic>
      <p:graphicFrame>
        <p:nvGraphicFramePr>
          <p:cNvPr id="215" name="Google Shape;215;g37c3d3b2c77_0_88"/>
          <p:cNvGraphicFramePr/>
          <p:nvPr>
            <p:extLst>
              <p:ext uri="{D42A27DB-BD31-4B8C-83A1-F6EECF244321}">
                <p14:modId xmlns:p14="http://schemas.microsoft.com/office/powerpoint/2010/main" val="3955601424"/>
              </p:ext>
            </p:extLst>
          </p:nvPr>
        </p:nvGraphicFramePr>
        <p:xfrm>
          <a:off x="381000" y="2780470"/>
          <a:ext cx="10932750" cy="1005810"/>
        </p:xfrm>
        <a:graphic>
          <a:graphicData uri="http://schemas.openxmlformats.org/drawingml/2006/table">
            <a:tbl>
              <a:tblPr>
                <a:noFill/>
              </a:tblPr>
              <a:tblGrid>
                <a:gridCol w="1944400">
                  <a:extLst>
                    <a:ext uri="{9D8B030D-6E8A-4147-A177-3AD203B41FA5}">
                      <a16:colId xmlns:a16="http://schemas.microsoft.com/office/drawing/2014/main" val="20000"/>
                    </a:ext>
                  </a:extLst>
                </a:gridCol>
                <a:gridCol w="2428700">
                  <a:extLst>
                    <a:ext uri="{9D8B030D-6E8A-4147-A177-3AD203B41FA5}">
                      <a16:colId xmlns:a16="http://schemas.microsoft.com/office/drawing/2014/main" val="20001"/>
                    </a:ext>
                  </a:extLst>
                </a:gridCol>
                <a:gridCol w="2186550">
                  <a:extLst>
                    <a:ext uri="{9D8B030D-6E8A-4147-A177-3AD203B41FA5}">
                      <a16:colId xmlns:a16="http://schemas.microsoft.com/office/drawing/2014/main" val="20002"/>
                    </a:ext>
                  </a:extLst>
                </a:gridCol>
                <a:gridCol w="2418500">
                  <a:extLst>
                    <a:ext uri="{9D8B030D-6E8A-4147-A177-3AD203B41FA5}">
                      <a16:colId xmlns:a16="http://schemas.microsoft.com/office/drawing/2014/main" val="20003"/>
                    </a:ext>
                  </a:extLst>
                </a:gridCol>
                <a:gridCol w="1954600">
                  <a:extLst>
                    <a:ext uri="{9D8B030D-6E8A-4147-A177-3AD203B41FA5}">
                      <a16:colId xmlns:a16="http://schemas.microsoft.com/office/drawing/2014/main" val="20004"/>
                    </a:ext>
                  </a:extLst>
                </a:gridCol>
              </a:tblGrid>
              <a:tr h="616175">
                <a:tc>
                  <a:txBody>
                    <a:bodyPr/>
                    <a:lstStyle/>
                    <a:p>
                      <a:pPr marL="0" lvl="0" indent="0" algn="l" rtl="0">
                        <a:spcBef>
                          <a:spcPts val="0"/>
                        </a:spcBef>
                        <a:spcAft>
                          <a:spcPts val="0"/>
                        </a:spcAft>
                        <a:buNone/>
                      </a:pPr>
                      <a:r>
                        <a:rPr lang="en-US"/>
                        <a:t>Designer</a:t>
                      </a:r>
                      <a:endParaRPr/>
                    </a:p>
                  </a:txBody>
                  <a:tcPr marL="91425" marR="91425" marT="91425" marB="91425"/>
                </a:tc>
                <a:tc>
                  <a:txBody>
                    <a:bodyPr/>
                    <a:lstStyle/>
                    <a:p>
                      <a:pPr marL="0" lvl="0" indent="0" algn="l" rtl="0">
                        <a:spcBef>
                          <a:spcPts val="0"/>
                        </a:spcBef>
                        <a:spcAft>
                          <a:spcPts val="0"/>
                        </a:spcAft>
                        <a:buNone/>
                      </a:pPr>
                      <a:r>
                        <a:rPr lang="en-US"/>
                        <a:t>Open architecture designs</a:t>
                      </a:r>
                      <a:endParaRPr/>
                    </a:p>
                  </a:txBody>
                  <a:tcPr marL="91425" marR="91425" marT="91425" marB="91425"/>
                </a:tc>
                <a:tc>
                  <a:txBody>
                    <a:bodyPr/>
                    <a:lstStyle/>
                    <a:p>
                      <a:pPr marL="0" lvl="0" indent="0" algn="l" rtl="0">
                        <a:spcBef>
                          <a:spcPts val="0"/>
                        </a:spcBef>
                        <a:spcAft>
                          <a:spcPts val="0"/>
                        </a:spcAft>
                        <a:buNone/>
                      </a:pPr>
                      <a:r>
                        <a:rPr lang="en-US"/>
                        <a:t>SDK Type 3</a:t>
                      </a:r>
                      <a:endParaRPr/>
                    </a:p>
                  </a:txBody>
                  <a:tcPr marL="91425" marR="91425" marT="91425" marB="91425"/>
                </a:tc>
                <a:tc>
                  <a:txBody>
                    <a:bodyPr/>
                    <a:lstStyle/>
                    <a:p>
                      <a:pPr marL="0" lvl="0" indent="0" algn="l" rtl="0">
                        <a:spcBef>
                          <a:spcPts val="0"/>
                        </a:spcBef>
                        <a:spcAft>
                          <a:spcPts val="0"/>
                        </a:spcAft>
                        <a:buNone/>
                      </a:pPr>
                      <a:r>
                        <a:rPr lang="en-US"/>
                        <a:t>In-depth knowledge of aircraft control and design</a:t>
                      </a:r>
                      <a:endParaRPr/>
                    </a:p>
                  </a:txBody>
                  <a:tcPr marL="91425" marR="91425" marT="91425" marB="91425"/>
                </a:tc>
                <a:tc>
                  <a:txBody>
                    <a:bodyPr/>
                    <a:lstStyle/>
                    <a:p>
                      <a:pPr marL="0" lvl="0" indent="0" algn="l" rtl="0">
                        <a:spcBef>
                          <a:spcPts val="0"/>
                        </a:spcBef>
                        <a:spcAft>
                          <a:spcPts val="0"/>
                        </a:spcAft>
                        <a:buNone/>
                      </a:pPr>
                      <a:r>
                        <a:rPr lang="en-US"/>
                        <a:t>Aircraft system designers</a:t>
                      </a:r>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6C22-AD96-9039-6161-77119250CAE2}"/>
              </a:ext>
            </a:extLst>
          </p:cNvPr>
          <p:cNvSpPr>
            <a:spLocks noGrp="1"/>
          </p:cNvSpPr>
          <p:nvPr>
            <p:ph type="title"/>
          </p:nvPr>
        </p:nvSpPr>
        <p:spPr>
          <a:xfrm>
            <a:off x="381000" y="754380"/>
            <a:ext cx="9343567" cy="430887"/>
          </a:xfrm>
        </p:spPr>
        <p:txBody>
          <a:bodyPr/>
          <a:lstStyle/>
          <a:p>
            <a:r>
              <a:rPr lang="en-IN" dirty="0"/>
              <a:t>Introduction to Drones</a:t>
            </a:r>
          </a:p>
        </p:txBody>
      </p:sp>
      <p:sp>
        <p:nvSpPr>
          <p:cNvPr id="3" name="Text Placeholder 2">
            <a:extLst>
              <a:ext uri="{FF2B5EF4-FFF2-40B4-BE49-F238E27FC236}">
                <a16:creationId xmlns:a16="http://schemas.microsoft.com/office/drawing/2014/main" id="{52BDE3D2-8F34-C41D-7FFF-5417A51E912E}"/>
              </a:ext>
            </a:extLst>
          </p:cNvPr>
          <p:cNvSpPr>
            <a:spLocks noGrp="1"/>
          </p:cNvSpPr>
          <p:nvPr>
            <p:ph type="body" idx="1"/>
          </p:nvPr>
        </p:nvSpPr>
        <p:spPr>
          <a:xfrm>
            <a:off x="609600" y="1577340"/>
            <a:ext cx="10972800" cy="553998"/>
          </a:xfrm>
        </p:spPr>
        <p:txBody>
          <a:bodyPr/>
          <a:lstStyle/>
          <a:p>
            <a:r>
              <a:rPr lang="en-US" b="1" dirty="0"/>
              <a:t>Drone (UAV):</a:t>
            </a:r>
            <a:r>
              <a:rPr lang="en-US" dirty="0"/>
              <a:t> An Unmanned Aerial Vehicle (UAV) is an aircraft that operates without a human pilot onboard. It is either remotely controlled or flies autonomously through pre-programmed flight plans.</a:t>
            </a:r>
            <a:endParaRPr lang="en-IN" dirty="0"/>
          </a:p>
        </p:txBody>
      </p:sp>
      <p:pic>
        <p:nvPicPr>
          <p:cNvPr id="1026" name="Picture 2" descr="Unmanned combat aerial vehicle - Wikipedia">
            <a:extLst>
              <a:ext uri="{FF2B5EF4-FFF2-40B4-BE49-F238E27FC236}">
                <a16:creationId xmlns:a16="http://schemas.microsoft.com/office/drawing/2014/main" id="{E483B258-94DE-8F7F-5659-5A1E79611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09800"/>
            <a:ext cx="2970818" cy="20131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mall drone with wires and wires&#10;&#10;AI-generated content may be incorrect.">
            <a:extLst>
              <a:ext uri="{FF2B5EF4-FFF2-40B4-BE49-F238E27FC236}">
                <a16:creationId xmlns:a16="http://schemas.microsoft.com/office/drawing/2014/main" id="{7A800ED9-7EED-2BA0-A3DF-D54E038EB4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609" y="4495800"/>
            <a:ext cx="3505200" cy="1971675"/>
          </a:xfrm>
          <a:prstGeom prst="rect">
            <a:avLst/>
          </a:prstGeom>
        </p:spPr>
      </p:pic>
      <p:pic>
        <p:nvPicPr>
          <p:cNvPr id="7" name="Picture 6" descr="A drone flying in the sky&#10;&#10;AI-generated content may be incorrect.">
            <a:extLst>
              <a:ext uri="{FF2B5EF4-FFF2-40B4-BE49-F238E27FC236}">
                <a16:creationId xmlns:a16="http://schemas.microsoft.com/office/drawing/2014/main" id="{743B25CA-0B39-24D1-CCCD-C10B706EA57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5219" y="2819400"/>
            <a:ext cx="3773374" cy="2514600"/>
          </a:xfrm>
          <a:prstGeom prst="rect">
            <a:avLst/>
          </a:prstGeom>
        </p:spPr>
      </p:pic>
      <p:pic>
        <p:nvPicPr>
          <p:cNvPr id="9" name="Picture 8" descr="A drone on the grass&#10;&#10;AI-generated content may be incorrect.">
            <a:extLst>
              <a:ext uri="{FF2B5EF4-FFF2-40B4-BE49-F238E27FC236}">
                <a16:creationId xmlns:a16="http://schemas.microsoft.com/office/drawing/2014/main" id="{C2D4AF54-BCAF-7FB5-DD97-25D94E7483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6750" y="2490343"/>
            <a:ext cx="3988841" cy="2658189"/>
          </a:xfrm>
          <a:prstGeom prst="rect">
            <a:avLst/>
          </a:prstGeom>
        </p:spPr>
      </p:pic>
    </p:spTree>
    <p:extLst>
      <p:ext uri="{BB962C8B-B14F-4D97-AF65-F5344CB8AC3E}">
        <p14:creationId xmlns:p14="http://schemas.microsoft.com/office/powerpoint/2010/main" val="4289794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6" name="Title 1">
            <a:extLst>
              <a:ext uri="{FF2B5EF4-FFF2-40B4-BE49-F238E27FC236}">
                <a16:creationId xmlns:a16="http://schemas.microsoft.com/office/drawing/2014/main" id="{EA0FC52B-773C-020F-1F2E-3316DF152A90}"/>
              </a:ext>
            </a:extLst>
          </p:cNvPr>
          <p:cNvSpPr>
            <a:spLocks noGrp="1"/>
          </p:cNvSpPr>
          <p:nvPr>
            <p:ph type="title"/>
          </p:nvPr>
        </p:nvSpPr>
        <p:spPr>
          <a:xfrm>
            <a:off x="102819" y="334467"/>
            <a:ext cx="9343567" cy="430887"/>
          </a:xfrm>
        </p:spPr>
        <p:txBody>
          <a:bodyPr/>
          <a:lstStyle/>
          <a:p>
            <a:r>
              <a:rPr lang="en-US" dirty="0"/>
              <a:t>Key Components:</a:t>
            </a:r>
          </a:p>
        </p:txBody>
      </p:sp>
      <p:sp>
        <p:nvSpPr>
          <p:cNvPr id="4" name="Rectangle 1">
            <a:extLst>
              <a:ext uri="{FF2B5EF4-FFF2-40B4-BE49-F238E27FC236}">
                <a16:creationId xmlns:a16="http://schemas.microsoft.com/office/drawing/2014/main" id="{61754CD4-E7F7-6196-6AD7-B6CEF0AE9815}"/>
              </a:ext>
            </a:extLst>
          </p:cNvPr>
          <p:cNvSpPr>
            <a:spLocks noGrp="1" noChangeArrowheads="1"/>
          </p:cNvSpPr>
          <p:nvPr>
            <p:ph sz="half" idx="2"/>
          </p:nvPr>
        </p:nvSpPr>
        <p:spPr bwMode="auto">
          <a:xfrm>
            <a:off x="609600" y="1577340"/>
            <a:ext cx="5303520" cy="45262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Airframe:</a:t>
            </a:r>
            <a:r>
              <a:rPr kumimoji="0" lang="en-US" altLang="en-US" b="0" i="0" u="none" strike="noStrike" cap="none" normalizeH="0" baseline="0" dirty="0">
                <a:ln>
                  <a:noFill/>
                </a:ln>
                <a:effectLst/>
              </a:rPr>
              <a:t> The structural body of the drone. </a:t>
            </a:r>
          </a:p>
        </p:txBody>
      </p:sp>
      <p:pic>
        <p:nvPicPr>
          <p:cNvPr id="2" name="Picture 4" descr="VisionICE: Air&amp;ndash;Ground Integrated Intelligent Cognition Visual  Enhancement System Based on a UAV">
            <a:extLst>
              <a:ext uri="{FF2B5EF4-FFF2-40B4-BE49-F238E27FC236}">
                <a16:creationId xmlns:a16="http://schemas.microsoft.com/office/drawing/2014/main" id="{91B0E761-D2B6-8701-CC02-5D3A0C86CA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9386" y="1371600"/>
            <a:ext cx="5626382"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862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CC0CE-921A-52D8-E94D-C3C4F8695983}"/>
            </a:ext>
          </a:extLst>
        </p:cNvPr>
        <p:cNvGrpSpPr/>
        <p:nvPr/>
      </p:nvGrpSpPr>
      <p:grpSpPr>
        <a:xfrm>
          <a:off x="0" y="0"/>
          <a:ext cx="0" cy="0"/>
          <a:chOff x="0" y="0"/>
          <a:chExt cx="0" cy="0"/>
        </a:xfrm>
      </p:grpSpPr>
      <p:sp>
        <p:nvSpPr>
          <p:cNvPr id="2066" name="Title 1">
            <a:extLst>
              <a:ext uri="{FF2B5EF4-FFF2-40B4-BE49-F238E27FC236}">
                <a16:creationId xmlns:a16="http://schemas.microsoft.com/office/drawing/2014/main" id="{EB23E673-B4A4-730A-7D9B-EB953CDC5C27}"/>
              </a:ext>
            </a:extLst>
          </p:cNvPr>
          <p:cNvSpPr>
            <a:spLocks noGrp="1"/>
          </p:cNvSpPr>
          <p:nvPr>
            <p:ph type="title"/>
          </p:nvPr>
        </p:nvSpPr>
        <p:spPr>
          <a:xfrm>
            <a:off x="102819" y="334467"/>
            <a:ext cx="9343567" cy="430887"/>
          </a:xfrm>
        </p:spPr>
        <p:txBody>
          <a:bodyPr/>
          <a:lstStyle/>
          <a:p>
            <a:r>
              <a:rPr lang="en-US" dirty="0"/>
              <a:t>Key Components:</a:t>
            </a:r>
          </a:p>
        </p:txBody>
      </p:sp>
      <p:sp>
        <p:nvSpPr>
          <p:cNvPr id="4" name="Rectangle 1">
            <a:extLst>
              <a:ext uri="{FF2B5EF4-FFF2-40B4-BE49-F238E27FC236}">
                <a16:creationId xmlns:a16="http://schemas.microsoft.com/office/drawing/2014/main" id="{24578660-948D-11F0-0FDF-7644C42B7126}"/>
              </a:ext>
            </a:extLst>
          </p:cNvPr>
          <p:cNvSpPr>
            <a:spLocks noGrp="1" noChangeArrowheads="1"/>
          </p:cNvSpPr>
          <p:nvPr>
            <p:ph sz="half" idx="2"/>
          </p:nvPr>
        </p:nvSpPr>
        <p:spPr bwMode="auto">
          <a:xfrm>
            <a:off x="609600" y="1577340"/>
            <a:ext cx="5303520" cy="45262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Airframe:</a:t>
            </a:r>
            <a:r>
              <a:rPr kumimoji="0" lang="en-US" altLang="en-US" b="0" i="0" u="none" strike="noStrike" cap="none" normalizeH="0" baseline="0" dirty="0">
                <a:ln>
                  <a:noFill/>
                </a:ln>
                <a:solidFill>
                  <a:schemeClr val="bg1">
                    <a:lumMod val="75000"/>
                  </a:schemeClr>
                </a:solidFill>
                <a:effectLst/>
              </a:rPr>
              <a:t> The structural body of the drone.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Propulsion System:</a:t>
            </a:r>
            <a:r>
              <a:rPr kumimoji="0" lang="en-US" altLang="en-US" b="0" i="0" u="none" strike="noStrike" cap="none" normalizeH="0" baseline="0" dirty="0">
                <a:ln>
                  <a:noFill/>
                </a:ln>
                <a:effectLst/>
              </a:rPr>
              <a:t> Includes motors, rotors/propellers, and possibly fuel or batteries that generate thrust. </a:t>
            </a:r>
          </a:p>
        </p:txBody>
      </p:sp>
      <p:pic>
        <p:nvPicPr>
          <p:cNvPr id="2" name="Picture 4" descr="VisionICE: Air&amp;ndash;Ground Integrated Intelligent Cognition Visual  Enhancement System Based on a UAV">
            <a:extLst>
              <a:ext uri="{FF2B5EF4-FFF2-40B4-BE49-F238E27FC236}">
                <a16:creationId xmlns:a16="http://schemas.microsoft.com/office/drawing/2014/main" id="{834AEEFB-0468-4F1D-0EBC-2438095DAE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9386" y="1371600"/>
            <a:ext cx="5626382"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149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68AE3-20D1-2A03-5A46-A6C07E4911F0}"/>
            </a:ext>
          </a:extLst>
        </p:cNvPr>
        <p:cNvGrpSpPr/>
        <p:nvPr/>
      </p:nvGrpSpPr>
      <p:grpSpPr>
        <a:xfrm>
          <a:off x="0" y="0"/>
          <a:ext cx="0" cy="0"/>
          <a:chOff x="0" y="0"/>
          <a:chExt cx="0" cy="0"/>
        </a:xfrm>
      </p:grpSpPr>
      <p:sp>
        <p:nvSpPr>
          <p:cNvPr id="2066" name="Title 1">
            <a:extLst>
              <a:ext uri="{FF2B5EF4-FFF2-40B4-BE49-F238E27FC236}">
                <a16:creationId xmlns:a16="http://schemas.microsoft.com/office/drawing/2014/main" id="{FFBEF1E6-2867-C64B-95DA-F7923207CDC9}"/>
              </a:ext>
            </a:extLst>
          </p:cNvPr>
          <p:cNvSpPr>
            <a:spLocks noGrp="1"/>
          </p:cNvSpPr>
          <p:nvPr>
            <p:ph type="title"/>
          </p:nvPr>
        </p:nvSpPr>
        <p:spPr>
          <a:xfrm>
            <a:off x="102819" y="334467"/>
            <a:ext cx="9343567" cy="430887"/>
          </a:xfrm>
        </p:spPr>
        <p:txBody>
          <a:bodyPr/>
          <a:lstStyle/>
          <a:p>
            <a:r>
              <a:rPr lang="en-US" dirty="0"/>
              <a:t>Key Components:</a:t>
            </a:r>
          </a:p>
        </p:txBody>
      </p:sp>
      <p:sp>
        <p:nvSpPr>
          <p:cNvPr id="4" name="Rectangle 1">
            <a:extLst>
              <a:ext uri="{FF2B5EF4-FFF2-40B4-BE49-F238E27FC236}">
                <a16:creationId xmlns:a16="http://schemas.microsoft.com/office/drawing/2014/main" id="{9359D61A-E986-ECC6-F621-47D575611E59}"/>
              </a:ext>
            </a:extLst>
          </p:cNvPr>
          <p:cNvSpPr>
            <a:spLocks noGrp="1" noChangeArrowheads="1"/>
          </p:cNvSpPr>
          <p:nvPr>
            <p:ph sz="half" idx="2"/>
          </p:nvPr>
        </p:nvSpPr>
        <p:spPr bwMode="auto">
          <a:xfrm>
            <a:off x="609600" y="1577340"/>
            <a:ext cx="5303520" cy="45262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Airframe:</a:t>
            </a:r>
            <a:r>
              <a:rPr kumimoji="0" lang="en-US" altLang="en-US" b="0" i="0" u="none" strike="noStrike" cap="none" normalizeH="0" baseline="0" dirty="0">
                <a:ln>
                  <a:noFill/>
                </a:ln>
                <a:solidFill>
                  <a:schemeClr val="bg1">
                    <a:lumMod val="75000"/>
                  </a:schemeClr>
                </a:solidFill>
                <a:effectLst/>
              </a:rPr>
              <a:t> The structural body of the drone.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Propulsion System:</a:t>
            </a:r>
            <a:r>
              <a:rPr kumimoji="0" lang="en-US" altLang="en-US" b="0" i="0" u="none" strike="noStrike" cap="none" normalizeH="0" baseline="0" dirty="0">
                <a:ln>
                  <a:noFill/>
                </a:ln>
                <a:solidFill>
                  <a:schemeClr val="bg1">
                    <a:lumMod val="75000"/>
                  </a:schemeClr>
                </a:solidFill>
                <a:effectLst/>
              </a:rPr>
              <a:t> Includes motors, rotors/propellers, and possibly fuel or batteries that generate thrust.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Navigation &amp; Control Systems:</a:t>
            </a:r>
            <a:r>
              <a:rPr kumimoji="0" lang="en-US" altLang="en-US" b="0" i="0" u="none" strike="noStrike" cap="none" normalizeH="0" baseline="0" dirty="0">
                <a:ln>
                  <a:noFill/>
                </a:ln>
                <a:effectLst/>
              </a:rPr>
              <a:t> Comprise GPS, sensors, and autopilot algorithms that determine flight path and stabilize the vehicle. </a:t>
            </a:r>
          </a:p>
        </p:txBody>
      </p:sp>
      <p:pic>
        <p:nvPicPr>
          <p:cNvPr id="2" name="Picture 4" descr="VisionICE: Air&amp;ndash;Ground Integrated Intelligent Cognition Visual  Enhancement System Based on a UAV">
            <a:extLst>
              <a:ext uri="{FF2B5EF4-FFF2-40B4-BE49-F238E27FC236}">
                <a16:creationId xmlns:a16="http://schemas.microsoft.com/office/drawing/2014/main" id="{8C79F070-6E1E-82DD-754C-29E3BD2DDD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9386" y="1371600"/>
            <a:ext cx="5626382"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719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3A260-5431-0F31-589B-AC9EFD57D79F}"/>
            </a:ext>
          </a:extLst>
        </p:cNvPr>
        <p:cNvGrpSpPr/>
        <p:nvPr/>
      </p:nvGrpSpPr>
      <p:grpSpPr>
        <a:xfrm>
          <a:off x="0" y="0"/>
          <a:ext cx="0" cy="0"/>
          <a:chOff x="0" y="0"/>
          <a:chExt cx="0" cy="0"/>
        </a:xfrm>
      </p:grpSpPr>
      <p:sp>
        <p:nvSpPr>
          <p:cNvPr id="2066" name="Title 1">
            <a:extLst>
              <a:ext uri="{FF2B5EF4-FFF2-40B4-BE49-F238E27FC236}">
                <a16:creationId xmlns:a16="http://schemas.microsoft.com/office/drawing/2014/main" id="{CE48459D-63AB-44BC-149B-2B3A626A201E}"/>
              </a:ext>
            </a:extLst>
          </p:cNvPr>
          <p:cNvSpPr>
            <a:spLocks noGrp="1"/>
          </p:cNvSpPr>
          <p:nvPr>
            <p:ph type="title"/>
          </p:nvPr>
        </p:nvSpPr>
        <p:spPr>
          <a:xfrm>
            <a:off x="102819" y="334467"/>
            <a:ext cx="9343567" cy="430887"/>
          </a:xfrm>
        </p:spPr>
        <p:txBody>
          <a:bodyPr/>
          <a:lstStyle/>
          <a:p>
            <a:r>
              <a:rPr lang="en-US" dirty="0"/>
              <a:t>Key Components:</a:t>
            </a:r>
          </a:p>
        </p:txBody>
      </p:sp>
      <p:sp>
        <p:nvSpPr>
          <p:cNvPr id="4" name="Rectangle 1">
            <a:extLst>
              <a:ext uri="{FF2B5EF4-FFF2-40B4-BE49-F238E27FC236}">
                <a16:creationId xmlns:a16="http://schemas.microsoft.com/office/drawing/2014/main" id="{578B0564-DC94-2D43-4AED-F3871A41B182}"/>
              </a:ext>
            </a:extLst>
          </p:cNvPr>
          <p:cNvSpPr>
            <a:spLocks noGrp="1" noChangeArrowheads="1"/>
          </p:cNvSpPr>
          <p:nvPr>
            <p:ph sz="half" idx="2"/>
          </p:nvPr>
        </p:nvSpPr>
        <p:spPr bwMode="auto">
          <a:xfrm>
            <a:off x="609600" y="1577340"/>
            <a:ext cx="5303520" cy="45262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Airframe:</a:t>
            </a:r>
            <a:r>
              <a:rPr kumimoji="0" lang="en-US" altLang="en-US" b="0" i="0" u="none" strike="noStrike" cap="none" normalizeH="0" baseline="0" dirty="0">
                <a:ln>
                  <a:noFill/>
                </a:ln>
                <a:solidFill>
                  <a:schemeClr val="bg1">
                    <a:lumMod val="75000"/>
                  </a:schemeClr>
                </a:solidFill>
                <a:effectLst/>
              </a:rPr>
              <a:t> The structural body of the drone.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Propulsion System:</a:t>
            </a:r>
            <a:r>
              <a:rPr kumimoji="0" lang="en-US" altLang="en-US" b="0" i="0" u="none" strike="noStrike" cap="none" normalizeH="0" baseline="0" dirty="0">
                <a:ln>
                  <a:noFill/>
                </a:ln>
                <a:solidFill>
                  <a:schemeClr val="bg1">
                    <a:lumMod val="75000"/>
                  </a:schemeClr>
                </a:solidFill>
                <a:effectLst/>
              </a:rPr>
              <a:t> Includes motors, rotors/propellers, and possibly fuel or batteries that generate thrust.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Navigation &amp; Control Systems:</a:t>
            </a:r>
            <a:r>
              <a:rPr kumimoji="0" lang="en-US" altLang="en-US" b="0" i="0" u="none" strike="noStrike" cap="none" normalizeH="0" baseline="0" dirty="0">
                <a:ln>
                  <a:noFill/>
                </a:ln>
                <a:solidFill>
                  <a:schemeClr val="bg1">
                    <a:lumMod val="75000"/>
                  </a:schemeClr>
                </a:solidFill>
                <a:effectLst/>
              </a:rPr>
              <a:t> Comprise GPS, sensors, and autopilot algorithms that determine flight path and stabilize the vehicle.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rPr>
              <a:t>Payload:</a:t>
            </a:r>
            <a:r>
              <a:rPr kumimoji="0" lang="en-US" altLang="en-US" b="0" i="0" u="none" strike="noStrike" cap="none" normalizeH="0" baseline="0" dirty="0">
                <a:ln>
                  <a:noFill/>
                </a:ln>
                <a:effectLst/>
              </a:rPr>
              <a:t> Any additional equipment such as cameras, sensors, or weapons. </a:t>
            </a:r>
          </a:p>
        </p:txBody>
      </p:sp>
      <p:pic>
        <p:nvPicPr>
          <p:cNvPr id="2" name="Picture 4" descr="VisionICE: Air&amp;ndash;Ground Integrated Intelligent Cognition Visual  Enhancement System Based on a UAV">
            <a:extLst>
              <a:ext uri="{FF2B5EF4-FFF2-40B4-BE49-F238E27FC236}">
                <a16:creationId xmlns:a16="http://schemas.microsoft.com/office/drawing/2014/main" id="{52DC973A-AE17-9C2E-8212-C6AB04E990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9386" y="1371600"/>
            <a:ext cx="5626382"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5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84909-2CA6-BC52-43E5-7562DB6D39A5}"/>
            </a:ext>
          </a:extLst>
        </p:cNvPr>
        <p:cNvGrpSpPr/>
        <p:nvPr/>
      </p:nvGrpSpPr>
      <p:grpSpPr>
        <a:xfrm>
          <a:off x="0" y="0"/>
          <a:ext cx="0" cy="0"/>
          <a:chOff x="0" y="0"/>
          <a:chExt cx="0" cy="0"/>
        </a:xfrm>
      </p:grpSpPr>
      <p:sp>
        <p:nvSpPr>
          <p:cNvPr id="2066" name="Title 1">
            <a:extLst>
              <a:ext uri="{FF2B5EF4-FFF2-40B4-BE49-F238E27FC236}">
                <a16:creationId xmlns:a16="http://schemas.microsoft.com/office/drawing/2014/main" id="{F777FDFD-9FD9-F45F-D8BE-9D97B2546154}"/>
              </a:ext>
            </a:extLst>
          </p:cNvPr>
          <p:cNvSpPr>
            <a:spLocks noGrp="1"/>
          </p:cNvSpPr>
          <p:nvPr>
            <p:ph type="title"/>
          </p:nvPr>
        </p:nvSpPr>
        <p:spPr>
          <a:xfrm>
            <a:off x="102819" y="334467"/>
            <a:ext cx="9343567" cy="430887"/>
          </a:xfrm>
        </p:spPr>
        <p:txBody>
          <a:bodyPr/>
          <a:lstStyle/>
          <a:p>
            <a:r>
              <a:rPr lang="en-US" dirty="0"/>
              <a:t>Key Components:</a:t>
            </a:r>
          </a:p>
        </p:txBody>
      </p:sp>
      <p:sp>
        <p:nvSpPr>
          <p:cNvPr id="4" name="Rectangle 1">
            <a:extLst>
              <a:ext uri="{FF2B5EF4-FFF2-40B4-BE49-F238E27FC236}">
                <a16:creationId xmlns:a16="http://schemas.microsoft.com/office/drawing/2014/main" id="{BD11C956-A175-71ED-F7CC-3D77E098D25B}"/>
              </a:ext>
            </a:extLst>
          </p:cNvPr>
          <p:cNvSpPr>
            <a:spLocks noGrp="1" noChangeArrowheads="1"/>
          </p:cNvSpPr>
          <p:nvPr>
            <p:ph sz="half" idx="2"/>
          </p:nvPr>
        </p:nvSpPr>
        <p:spPr bwMode="auto">
          <a:xfrm>
            <a:off x="609600" y="1577340"/>
            <a:ext cx="5303520" cy="45262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Airframe:</a:t>
            </a:r>
            <a:r>
              <a:rPr kumimoji="0" lang="en-US" altLang="en-US" b="0" i="0" u="none" strike="noStrike" cap="none" normalizeH="0" baseline="0" dirty="0">
                <a:ln>
                  <a:noFill/>
                </a:ln>
                <a:solidFill>
                  <a:schemeClr val="bg1">
                    <a:lumMod val="75000"/>
                  </a:schemeClr>
                </a:solidFill>
                <a:effectLst/>
              </a:rPr>
              <a:t> The structural body of the drone.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Propulsion System:</a:t>
            </a:r>
            <a:r>
              <a:rPr kumimoji="0" lang="en-US" altLang="en-US" b="0" i="0" u="none" strike="noStrike" cap="none" normalizeH="0" baseline="0" dirty="0">
                <a:ln>
                  <a:noFill/>
                </a:ln>
                <a:solidFill>
                  <a:schemeClr val="bg1">
                    <a:lumMod val="75000"/>
                  </a:schemeClr>
                </a:solidFill>
                <a:effectLst/>
              </a:rPr>
              <a:t> Includes motors, rotors/propellers, and possibly fuel or batteries that generate thrust.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Navigation &amp; Control Systems:</a:t>
            </a:r>
            <a:r>
              <a:rPr kumimoji="0" lang="en-US" altLang="en-US" b="0" i="0" u="none" strike="noStrike" cap="none" normalizeH="0" baseline="0" dirty="0">
                <a:ln>
                  <a:noFill/>
                </a:ln>
                <a:solidFill>
                  <a:schemeClr val="bg1">
                    <a:lumMod val="75000"/>
                  </a:schemeClr>
                </a:solidFill>
                <a:effectLst/>
              </a:rPr>
              <a:t> Comprise GPS, sensors, and autopilot algorithms that determine flight path and stabilize the vehicle. </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solidFill>
                  <a:schemeClr val="bg1">
                    <a:lumMod val="75000"/>
                  </a:schemeClr>
                </a:solidFill>
                <a:effectLst/>
              </a:rPr>
              <a:t>Payload:</a:t>
            </a:r>
            <a:r>
              <a:rPr kumimoji="0" lang="en-US" altLang="en-US" b="0" i="0" u="none" strike="noStrike" cap="none" normalizeH="0" baseline="0" dirty="0">
                <a:ln>
                  <a:noFill/>
                </a:ln>
                <a:solidFill>
                  <a:schemeClr val="bg1">
                    <a:lumMod val="75000"/>
                  </a:schemeClr>
                </a:solidFill>
                <a:effectLst/>
              </a:rPr>
              <a:t> Any additional equipment such as cameras, sensors, or weapons. </a:t>
            </a:r>
          </a:p>
        </p:txBody>
      </p:sp>
      <p:sp>
        <p:nvSpPr>
          <p:cNvPr id="6" name="TextBox 5">
            <a:extLst>
              <a:ext uri="{FF2B5EF4-FFF2-40B4-BE49-F238E27FC236}">
                <a16:creationId xmlns:a16="http://schemas.microsoft.com/office/drawing/2014/main" id="{A0623E46-E6D6-2431-5635-AF31CB8DD853}"/>
              </a:ext>
            </a:extLst>
          </p:cNvPr>
          <p:cNvSpPr txBox="1"/>
          <p:nvPr/>
        </p:nvSpPr>
        <p:spPr>
          <a:xfrm>
            <a:off x="487680" y="4818995"/>
            <a:ext cx="6153508" cy="584775"/>
          </a:xfrm>
          <a:prstGeom prst="rect">
            <a:avLst/>
          </a:prstGeom>
          <a:noFill/>
        </p:spPr>
        <p:txBody>
          <a:bodyPr wrap="square">
            <a:spAutoFit/>
          </a:bodyPr>
          <a:lstStyle/>
          <a:p>
            <a:pPr algn="l" rtl="0"/>
            <a:r>
              <a:rPr kumimoji="0" lang="en-US" altLang="en-US" sz="1600" b="1" i="0" u="none" strike="noStrike" cap="none" normalizeH="0" baseline="0" dirty="0">
                <a:ln>
                  <a:noFill/>
                </a:ln>
                <a:solidFill>
                  <a:schemeClr val="tx1"/>
                </a:solidFill>
                <a:effectLst/>
                <a:latin typeface="Arial" panose="020B0604020202020204" pitchFamily="34" charset="0"/>
              </a:rPr>
              <a:t>Applications:</a:t>
            </a:r>
            <a:r>
              <a:rPr kumimoji="0" lang="en-US" altLang="en-US" sz="1600" b="0" i="0" u="none" strike="noStrike" cap="none" normalizeH="0" baseline="0" dirty="0">
                <a:ln>
                  <a:noFill/>
                </a:ln>
                <a:solidFill>
                  <a:schemeClr val="tx1"/>
                </a:solidFill>
                <a:effectLst/>
                <a:latin typeface="Arial" panose="020B0604020202020204" pitchFamily="34" charset="0"/>
              </a:rPr>
              <a:t> Drones are used in photography, surveillance, agriculture, delivery, research, and military operations. </a:t>
            </a:r>
          </a:p>
        </p:txBody>
      </p:sp>
      <p:pic>
        <p:nvPicPr>
          <p:cNvPr id="2" name="Picture 4" descr="VisionICE: Air&amp;ndash;Ground Integrated Intelligent Cognition Visual  Enhancement System Based on a UAV">
            <a:extLst>
              <a:ext uri="{FF2B5EF4-FFF2-40B4-BE49-F238E27FC236}">
                <a16:creationId xmlns:a16="http://schemas.microsoft.com/office/drawing/2014/main" id="{802768AA-8DE8-86DC-D552-897C440262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9386" y="1371600"/>
            <a:ext cx="5626382"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528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Quadcopter Hardware Overview - Every Component Explained - Oscar Liang">
            <a:extLst>
              <a:ext uri="{FF2B5EF4-FFF2-40B4-BE49-F238E27FC236}">
                <a16:creationId xmlns:a16="http://schemas.microsoft.com/office/drawing/2014/main" id="{EE9FF605-4BB4-D851-E572-32860814906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2820" y="2438400"/>
            <a:ext cx="6176566" cy="3505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VisionICE: Air&amp;ndash;Ground Integrated Intelligent Cognition Visual  Enhancement System Based on a UAV">
            <a:extLst>
              <a:ext uri="{FF2B5EF4-FFF2-40B4-BE49-F238E27FC236}">
                <a16:creationId xmlns:a16="http://schemas.microsoft.com/office/drawing/2014/main" id="{4DE0B4E0-0F42-D30E-B98D-E9E5C6AFE8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9386" y="1371600"/>
            <a:ext cx="5626382"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835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F8DB6-0023-4B4E-FBB9-647FE2A29A56}"/>
              </a:ext>
            </a:extLst>
          </p:cNvPr>
          <p:cNvSpPr>
            <a:spLocks noGrp="1"/>
          </p:cNvSpPr>
          <p:nvPr>
            <p:ph type="title"/>
          </p:nvPr>
        </p:nvSpPr>
        <p:spPr/>
        <p:txBody>
          <a:bodyPr/>
          <a:lstStyle/>
          <a:p>
            <a:r>
              <a:rPr lang="en-US" dirty="0"/>
              <a:t>Drone History &amp; Evolution (Civil vs. Military Applications)</a:t>
            </a:r>
            <a:endParaRPr lang="en-IN" dirty="0"/>
          </a:p>
        </p:txBody>
      </p:sp>
      <p:sp>
        <p:nvSpPr>
          <p:cNvPr id="3" name="Text Placeholder 2">
            <a:extLst>
              <a:ext uri="{FF2B5EF4-FFF2-40B4-BE49-F238E27FC236}">
                <a16:creationId xmlns:a16="http://schemas.microsoft.com/office/drawing/2014/main" id="{2E1B1EC0-2B1E-8808-E3BC-3C3B8127B713}"/>
              </a:ext>
            </a:extLst>
          </p:cNvPr>
          <p:cNvSpPr>
            <a:spLocks noGrp="1"/>
          </p:cNvSpPr>
          <p:nvPr>
            <p:ph type="body" idx="1"/>
          </p:nvPr>
        </p:nvSpPr>
        <p:spPr>
          <a:xfrm>
            <a:off x="609600" y="1577340"/>
            <a:ext cx="10972800" cy="2215991"/>
          </a:xfrm>
        </p:spPr>
        <p:txBody>
          <a:bodyPr/>
          <a:lstStyle/>
          <a:p>
            <a:r>
              <a:rPr lang="en-US" b="1" dirty="0"/>
              <a:t>Evolution and Divergence:</a:t>
            </a:r>
            <a:endParaRPr lang="en-US" dirty="0"/>
          </a:p>
          <a:p>
            <a:pPr>
              <a:buFont typeface="Arial" panose="020B0604020202020204" pitchFamily="34" charset="0"/>
              <a:buChar char="•"/>
            </a:pPr>
            <a:r>
              <a:rPr lang="en-US" b="1" dirty="0"/>
              <a:t>Military Drones:</a:t>
            </a:r>
            <a:r>
              <a:rPr lang="en-US" dirty="0"/>
              <a:t> </a:t>
            </a:r>
          </a:p>
          <a:p>
            <a:pPr marL="742950" lvl="1" indent="-285750">
              <a:buFont typeface="Arial" panose="020B0604020202020204" pitchFamily="34" charset="0"/>
              <a:buChar char="•"/>
            </a:pPr>
            <a:r>
              <a:rPr lang="en-US" dirty="0"/>
              <a:t>Initially designed for reconnaissance, target practice, and later for armed strikes, military drones have evolved into high-end platforms like the MQ-1 Predator and MQ-9 Reaper. They are built with advanced sensors, stealth technology, and precision weapons.</a:t>
            </a:r>
          </a:p>
          <a:p>
            <a:pPr marL="742950" lvl="1" indent="-285750">
              <a:buFont typeface="Arial" panose="020B0604020202020204" pitchFamily="34" charset="0"/>
              <a:buChar char="•"/>
            </a:pPr>
            <a:r>
              <a:rPr lang="en-US" b="1" dirty="0"/>
              <a:t>Reconnaissance:</a:t>
            </a:r>
            <a:r>
              <a:rPr lang="en-US" dirty="0"/>
              <a:t> The use of drones to gather intelligence by collecting imagery or sensor data without engaging the enemy directly.</a:t>
            </a:r>
          </a:p>
          <a:p>
            <a:endParaRPr lang="en-IN" dirty="0"/>
          </a:p>
        </p:txBody>
      </p:sp>
      <p:pic>
        <p:nvPicPr>
          <p:cNvPr id="5122" name="Picture 2" descr="General Atomics MQ-1 Predator - Wikipedia">
            <a:extLst>
              <a:ext uri="{FF2B5EF4-FFF2-40B4-BE49-F238E27FC236}">
                <a16:creationId xmlns:a16="http://schemas.microsoft.com/office/drawing/2014/main" id="{10C08D33-6B6F-8EC9-90BF-05026812A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740" y="3570292"/>
            <a:ext cx="3733800" cy="251655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Q-9A Reaper (Predator B) | General ...">
            <a:extLst>
              <a:ext uri="{FF2B5EF4-FFF2-40B4-BE49-F238E27FC236}">
                <a16:creationId xmlns:a16="http://schemas.microsoft.com/office/drawing/2014/main" id="{AEA73ADF-4EEF-8A3B-E8AC-1DCBCAAC6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3403934"/>
            <a:ext cx="5486400" cy="26750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727221C-D3B5-E8C2-8C8C-1CB86E545BC2}"/>
              </a:ext>
            </a:extLst>
          </p:cNvPr>
          <p:cNvSpPr txBox="1"/>
          <p:nvPr/>
        </p:nvSpPr>
        <p:spPr>
          <a:xfrm>
            <a:off x="1981200" y="6146827"/>
            <a:ext cx="6155140" cy="369332"/>
          </a:xfrm>
          <a:prstGeom prst="rect">
            <a:avLst/>
          </a:prstGeom>
          <a:noFill/>
        </p:spPr>
        <p:txBody>
          <a:bodyPr wrap="square">
            <a:spAutoFit/>
          </a:bodyPr>
          <a:lstStyle/>
          <a:p>
            <a:r>
              <a:rPr lang="en-US" dirty="0"/>
              <a:t>MQ-1 Predator </a:t>
            </a:r>
            <a:endParaRPr lang="en-IN" dirty="0"/>
          </a:p>
        </p:txBody>
      </p:sp>
      <p:sp>
        <p:nvSpPr>
          <p:cNvPr id="7" name="TextBox 6">
            <a:extLst>
              <a:ext uri="{FF2B5EF4-FFF2-40B4-BE49-F238E27FC236}">
                <a16:creationId xmlns:a16="http://schemas.microsoft.com/office/drawing/2014/main" id="{D313A56A-626F-EB54-EE3F-374B6A860565}"/>
              </a:ext>
            </a:extLst>
          </p:cNvPr>
          <p:cNvSpPr txBox="1"/>
          <p:nvPr/>
        </p:nvSpPr>
        <p:spPr>
          <a:xfrm>
            <a:off x="7924800" y="6154201"/>
            <a:ext cx="6153508" cy="369332"/>
          </a:xfrm>
          <a:prstGeom prst="rect">
            <a:avLst/>
          </a:prstGeom>
          <a:noFill/>
        </p:spPr>
        <p:txBody>
          <a:bodyPr wrap="square">
            <a:spAutoFit/>
          </a:bodyPr>
          <a:lstStyle/>
          <a:p>
            <a:r>
              <a:rPr lang="en-US" dirty="0"/>
              <a:t>MQ-9 Reaper</a:t>
            </a:r>
            <a:endParaRPr lang="en-IN" dirty="0"/>
          </a:p>
        </p:txBody>
      </p:sp>
    </p:spTree>
    <p:extLst>
      <p:ext uri="{BB962C8B-B14F-4D97-AF65-F5344CB8AC3E}">
        <p14:creationId xmlns:p14="http://schemas.microsoft.com/office/powerpoint/2010/main" val="1175775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2736FD-C60A-05F9-5FEB-57352D1A63EC}"/>
              </a:ext>
            </a:extLst>
          </p:cNvPr>
          <p:cNvSpPr>
            <a:spLocks noGrp="1"/>
          </p:cNvSpPr>
          <p:nvPr>
            <p:ph type="body" idx="1"/>
          </p:nvPr>
        </p:nvSpPr>
        <p:spPr>
          <a:xfrm>
            <a:off x="609600" y="1577340"/>
            <a:ext cx="10972800" cy="830997"/>
          </a:xfrm>
        </p:spPr>
        <p:txBody>
          <a:bodyPr/>
          <a:lstStyle/>
          <a:p>
            <a:pPr>
              <a:buFont typeface="Arial" panose="020B0604020202020204" pitchFamily="34" charset="0"/>
              <a:buChar char="•"/>
            </a:pPr>
            <a:r>
              <a:rPr lang="en-US" b="1" dirty="0"/>
              <a:t>Civilian Drones:</a:t>
            </a:r>
            <a:r>
              <a:rPr lang="en-US" dirty="0"/>
              <a:t> </a:t>
            </a:r>
          </a:p>
          <a:p>
            <a:pPr marL="742950" lvl="1" indent="-285750">
              <a:buFont typeface="Arial" panose="020B0604020202020204" pitchFamily="34" charset="0"/>
              <a:buChar char="•"/>
            </a:pPr>
            <a:r>
              <a:rPr lang="en-US" dirty="0"/>
              <a:t>In recent decades, smaller, cost-effective drones have been developed for commercial and recreational purposes. They serve in aerial photography, surveying, agriculture, and package delivery.</a:t>
            </a:r>
          </a:p>
        </p:txBody>
      </p:sp>
      <p:pic>
        <p:nvPicPr>
          <p:cNvPr id="7170" name="Picture 2" descr="Ukraine appeals Chinese civilian drone maker to stop use by Russia | Daily  Sabah">
            <a:extLst>
              <a:ext uri="{FF2B5EF4-FFF2-40B4-BE49-F238E27FC236}">
                <a16:creationId xmlns:a16="http://schemas.microsoft.com/office/drawing/2014/main" id="{0BAB1606-A13A-0B17-3881-3580A1C8A5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977" y="3001864"/>
            <a:ext cx="4343400" cy="28956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DJI Air 3 Drone Review: Serious Video Chops | WIRED">
            <a:extLst>
              <a:ext uri="{FF2B5EF4-FFF2-40B4-BE49-F238E27FC236}">
                <a16:creationId xmlns:a16="http://schemas.microsoft.com/office/drawing/2014/main" id="{34FEFA0E-9265-B143-86E9-33602CB91F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7928" y="2819400"/>
            <a:ext cx="6324600" cy="3310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000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descr="Drones in Ukraine and beyond: Everything you need to know | ECFR">
            <a:extLst>
              <a:ext uri="{FF2B5EF4-FFF2-40B4-BE49-F238E27FC236}">
                <a16:creationId xmlns:a16="http://schemas.microsoft.com/office/drawing/2014/main" id="{5BE6E63F-865B-3304-C7AD-6D0AA5FF5E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3400" y="1447800"/>
            <a:ext cx="3581400" cy="2387969"/>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Small Drones Are Giving Ukraine an Unprecedented Edge | WIRED">
            <a:extLst>
              <a:ext uri="{FF2B5EF4-FFF2-40B4-BE49-F238E27FC236}">
                <a16:creationId xmlns:a16="http://schemas.microsoft.com/office/drawing/2014/main" id="{B6BA02C9-0F19-EB4A-9E64-1C25DD72AB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46211" y="4034334"/>
            <a:ext cx="3733800" cy="248919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18937747-CB9C-9A96-49BE-7FC039998AC7}"/>
              </a:ext>
            </a:extLst>
          </p:cNvPr>
          <p:cNvSpPr txBox="1"/>
          <p:nvPr/>
        </p:nvSpPr>
        <p:spPr>
          <a:xfrm>
            <a:off x="457200" y="1371600"/>
            <a:ext cx="7543800" cy="4585871"/>
          </a:xfrm>
          <a:prstGeom prst="rect">
            <a:avLst/>
          </a:prstGeom>
          <a:noFill/>
        </p:spPr>
        <p:txBody>
          <a:bodyPr wrap="square" rtlCol="0">
            <a:spAutoFit/>
          </a:bodyPr>
          <a:lstStyle/>
          <a:p>
            <a:r>
              <a:rPr lang="en-US" sz="2000" b="1" dirty="0"/>
              <a:t>FPV Drone(First Person View):</a:t>
            </a:r>
            <a:endParaRPr lang="en-US" sz="2000" dirty="0"/>
          </a:p>
          <a:p>
            <a:pPr>
              <a:buFont typeface="Arial" panose="020B0604020202020204" pitchFamily="34" charset="0"/>
              <a:buChar char="•"/>
            </a:pPr>
            <a:r>
              <a:rPr lang="en-US" sz="2000" dirty="0"/>
              <a:t>Used for precision “kamikaze” strikes on enemy armor and artillery.</a:t>
            </a:r>
          </a:p>
          <a:p>
            <a:pPr>
              <a:buFont typeface="Arial" panose="020B0604020202020204" pitchFamily="34" charset="0"/>
              <a:buChar char="•"/>
            </a:pPr>
            <a:r>
              <a:rPr lang="en-US" sz="2000" dirty="0"/>
              <a:t>Operated by troops (often assembled by civilians) to deliver close-range, real-time video and rapid, targeted attacks.</a:t>
            </a:r>
          </a:p>
          <a:p>
            <a:endParaRPr lang="en-US" sz="1400" dirty="0"/>
          </a:p>
          <a:p>
            <a:r>
              <a:rPr lang="en-US" sz="2000" b="1" dirty="0"/>
              <a:t>Fixed Wing Cardboard Drones:</a:t>
            </a:r>
            <a:endParaRPr lang="en-US" sz="2000" dirty="0"/>
          </a:p>
          <a:p>
            <a:pPr>
              <a:buFont typeface="Arial" panose="020B0604020202020204" pitchFamily="34" charset="0"/>
              <a:buChar char="•"/>
            </a:pPr>
            <a:r>
              <a:rPr lang="en-US" sz="2000" dirty="0"/>
              <a:t>Provide live aerial reconnaissance and mapping of Russian positions.</a:t>
            </a:r>
          </a:p>
          <a:p>
            <a:pPr>
              <a:buFont typeface="Arial" panose="020B0604020202020204" pitchFamily="34" charset="0"/>
              <a:buChar char="•"/>
            </a:pPr>
            <a:r>
              <a:rPr lang="en-US" sz="2000" dirty="0"/>
              <a:t>Help commanders coordinate artillery fire and adjust troop movements using high-resolution video feeds.</a:t>
            </a:r>
          </a:p>
          <a:p>
            <a:r>
              <a:rPr lang="en-US" sz="2000" b="1" dirty="0"/>
              <a:t>Overall Impact:</a:t>
            </a:r>
            <a:endParaRPr lang="en-US" sz="2000" dirty="0"/>
          </a:p>
          <a:p>
            <a:pPr>
              <a:buFont typeface="Arial" panose="020B0604020202020204" pitchFamily="34" charset="0"/>
              <a:buChar char="•"/>
            </a:pPr>
            <a:r>
              <a:rPr lang="en-US" sz="2000" dirty="0"/>
              <a:t>This dual approach boosts situational awareness and offers a cost-effective means to disrupt enemy forces.</a:t>
            </a:r>
          </a:p>
          <a:p>
            <a:endParaRPr lang="en-IN" dirty="0"/>
          </a:p>
        </p:txBody>
      </p:sp>
    </p:spTree>
    <p:extLst>
      <p:ext uri="{BB962C8B-B14F-4D97-AF65-F5344CB8AC3E}">
        <p14:creationId xmlns:p14="http://schemas.microsoft.com/office/powerpoint/2010/main" val="2372964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BB9BF-F0F8-D4C2-E051-FCBDF4F6F71F}"/>
              </a:ext>
            </a:extLst>
          </p:cNvPr>
          <p:cNvSpPr>
            <a:spLocks noGrp="1"/>
          </p:cNvSpPr>
          <p:nvPr>
            <p:ph type="title"/>
          </p:nvPr>
        </p:nvSpPr>
        <p:spPr>
          <a:xfrm>
            <a:off x="102819" y="334467"/>
            <a:ext cx="9343567" cy="854507"/>
          </a:xfrm>
        </p:spPr>
        <p:txBody>
          <a:bodyPr wrap="square" anchor="ctr">
            <a:normAutofit/>
          </a:bodyPr>
          <a:lstStyle/>
          <a:p>
            <a:pPr algn="ctr"/>
            <a:r>
              <a:rPr lang="en-IN" dirty="0"/>
              <a:t>            Types of Drones</a:t>
            </a:r>
          </a:p>
        </p:txBody>
      </p:sp>
      <p:pic>
        <p:nvPicPr>
          <p:cNvPr id="8194" name="Picture 2" descr="A Comprehensive Overview Of Different Types Of Drones">
            <a:extLst>
              <a:ext uri="{FF2B5EF4-FFF2-40B4-BE49-F238E27FC236}">
                <a16:creationId xmlns:a16="http://schemas.microsoft.com/office/drawing/2014/main" id="{182CA1D1-352C-0DF6-788D-F7B288308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7185"/>
          <a:stretch/>
        </p:blipFill>
        <p:spPr bwMode="auto">
          <a:xfrm>
            <a:off x="152400" y="1358213"/>
            <a:ext cx="11088345" cy="5165320"/>
          </a:xfrm>
          <a:prstGeom prst="rect">
            <a:avLst/>
          </a:prstGeom>
          <a:solidFill>
            <a:srgbClr val="FFFFFF"/>
          </a:solidFill>
        </p:spPr>
      </p:pic>
    </p:spTree>
    <p:extLst>
      <p:ext uri="{BB962C8B-B14F-4D97-AF65-F5344CB8AC3E}">
        <p14:creationId xmlns:p14="http://schemas.microsoft.com/office/powerpoint/2010/main" val="2423657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Airframes - Rover bug? - QGroundControl - Discussion Forum for PX4,  Pixhawk, QGroundControl, MAVSDK, MAVLink">
            <a:extLst>
              <a:ext uri="{FF2B5EF4-FFF2-40B4-BE49-F238E27FC236}">
                <a16:creationId xmlns:a16="http://schemas.microsoft.com/office/drawing/2014/main" id="{7CA06213-8167-FBD1-3807-F139E7260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64293"/>
            <a:ext cx="11963400" cy="6729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967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6335A-26C7-449C-FF0E-FBECB3A6D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D3D22-645A-E354-87B9-0F8895D8E2AA}"/>
              </a:ext>
            </a:extLst>
          </p:cNvPr>
          <p:cNvSpPr>
            <a:spLocks noGrp="1"/>
          </p:cNvSpPr>
          <p:nvPr>
            <p:ph type="title"/>
          </p:nvPr>
        </p:nvSpPr>
        <p:spPr>
          <a:xfrm>
            <a:off x="457200" y="609600"/>
            <a:ext cx="9067800" cy="430887"/>
          </a:xfrm>
        </p:spPr>
        <p:txBody>
          <a:bodyPr/>
          <a:lstStyle/>
          <a:p>
            <a:r>
              <a:rPr lang="en-IN" dirty="0"/>
              <a:t>Types of Drones</a:t>
            </a:r>
            <a:endParaRPr lang="en-IN" sz="2400" dirty="0"/>
          </a:p>
        </p:txBody>
      </p:sp>
      <p:sp>
        <p:nvSpPr>
          <p:cNvPr id="3" name="TextBox 2">
            <a:extLst>
              <a:ext uri="{FF2B5EF4-FFF2-40B4-BE49-F238E27FC236}">
                <a16:creationId xmlns:a16="http://schemas.microsoft.com/office/drawing/2014/main" id="{C19DC830-60AA-3333-593D-0462DFAF33EF}"/>
              </a:ext>
            </a:extLst>
          </p:cNvPr>
          <p:cNvSpPr txBox="1"/>
          <p:nvPr/>
        </p:nvSpPr>
        <p:spPr>
          <a:xfrm>
            <a:off x="304800" y="1524000"/>
            <a:ext cx="11582400" cy="1754326"/>
          </a:xfrm>
          <a:prstGeom prst="rect">
            <a:avLst/>
          </a:prstGeom>
          <a:noFill/>
        </p:spPr>
        <p:txBody>
          <a:bodyPr wrap="square" rtlCol="0">
            <a:spAutoFit/>
          </a:bodyPr>
          <a:lstStyle/>
          <a:p>
            <a:pPr marL="400050" indent="-400050" algn="l">
              <a:buFont typeface="+mj-lt"/>
              <a:buAutoNum type="romanUcPeriod"/>
            </a:pPr>
            <a:r>
              <a:rPr lang="en-US" b="1" u="sng" dirty="0" err="1"/>
              <a:t>Multirotors</a:t>
            </a:r>
            <a:r>
              <a:rPr lang="en-US" b="1" dirty="0"/>
              <a:t>: UAVs </a:t>
            </a:r>
            <a:r>
              <a:rPr lang="en-US" dirty="0"/>
              <a:t>that have </a:t>
            </a:r>
            <a:r>
              <a:rPr lang="en-US" b="1" dirty="0"/>
              <a:t>multiple rotors</a:t>
            </a:r>
            <a:r>
              <a:rPr lang="en-US" dirty="0"/>
              <a:t> for thrust, lift and control purposes. These are the most common types of drones used for </a:t>
            </a:r>
            <a:r>
              <a:rPr lang="en-US" b="1" dirty="0"/>
              <a:t>versatility</a:t>
            </a:r>
            <a:r>
              <a:rPr lang="en-US" dirty="0"/>
              <a:t> and the ability to </a:t>
            </a:r>
            <a:r>
              <a:rPr lang="en-US" b="1" dirty="0"/>
              <a:t>hover</a:t>
            </a:r>
            <a:r>
              <a:rPr lang="en-US" dirty="0"/>
              <a:t>. These are used for both hobby and military use. </a:t>
            </a:r>
            <a:endParaRPr lang="en-US" b="1" u="sng" dirty="0"/>
          </a:p>
          <a:p>
            <a:pPr algn="l"/>
            <a:endParaRPr lang="en-US" b="1" u="sng" dirty="0"/>
          </a:p>
          <a:p>
            <a:pPr algn="l"/>
            <a:r>
              <a:rPr lang="en-US" dirty="0"/>
              <a:t>There are many types of multirotor drones with N number or rotors in many configurations. Most common ones are the Quadcopters and Hexacopters with 4 rotors and 6 rotors respectively. </a:t>
            </a:r>
          </a:p>
        </p:txBody>
      </p:sp>
      <p:pic>
        <p:nvPicPr>
          <p:cNvPr id="6" name="Picture 5">
            <a:extLst>
              <a:ext uri="{FF2B5EF4-FFF2-40B4-BE49-F238E27FC236}">
                <a16:creationId xmlns:a16="http://schemas.microsoft.com/office/drawing/2014/main" id="{AA89F8B9-34A3-1B39-AA08-DD76F5A11860}"/>
              </a:ext>
            </a:extLst>
          </p:cNvPr>
          <p:cNvPicPr>
            <a:picLocks noChangeAspect="1"/>
          </p:cNvPicPr>
          <p:nvPr/>
        </p:nvPicPr>
        <p:blipFill>
          <a:blip r:embed="rId2"/>
          <a:stretch>
            <a:fillRect/>
          </a:stretch>
        </p:blipFill>
        <p:spPr>
          <a:xfrm>
            <a:off x="6324600" y="3549841"/>
            <a:ext cx="2161464" cy="1971677"/>
          </a:xfrm>
          <a:prstGeom prst="rect">
            <a:avLst/>
          </a:prstGeom>
        </p:spPr>
      </p:pic>
      <p:pic>
        <p:nvPicPr>
          <p:cNvPr id="10" name="Picture 9" descr="A drone on the grass&#10;&#10;AI-generated content may be incorrect.">
            <a:extLst>
              <a:ext uri="{FF2B5EF4-FFF2-40B4-BE49-F238E27FC236}">
                <a16:creationId xmlns:a16="http://schemas.microsoft.com/office/drawing/2014/main" id="{AECCA4C2-112B-37DB-512B-54F401FDC7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6064" y="3578976"/>
            <a:ext cx="2934790" cy="1955762"/>
          </a:xfrm>
          <a:prstGeom prst="rect">
            <a:avLst/>
          </a:prstGeom>
        </p:spPr>
      </p:pic>
      <p:sp>
        <p:nvSpPr>
          <p:cNvPr id="13" name="TextBox 12">
            <a:extLst>
              <a:ext uri="{FF2B5EF4-FFF2-40B4-BE49-F238E27FC236}">
                <a16:creationId xmlns:a16="http://schemas.microsoft.com/office/drawing/2014/main" id="{1844A7D3-126A-296B-168C-94A47023E24F}"/>
              </a:ext>
            </a:extLst>
          </p:cNvPr>
          <p:cNvSpPr txBox="1"/>
          <p:nvPr/>
        </p:nvSpPr>
        <p:spPr>
          <a:xfrm>
            <a:off x="290119" y="3578976"/>
            <a:ext cx="5316347" cy="2585323"/>
          </a:xfrm>
          <a:prstGeom prst="rect">
            <a:avLst/>
          </a:prstGeom>
          <a:noFill/>
        </p:spPr>
        <p:txBody>
          <a:bodyPr wrap="square" rtlCol="0">
            <a:spAutoFit/>
          </a:bodyPr>
          <a:lstStyle/>
          <a:p>
            <a:pPr marL="342900" indent="-342900">
              <a:buAutoNum type="arabicPeriod"/>
            </a:pPr>
            <a:r>
              <a:rPr lang="en-US" b="1" dirty="0"/>
              <a:t>Quadcopters-</a:t>
            </a:r>
            <a:r>
              <a:rPr lang="en-US" dirty="0"/>
              <a:t> 4 rotors: Most common &amp; stable</a:t>
            </a:r>
          </a:p>
          <a:p>
            <a:pPr marL="342900" indent="-342900">
              <a:buAutoNum type="arabicPeriod"/>
            </a:pPr>
            <a:endParaRPr lang="en-US" dirty="0"/>
          </a:p>
          <a:p>
            <a:pPr marL="342900" indent="-342900">
              <a:buAutoNum type="arabicPeriod"/>
            </a:pPr>
            <a:r>
              <a:rPr lang="en-US" b="1" dirty="0" err="1"/>
              <a:t>Tricopters</a:t>
            </a:r>
            <a:r>
              <a:rPr lang="en-US" b="1" dirty="0"/>
              <a:t>-</a:t>
            </a:r>
            <a:r>
              <a:rPr lang="en-US" dirty="0"/>
              <a:t> 3 rotors: Needs a Servo</a:t>
            </a:r>
          </a:p>
          <a:p>
            <a:pPr marL="342900" indent="-342900">
              <a:buAutoNum type="arabicPeriod"/>
            </a:pPr>
            <a:endParaRPr lang="en-US" dirty="0"/>
          </a:p>
          <a:p>
            <a:pPr marL="342900" indent="-342900">
              <a:buAutoNum type="arabicPeriod"/>
            </a:pPr>
            <a:r>
              <a:rPr lang="en-US" b="1" dirty="0"/>
              <a:t>Hexacopters-</a:t>
            </a:r>
            <a:r>
              <a:rPr lang="en-US" dirty="0"/>
              <a:t> 6 rotors: More life, redundancy</a:t>
            </a:r>
          </a:p>
          <a:p>
            <a:pPr marL="342900" indent="-342900">
              <a:buAutoNum type="arabicPeriod"/>
            </a:pPr>
            <a:endParaRPr lang="en-US" dirty="0"/>
          </a:p>
          <a:p>
            <a:pPr marL="342900" indent="-342900">
              <a:buAutoNum type="arabicPeriod"/>
            </a:pPr>
            <a:r>
              <a:rPr lang="en-US" b="1" dirty="0"/>
              <a:t>Octocopters-</a:t>
            </a:r>
            <a:r>
              <a:rPr lang="en-US" dirty="0"/>
              <a:t> 8 rotors: Heavy payload</a:t>
            </a:r>
          </a:p>
          <a:p>
            <a:pPr marL="342900" indent="-342900">
              <a:buAutoNum type="arabicPeriod"/>
            </a:pPr>
            <a:endParaRPr lang="en-US" dirty="0"/>
          </a:p>
          <a:p>
            <a:pPr marL="342900" indent="-342900">
              <a:buAutoNum type="arabicPeriod"/>
            </a:pPr>
            <a:r>
              <a:rPr lang="en-US" b="1" dirty="0"/>
              <a:t>Y6/X8- </a:t>
            </a:r>
            <a:r>
              <a:rPr lang="en-US" dirty="0"/>
              <a:t>Coaxial stacked rotors</a:t>
            </a:r>
          </a:p>
        </p:txBody>
      </p:sp>
    </p:spTree>
    <p:extLst>
      <p:ext uri="{BB962C8B-B14F-4D97-AF65-F5344CB8AC3E}">
        <p14:creationId xmlns:p14="http://schemas.microsoft.com/office/powerpoint/2010/main" val="2807478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67CA8-809D-AA4B-1A32-2CB188D81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385EC-B911-F59E-515D-360E9F341940}"/>
              </a:ext>
            </a:extLst>
          </p:cNvPr>
          <p:cNvSpPr>
            <a:spLocks noGrp="1"/>
          </p:cNvSpPr>
          <p:nvPr>
            <p:ph type="title"/>
          </p:nvPr>
        </p:nvSpPr>
        <p:spPr>
          <a:xfrm>
            <a:off x="533400" y="457200"/>
            <a:ext cx="9067800" cy="430887"/>
          </a:xfrm>
        </p:spPr>
        <p:txBody>
          <a:bodyPr/>
          <a:lstStyle/>
          <a:p>
            <a:r>
              <a:rPr lang="en-US" dirty="0"/>
              <a:t>Types of Drones</a:t>
            </a:r>
            <a:endParaRPr lang="en-IN" dirty="0"/>
          </a:p>
        </p:txBody>
      </p:sp>
      <p:sp>
        <p:nvSpPr>
          <p:cNvPr id="3" name="TextBox 2">
            <a:extLst>
              <a:ext uri="{FF2B5EF4-FFF2-40B4-BE49-F238E27FC236}">
                <a16:creationId xmlns:a16="http://schemas.microsoft.com/office/drawing/2014/main" id="{A31C5891-6961-6768-BBEC-10F16F8A274F}"/>
              </a:ext>
            </a:extLst>
          </p:cNvPr>
          <p:cNvSpPr txBox="1"/>
          <p:nvPr/>
        </p:nvSpPr>
        <p:spPr>
          <a:xfrm>
            <a:off x="304800" y="1600200"/>
            <a:ext cx="11582400" cy="400110"/>
          </a:xfrm>
          <a:prstGeom prst="rect">
            <a:avLst/>
          </a:prstGeom>
          <a:noFill/>
        </p:spPr>
        <p:txBody>
          <a:bodyPr wrap="square" rtlCol="0">
            <a:spAutoFit/>
          </a:bodyPr>
          <a:lstStyle/>
          <a:p>
            <a:pPr marL="514350" indent="-514350" algn="l">
              <a:buFont typeface="+mj-lt"/>
              <a:buAutoNum type="romanUcPeriod"/>
            </a:pPr>
            <a:r>
              <a:rPr lang="en-US" sz="2000" b="1" u="sng" dirty="0" err="1"/>
              <a:t>Multirotors</a:t>
            </a:r>
            <a:r>
              <a:rPr lang="en-US" sz="2000" b="1" u="sng" dirty="0"/>
              <a:t>-</a:t>
            </a:r>
            <a:r>
              <a:rPr lang="en-US" sz="2000" b="1" dirty="0"/>
              <a:t> Advantages and Disadvantages</a:t>
            </a:r>
          </a:p>
        </p:txBody>
      </p:sp>
      <p:cxnSp>
        <p:nvCxnSpPr>
          <p:cNvPr id="18" name="Straight Connector 17">
            <a:extLst>
              <a:ext uri="{FF2B5EF4-FFF2-40B4-BE49-F238E27FC236}">
                <a16:creationId xmlns:a16="http://schemas.microsoft.com/office/drawing/2014/main" id="{81123ABE-6629-A9DB-297D-3E350CCC8DCB}"/>
              </a:ext>
            </a:extLst>
          </p:cNvPr>
          <p:cNvCxnSpPr>
            <a:cxnSpLocks/>
          </p:cNvCxnSpPr>
          <p:nvPr/>
        </p:nvCxnSpPr>
        <p:spPr>
          <a:xfrm>
            <a:off x="6049108" y="2685229"/>
            <a:ext cx="0" cy="3435535"/>
          </a:xfrm>
          <a:prstGeom prst="line">
            <a:avLst/>
          </a:prstGeom>
          <a:ln w="28575"/>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91A3A0BE-ADD3-4A92-123B-4334523C7A91}"/>
              </a:ext>
            </a:extLst>
          </p:cNvPr>
          <p:cNvSpPr txBox="1"/>
          <p:nvPr/>
        </p:nvSpPr>
        <p:spPr>
          <a:xfrm>
            <a:off x="457200" y="2708675"/>
            <a:ext cx="5531402" cy="3139321"/>
          </a:xfrm>
          <a:prstGeom prst="rect">
            <a:avLst/>
          </a:prstGeom>
          <a:noFill/>
        </p:spPr>
        <p:txBody>
          <a:bodyPr wrap="square" rtlCol="0">
            <a:spAutoFit/>
          </a:bodyPr>
          <a:lstStyle/>
          <a:p>
            <a:pPr algn="ctr"/>
            <a:r>
              <a:rPr lang="en-US" b="1" u="sng" dirty="0"/>
              <a:t>Advantages</a:t>
            </a:r>
          </a:p>
          <a:p>
            <a:pPr algn="ctr"/>
            <a:endParaRPr lang="en-US" b="1" u="sng" dirty="0"/>
          </a:p>
          <a:p>
            <a:pPr algn="ctr"/>
            <a:endParaRPr lang="en-US" b="1" u="sng" dirty="0"/>
          </a:p>
          <a:p>
            <a:pPr marL="342900" indent="-342900" algn="l">
              <a:buFont typeface="+mj-lt"/>
              <a:buAutoNum type="arabicPeriod"/>
            </a:pPr>
            <a:r>
              <a:rPr lang="en-US" b="1" u="sng" dirty="0"/>
              <a:t>VTOL- </a:t>
            </a:r>
            <a:r>
              <a:rPr lang="en-US" dirty="0"/>
              <a:t>Vertical take-off &amp; Landing. No runway needed. </a:t>
            </a:r>
          </a:p>
          <a:p>
            <a:pPr marL="342900" indent="-342900" algn="l">
              <a:buFont typeface="+mj-lt"/>
              <a:buAutoNum type="arabicPeriod"/>
            </a:pPr>
            <a:endParaRPr lang="en-US" dirty="0"/>
          </a:p>
          <a:p>
            <a:pPr marL="342900" indent="-342900" algn="l">
              <a:buFont typeface="+mj-lt"/>
              <a:buAutoNum type="arabicPeriod"/>
            </a:pPr>
            <a:r>
              <a:rPr lang="en-US" dirty="0"/>
              <a:t>Hovering capability</a:t>
            </a:r>
          </a:p>
          <a:p>
            <a:pPr marL="342900" indent="-342900" algn="l">
              <a:buFont typeface="+mj-lt"/>
              <a:buAutoNum type="arabicPeriod"/>
            </a:pPr>
            <a:endParaRPr lang="en-US" dirty="0"/>
          </a:p>
          <a:p>
            <a:pPr marL="342900" indent="-342900" algn="l">
              <a:buFont typeface="+mj-lt"/>
              <a:buAutoNum type="arabicPeriod"/>
            </a:pPr>
            <a:r>
              <a:rPr lang="en-US" dirty="0"/>
              <a:t>Easy to Control</a:t>
            </a:r>
          </a:p>
          <a:p>
            <a:pPr marL="342900" indent="-342900" algn="l">
              <a:buFont typeface="+mj-lt"/>
              <a:buAutoNum type="arabicPeriod"/>
            </a:pPr>
            <a:endParaRPr lang="en-US" dirty="0"/>
          </a:p>
          <a:p>
            <a:pPr marL="342900" indent="-342900" algn="l">
              <a:buFont typeface="+mj-lt"/>
              <a:buAutoNum type="arabicPeriod"/>
            </a:pPr>
            <a:r>
              <a:rPr lang="en-US" dirty="0"/>
              <a:t>Precise maneuvers</a:t>
            </a:r>
          </a:p>
        </p:txBody>
      </p:sp>
      <p:sp>
        <p:nvSpPr>
          <p:cNvPr id="26" name="TextBox 25">
            <a:extLst>
              <a:ext uri="{FF2B5EF4-FFF2-40B4-BE49-F238E27FC236}">
                <a16:creationId xmlns:a16="http://schemas.microsoft.com/office/drawing/2014/main" id="{4C8B6534-8B54-61CA-6445-1DF7402EE985}"/>
              </a:ext>
            </a:extLst>
          </p:cNvPr>
          <p:cNvSpPr txBox="1"/>
          <p:nvPr/>
        </p:nvSpPr>
        <p:spPr>
          <a:xfrm>
            <a:off x="6383761" y="2743200"/>
            <a:ext cx="5531402" cy="2862322"/>
          </a:xfrm>
          <a:prstGeom prst="rect">
            <a:avLst/>
          </a:prstGeom>
          <a:noFill/>
        </p:spPr>
        <p:txBody>
          <a:bodyPr wrap="square" rtlCol="0">
            <a:spAutoFit/>
          </a:bodyPr>
          <a:lstStyle/>
          <a:p>
            <a:pPr algn="ctr"/>
            <a:r>
              <a:rPr lang="en-US" b="1" u="sng" dirty="0"/>
              <a:t>Disadvantages</a:t>
            </a:r>
          </a:p>
          <a:p>
            <a:pPr algn="ctr"/>
            <a:endParaRPr lang="en-US" b="1" u="sng" dirty="0"/>
          </a:p>
          <a:p>
            <a:pPr algn="ctr"/>
            <a:endParaRPr lang="en-US" b="1" u="sng" dirty="0"/>
          </a:p>
          <a:p>
            <a:pPr marL="342900" indent="-342900" algn="l">
              <a:buFont typeface="+mj-lt"/>
              <a:buAutoNum type="arabicPeriod"/>
            </a:pPr>
            <a:r>
              <a:rPr lang="en-US" dirty="0"/>
              <a:t>Short flight time (Battery)</a:t>
            </a:r>
          </a:p>
          <a:p>
            <a:pPr marL="342900" indent="-342900" algn="l">
              <a:buFont typeface="+mj-lt"/>
              <a:buAutoNum type="arabicPeriod"/>
            </a:pPr>
            <a:endParaRPr lang="en-US" dirty="0"/>
          </a:p>
          <a:p>
            <a:pPr marL="342900" indent="-342900" algn="l">
              <a:buFont typeface="+mj-lt"/>
              <a:buAutoNum type="arabicPeriod"/>
            </a:pPr>
            <a:r>
              <a:rPr lang="en-US" dirty="0"/>
              <a:t>Payload constrains</a:t>
            </a:r>
          </a:p>
          <a:p>
            <a:pPr marL="342900" indent="-342900" algn="l">
              <a:buFont typeface="+mj-lt"/>
              <a:buAutoNum type="arabicPeriod"/>
            </a:pPr>
            <a:endParaRPr lang="en-US" dirty="0"/>
          </a:p>
          <a:p>
            <a:pPr marL="342900" indent="-342900" algn="l">
              <a:buFont typeface="+mj-lt"/>
              <a:buAutoNum type="arabicPeriod"/>
            </a:pPr>
            <a:r>
              <a:rPr lang="en-US" dirty="0"/>
              <a:t>Wind sensitivity</a:t>
            </a:r>
          </a:p>
          <a:p>
            <a:pPr marL="342900" indent="-342900" algn="l">
              <a:buFont typeface="+mj-lt"/>
              <a:buAutoNum type="arabicPeriod"/>
            </a:pPr>
            <a:endParaRPr lang="en-US" dirty="0"/>
          </a:p>
          <a:p>
            <a:pPr marL="342900" indent="-342900" algn="l">
              <a:buFont typeface="+mj-lt"/>
              <a:buAutoNum type="arabicPeriod"/>
            </a:pPr>
            <a:r>
              <a:rPr lang="en-US" dirty="0"/>
              <a:t>Less efficient for long range.</a:t>
            </a:r>
          </a:p>
        </p:txBody>
      </p:sp>
    </p:spTree>
    <p:extLst>
      <p:ext uri="{BB962C8B-B14F-4D97-AF65-F5344CB8AC3E}">
        <p14:creationId xmlns:p14="http://schemas.microsoft.com/office/powerpoint/2010/main" val="2357804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CEF71-6DDD-86C9-8944-95CFE9752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A2D4B-5C45-300A-F97B-0D65E3433E6B}"/>
              </a:ext>
            </a:extLst>
          </p:cNvPr>
          <p:cNvSpPr>
            <a:spLocks noGrp="1"/>
          </p:cNvSpPr>
          <p:nvPr>
            <p:ph type="title"/>
          </p:nvPr>
        </p:nvSpPr>
        <p:spPr>
          <a:xfrm>
            <a:off x="533400" y="483513"/>
            <a:ext cx="9067800" cy="430887"/>
          </a:xfrm>
        </p:spPr>
        <p:txBody>
          <a:bodyPr/>
          <a:lstStyle/>
          <a:p>
            <a:r>
              <a:rPr lang="en-IN" dirty="0"/>
              <a:t>Types of Drones</a:t>
            </a:r>
            <a:endParaRPr lang="en-IN" sz="2400" dirty="0"/>
          </a:p>
        </p:txBody>
      </p:sp>
      <p:sp>
        <p:nvSpPr>
          <p:cNvPr id="3" name="TextBox 2">
            <a:extLst>
              <a:ext uri="{FF2B5EF4-FFF2-40B4-BE49-F238E27FC236}">
                <a16:creationId xmlns:a16="http://schemas.microsoft.com/office/drawing/2014/main" id="{87D7ECBF-4806-DA5D-C175-88E26CAD4011}"/>
              </a:ext>
            </a:extLst>
          </p:cNvPr>
          <p:cNvSpPr txBox="1"/>
          <p:nvPr/>
        </p:nvSpPr>
        <p:spPr>
          <a:xfrm>
            <a:off x="304800" y="1524000"/>
            <a:ext cx="11582400" cy="1200329"/>
          </a:xfrm>
          <a:prstGeom prst="rect">
            <a:avLst/>
          </a:prstGeom>
          <a:noFill/>
        </p:spPr>
        <p:txBody>
          <a:bodyPr wrap="square" rtlCol="0">
            <a:spAutoFit/>
          </a:bodyPr>
          <a:lstStyle/>
          <a:p>
            <a:pPr marL="400050" indent="-400050" algn="l">
              <a:buAutoNum type="romanUcPeriod" startAt="2"/>
            </a:pPr>
            <a:r>
              <a:rPr lang="en-US" b="1" u="sng" dirty="0"/>
              <a:t>Swash Plate Systems: </a:t>
            </a:r>
            <a:r>
              <a:rPr lang="en-US" dirty="0"/>
              <a:t>A swash plate is a mechanical assembly used in helicopters to control the pitch of the main rotor blades, enabling lift generation and maneuvering. It acts as the interface between the pilot’s controls and the rotating rotor system. The swash plate consists of two main parts: a </a:t>
            </a:r>
            <a:r>
              <a:rPr lang="en-US" b="1" dirty="0"/>
              <a:t>non-rotating (fixed) plate</a:t>
            </a:r>
            <a:r>
              <a:rPr lang="en-US" dirty="0"/>
              <a:t>, which is connected to the control linkages, and a </a:t>
            </a:r>
            <a:r>
              <a:rPr lang="en-US" b="1" dirty="0"/>
              <a:t>rotating plate</a:t>
            </a:r>
            <a:r>
              <a:rPr lang="en-US" dirty="0"/>
              <a:t>, which spins with the rotor blades.</a:t>
            </a:r>
            <a:endParaRPr lang="en-US" b="1" u="sng" dirty="0"/>
          </a:p>
        </p:txBody>
      </p:sp>
      <p:pic>
        <p:nvPicPr>
          <p:cNvPr id="5" name="Picture 4">
            <a:extLst>
              <a:ext uri="{FF2B5EF4-FFF2-40B4-BE49-F238E27FC236}">
                <a16:creationId xmlns:a16="http://schemas.microsoft.com/office/drawing/2014/main" id="{14487D67-CC55-8BEA-4BA6-DCC22C8B5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5553" y="3207842"/>
            <a:ext cx="8240893" cy="2804044"/>
          </a:xfrm>
          <a:prstGeom prst="rect">
            <a:avLst/>
          </a:prstGeom>
        </p:spPr>
      </p:pic>
    </p:spTree>
    <p:extLst>
      <p:ext uri="{BB962C8B-B14F-4D97-AF65-F5344CB8AC3E}">
        <p14:creationId xmlns:p14="http://schemas.microsoft.com/office/powerpoint/2010/main" val="2893073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FEE73-13F1-2D1D-F6E1-3DEA288EE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BE364-4B80-C811-D411-28333417E60E}"/>
              </a:ext>
            </a:extLst>
          </p:cNvPr>
          <p:cNvSpPr>
            <a:spLocks noGrp="1"/>
          </p:cNvSpPr>
          <p:nvPr>
            <p:ph type="title"/>
          </p:nvPr>
        </p:nvSpPr>
        <p:spPr>
          <a:xfrm>
            <a:off x="533400" y="457200"/>
            <a:ext cx="9067800" cy="430887"/>
          </a:xfrm>
        </p:spPr>
        <p:txBody>
          <a:bodyPr/>
          <a:lstStyle/>
          <a:p>
            <a:r>
              <a:rPr lang="en-US" dirty="0"/>
              <a:t>Types of Drones</a:t>
            </a:r>
            <a:endParaRPr lang="en-IN" dirty="0"/>
          </a:p>
        </p:txBody>
      </p:sp>
      <p:cxnSp>
        <p:nvCxnSpPr>
          <p:cNvPr id="18" name="Straight Connector 17">
            <a:extLst>
              <a:ext uri="{FF2B5EF4-FFF2-40B4-BE49-F238E27FC236}">
                <a16:creationId xmlns:a16="http://schemas.microsoft.com/office/drawing/2014/main" id="{7F449627-5F46-2B4B-FBCF-B3DD20652CDD}"/>
              </a:ext>
            </a:extLst>
          </p:cNvPr>
          <p:cNvCxnSpPr>
            <a:cxnSpLocks/>
          </p:cNvCxnSpPr>
          <p:nvPr/>
        </p:nvCxnSpPr>
        <p:spPr>
          <a:xfrm>
            <a:off x="6049108" y="2685229"/>
            <a:ext cx="0" cy="3435535"/>
          </a:xfrm>
          <a:prstGeom prst="line">
            <a:avLst/>
          </a:prstGeom>
          <a:ln w="28575"/>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C440EEC0-721B-C9B6-D452-40B37B4244E9}"/>
              </a:ext>
            </a:extLst>
          </p:cNvPr>
          <p:cNvSpPr txBox="1"/>
          <p:nvPr/>
        </p:nvSpPr>
        <p:spPr>
          <a:xfrm>
            <a:off x="457200" y="2708675"/>
            <a:ext cx="5531402" cy="2862322"/>
          </a:xfrm>
          <a:prstGeom prst="rect">
            <a:avLst/>
          </a:prstGeom>
          <a:noFill/>
        </p:spPr>
        <p:txBody>
          <a:bodyPr wrap="square" rtlCol="0">
            <a:spAutoFit/>
          </a:bodyPr>
          <a:lstStyle/>
          <a:p>
            <a:pPr algn="ctr"/>
            <a:r>
              <a:rPr lang="en-US" b="1" u="sng" dirty="0"/>
              <a:t>Advantages</a:t>
            </a:r>
          </a:p>
          <a:p>
            <a:pPr algn="ctr"/>
            <a:endParaRPr lang="en-US" b="1" u="sng" dirty="0"/>
          </a:p>
          <a:p>
            <a:pPr algn="ctr"/>
            <a:endParaRPr lang="en-US" b="1" u="sng" dirty="0"/>
          </a:p>
          <a:p>
            <a:pPr marL="342900" indent="-342900" algn="l">
              <a:buFont typeface="+mj-lt"/>
              <a:buAutoNum type="arabicPeriod"/>
            </a:pPr>
            <a:r>
              <a:rPr lang="en-US" dirty="0"/>
              <a:t>Dynamic Maneuverability </a:t>
            </a:r>
          </a:p>
          <a:p>
            <a:pPr marL="342900" indent="-342900" algn="l">
              <a:buFont typeface="+mj-lt"/>
              <a:buAutoNum type="arabicPeriod"/>
            </a:pPr>
            <a:endParaRPr lang="en-US" dirty="0"/>
          </a:p>
          <a:p>
            <a:pPr marL="342900" indent="-342900" algn="l">
              <a:buFont typeface="+mj-lt"/>
              <a:buAutoNum type="arabicPeriod"/>
            </a:pPr>
            <a:r>
              <a:rPr lang="en-US" dirty="0"/>
              <a:t>Efficient Hovering</a:t>
            </a:r>
          </a:p>
          <a:p>
            <a:pPr marL="342900" indent="-342900" algn="l">
              <a:buFont typeface="+mj-lt"/>
              <a:buAutoNum type="arabicPeriod"/>
            </a:pPr>
            <a:endParaRPr lang="en-US" dirty="0"/>
          </a:p>
          <a:p>
            <a:pPr marL="342900" indent="-342900" algn="l">
              <a:buFont typeface="+mj-lt"/>
              <a:buAutoNum type="arabicPeriod"/>
            </a:pPr>
            <a:r>
              <a:rPr lang="en-US" dirty="0"/>
              <a:t>High lift capacity</a:t>
            </a:r>
          </a:p>
          <a:p>
            <a:pPr marL="342900" indent="-342900" algn="l">
              <a:buFont typeface="+mj-lt"/>
              <a:buAutoNum type="arabicPeriod"/>
            </a:pPr>
            <a:endParaRPr lang="en-US" dirty="0"/>
          </a:p>
          <a:p>
            <a:pPr marL="342900" indent="-342900" algn="l">
              <a:buFont typeface="+mj-lt"/>
              <a:buAutoNum type="arabicPeriod"/>
            </a:pPr>
            <a:r>
              <a:rPr lang="en-US" dirty="0"/>
              <a:t>VTOL Capacity</a:t>
            </a:r>
          </a:p>
        </p:txBody>
      </p:sp>
      <p:sp>
        <p:nvSpPr>
          <p:cNvPr id="26" name="TextBox 25">
            <a:extLst>
              <a:ext uri="{FF2B5EF4-FFF2-40B4-BE49-F238E27FC236}">
                <a16:creationId xmlns:a16="http://schemas.microsoft.com/office/drawing/2014/main" id="{0F483471-114A-1CF0-EF61-1342FBC17836}"/>
              </a:ext>
            </a:extLst>
          </p:cNvPr>
          <p:cNvSpPr txBox="1"/>
          <p:nvPr/>
        </p:nvSpPr>
        <p:spPr>
          <a:xfrm>
            <a:off x="6383761" y="2743200"/>
            <a:ext cx="5531402" cy="2862322"/>
          </a:xfrm>
          <a:prstGeom prst="rect">
            <a:avLst/>
          </a:prstGeom>
          <a:noFill/>
        </p:spPr>
        <p:txBody>
          <a:bodyPr wrap="square" rtlCol="0">
            <a:spAutoFit/>
          </a:bodyPr>
          <a:lstStyle/>
          <a:p>
            <a:pPr algn="ctr"/>
            <a:r>
              <a:rPr lang="en-US" b="1" u="sng" dirty="0"/>
              <a:t>Disadvantages</a:t>
            </a:r>
          </a:p>
          <a:p>
            <a:pPr algn="ctr"/>
            <a:endParaRPr lang="en-US" b="1" u="sng" dirty="0"/>
          </a:p>
          <a:p>
            <a:pPr algn="ctr"/>
            <a:endParaRPr lang="en-US" b="1" u="sng" dirty="0"/>
          </a:p>
          <a:p>
            <a:pPr marL="342900" indent="-342900" algn="l">
              <a:buFont typeface="+mj-lt"/>
              <a:buAutoNum type="arabicPeriod"/>
            </a:pPr>
            <a:r>
              <a:rPr lang="en-US" dirty="0"/>
              <a:t>Mechanical Complexity</a:t>
            </a:r>
          </a:p>
          <a:p>
            <a:pPr marL="342900" indent="-342900" algn="l">
              <a:buFont typeface="+mj-lt"/>
              <a:buAutoNum type="arabicPeriod"/>
            </a:pPr>
            <a:endParaRPr lang="en-US" dirty="0"/>
          </a:p>
          <a:p>
            <a:pPr marL="342900" indent="-342900" algn="l">
              <a:buFont typeface="+mj-lt"/>
              <a:buAutoNum type="arabicPeriod"/>
            </a:pPr>
            <a:r>
              <a:rPr lang="en-US" dirty="0"/>
              <a:t>Added weight</a:t>
            </a:r>
          </a:p>
          <a:p>
            <a:pPr marL="342900" indent="-342900" algn="l">
              <a:buFont typeface="+mj-lt"/>
              <a:buAutoNum type="arabicPeriod"/>
            </a:pPr>
            <a:endParaRPr lang="en-US" dirty="0"/>
          </a:p>
          <a:p>
            <a:pPr marL="342900" indent="-342900" algn="l">
              <a:buFont typeface="+mj-lt"/>
              <a:buAutoNum type="arabicPeriod"/>
            </a:pPr>
            <a:r>
              <a:rPr lang="en-US" dirty="0"/>
              <a:t>Higher Costs</a:t>
            </a:r>
          </a:p>
          <a:p>
            <a:pPr marL="342900" indent="-342900" algn="l">
              <a:buFont typeface="+mj-lt"/>
              <a:buAutoNum type="arabicPeriod"/>
            </a:pPr>
            <a:endParaRPr lang="en-US" dirty="0"/>
          </a:p>
          <a:p>
            <a:pPr marL="342900" indent="-342900" algn="l">
              <a:buFont typeface="+mj-lt"/>
              <a:buAutoNum type="arabicPeriod"/>
            </a:pPr>
            <a:r>
              <a:rPr lang="en-US" dirty="0"/>
              <a:t>Vibration sensitivity</a:t>
            </a:r>
          </a:p>
        </p:txBody>
      </p:sp>
      <p:sp>
        <p:nvSpPr>
          <p:cNvPr id="6" name="TextBox 5">
            <a:extLst>
              <a:ext uri="{FF2B5EF4-FFF2-40B4-BE49-F238E27FC236}">
                <a16:creationId xmlns:a16="http://schemas.microsoft.com/office/drawing/2014/main" id="{16BA292F-A6DF-6287-A6F5-F1AACA4B066F}"/>
              </a:ext>
            </a:extLst>
          </p:cNvPr>
          <p:cNvSpPr txBox="1"/>
          <p:nvPr/>
        </p:nvSpPr>
        <p:spPr>
          <a:xfrm>
            <a:off x="304800" y="1508346"/>
            <a:ext cx="11582400" cy="369332"/>
          </a:xfrm>
          <a:prstGeom prst="rect">
            <a:avLst/>
          </a:prstGeom>
          <a:noFill/>
        </p:spPr>
        <p:txBody>
          <a:bodyPr wrap="square" rtlCol="0">
            <a:spAutoFit/>
          </a:bodyPr>
          <a:lstStyle/>
          <a:p>
            <a:pPr marL="400050" indent="-400050" algn="l">
              <a:buAutoNum type="romanUcPeriod" startAt="2"/>
            </a:pPr>
            <a:r>
              <a:rPr lang="en-US" b="1" u="sng" dirty="0"/>
              <a:t>Swash Plate Systems:</a:t>
            </a:r>
            <a:r>
              <a:rPr lang="en-US" b="1" dirty="0"/>
              <a:t> </a:t>
            </a:r>
            <a:r>
              <a:rPr lang="en-US" dirty="0"/>
              <a:t>Advantages and Disadvantages</a:t>
            </a:r>
            <a:endParaRPr lang="en-US" b="1" u="sng" dirty="0"/>
          </a:p>
        </p:txBody>
      </p:sp>
    </p:spTree>
    <p:extLst>
      <p:ext uri="{BB962C8B-B14F-4D97-AF65-F5344CB8AC3E}">
        <p14:creationId xmlns:p14="http://schemas.microsoft.com/office/powerpoint/2010/main" val="2418361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3BF33-D69D-F53B-C33E-3AA3DEF340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0EAEB-A21D-D69C-9B22-32CE8E4E2505}"/>
              </a:ext>
            </a:extLst>
          </p:cNvPr>
          <p:cNvSpPr>
            <a:spLocks noGrp="1"/>
          </p:cNvSpPr>
          <p:nvPr>
            <p:ph type="title"/>
          </p:nvPr>
        </p:nvSpPr>
        <p:spPr>
          <a:xfrm>
            <a:off x="457200" y="609600"/>
            <a:ext cx="9067800" cy="430887"/>
          </a:xfrm>
        </p:spPr>
        <p:txBody>
          <a:bodyPr/>
          <a:lstStyle/>
          <a:p>
            <a:r>
              <a:rPr lang="en-IN" dirty="0"/>
              <a:t>Types of Drones</a:t>
            </a:r>
            <a:endParaRPr lang="en-IN" sz="2400" dirty="0"/>
          </a:p>
        </p:txBody>
      </p:sp>
      <p:sp>
        <p:nvSpPr>
          <p:cNvPr id="3" name="TextBox 2">
            <a:extLst>
              <a:ext uri="{FF2B5EF4-FFF2-40B4-BE49-F238E27FC236}">
                <a16:creationId xmlns:a16="http://schemas.microsoft.com/office/drawing/2014/main" id="{32748700-18B6-45E3-37EE-AE374E0F28DD}"/>
              </a:ext>
            </a:extLst>
          </p:cNvPr>
          <p:cNvSpPr txBox="1"/>
          <p:nvPr/>
        </p:nvSpPr>
        <p:spPr>
          <a:xfrm>
            <a:off x="304800" y="1524000"/>
            <a:ext cx="11582400" cy="4524315"/>
          </a:xfrm>
          <a:prstGeom prst="rect">
            <a:avLst/>
          </a:prstGeom>
          <a:noFill/>
        </p:spPr>
        <p:txBody>
          <a:bodyPr wrap="square" rtlCol="0">
            <a:spAutoFit/>
          </a:bodyPr>
          <a:lstStyle/>
          <a:p>
            <a:pPr marL="400050" indent="-400050">
              <a:buAutoNum type="romanUcPeriod" startAt="3"/>
            </a:pPr>
            <a:r>
              <a:rPr lang="en-US" b="1" u="sng" dirty="0"/>
              <a:t>Fixed Wing Drones: </a:t>
            </a:r>
            <a:r>
              <a:rPr lang="en-US" dirty="0"/>
              <a:t>Fixed-wing UAVs rely on aerodynamic wings to generate lift during forward motion, enabling efficient long-range and high-endurance flight, with control provided by conventional aerodynamic surfaces.</a:t>
            </a:r>
          </a:p>
          <a:p>
            <a:endParaRPr lang="en-US" dirty="0"/>
          </a:p>
          <a:p>
            <a:endParaRPr lang="en-US" dirty="0"/>
          </a:p>
          <a:p>
            <a:r>
              <a:rPr lang="en-US" dirty="0"/>
              <a:t>The parts needed for making a Fixed-wing drones are- </a:t>
            </a:r>
          </a:p>
          <a:p>
            <a:endParaRPr lang="en-US" dirty="0"/>
          </a:p>
          <a:p>
            <a:pPr marL="342900" indent="-342900">
              <a:buAutoNum type="arabicPeriod"/>
            </a:pPr>
            <a:r>
              <a:rPr lang="en-US" b="1" dirty="0"/>
              <a:t>Wings-</a:t>
            </a:r>
            <a:r>
              <a:rPr lang="en-US" dirty="0"/>
              <a:t> Generate lift, shape effects the performance</a:t>
            </a:r>
          </a:p>
          <a:p>
            <a:pPr marL="342900" indent="-342900">
              <a:buAutoNum type="arabicPeriod"/>
            </a:pPr>
            <a:endParaRPr lang="en-US" dirty="0"/>
          </a:p>
          <a:p>
            <a:pPr marL="342900" indent="-342900">
              <a:buAutoNum type="arabicPeriod"/>
            </a:pPr>
            <a:r>
              <a:rPr lang="en-US" b="1" dirty="0"/>
              <a:t>Fuselage-</a:t>
            </a:r>
            <a:r>
              <a:rPr lang="en-US" dirty="0"/>
              <a:t> Avionics, Power and Payload</a:t>
            </a:r>
          </a:p>
          <a:p>
            <a:pPr marL="342900" indent="-342900">
              <a:buAutoNum type="arabicPeriod"/>
            </a:pPr>
            <a:endParaRPr lang="en-US" dirty="0"/>
          </a:p>
          <a:p>
            <a:pPr marL="342900" indent="-342900">
              <a:buAutoNum type="arabicPeriod"/>
            </a:pPr>
            <a:r>
              <a:rPr lang="en-US" b="1" dirty="0"/>
              <a:t>Control Surfaces-</a:t>
            </a:r>
            <a:r>
              <a:rPr lang="en-US" dirty="0"/>
              <a:t> Ailerons (Elevons in delta wings) and Elevators</a:t>
            </a:r>
          </a:p>
          <a:p>
            <a:pPr marL="342900" indent="-342900">
              <a:buAutoNum type="arabicPeriod"/>
            </a:pPr>
            <a:endParaRPr lang="en-US" dirty="0"/>
          </a:p>
          <a:p>
            <a:pPr marL="342900" indent="-342900">
              <a:buAutoNum type="arabicPeriod"/>
            </a:pPr>
            <a:r>
              <a:rPr lang="en-US" b="1" dirty="0"/>
              <a:t>Propulsion-</a:t>
            </a:r>
            <a:r>
              <a:rPr lang="en-US" dirty="0"/>
              <a:t> Motor/Propellor or Jet</a:t>
            </a:r>
          </a:p>
          <a:p>
            <a:pPr marL="342900" indent="-342900">
              <a:buAutoNum type="arabicPeriod"/>
            </a:pPr>
            <a:endParaRPr lang="en-US" dirty="0"/>
          </a:p>
          <a:p>
            <a:pPr marL="342900" indent="-342900">
              <a:buAutoNum type="arabicPeriod"/>
            </a:pPr>
            <a:r>
              <a:rPr lang="en-US" b="1" dirty="0"/>
              <a:t>Landing Gears-</a:t>
            </a:r>
            <a:r>
              <a:rPr lang="en-US" dirty="0"/>
              <a:t> Fixed or retractable</a:t>
            </a:r>
          </a:p>
        </p:txBody>
      </p:sp>
      <p:pic>
        <p:nvPicPr>
          <p:cNvPr id="7" name="Picture 6">
            <a:extLst>
              <a:ext uri="{FF2B5EF4-FFF2-40B4-BE49-F238E27FC236}">
                <a16:creationId xmlns:a16="http://schemas.microsoft.com/office/drawing/2014/main" id="{E6D5154F-4F2E-43F7-FE03-F4EC8BA74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3366" y="3125451"/>
            <a:ext cx="4351311" cy="2895600"/>
          </a:xfrm>
          <a:prstGeom prst="rect">
            <a:avLst/>
          </a:prstGeom>
        </p:spPr>
      </p:pic>
    </p:spTree>
    <p:extLst>
      <p:ext uri="{BB962C8B-B14F-4D97-AF65-F5344CB8AC3E}">
        <p14:creationId xmlns:p14="http://schemas.microsoft.com/office/powerpoint/2010/main" val="2539164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7787B-E7F6-EF3B-AC9B-64E3DE845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7124E-0A91-6E6D-33CA-D0BE574A609E}"/>
              </a:ext>
            </a:extLst>
          </p:cNvPr>
          <p:cNvSpPr>
            <a:spLocks noGrp="1"/>
          </p:cNvSpPr>
          <p:nvPr>
            <p:ph type="title"/>
          </p:nvPr>
        </p:nvSpPr>
        <p:spPr>
          <a:xfrm>
            <a:off x="533400" y="457200"/>
            <a:ext cx="9067800" cy="430887"/>
          </a:xfrm>
        </p:spPr>
        <p:txBody>
          <a:bodyPr/>
          <a:lstStyle/>
          <a:p>
            <a:r>
              <a:rPr lang="en-US" dirty="0"/>
              <a:t>Types of Drones</a:t>
            </a:r>
            <a:endParaRPr lang="en-IN" dirty="0"/>
          </a:p>
        </p:txBody>
      </p:sp>
      <p:cxnSp>
        <p:nvCxnSpPr>
          <p:cNvPr id="18" name="Straight Connector 17">
            <a:extLst>
              <a:ext uri="{FF2B5EF4-FFF2-40B4-BE49-F238E27FC236}">
                <a16:creationId xmlns:a16="http://schemas.microsoft.com/office/drawing/2014/main" id="{610B02A8-0165-D131-BDB9-6CE9755CB7BC}"/>
              </a:ext>
            </a:extLst>
          </p:cNvPr>
          <p:cNvCxnSpPr>
            <a:cxnSpLocks/>
          </p:cNvCxnSpPr>
          <p:nvPr/>
        </p:nvCxnSpPr>
        <p:spPr>
          <a:xfrm>
            <a:off x="6049108" y="2685229"/>
            <a:ext cx="0" cy="3435535"/>
          </a:xfrm>
          <a:prstGeom prst="line">
            <a:avLst/>
          </a:prstGeom>
          <a:ln w="28575"/>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48F4C0E8-D5C7-01F0-6DBC-BCD2987DF600}"/>
              </a:ext>
            </a:extLst>
          </p:cNvPr>
          <p:cNvSpPr txBox="1"/>
          <p:nvPr/>
        </p:nvSpPr>
        <p:spPr>
          <a:xfrm>
            <a:off x="457200" y="2708675"/>
            <a:ext cx="5531402" cy="2862322"/>
          </a:xfrm>
          <a:prstGeom prst="rect">
            <a:avLst/>
          </a:prstGeom>
          <a:noFill/>
        </p:spPr>
        <p:txBody>
          <a:bodyPr wrap="square" rtlCol="0">
            <a:spAutoFit/>
          </a:bodyPr>
          <a:lstStyle/>
          <a:p>
            <a:pPr algn="ctr"/>
            <a:r>
              <a:rPr lang="en-US" b="1" u="sng" dirty="0"/>
              <a:t>Advantages</a:t>
            </a:r>
          </a:p>
          <a:p>
            <a:pPr algn="ctr"/>
            <a:endParaRPr lang="en-US" b="1" u="sng" dirty="0"/>
          </a:p>
          <a:p>
            <a:pPr algn="ctr"/>
            <a:endParaRPr lang="en-US" b="1" u="sng" dirty="0"/>
          </a:p>
          <a:p>
            <a:pPr marL="342900" indent="-342900" algn="l">
              <a:buFont typeface="+mj-lt"/>
              <a:buAutoNum type="arabicPeriod"/>
            </a:pPr>
            <a:r>
              <a:rPr lang="en-US" dirty="0"/>
              <a:t>Longer Flight Duration</a:t>
            </a:r>
          </a:p>
          <a:p>
            <a:pPr marL="342900" indent="-342900" algn="l">
              <a:buFont typeface="+mj-lt"/>
              <a:buAutoNum type="arabicPeriod"/>
            </a:pPr>
            <a:endParaRPr lang="en-US" dirty="0"/>
          </a:p>
          <a:p>
            <a:pPr marL="342900" indent="-342900" algn="l">
              <a:buFont typeface="+mj-lt"/>
              <a:buAutoNum type="arabicPeriod"/>
            </a:pPr>
            <a:r>
              <a:rPr lang="en-US" dirty="0"/>
              <a:t>Energy Efficient</a:t>
            </a:r>
          </a:p>
          <a:p>
            <a:pPr marL="342900" indent="-342900" algn="l">
              <a:buFont typeface="+mj-lt"/>
              <a:buAutoNum type="arabicPeriod"/>
            </a:pPr>
            <a:endParaRPr lang="en-US" dirty="0"/>
          </a:p>
          <a:p>
            <a:pPr marL="342900" indent="-342900" algn="l">
              <a:buFont typeface="+mj-lt"/>
              <a:buAutoNum type="arabicPeriod"/>
            </a:pPr>
            <a:r>
              <a:rPr lang="en-US" dirty="0"/>
              <a:t>High Speeds</a:t>
            </a:r>
          </a:p>
          <a:p>
            <a:pPr marL="342900" indent="-342900" algn="l">
              <a:buFont typeface="+mj-lt"/>
              <a:buAutoNum type="arabicPeriod"/>
            </a:pPr>
            <a:endParaRPr lang="en-US" dirty="0"/>
          </a:p>
          <a:p>
            <a:pPr marL="342900" indent="-342900" algn="l">
              <a:buFont typeface="+mj-lt"/>
              <a:buAutoNum type="arabicPeriod"/>
            </a:pPr>
            <a:r>
              <a:rPr lang="en-US" dirty="0"/>
              <a:t>Glide Capacity</a:t>
            </a:r>
          </a:p>
        </p:txBody>
      </p:sp>
      <p:sp>
        <p:nvSpPr>
          <p:cNvPr id="26" name="TextBox 25">
            <a:extLst>
              <a:ext uri="{FF2B5EF4-FFF2-40B4-BE49-F238E27FC236}">
                <a16:creationId xmlns:a16="http://schemas.microsoft.com/office/drawing/2014/main" id="{99398413-2A07-1D33-50F4-A00B30BB8871}"/>
              </a:ext>
            </a:extLst>
          </p:cNvPr>
          <p:cNvSpPr txBox="1"/>
          <p:nvPr/>
        </p:nvSpPr>
        <p:spPr>
          <a:xfrm>
            <a:off x="6383761" y="2743200"/>
            <a:ext cx="5531402" cy="2862322"/>
          </a:xfrm>
          <a:prstGeom prst="rect">
            <a:avLst/>
          </a:prstGeom>
          <a:noFill/>
        </p:spPr>
        <p:txBody>
          <a:bodyPr wrap="square" rtlCol="0">
            <a:spAutoFit/>
          </a:bodyPr>
          <a:lstStyle/>
          <a:p>
            <a:pPr algn="ctr"/>
            <a:r>
              <a:rPr lang="en-US" b="1" u="sng" dirty="0"/>
              <a:t>Disadvantages</a:t>
            </a:r>
          </a:p>
          <a:p>
            <a:pPr algn="ctr"/>
            <a:endParaRPr lang="en-US" b="1" u="sng" dirty="0"/>
          </a:p>
          <a:p>
            <a:pPr algn="ctr"/>
            <a:endParaRPr lang="en-US" b="1" u="sng" dirty="0"/>
          </a:p>
          <a:p>
            <a:pPr marL="342900" indent="-342900" algn="l">
              <a:buFont typeface="+mj-lt"/>
              <a:buAutoNum type="arabicPeriod"/>
            </a:pPr>
            <a:r>
              <a:rPr lang="en-US" dirty="0"/>
              <a:t>Needs runway or a launcher</a:t>
            </a:r>
          </a:p>
          <a:p>
            <a:pPr marL="342900" indent="-342900" algn="l">
              <a:buFont typeface="+mj-lt"/>
              <a:buAutoNum type="arabicPeriod"/>
            </a:pPr>
            <a:endParaRPr lang="en-US" dirty="0"/>
          </a:p>
          <a:p>
            <a:pPr marL="342900" indent="-342900" algn="l">
              <a:buFont typeface="+mj-lt"/>
              <a:buAutoNum type="arabicPeriod"/>
            </a:pPr>
            <a:r>
              <a:rPr lang="en-US" dirty="0"/>
              <a:t>Cannot Hover</a:t>
            </a:r>
          </a:p>
          <a:p>
            <a:pPr marL="342900" indent="-342900" algn="l">
              <a:buFont typeface="+mj-lt"/>
              <a:buAutoNum type="arabicPeriod"/>
            </a:pPr>
            <a:endParaRPr lang="en-US" dirty="0"/>
          </a:p>
          <a:p>
            <a:pPr marL="342900" indent="-342900" algn="l">
              <a:buFont typeface="+mj-lt"/>
              <a:buAutoNum type="arabicPeriod"/>
            </a:pPr>
            <a:r>
              <a:rPr lang="en-US" dirty="0"/>
              <a:t>Complex operation</a:t>
            </a:r>
          </a:p>
          <a:p>
            <a:pPr marL="342900" indent="-342900" algn="l">
              <a:buFont typeface="+mj-lt"/>
              <a:buAutoNum type="arabicPeriod"/>
            </a:pPr>
            <a:endParaRPr lang="en-US" dirty="0"/>
          </a:p>
          <a:p>
            <a:pPr marL="342900" indent="-342900" algn="l">
              <a:buFont typeface="+mj-lt"/>
              <a:buAutoNum type="arabicPeriod"/>
            </a:pPr>
            <a:r>
              <a:rPr lang="en-US" dirty="0"/>
              <a:t>Stall Risk in Low speeds</a:t>
            </a:r>
          </a:p>
        </p:txBody>
      </p:sp>
      <p:sp>
        <p:nvSpPr>
          <p:cNvPr id="8" name="TextBox 7">
            <a:extLst>
              <a:ext uri="{FF2B5EF4-FFF2-40B4-BE49-F238E27FC236}">
                <a16:creationId xmlns:a16="http://schemas.microsoft.com/office/drawing/2014/main" id="{39873F43-FE8D-01E9-5DC9-24A694F86375}"/>
              </a:ext>
            </a:extLst>
          </p:cNvPr>
          <p:cNvSpPr txBox="1"/>
          <p:nvPr/>
        </p:nvSpPr>
        <p:spPr>
          <a:xfrm>
            <a:off x="332763" y="1555047"/>
            <a:ext cx="11582400" cy="369332"/>
          </a:xfrm>
          <a:prstGeom prst="rect">
            <a:avLst/>
          </a:prstGeom>
          <a:noFill/>
        </p:spPr>
        <p:txBody>
          <a:bodyPr wrap="square" rtlCol="0">
            <a:spAutoFit/>
          </a:bodyPr>
          <a:lstStyle/>
          <a:p>
            <a:pPr marL="400050" indent="-400050">
              <a:buAutoNum type="romanUcPeriod" startAt="3"/>
            </a:pPr>
            <a:r>
              <a:rPr lang="en-US" b="1" u="sng" dirty="0"/>
              <a:t>Fixed Wing Drones:</a:t>
            </a:r>
            <a:r>
              <a:rPr lang="en-US" b="1" dirty="0"/>
              <a:t> </a:t>
            </a:r>
            <a:r>
              <a:rPr lang="en-US" dirty="0"/>
              <a:t>Advantages and Disadvantages</a:t>
            </a:r>
          </a:p>
        </p:txBody>
      </p:sp>
    </p:spTree>
    <p:extLst>
      <p:ext uri="{BB962C8B-B14F-4D97-AF65-F5344CB8AC3E}">
        <p14:creationId xmlns:p14="http://schemas.microsoft.com/office/powerpoint/2010/main" val="569591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85321-3B37-1C4D-F3EF-CA8736B27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0D0D6C-C15A-6BA4-FDB6-30D34A004A10}"/>
              </a:ext>
            </a:extLst>
          </p:cNvPr>
          <p:cNvSpPr>
            <a:spLocks noGrp="1"/>
          </p:cNvSpPr>
          <p:nvPr>
            <p:ph type="title"/>
          </p:nvPr>
        </p:nvSpPr>
        <p:spPr>
          <a:xfrm>
            <a:off x="457200" y="609600"/>
            <a:ext cx="9067800" cy="430887"/>
          </a:xfrm>
        </p:spPr>
        <p:txBody>
          <a:bodyPr/>
          <a:lstStyle/>
          <a:p>
            <a:r>
              <a:rPr lang="en-IN" dirty="0"/>
              <a:t>Types of Drones</a:t>
            </a:r>
            <a:endParaRPr lang="en-IN" sz="2400" dirty="0"/>
          </a:p>
        </p:txBody>
      </p:sp>
      <p:sp>
        <p:nvSpPr>
          <p:cNvPr id="3" name="TextBox 2">
            <a:extLst>
              <a:ext uri="{FF2B5EF4-FFF2-40B4-BE49-F238E27FC236}">
                <a16:creationId xmlns:a16="http://schemas.microsoft.com/office/drawing/2014/main" id="{D310C866-632A-E2A7-3276-3FCA899069E9}"/>
              </a:ext>
            </a:extLst>
          </p:cNvPr>
          <p:cNvSpPr txBox="1"/>
          <p:nvPr/>
        </p:nvSpPr>
        <p:spPr>
          <a:xfrm>
            <a:off x="304800" y="1524000"/>
            <a:ext cx="11582400" cy="4524315"/>
          </a:xfrm>
          <a:prstGeom prst="rect">
            <a:avLst/>
          </a:prstGeom>
          <a:noFill/>
        </p:spPr>
        <p:txBody>
          <a:bodyPr wrap="square" rtlCol="0">
            <a:spAutoFit/>
          </a:bodyPr>
          <a:lstStyle/>
          <a:p>
            <a:r>
              <a:rPr lang="en-US" b="1" dirty="0"/>
              <a:t>IV. </a:t>
            </a:r>
            <a:r>
              <a:rPr lang="en-US" b="1" u="sng" dirty="0"/>
              <a:t>Hybrid UAVs-</a:t>
            </a:r>
            <a:r>
              <a:rPr lang="en-US" b="1" dirty="0"/>
              <a:t> </a:t>
            </a:r>
            <a:r>
              <a:rPr lang="en-US" dirty="0"/>
              <a:t>Hybrid unmanned aerial vehicles combine the characteristics of both fixed-wing and rotary-wing aircraft to achieve vertical take-off and landing (VTOL) capability along with efficient forward flight. These systems use rotors to generate lift during take-off, landing, and hovering, while fixed wings provide aerodynamic lift during cruise, significantly improving range and endurance compared to pure rotary-wing UAVs. </a:t>
            </a:r>
          </a:p>
          <a:p>
            <a:endParaRPr lang="en-US" b="1" dirty="0"/>
          </a:p>
          <a:p>
            <a:endParaRPr lang="en-US" dirty="0"/>
          </a:p>
          <a:p>
            <a:r>
              <a:rPr lang="en-US" dirty="0"/>
              <a:t>Types of Hybrid UAVs-</a:t>
            </a:r>
          </a:p>
          <a:p>
            <a:endParaRPr lang="en-US" dirty="0"/>
          </a:p>
          <a:p>
            <a:endParaRPr lang="en-US" dirty="0"/>
          </a:p>
          <a:p>
            <a:pPr marL="342900" indent="-342900">
              <a:buAutoNum type="arabicPeriod"/>
            </a:pPr>
            <a:r>
              <a:rPr lang="en-US" b="1" dirty="0"/>
              <a:t>Tilt-rotor:</a:t>
            </a:r>
            <a:r>
              <a:rPr lang="en-US" dirty="0"/>
              <a:t> Rotors tilt vertical/horizontal</a:t>
            </a:r>
          </a:p>
          <a:p>
            <a:pPr marL="342900" indent="-342900">
              <a:buAutoNum type="arabicPeriod"/>
            </a:pPr>
            <a:endParaRPr lang="en-US" dirty="0"/>
          </a:p>
          <a:p>
            <a:pPr marL="342900" indent="-342900">
              <a:buAutoNum type="arabicPeriod"/>
            </a:pPr>
            <a:r>
              <a:rPr lang="en-US" b="1" dirty="0" err="1"/>
              <a:t>Quadplane</a:t>
            </a:r>
            <a:r>
              <a:rPr lang="en-US" b="1" dirty="0"/>
              <a:t>:</a:t>
            </a:r>
            <a:r>
              <a:rPr lang="en-US" dirty="0"/>
              <a:t> Fixed-wing + VTOL rotors</a:t>
            </a:r>
          </a:p>
          <a:p>
            <a:pPr marL="342900" indent="-342900">
              <a:buAutoNum type="arabicPeriod"/>
            </a:pPr>
            <a:endParaRPr lang="en-US" dirty="0"/>
          </a:p>
          <a:p>
            <a:pPr marL="342900" indent="-342900">
              <a:buAutoNum type="arabicPeriod"/>
            </a:pPr>
            <a:r>
              <a:rPr lang="en-US" b="1" dirty="0"/>
              <a:t>Powered-lift: </a:t>
            </a:r>
            <a:r>
              <a:rPr lang="en-US" dirty="0"/>
              <a:t>Separate systems</a:t>
            </a:r>
          </a:p>
          <a:p>
            <a:pPr marL="342900" indent="-342900">
              <a:buAutoNum type="arabicPeriod"/>
            </a:pPr>
            <a:endParaRPr lang="en-US" dirty="0"/>
          </a:p>
          <a:p>
            <a:pPr marL="342900" indent="-342900">
              <a:buAutoNum type="arabicPeriod"/>
            </a:pPr>
            <a:r>
              <a:rPr lang="en-US" b="1" dirty="0"/>
              <a:t>Tail-sitter: </a:t>
            </a:r>
            <a:r>
              <a:rPr lang="en-US" dirty="0"/>
              <a:t>Takes off on tail</a:t>
            </a:r>
          </a:p>
        </p:txBody>
      </p:sp>
      <p:pic>
        <p:nvPicPr>
          <p:cNvPr id="5" name="Picture 4">
            <a:extLst>
              <a:ext uri="{FF2B5EF4-FFF2-40B4-BE49-F238E27FC236}">
                <a16:creationId xmlns:a16="http://schemas.microsoft.com/office/drawing/2014/main" id="{E5CBEEA4-6096-BC00-7A6B-242F2D5DA8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399" y="3338532"/>
            <a:ext cx="5190707" cy="2376468"/>
          </a:xfrm>
          <a:prstGeom prst="rect">
            <a:avLst/>
          </a:prstGeom>
        </p:spPr>
      </p:pic>
    </p:spTree>
    <p:extLst>
      <p:ext uri="{BB962C8B-B14F-4D97-AF65-F5344CB8AC3E}">
        <p14:creationId xmlns:p14="http://schemas.microsoft.com/office/powerpoint/2010/main" val="2428539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FC96D-FCB3-AFA8-EC37-5BCC23471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DCE09-1311-A9C4-054D-5066234AA48C}"/>
              </a:ext>
            </a:extLst>
          </p:cNvPr>
          <p:cNvSpPr>
            <a:spLocks noGrp="1"/>
          </p:cNvSpPr>
          <p:nvPr>
            <p:ph type="title"/>
          </p:nvPr>
        </p:nvSpPr>
        <p:spPr>
          <a:xfrm>
            <a:off x="533400" y="457200"/>
            <a:ext cx="9067800" cy="430887"/>
          </a:xfrm>
        </p:spPr>
        <p:txBody>
          <a:bodyPr/>
          <a:lstStyle/>
          <a:p>
            <a:r>
              <a:rPr lang="en-US" dirty="0"/>
              <a:t>Types of Drones</a:t>
            </a:r>
            <a:endParaRPr lang="en-IN" dirty="0"/>
          </a:p>
        </p:txBody>
      </p:sp>
      <p:cxnSp>
        <p:nvCxnSpPr>
          <p:cNvPr id="18" name="Straight Connector 17">
            <a:extLst>
              <a:ext uri="{FF2B5EF4-FFF2-40B4-BE49-F238E27FC236}">
                <a16:creationId xmlns:a16="http://schemas.microsoft.com/office/drawing/2014/main" id="{B383C0EF-9D5A-56F5-6DAF-F4F1E0C59ECF}"/>
              </a:ext>
            </a:extLst>
          </p:cNvPr>
          <p:cNvCxnSpPr>
            <a:cxnSpLocks/>
          </p:cNvCxnSpPr>
          <p:nvPr/>
        </p:nvCxnSpPr>
        <p:spPr>
          <a:xfrm>
            <a:off x="6049108" y="2685229"/>
            <a:ext cx="0" cy="3435535"/>
          </a:xfrm>
          <a:prstGeom prst="line">
            <a:avLst/>
          </a:prstGeom>
          <a:ln w="28575"/>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14044248-340A-EB99-C424-001D18499073}"/>
              </a:ext>
            </a:extLst>
          </p:cNvPr>
          <p:cNvSpPr txBox="1"/>
          <p:nvPr/>
        </p:nvSpPr>
        <p:spPr>
          <a:xfrm>
            <a:off x="457200" y="2708675"/>
            <a:ext cx="5531402" cy="2862322"/>
          </a:xfrm>
          <a:prstGeom prst="rect">
            <a:avLst/>
          </a:prstGeom>
          <a:noFill/>
        </p:spPr>
        <p:txBody>
          <a:bodyPr wrap="square" rtlCol="0">
            <a:spAutoFit/>
          </a:bodyPr>
          <a:lstStyle/>
          <a:p>
            <a:pPr algn="ctr"/>
            <a:r>
              <a:rPr lang="en-US" b="1" u="sng" dirty="0"/>
              <a:t>Advantages</a:t>
            </a:r>
          </a:p>
          <a:p>
            <a:pPr algn="ctr"/>
            <a:endParaRPr lang="en-US" b="1" u="sng" dirty="0"/>
          </a:p>
          <a:p>
            <a:pPr algn="ctr"/>
            <a:endParaRPr lang="en-US" b="1" u="sng" dirty="0"/>
          </a:p>
          <a:p>
            <a:pPr marL="342900" indent="-342900" algn="l">
              <a:buFont typeface="+mj-lt"/>
              <a:buAutoNum type="arabicPeriod"/>
            </a:pPr>
            <a:r>
              <a:rPr lang="en-US" dirty="0"/>
              <a:t>No runway needed</a:t>
            </a:r>
          </a:p>
          <a:p>
            <a:pPr marL="342900" indent="-342900" algn="l">
              <a:buFont typeface="+mj-lt"/>
              <a:buAutoNum type="arabicPeriod"/>
            </a:pPr>
            <a:endParaRPr lang="en-US" dirty="0"/>
          </a:p>
          <a:p>
            <a:pPr marL="342900" indent="-342900" algn="l">
              <a:buFont typeface="+mj-lt"/>
              <a:buAutoNum type="arabicPeriod"/>
            </a:pPr>
            <a:r>
              <a:rPr lang="en-US" dirty="0"/>
              <a:t>Energy efficient cruise</a:t>
            </a:r>
          </a:p>
          <a:p>
            <a:pPr marL="342900" indent="-342900" algn="l">
              <a:buFont typeface="+mj-lt"/>
              <a:buAutoNum type="arabicPeriod"/>
            </a:pPr>
            <a:endParaRPr lang="en-US" dirty="0"/>
          </a:p>
          <a:p>
            <a:pPr marL="342900" indent="-342900" algn="l">
              <a:buFont typeface="+mj-lt"/>
              <a:buAutoNum type="arabicPeriod"/>
            </a:pPr>
            <a:r>
              <a:rPr lang="en-US" dirty="0"/>
              <a:t>Versatile missions</a:t>
            </a:r>
          </a:p>
          <a:p>
            <a:pPr marL="342900" indent="-342900" algn="l">
              <a:buFont typeface="+mj-lt"/>
              <a:buAutoNum type="arabicPeriod"/>
            </a:pPr>
            <a:endParaRPr lang="en-US" dirty="0"/>
          </a:p>
          <a:p>
            <a:pPr marL="342900" indent="-342900" algn="l">
              <a:buFont typeface="+mj-lt"/>
              <a:buAutoNum type="arabicPeriod"/>
            </a:pPr>
            <a:r>
              <a:rPr lang="en-US" dirty="0"/>
              <a:t>Good payload capacity</a:t>
            </a:r>
          </a:p>
        </p:txBody>
      </p:sp>
      <p:sp>
        <p:nvSpPr>
          <p:cNvPr id="26" name="TextBox 25">
            <a:extLst>
              <a:ext uri="{FF2B5EF4-FFF2-40B4-BE49-F238E27FC236}">
                <a16:creationId xmlns:a16="http://schemas.microsoft.com/office/drawing/2014/main" id="{6031B55D-FA02-ED65-62B1-163EBE084BF2}"/>
              </a:ext>
            </a:extLst>
          </p:cNvPr>
          <p:cNvSpPr txBox="1"/>
          <p:nvPr/>
        </p:nvSpPr>
        <p:spPr>
          <a:xfrm>
            <a:off x="6383761" y="2743200"/>
            <a:ext cx="5531402" cy="2862322"/>
          </a:xfrm>
          <a:prstGeom prst="rect">
            <a:avLst/>
          </a:prstGeom>
          <a:noFill/>
        </p:spPr>
        <p:txBody>
          <a:bodyPr wrap="square" rtlCol="0">
            <a:spAutoFit/>
          </a:bodyPr>
          <a:lstStyle/>
          <a:p>
            <a:pPr algn="ctr"/>
            <a:r>
              <a:rPr lang="en-US" b="1" u="sng" dirty="0"/>
              <a:t>Disadvantages</a:t>
            </a:r>
          </a:p>
          <a:p>
            <a:pPr algn="ctr"/>
            <a:endParaRPr lang="en-US" b="1" u="sng" dirty="0"/>
          </a:p>
          <a:p>
            <a:pPr algn="ctr"/>
            <a:endParaRPr lang="en-US" b="1" u="sng" dirty="0"/>
          </a:p>
          <a:p>
            <a:pPr marL="342900" indent="-342900" algn="l">
              <a:buFont typeface="+mj-lt"/>
              <a:buAutoNum type="arabicPeriod"/>
            </a:pPr>
            <a:r>
              <a:rPr lang="en-US" dirty="0"/>
              <a:t>Complex mechanisms</a:t>
            </a:r>
          </a:p>
          <a:p>
            <a:pPr marL="342900" indent="-342900" algn="l">
              <a:buFont typeface="+mj-lt"/>
              <a:buAutoNum type="arabicPeriod"/>
            </a:pPr>
            <a:endParaRPr lang="en-US" dirty="0"/>
          </a:p>
          <a:p>
            <a:pPr marL="342900" indent="-342900" algn="l">
              <a:buFont typeface="+mj-lt"/>
              <a:buAutoNum type="arabicPeriod"/>
            </a:pPr>
            <a:r>
              <a:rPr lang="en-US" dirty="0"/>
              <a:t>Added weight</a:t>
            </a:r>
          </a:p>
          <a:p>
            <a:pPr marL="342900" indent="-342900" algn="l">
              <a:buFont typeface="+mj-lt"/>
              <a:buAutoNum type="arabicPeriod"/>
            </a:pPr>
            <a:endParaRPr lang="en-US" dirty="0"/>
          </a:p>
          <a:p>
            <a:pPr marL="342900" indent="-342900" algn="l">
              <a:buFont typeface="+mj-lt"/>
              <a:buAutoNum type="arabicPeriod"/>
            </a:pPr>
            <a:r>
              <a:rPr lang="en-US" dirty="0"/>
              <a:t>Efficiency trade-offs</a:t>
            </a:r>
          </a:p>
          <a:p>
            <a:pPr marL="342900" indent="-342900" algn="l">
              <a:buFont typeface="+mj-lt"/>
              <a:buAutoNum type="arabicPeriod"/>
            </a:pPr>
            <a:endParaRPr lang="en-US" dirty="0"/>
          </a:p>
          <a:p>
            <a:pPr marL="342900" indent="-342900" algn="l">
              <a:buFont typeface="+mj-lt"/>
              <a:buAutoNum type="arabicPeriod"/>
            </a:pPr>
            <a:r>
              <a:rPr lang="en-US" dirty="0"/>
              <a:t>More maintenance</a:t>
            </a:r>
          </a:p>
        </p:txBody>
      </p:sp>
      <p:sp>
        <p:nvSpPr>
          <p:cNvPr id="6" name="TextBox 5">
            <a:extLst>
              <a:ext uri="{FF2B5EF4-FFF2-40B4-BE49-F238E27FC236}">
                <a16:creationId xmlns:a16="http://schemas.microsoft.com/office/drawing/2014/main" id="{CC94A2FA-5162-80A5-143A-3CED3300BCA6}"/>
              </a:ext>
            </a:extLst>
          </p:cNvPr>
          <p:cNvSpPr txBox="1"/>
          <p:nvPr/>
        </p:nvSpPr>
        <p:spPr>
          <a:xfrm>
            <a:off x="257908" y="1573007"/>
            <a:ext cx="11582400" cy="369332"/>
          </a:xfrm>
          <a:prstGeom prst="rect">
            <a:avLst/>
          </a:prstGeom>
          <a:noFill/>
        </p:spPr>
        <p:txBody>
          <a:bodyPr wrap="square" rtlCol="0">
            <a:spAutoFit/>
          </a:bodyPr>
          <a:lstStyle/>
          <a:p>
            <a:r>
              <a:rPr lang="en-US" b="1" dirty="0"/>
              <a:t>IV. </a:t>
            </a:r>
            <a:r>
              <a:rPr lang="en-US" b="1" u="sng" dirty="0"/>
              <a:t>Hybrid UAVs-</a:t>
            </a:r>
            <a:r>
              <a:rPr lang="en-US" dirty="0"/>
              <a:t> Advantages and Disadvantages</a:t>
            </a:r>
          </a:p>
        </p:txBody>
      </p:sp>
    </p:spTree>
    <p:extLst>
      <p:ext uri="{BB962C8B-B14F-4D97-AF65-F5344CB8AC3E}">
        <p14:creationId xmlns:p14="http://schemas.microsoft.com/office/powerpoint/2010/main" val="2400538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1CFC8-400F-4314-1C9C-4C028A74FB9C}"/>
              </a:ext>
            </a:extLst>
          </p:cNvPr>
          <p:cNvSpPr>
            <a:spLocks noGrp="1"/>
          </p:cNvSpPr>
          <p:nvPr>
            <p:ph type="title"/>
          </p:nvPr>
        </p:nvSpPr>
        <p:spPr>
          <a:xfrm>
            <a:off x="102819" y="334467"/>
            <a:ext cx="9343567" cy="430887"/>
          </a:xfrm>
        </p:spPr>
        <p:txBody>
          <a:bodyPr/>
          <a:lstStyle/>
          <a:p>
            <a:r>
              <a:rPr lang="en-US" dirty="0"/>
              <a:t>Ethical Concerns and Legal Considerations</a:t>
            </a:r>
            <a:endParaRPr lang="en-IN" dirty="0"/>
          </a:p>
        </p:txBody>
      </p:sp>
      <p:sp>
        <p:nvSpPr>
          <p:cNvPr id="7" name="TextBox 6">
            <a:extLst>
              <a:ext uri="{FF2B5EF4-FFF2-40B4-BE49-F238E27FC236}">
                <a16:creationId xmlns:a16="http://schemas.microsoft.com/office/drawing/2014/main" id="{D6A03C26-9C38-BB30-292F-50AF02FD9603}"/>
              </a:ext>
            </a:extLst>
          </p:cNvPr>
          <p:cNvSpPr txBox="1"/>
          <p:nvPr/>
        </p:nvSpPr>
        <p:spPr>
          <a:xfrm>
            <a:off x="202545" y="1483120"/>
            <a:ext cx="11786910" cy="39703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Privacy Issues: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The risk that drones may capture images, videos, or data of private citizens without consent, leading to breaches of personal privacy and unauthorized data collection.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Safety &amp; Airspace Management: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Ensuring drones do not collide with other aircraft or objects. Regulatory bodies such as the FAA (Federal Aviation Administration in the US) set rules regarding altitude limits, no-fly zones, and registration requirements.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Ethical Debates: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Concerns regarding the use of drones in military operations, surveillance, and targeted strikes raise questions about accountability</a:t>
            </a:r>
          </a:p>
          <a:p>
            <a:pPr algn="l" rtl="0" eaLnBrk="0" fontAlgn="base" hangingPunct="0">
              <a:spcBef>
                <a:spcPct val="0"/>
              </a:spcBef>
              <a:spcAft>
                <a:spcPct val="0"/>
              </a:spcAft>
              <a:buFontTx/>
              <a:buChar char="•"/>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proportionality, and civilian safety.</a:t>
            </a:r>
          </a:p>
        </p:txBody>
      </p:sp>
    </p:spTree>
    <p:extLst>
      <p:ext uri="{BB962C8B-B14F-4D97-AF65-F5344CB8AC3E}">
        <p14:creationId xmlns:p14="http://schemas.microsoft.com/office/powerpoint/2010/main" val="1483322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C3556-AC6D-8D65-3658-A334E2BF6CDD}"/>
              </a:ext>
            </a:extLst>
          </p:cNvPr>
          <p:cNvSpPr>
            <a:spLocks noGrp="1"/>
          </p:cNvSpPr>
          <p:nvPr>
            <p:ph type="title"/>
          </p:nvPr>
        </p:nvSpPr>
        <p:spPr>
          <a:xfrm>
            <a:off x="102819" y="334467"/>
            <a:ext cx="9343567" cy="430887"/>
          </a:xfrm>
        </p:spPr>
        <p:txBody>
          <a:bodyPr/>
          <a:lstStyle/>
          <a:p>
            <a:r>
              <a:rPr lang="en-IN" dirty="0"/>
              <a:t>Flight Control Dynamics</a:t>
            </a:r>
          </a:p>
        </p:txBody>
      </p:sp>
      <p:pic>
        <p:nvPicPr>
          <p:cNvPr id="3" name="Online Media 2" title="Drones | The complete flight dynamics">
            <a:hlinkClick r:id="" action="ppaction://media"/>
            <a:extLst>
              <a:ext uri="{FF2B5EF4-FFF2-40B4-BE49-F238E27FC236}">
                <a16:creationId xmlns:a16="http://schemas.microsoft.com/office/drawing/2014/main" id="{080620C5-2846-F111-6105-C77BFC63CBD9}"/>
              </a:ext>
            </a:extLst>
          </p:cNvPr>
          <p:cNvPicPr>
            <a:picLocks noRot="1" noChangeAspect="1"/>
          </p:cNvPicPr>
          <p:nvPr>
            <a:videoFile r:link="rId1"/>
          </p:nvPr>
        </p:nvPicPr>
        <p:blipFill>
          <a:blip r:embed="rId3"/>
          <a:stretch>
            <a:fillRect/>
          </a:stretch>
        </p:blipFill>
        <p:spPr>
          <a:xfrm>
            <a:off x="1371600" y="1447800"/>
            <a:ext cx="8839200" cy="4994148"/>
          </a:xfrm>
          <a:prstGeom prst="rect">
            <a:avLst/>
          </a:prstGeom>
        </p:spPr>
      </p:pic>
    </p:spTree>
    <p:extLst>
      <p:ext uri="{BB962C8B-B14F-4D97-AF65-F5344CB8AC3E}">
        <p14:creationId xmlns:p14="http://schemas.microsoft.com/office/powerpoint/2010/main" val="49579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49980-DBDB-BF41-DDDB-A261FEEE8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CE12F-B401-2DC4-0618-DD00C63F00E1}"/>
              </a:ext>
            </a:extLst>
          </p:cNvPr>
          <p:cNvSpPr>
            <a:spLocks noGrp="1"/>
          </p:cNvSpPr>
          <p:nvPr>
            <p:ph type="title"/>
          </p:nvPr>
        </p:nvSpPr>
        <p:spPr>
          <a:xfrm>
            <a:off x="102819" y="334467"/>
            <a:ext cx="9343567" cy="430887"/>
          </a:xfrm>
        </p:spPr>
        <p:txBody>
          <a:bodyPr/>
          <a:lstStyle/>
          <a:p>
            <a:r>
              <a:rPr lang="en-IN" dirty="0"/>
              <a:t>Flight Control Dynamics</a:t>
            </a:r>
          </a:p>
        </p:txBody>
      </p:sp>
      <p:pic>
        <p:nvPicPr>
          <p:cNvPr id="11268" name="Picture 4" descr="Robust Control Algorithm for Drones | IntechOpen">
            <a:extLst>
              <a:ext uri="{FF2B5EF4-FFF2-40B4-BE49-F238E27FC236}">
                <a16:creationId xmlns:a16="http://schemas.microsoft.com/office/drawing/2014/main" id="{B63D5F77-3F5E-93EA-4F98-88A73B9C88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05000"/>
            <a:ext cx="6382633" cy="3886200"/>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HOW DO DRONES WORK? PART 4 - AIRCRAFT BASIC MANEUVERING">
            <a:extLst>
              <a:ext uri="{FF2B5EF4-FFF2-40B4-BE49-F238E27FC236}">
                <a16:creationId xmlns:a16="http://schemas.microsoft.com/office/drawing/2014/main" id="{404587A0-880E-9323-B33A-35528E62F8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1855749"/>
            <a:ext cx="5105400" cy="3984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5163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B153AC-43CF-0388-5EA0-0F611CEFCAA4}"/>
              </a:ext>
            </a:extLst>
          </p:cNvPr>
          <p:cNvSpPr txBox="1"/>
          <p:nvPr/>
        </p:nvSpPr>
        <p:spPr>
          <a:xfrm>
            <a:off x="381000" y="1524000"/>
            <a:ext cx="11049000" cy="646331"/>
          </a:xfrm>
          <a:prstGeom prst="rect">
            <a:avLst/>
          </a:prstGeom>
          <a:noFill/>
        </p:spPr>
        <p:txBody>
          <a:bodyPr wrap="square">
            <a:spAutoFit/>
          </a:bodyPr>
          <a:lstStyle/>
          <a:p>
            <a:pPr>
              <a:buFont typeface="Arial" panose="020B0604020202020204" pitchFamily="34" charset="0"/>
              <a:buChar char="•"/>
            </a:pPr>
            <a:r>
              <a:rPr lang="en-US" b="1" dirty="0"/>
              <a:t>Translational Lift:</a:t>
            </a:r>
            <a:r>
              <a:rPr lang="en-US" dirty="0"/>
              <a:t> </a:t>
            </a:r>
            <a:r>
              <a:rPr lang="en-US" b="1" dirty="0"/>
              <a:t>Definition:</a:t>
            </a:r>
            <a:r>
              <a:rPr lang="en-US" dirty="0"/>
              <a:t> Additional lift generated when a drone transitions from hover to forward flight. As the drone moves forward, the airflow improves rotor efficiency, increasing lift.</a:t>
            </a:r>
          </a:p>
        </p:txBody>
      </p:sp>
      <p:pic>
        <p:nvPicPr>
          <p:cNvPr id="7" name="Online Media 6" title="Drone AirFlow, Ground Effect, Hover and Translational Lift Explained">
            <a:hlinkClick r:id="" action="ppaction://media"/>
            <a:extLst>
              <a:ext uri="{FF2B5EF4-FFF2-40B4-BE49-F238E27FC236}">
                <a16:creationId xmlns:a16="http://schemas.microsoft.com/office/drawing/2014/main" id="{24EAA439-8AEE-70D7-5DF9-494852F590A6}"/>
              </a:ext>
            </a:extLst>
          </p:cNvPr>
          <p:cNvPicPr>
            <a:picLocks noRot="1" noChangeAspect="1"/>
          </p:cNvPicPr>
          <p:nvPr>
            <a:videoFile r:link="rId1"/>
          </p:nvPr>
        </p:nvPicPr>
        <p:blipFill>
          <a:blip r:embed="rId3"/>
          <a:stretch>
            <a:fillRect/>
          </a:stretch>
        </p:blipFill>
        <p:spPr>
          <a:xfrm>
            <a:off x="5465449" y="2362200"/>
            <a:ext cx="6670535" cy="3768852"/>
          </a:xfrm>
          <a:prstGeom prst="rect">
            <a:avLst/>
          </a:prstGeom>
        </p:spPr>
      </p:pic>
      <p:pic>
        <p:nvPicPr>
          <p:cNvPr id="12290" name="Picture 2" descr="EffectiveTranslational lift">
            <a:extLst>
              <a:ext uri="{FF2B5EF4-FFF2-40B4-BE49-F238E27FC236}">
                <a16:creationId xmlns:a16="http://schemas.microsoft.com/office/drawing/2014/main" id="{78AAB748-DD33-7EB2-BB1B-C3BB3A4FD9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2667000"/>
            <a:ext cx="5564094" cy="28956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A73BD41-A2D8-950D-748F-C071354A8C93}"/>
              </a:ext>
            </a:extLst>
          </p:cNvPr>
          <p:cNvSpPr txBox="1"/>
          <p:nvPr/>
        </p:nvSpPr>
        <p:spPr>
          <a:xfrm>
            <a:off x="457200" y="381000"/>
            <a:ext cx="8305800" cy="584775"/>
          </a:xfrm>
          <a:prstGeom prst="rect">
            <a:avLst/>
          </a:prstGeom>
          <a:noFill/>
        </p:spPr>
        <p:txBody>
          <a:bodyPr wrap="square" rtlCol="0">
            <a:spAutoFit/>
          </a:bodyPr>
          <a:lstStyle/>
          <a:p>
            <a:r>
              <a:rPr lang="en-US" sz="3200" b="1" dirty="0"/>
              <a:t>Translational Lift</a:t>
            </a:r>
            <a:endParaRPr lang="en-IN" sz="3200" dirty="0"/>
          </a:p>
        </p:txBody>
      </p:sp>
    </p:spTree>
    <p:extLst>
      <p:ext uri="{BB962C8B-B14F-4D97-AF65-F5344CB8AC3E}">
        <p14:creationId xmlns:p14="http://schemas.microsoft.com/office/powerpoint/2010/main" val="405344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C7B-90AB-DE38-1D50-45CF5CC2934D}"/>
              </a:ext>
            </a:extLst>
          </p:cNvPr>
          <p:cNvSpPr>
            <a:spLocks noGrp="1"/>
          </p:cNvSpPr>
          <p:nvPr>
            <p:ph type="title"/>
          </p:nvPr>
        </p:nvSpPr>
        <p:spPr>
          <a:xfrm>
            <a:off x="533400" y="457200"/>
            <a:ext cx="9067800" cy="457200"/>
          </a:xfrm>
        </p:spPr>
        <p:txBody>
          <a:bodyPr/>
          <a:lstStyle/>
          <a:p>
            <a:r>
              <a:rPr lang="en-IN" dirty="0"/>
              <a:t>Vortex Rings</a:t>
            </a:r>
          </a:p>
        </p:txBody>
      </p:sp>
      <p:sp>
        <p:nvSpPr>
          <p:cNvPr id="3" name="TextBox 2">
            <a:extLst>
              <a:ext uri="{FF2B5EF4-FFF2-40B4-BE49-F238E27FC236}">
                <a16:creationId xmlns:a16="http://schemas.microsoft.com/office/drawing/2014/main" id="{63998D48-DC5E-A7E6-EC68-8A0D623BE5FD}"/>
              </a:ext>
            </a:extLst>
          </p:cNvPr>
          <p:cNvSpPr txBox="1"/>
          <p:nvPr/>
        </p:nvSpPr>
        <p:spPr>
          <a:xfrm>
            <a:off x="304800" y="1524000"/>
            <a:ext cx="11582400" cy="923330"/>
          </a:xfrm>
          <a:prstGeom prst="rect">
            <a:avLst/>
          </a:prstGeom>
          <a:noFill/>
        </p:spPr>
        <p:txBody>
          <a:bodyPr wrap="square" rtlCol="0">
            <a:spAutoFit/>
          </a:bodyPr>
          <a:lstStyle/>
          <a:p>
            <a:pPr algn="just"/>
            <a:r>
              <a:rPr lang="en-US" b="1" dirty="0"/>
              <a:t>Vortices in Aerodynamics (Airplanes/Fixed-Wing Aircrafts): </a:t>
            </a:r>
            <a:r>
              <a:rPr lang="en-US" dirty="0"/>
              <a:t>Generally, vortices, from the perspective of the lift, is not that bad. Instead, it is directly related to delaying of the stall of the aircraft. In Rotorcrafts, however, the Vortex Rings, much better known as VRS (Vortex Ring State) is anything but useful. </a:t>
            </a:r>
            <a:endParaRPr lang="en-US" b="1" dirty="0"/>
          </a:p>
        </p:txBody>
      </p:sp>
      <p:sp>
        <p:nvSpPr>
          <p:cNvPr id="4" name="TextBox 3">
            <a:extLst>
              <a:ext uri="{FF2B5EF4-FFF2-40B4-BE49-F238E27FC236}">
                <a16:creationId xmlns:a16="http://schemas.microsoft.com/office/drawing/2014/main" id="{13A9E920-3E75-3BD0-9DB6-B74976C70098}"/>
              </a:ext>
            </a:extLst>
          </p:cNvPr>
          <p:cNvSpPr txBox="1"/>
          <p:nvPr/>
        </p:nvSpPr>
        <p:spPr>
          <a:xfrm>
            <a:off x="304800" y="2581870"/>
            <a:ext cx="11582400" cy="3139321"/>
          </a:xfrm>
          <a:prstGeom prst="rect">
            <a:avLst/>
          </a:prstGeom>
          <a:noFill/>
        </p:spPr>
        <p:txBody>
          <a:bodyPr wrap="square" rtlCol="0">
            <a:spAutoFit/>
          </a:bodyPr>
          <a:lstStyle/>
          <a:p>
            <a:r>
              <a:rPr lang="en-US" b="1" dirty="0"/>
              <a:t>Stalling: </a:t>
            </a:r>
            <a:r>
              <a:rPr lang="en-US" dirty="0"/>
              <a:t>Stalling is an aerodynamic phenomenon that makes the aircraft unstable, out of control and can drastically lose lift (can go into a nose-dive). In terms of aerodynamics, it is when the wind “separates“ too much from the wing’s upper surface due to high Angle of Attack. (More on these in the next slides)</a:t>
            </a:r>
            <a:br>
              <a:rPr lang="en-US" dirty="0"/>
            </a:br>
            <a:br>
              <a:rPr lang="en-US" dirty="0"/>
            </a:br>
            <a:r>
              <a:rPr lang="en-US" dirty="0"/>
              <a:t>Lift comes from the pressure difference between the upper and lower surfaces of the wing, created by the wing’s shape and angle of attack, which accelerate airflow over the top and deflect air downward.</a:t>
            </a:r>
            <a:br>
              <a:rPr lang="en-US" dirty="0"/>
            </a:br>
            <a:br>
              <a:rPr lang="en-US" dirty="0"/>
            </a:br>
            <a:r>
              <a:rPr lang="en-US" dirty="0"/>
              <a:t>The wind tunnel tests on the wings are a nice way to see the effect of the pressure difference. It also tells us why the wing is shaped as it is, from the side view. Before diving deeper with big jargons, let’s clear few things. </a:t>
            </a:r>
            <a:endParaRPr lang="en-US" b="1" dirty="0"/>
          </a:p>
          <a:p>
            <a:endParaRPr lang="en-US" b="1" dirty="0"/>
          </a:p>
          <a:p>
            <a:r>
              <a:rPr lang="en-US" dirty="0"/>
              <a:t>To understand the stalling better, we will be diving into the Aerodynamics of Aircrafts in general.</a:t>
            </a:r>
          </a:p>
        </p:txBody>
      </p:sp>
    </p:spTree>
    <p:extLst>
      <p:ext uri="{BB962C8B-B14F-4D97-AF65-F5344CB8AC3E}">
        <p14:creationId xmlns:p14="http://schemas.microsoft.com/office/powerpoint/2010/main" val="1740126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517AD-916E-D5AB-8FE7-9A9479ECD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DED0B-8989-C5B2-F474-24449F381EE0}"/>
              </a:ext>
            </a:extLst>
          </p:cNvPr>
          <p:cNvSpPr>
            <a:spLocks noGrp="1"/>
          </p:cNvSpPr>
          <p:nvPr>
            <p:ph type="title"/>
          </p:nvPr>
        </p:nvSpPr>
        <p:spPr>
          <a:xfrm>
            <a:off x="533400" y="457200"/>
            <a:ext cx="9067800" cy="430887"/>
          </a:xfrm>
        </p:spPr>
        <p:txBody>
          <a:bodyPr/>
          <a:lstStyle/>
          <a:p>
            <a:r>
              <a:rPr lang="en-IN" dirty="0"/>
              <a:t>Aerodynamics: Mind Map</a:t>
            </a:r>
          </a:p>
        </p:txBody>
      </p:sp>
      <p:sp>
        <p:nvSpPr>
          <p:cNvPr id="3" name="TextBox 2">
            <a:extLst>
              <a:ext uri="{FF2B5EF4-FFF2-40B4-BE49-F238E27FC236}">
                <a16:creationId xmlns:a16="http://schemas.microsoft.com/office/drawing/2014/main" id="{202EF1D2-8740-8416-62D8-D2D7B017EB21}"/>
              </a:ext>
            </a:extLst>
          </p:cNvPr>
          <p:cNvSpPr txBox="1"/>
          <p:nvPr/>
        </p:nvSpPr>
        <p:spPr>
          <a:xfrm>
            <a:off x="304800" y="1588770"/>
            <a:ext cx="11582400" cy="4524315"/>
          </a:xfrm>
          <a:prstGeom prst="rect">
            <a:avLst/>
          </a:prstGeom>
          <a:noFill/>
        </p:spPr>
        <p:txBody>
          <a:bodyPr wrap="square" rtlCol="0">
            <a:spAutoFit/>
          </a:bodyPr>
          <a:lstStyle/>
          <a:p>
            <a:pPr algn="just"/>
            <a:r>
              <a:rPr lang="en-US" b="1" dirty="0"/>
              <a:t>Aerodynamics- </a:t>
            </a:r>
          </a:p>
          <a:p>
            <a:pPr algn="just"/>
            <a:endParaRPr lang="en-US" b="1" dirty="0"/>
          </a:p>
          <a:p>
            <a:pPr marL="342900" indent="-342900" algn="just">
              <a:buFont typeface="+mj-lt"/>
              <a:buAutoNum type="arabicPeriod"/>
            </a:pPr>
            <a:r>
              <a:rPr lang="en-US" b="1" dirty="0"/>
              <a:t>Basics</a:t>
            </a:r>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r>
              <a:rPr lang="en-US" b="1" dirty="0"/>
              <a:t>Critical Analysis of Teardrop Shape</a:t>
            </a:r>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endParaRPr lang="en-US" b="1" dirty="0"/>
          </a:p>
          <a:p>
            <a:pPr marL="342900" indent="-342900" algn="just">
              <a:buFont typeface="+mj-lt"/>
              <a:buAutoNum type="arabicPeriod"/>
            </a:pPr>
            <a:r>
              <a:rPr lang="en-US" b="1" dirty="0"/>
              <a:t>Stall</a:t>
            </a:r>
          </a:p>
        </p:txBody>
      </p:sp>
      <p:cxnSp>
        <p:nvCxnSpPr>
          <p:cNvPr id="5" name="Straight Connector 4">
            <a:extLst>
              <a:ext uri="{FF2B5EF4-FFF2-40B4-BE49-F238E27FC236}">
                <a16:creationId xmlns:a16="http://schemas.microsoft.com/office/drawing/2014/main" id="{1DDC703A-99D9-E5FF-2D69-5CD5025D609F}"/>
              </a:ext>
            </a:extLst>
          </p:cNvPr>
          <p:cNvCxnSpPr>
            <a:cxnSpLocks/>
          </p:cNvCxnSpPr>
          <p:nvPr/>
        </p:nvCxnSpPr>
        <p:spPr>
          <a:xfrm>
            <a:off x="990600" y="2440365"/>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6A9AAC2C-FC6E-7A4A-AF40-D0EF7E316BA7}"/>
              </a:ext>
            </a:extLst>
          </p:cNvPr>
          <p:cNvCxnSpPr>
            <a:cxnSpLocks/>
          </p:cNvCxnSpPr>
          <p:nvPr/>
        </p:nvCxnSpPr>
        <p:spPr>
          <a:xfrm>
            <a:off x="990600" y="2733735"/>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AC5A54A5-5454-2A77-F67E-C9830AEA1BD6}"/>
              </a:ext>
            </a:extLst>
          </p:cNvPr>
          <p:cNvSpPr txBox="1"/>
          <p:nvPr/>
        </p:nvSpPr>
        <p:spPr>
          <a:xfrm>
            <a:off x="1341120" y="2516565"/>
            <a:ext cx="492443" cy="369332"/>
          </a:xfrm>
          <a:prstGeom prst="rect">
            <a:avLst/>
          </a:prstGeom>
          <a:noFill/>
        </p:spPr>
        <p:txBody>
          <a:bodyPr wrap="none" rtlCol="0">
            <a:spAutoFit/>
          </a:bodyPr>
          <a:lstStyle/>
          <a:p>
            <a:r>
              <a:rPr lang="en-US" dirty="0"/>
              <a:t>Lift</a:t>
            </a:r>
          </a:p>
        </p:txBody>
      </p:sp>
      <p:cxnSp>
        <p:nvCxnSpPr>
          <p:cNvPr id="12" name="Straight Connector 11">
            <a:extLst>
              <a:ext uri="{FF2B5EF4-FFF2-40B4-BE49-F238E27FC236}">
                <a16:creationId xmlns:a16="http://schemas.microsoft.com/office/drawing/2014/main" id="{C9FBB867-E258-3B94-4532-3924893172F7}"/>
              </a:ext>
            </a:extLst>
          </p:cNvPr>
          <p:cNvCxnSpPr>
            <a:cxnSpLocks/>
          </p:cNvCxnSpPr>
          <p:nvPr/>
        </p:nvCxnSpPr>
        <p:spPr>
          <a:xfrm>
            <a:off x="990600" y="2756595"/>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D8958DF1-1C24-263B-486D-652A0D6B5530}"/>
              </a:ext>
            </a:extLst>
          </p:cNvPr>
          <p:cNvCxnSpPr>
            <a:cxnSpLocks/>
          </p:cNvCxnSpPr>
          <p:nvPr/>
        </p:nvCxnSpPr>
        <p:spPr>
          <a:xfrm>
            <a:off x="990600" y="3049965"/>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1F4852D0-806E-D360-790F-9957B3BC353C}"/>
              </a:ext>
            </a:extLst>
          </p:cNvPr>
          <p:cNvSpPr txBox="1"/>
          <p:nvPr/>
        </p:nvSpPr>
        <p:spPr>
          <a:xfrm>
            <a:off x="1333999" y="2831068"/>
            <a:ext cx="684803" cy="369332"/>
          </a:xfrm>
          <a:prstGeom prst="rect">
            <a:avLst/>
          </a:prstGeom>
          <a:noFill/>
        </p:spPr>
        <p:txBody>
          <a:bodyPr wrap="none" rtlCol="0">
            <a:spAutoFit/>
          </a:bodyPr>
          <a:lstStyle/>
          <a:p>
            <a:r>
              <a:rPr lang="en-US" dirty="0"/>
              <a:t>Drag</a:t>
            </a:r>
          </a:p>
        </p:txBody>
      </p:sp>
      <p:cxnSp>
        <p:nvCxnSpPr>
          <p:cNvPr id="15" name="Straight Connector 14">
            <a:extLst>
              <a:ext uri="{FF2B5EF4-FFF2-40B4-BE49-F238E27FC236}">
                <a16:creationId xmlns:a16="http://schemas.microsoft.com/office/drawing/2014/main" id="{E330C74A-12A1-9731-464A-684FDEB95C04}"/>
              </a:ext>
            </a:extLst>
          </p:cNvPr>
          <p:cNvCxnSpPr>
            <a:cxnSpLocks/>
          </p:cNvCxnSpPr>
          <p:nvPr/>
        </p:nvCxnSpPr>
        <p:spPr>
          <a:xfrm>
            <a:off x="990600" y="3516630"/>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BC164ED3-D49C-B1E2-2277-E8E217E73BE7}"/>
              </a:ext>
            </a:extLst>
          </p:cNvPr>
          <p:cNvCxnSpPr>
            <a:cxnSpLocks/>
          </p:cNvCxnSpPr>
          <p:nvPr/>
        </p:nvCxnSpPr>
        <p:spPr>
          <a:xfrm>
            <a:off x="990600" y="3810000"/>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867C9BFA-9C82-FE39-1217-21C61ECC2D51}"/>
              </a:ext>
            </a:extLst>
          </p:cNvPr>
          <p:cNvSpPr txBox="1"/>
          <p:nvPr/>
        </p:nvSpPr>
        <p:spPr>
          <a:xfrm>
            <a:off x="1341120" y="3602475"/>
            <a:ext cx="1390124" cy="369332"/>
          </a:xfrm>
          <a:prstGeom prst="rect">
            <a:avLst/>
          </a:prstGeom>
          <a:noFill/>
        </p:spPr>
        <p:txBody>
          <a:bodyPr wrap="none" rtlCol="0">
            <a:spAutoFit/>
          </a:bodyPr>
          <a:lstStyle/>
          <a:p>
            <a:r>
              <a:rPr lang="en-US" dirty="0"/>
              <a:t>Why &amp; How</a:t>
            </a:r>
          </a:p>
        </p:txBody>
      </p:sp>
      <p:cxnSp>
        <p:nvCxnSpPr>
          <p:cNvPr id="18" name="Straight Connector 17">
            <a:extLst>
              <a:ext uri="{FF2B5EF4-FFF2-40B4-BE49-F238E27FC236}">
                <a16:creationId xmlns:a16="http://schemas.microsoft.com/office/drawing/2014/main" id="{8ACEC2B0-BE38-68BC-735D-80941F0C23CF}"/>
              </a:ext>
            </a:extLst>
          </p:cNvPr>
          <p:cNvCxnSpPr>
            <a:cxnSpLocks/>
          </p:cNvCxnSpPr>
          <p:nvPr/>
        </p:nvCxnSpPr>
        <p:spPr>
          <a:xfrm>
            <a:off x="990600" y="3821430"/>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1ED9F050-4E56-219F-ED72-F0D87A6D0A9C}"/>
              </a:ext>
            </a:extLst>
          </p:cNvPr>
          <p:cNvCxnSpPr>
            <a:cxnSpLocks/>
          </p:cNvCxnSpPr>
          <p:nvPr/>
        </p:nvCxnSpPr>
        <p:spPr>
          <a:xfrm>
            <a:off x="990600" y="4135120"/>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5BE49220-6533-E6F6-5E6F-242BF4F728E3}"/>
              </a:ext>
            </a:extLst>
          </p:cNvPr>
          <p:cNvSpPr txBox="1"/>
          <p:nvPr/>
        </p:nvSpPr>
        <p:spPr>
          <a:xfrm>
            <a:off x="1333999" y="3952577"/>
            <a:ext cx="1646605" cy="369332"/>
          </a:xfrm>
          <a:prstGeom prst="rect">
            <a:avLst/>
          </a:prstGeom>
          <a:noFill/>
        </p:spPr>
        <p:txBody>
          <a:bodyPr wrap="none" rtlCol="0">
            <a:spAutoFit/>
          </a:bodyPr>
          <a:lstStyle/>
          <a:p>
            <a:r>
              <a:rPr lang="en-US" dirty="0"/>
              <a:t>Coanda Effect</a:t>
            </a:r>
          </a:p>
        </p:txBody>
      </p:sp>
      <p:cxnSp>
        <p:nvCxnSpPr>
          <p:cNvPr id="22" name="Straight Connector 21">
            <a:extLst>
              <a:ext uri="{FF2B5EF4-FFF2-40B4-BE49-F238E27FC236}">
                <a16:creationId xmlns:a16="http://schemas.microsoft.com/office/drawing/2014/main" id="{CFCB16B5-75CD-7AE6-1504-2D4481C22ECA}"/>
              </a:ext>
            </a:extLst>
          </p:cNvPr>
          <p:cNvCxnSpPr>
            <a:cxnSpLocks/>
          </p:cNvCxnSpPr>
          <p:nvPr/>
        </p:nvCxnSpPr>
        <p:spPr>
          <a:xfrm>
            <a:off x="990600" y="4158677"/>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E7C24C30-6074-6BBF-74FC-3248C04AF3C5}"/>
              </a:ext>
            </a:extLst>
          </p:cNvPr>
          <p:cNvCxnSpPr>
            <a:cxnSpLocks/>
          </p:cNvCxnSpPr>
          <p:nvPr/>
        </p:nvCxnSpPr>
        <p:spPr>
          <a:xfrm>
            <a:off x="990600" y="4452047"/>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7776BE49-924C-3AF7-999F-86FBE19BE413}"/>
              </a:ext>
            </a:extLst>
          </p:cNvPr>
          <p:cNvSpPr txBox="1"/>
          <p:nvPr/>
        </p:nvSpPr>
        <p:spPr>
          <a:xfrm>
            <a:off x="1341120" y="4267381"/>
            <a:ext cx="2967479" cy="369332"/>
          </a:xfrm>
          <a:prstGeom prst="rect">
            <a:avLst/>
          </a:prstGeom>
          <a:noFill/>
        </p:spPr>
        <p:txBody>
          <a:bodyPr wrap="none" rtlCol="0">
            <a:spAutoFit/>
          </a:bodyPr>
          <a:lstStyle/>
          <a:p>
            <a:r>
              <a:rPr lang="en-US" dirty="0"/>
              <a:t>Separation &amp; Wake Region</a:t>
            </a:r>
          </a:p>
        </p:txBody>
      </p:sp>
      <p:cxnSp>
        <p:nvCxnSpPr>
          <p:cNvPr id="25" name="Straight Connector 24">
            <a:extLst>
              <a:ext uri="{FF2B5EF4-FFF2-40B4-BE49-F238E27FC236}">
                <a16:creationId xmlns:a16="http://schemas.microsoft.com/office/drawing/2014/main" id="{A9742FCC-963A-80BA-A62B-327F956334DA}"/>
              </a:ext>
            </a:extLst>
          </p:cNvPr>
          <p:cNvCxnSpPr>
            <a:cxnSpLocks/>
          </p:cNvCxnSpPr>
          <p:nvPr/>
        </p:nvCxnSpPr>
        <p:spPr>
          <a:xfrm>
            <a:off x="990600" y="4500127"/>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1F75EBBE-711C-B039-F863-D70B46D00F17}"/>
              </a:ext>
            </a:extLst>
          </p:cNvPr>
          <p:cNvCxnSpPr>
            <a:cxnSpLocks/>
          </p:cNvCxnSpPr>
          <p:nvPr/>
        </p:nvCxnSpPr>
        <p:spPr>
          <a:xfrm>
            <a:off x="990600" y="4793497"/>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1DC53297-3DC0-7821-7F9A-E0AB0EB45416}"/>
              </a:ext>
            </a:extLst>
          </p:cNvPr>
          <p:cNvSpPr txBox="1"/>
          <p:nvPr/>
        </p:nvSpPr>
        <p:spPr>
          <a:xfrm>
            <a:off x="1346200" y="4613911"/>
            <a:ext cx="2390398" cy="369332"/>
          </a:xfrm>
          <a:prstGeom prst="rect">
            <a:avLst/>
          </a:prstGeom>
          <a:noFill/>
        </p:spPr>
        <p:txBody>
          <a:bodyPr wrap="none" rtlCol="0">
            <a:spAutoFit/>
          </a:bodyPr>
          <a:lstStyle/>
          <a:p>
            <a:r>
              <a:rPr lang="en-US" dirty="0"/>
              <a:t>Angle of Attack (</a:t>
            </a:r>
            <a:r>
              <a:rPr lang="en-US" dirty="0" err="1"/>
              <a:t>AoA</a:t>
            </a:r>
            <a:r>
              <a:rPr lang="en-US" dirty="0"/>
              <a:t>)</a:t>
            </a:r>
          </a:p>
        </p:txBody>
      </p:sp>
      <p:cxnSp>
        <p:nvCxnSpPr>
          <p:cNvPr id="28" name="Straight Connector 27">
            <a:extLst>
              <a:ext uri="{FF2B5EF4-FFF2-40B4-BE49-F238E27FC236}">
                <a16:creationId xmlns:a16="http://schemas.microsoft.com/office/drawing/2014/main" id="{6C527361-BCC1-5258-DC66-2BDF6D85D182}"/>
              </a:ext>
            </a:extLst>
          </p:cNvPr>
          <p:cNvCxnSpPr>
            <a:cxnSpLocks/>
          </p:cNvCxnSpPr>
          <p:nvPr/>
        </p:nvCxnSpPr>
        <p:spPr>
          <a:xfrm>
            <a:off x="1655182" y="4964430"/>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87484364-F685-48D5-961A-0E655ABF2E5D}"/>
              </a:ext>
            </a:extLst>
          </p:cNvPr>
          <p:cNvCxnSpPr>
            <a:cxnSpLocks/>
          </p:cNvCxnSpPr>
          <p:nvPr/>
        </p:nvCxnSpPr>
        <p:spPr>
          <a:xfrm>
            <a:off x="1655182" y="5257800"/>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88DA6DD3-EA67-58E4-D687-BD9189064108}"/>
              </a:ext>
            </a:extLst>
          </p:cNvPr>
          <p:cNvSpPr txBox="1"/>
          <p:nvPr/>
        </p:nvSpPr>
        <p:spPr>
          <a:xfrm>
            <a:off x="1993880" y="5334000"/>
            <a:ext cx="3416320" cy="369332"/>
          </a:xfrm>
          <a:prstGeom prst="rect">
            <a:avLst/>
          </a:prstGeom>
          <a:noFill/>
        </p:spPr>
        <p:txBody>
          <a:bodyPr wrap="none" rtlCol="0">
            <a:spAutoFit/>
          </a:bodyPr>
          <a:lstStyle/>
          <a:p>
            <a:r>
              <a:rPr lang="en-US" dirty="0"/>
              <a:t>Lift &amp; Drag (of Teardrop Shape)</a:t>
            </a:r>
          </a:p>
        </p:txBody>
      </p:sp>
      <p:cxnSp>
        <p:nvCxnSpPr>
          <p:cNvPr id="31" name="Straight Connector 30">
            <a:extLst>
              <a:ext uri="{FF2B5EF4-FFF2-40B4-BE49-F238E27FC236}">
                <a16:creationId xmlns:a16="http://schemas.microsoft.com/office/drawing/2014/main" id="{0AD4D5A3-5D19-0137-1569-92837EBADD35}"/>
              </a:ext>
            </a:extLst>
          </p:cNvPr>
          <p:cNvCxnSpPr>
            <a:cxnSpLocks/>
          </p:cNvCxnSpPr>
          <p:nvPr/>
        </p:nvCxnSpPr>
        <p:spPr>
          <a:xfrm>
            <a:off x="1655182" y="5269230"/>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14A8B047-B0E7-A005-349F-8B0962BA7BCE}"/>
              </a:ext>
            </a:extLst>
          </p:cNvPr>
          <p:cNvCxnSpPr>
            <a:cxnSpLocks/>
          </p:cNvCxnSpPr>
          <p:nvPr/>
        </p:nvCxnSpPr>
        <p:spPr>
          <a:xfrm>
            <a:off x="1655182" y="5562600"/>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33" name="TextBox 32">
            <a:extLst>
              <a:ext uri="{FF2B5EF4-FFF2-40B4-BE49-F238E27FC236}">
                <a16:creationId xmlns:a16="http://schemas.microsoft.com/office/drawing/2014/main" id="{71513718-D3B0-141E-B81A-DAC4C9DFF82B}"/>
              </a:ext>
            </a:extLst>
          </p:cNvPr>
          <p:cNvSpPr txBox="1"/>
          <p:nvPr/>
        </p:nvSpPr>
        <p:spPr>
          <a:xfrm>
            <a:off x="1981200" y="5040868"/>
            <a:ext cx="4365298" cy="369332"/>
          </a:xfrm>
          <a:prstGeom prst="rect">
            <a:avLst/>
          </a:prstGeom>
          <a:noFill/>
        </p:spPr>
        <p:txBody>
          <a:bodyPr wrap="none" rtlCol="0">
            <a:spAutoFit/>
          </a:bodyPr>
          <a:lstStyle/>
          <a:p>
            <a:r>
              <a:rPr lang="en-US" dirty="0" err="1"/>
              <a:t>AoA</a:t>
            </a:r>
            <a:r>
              <a:rPr lang="en-US" dirty="0"/>
              <a:t> in Rotorcrafts &amp; Fixed-wing Aircrafts</a:t>
            </a:r>
          </a:p>
        </p:txBody>
      </p:sp>
      <p:cxnSp>
        <p:nvCxnSpPr>
          <p:cNvPr id="37" name="Straight Connector 36">
            <a:extLst>
              <a:ext uri="{FF2B5EF4-FFF2-40B4-BE49-F238E27FC236}">
                <a16:creationId xmlns:a16="http://schemas.microsoft.com/office/drawing/2014/main" id="{A543CB28-83A1-FCC3-0B82-3EC1B980B3A3}"/>
              </a:ext>
            </a:extLst>
          </p:cNvPr>
          <p:cNvCxnSpPr>
            <a:cxnSpLocks/>
          </p:cNvCxnSpPr>
          <p:nvPr/>
        </p:nvCxnSpPr>
        <p:spPr>
          <a:xfrm>
            <a:off x="990600" y="6019800"/>
            <a:ext cx="0" cy="304800"/>
          </a:xfrm>
          <a:prstGeom prst="line">
            <a:avLst/>
          </a:prstGeom>
          <a:ln w="28575"/>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5DF85053-6411-CB59-3D66-A9B55866ADA6}"/>
              </a:ext>
            </a:extLst>
          </p:cNvPr>
          <p:cNvCxnSpPr>
            <a:cxnSpLocks/>
          </p:cNvCxnSpPr>
          <p:nvPr/>
        </p:nvCxnSpPr>
        <p:spPr>
          <a:xfrm>
            <a:off x="990600" y="6313170"/>
            <a:ext cx="381000" cy="0"/>
          </a:xfrm>
          <a:prstGeom prst="line">
            <a:avLst/>
          </a:prstGeom>
          <a:ln w="28575"/>
        </p:spPr>
        <p:style>
          <a:lnRef idx="2">
            <a:schemeClr val="dk1"/>
          </a:lnRef>
          <a:fillRef idx="0">
            <a:schemeClr val="dk1"/>
          </a:fillRef>
          <a:effectRef idx="1">
            <a:schemeClr val="dk1"/>
          </a:effectRef>
          <a:fontRef idx="minor">
            <a:schemeClr val="tx1"/>
          </a:fontRef>
        </p:style>
      </p:cxnSp>
      <p:sp>
        <p:nvSpPr>
          <p:cNvPr id="39" name="TextBox 38">
            <a:extLst>
              <a:ext uri="{FF2B5EF4-FFF2-40B4-BE49-F238E27FC236}">
                <a16:creationId xmlns:a16="http://schemas.microsoft.com/office/drawing/2014/main" id="{5C23A7F3-1FAF-8354-8ABD-669878D83DE4}"/>
              </a:ext>
            </a:extLst>
          </p:cNvPr>
          <p:cNvSpPr txBox="1"/>
          <p:nvPr/>
        </p:nvSpPr>
        <p:spPr>
          <a:xfrm>
            <a:off x="1341120" y="6113085"/>
            <a:ext cx="1390124" cy="369332"/>
          </a:xfrm>
          <a:prstGeom prst="rect">
            <a:avLst/>
          </a:prstGeom>
          <a:noFill/>
        </p:spPr>
        <p:txBody>
          <a:bodyPr wrap="none" rtlCol="0">
            <a:spAutoFit/>
          </a:bodyPr>
          <a:lstStyle/>
          <a:p>
            <a:r>
              <a:rPr lang="en-US" dirty="0"/>
              <a:t>Critical </a:t>
            </a:r>
            <a:r>
              <a:rPr lang="en-US" dirty="0" err="1"/>
              <a:t>AoA</a:t>
            </a:r>
            <a:endParaRPr lang="en-US" dirty="0"/>
          </a:p>
        </p:txBody>
      </p:sp>
    </p:spTree>
    <p:extLst>
      <p:ext uri="{BB962C8B-B14F-4D97-AF65-F5344CB8AC3E}">
        <p14:creationId xmlns:p14="http://schemas.microsoft.com/office/powerpoint/2010/main" val="2405294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3AF5-1230-181B-A016-16EF2C8A4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FC51C-2584-35E3-6FFB-CCA270A45E99}"/>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C16FDBAA-BFCD-2C1C-0E1B-947113A61EEE}"/>
              </a:ext>
            </a:extLst>
          </p:cNvPr>
          <p:cNvSpPr txBox="1"/>
          <p:nvPr/>
        </p:nvSpPr>
        <p:spPr>
          <a:xfrm>
            <a:off x="304800" y="1524000"/>
            <a:ext cx="11582400" cy="3539430"/>
          </a:xfrm>
          <a:prstGeom prst="rect">
            <a:avLst/>
          </a:prstGeom>
          <a:noFill/>
        </p:spPr>
        <p:txBody>
          <a:bodyPr wrap="square" rtlCol="0">
            <a:spAutoFit/>
          </a:bodyPr>
          <a:lstStyle/>
          <a:p>
            <a:pPr algn="just"/>
            <a:r>
              <a:rPr lang="en-US" b="1" dirty="0"/>
              <a:t>Quick Question: </a:t>
            </a:r>
          </a:p>
          <a:p>
            <a:pPr algn="just"/>
            <a:endParaRPr lang="en-US" b="1" dirty="0"/>
          </a:p>
          <a:p>
            <a:pPr algn="ctr"/>
            <a:endParaRPr lang="en-US" b="1" dirty="0"/>
          </a:p>
          <a:p>
            <a:pPr algn="ctr"/>
            <a:endParaRPr lang="en-US" b="1" dirty="0"/>
          </a:p>
          <a:p>
            <a:pPr algn="ctr"/>
            <a:endParaRPr lang="en-US" b="1" dirty="0"/>
          </a:p>
          <a:p>
            <a:pPr algn="ctr"/>
            <a:r>
              <a:rPr lang="en-US" sz="4000" b="1" dirty="0"/>
              <a:t>Which Part of the Aircraft is responsible for generating lift?</a:t>
            </a:r>
          </a:p>
          <a:p>
            <a:pPr algn="just"/>
            <a:endParaRPr lang="en-US" b="1" dirty="0"/>
          </a:p>
          <a:p>
            <a:pPr algn="just"/>
            <a:endParaRPr lang="en-US" b="1" dirty="0"/>
          </a:p>
          <a:p>
            <a:pPr algn="just"/>
            <a:endParaRPr lang="en-US" b="1" dirty="0"/>
          </a:p>
        </p:txBody>
      </p:sp>
    </p:spTree>
    <p:extLst>
      <p:ext uri="{BB962C8B-B14F-4D97-AF65-F5344CB8AC3E}">
        <p14:creationId xmlns:p14="http://schemas.microsoft.com/office/powerpoint/2010/main" val="3087033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66A7-55C9-C4D6-1451-7A61FEA95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50483-9463-FF50-25CD-67743BC691E0}"/>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7112FE01-EC26-8A6D-F92B-5F63FFF58AE8}"/>
              </a:ext>
            </a:extLst>
          </p:cNvPr>
          <p:cNvSpPr txBox="1"/>
          <p:nvPr/>
        </p:nvSpPr>
        <p:spPr>
          <a:xfrm>
            <a:off x="304800" y="1524000"/>
            <a:ext cx="11582400" cy="4770537"/>
          </a:xfrm>
          <a:prstGeom prst="rect">
            <a:avLst/>
          </a:prstGeom>
          <a:noFill/>
        </p:spPr>
        <p:txBody>
          <a:bodyPr wrap="square" rtlCol="0">
            <a:spAutoFit/>
          </a:bodyPr>
          <a:lstStyle/>
          <a:p>
            <a:pPr algn="just"/>
            <a:r>
              <a:rPr lang="en-US" b="1" dirty="0"/>
              <a:t>Quick Question: </a:t>
            </a:r>
          </a:p>
          <a:p>
            <a:pPr algn="just"/>
            <a:endParaRPr lang="en-US" b="1" dirty="0"/>
          </a:p>
          <a:p>
            <a:pPr algn="ctr"/>
            <a:endParaRPr lang="en-US" b="1" dirty="0"/>
          </a:p>
          <a:p>
            <a:pPr algn="ctr"/>
            <a:endParaRPr lang="en-US" b="1" dirty="0"/>
          </a:p>
          <a:p>
            <a:pPr algn="ctr"/>
            <a:endParaRPr lang="en-US" b="1" dirty="0"/>
          </a:p>
          <a:p>
            <a:pPr algn="ctr"/>
            <a:r>
              <a:rPr lang="en-US" sz="4000" b="1" dirty="0"/>
              <a:t>Which Part of the Aircraft is responsible for generating lift?</a:t>
            </a:r>
          </a:p>
          <a:p>
            <a:pPr algn="ctr"/>
            <a:endParaRPr lang="en-US" sz="4000" b="1" dirty="0"/>
          </a:p>
          <a:p>
            <a:pPr algn="just"/>
            <a:r>
              <a:rPr lang="en-US" sz="4000" b="1" dirty="0"/>
              <a:t>Answer:         The entire Aircraft!</a:t>
            </a:r>
          </a:p>
          <a:p>
            <a:pPr algn="just"/>
            <a:endParaRPr lang="en-US" b="1" dirty="0"/>
          </a:p>
          <a:p>
            <a:pPr algn="just"/>
            <a:endParaRPr lang="en-US" b="1" dirty="0"/>
          </a:p>
          <a:p>
            <a:pPr algn="just"/>
            <a:endParaRPr lang="en-US" b="1" dirty="0"/>
          </a:p>
        </p:txBody>
      </p:sp>
    </p:spTree>
    <p:extLst>
      <p:ext uri="{BB962C8B-B14F-4D97-AF65-F5344CB8AC3E}">
        <p14:creationId xmlns:p14="http://schemas.microsoft.com/office/powerpoint/2010/main" val="1453067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CF68-95E1-77A1-7CFF-1797BF385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D6491-0EC4-1412-AC2A-994038E7AC8B}"/>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DF516211-5476-80AA-F034-8BBDC916951B}"/>
              </a:ext>
            </a:extLst>
          </p:cNvPr>
          <p:cNvSpPr txBox="1"/>
          <p:nvPr/>
        </p:nvSpPr>
        <p:spPr>
          <a:xfrm>
            <a:off x="304800" y="1524000"/>
            <a:ext cx="11582400" cy="2215991"/>
          </a:xfrm>
          <a:prstGeom prst="rect">
            <a:avLst/>
          </a:prstGeom>
          <a:noFill/>
        </p:spPr>
        <p:txBody>
          <a:bodyPr wrap="square" rtlCol="0">
            <a:spAutoFit/>
          </a:bodyPr>
          <a:lstStyle/>
          <a:p>
            <a:pPr algn="just"/>
            <a:r>
              <a:rPr lang="en-US" sz="2400" b="1" dirty="0"/>
              <a:t>Generating Lift: </a:t>
            </a:r>
            <a:r>
              <a:rPr lang="en-US" sz="2400" dirty="0"/>
              <a:t>Anything, ANYTHING, that is moving in a fluid can produce lift!</a:t>
            </a:r>
            <a:r>
              <a:rPr lang="en-US" sz="2400" b="1" dirty="0"/>
              <a:t> </a:t>
            </a:r>
          </a:p>
          <a:p>
            <a:pPr algn="just"/>
            <a:endParaRPr lang="en-US" b="1" dirty="0"/>
          </a:p>
          <a:p>
            <a:pPr marL="285750" indent="-285750" algn="l">
              <a:buFont typeface="Arial" panose="020B0604020202020204" pitchFamily="34" charset="0"/>
              <a:buChar char="•"/>
            </a:pPr>
            <a:r>
              <a:rPr lang="en-US" dirty="0"/>
              <a:t>But in most scenarios that we see daily, the lift isn’t enough to overcome the object’s weight because the relative speed isn’t high enough!</a:t>
            </a:r>
          </a:p>
          <a:p>
            <a:pPr algn="l"/>
            <a:endParaRPr lang="en-US" sz="2400" dirty="0"/>
          </a:p>
          <a:p>
            <a:pPr marL="285750" indent="-285750" algn="l">
              <a:buFont typeface="Arial" panose="020B0604020202020204" pitchFamily="34" charset="0"/>
              <a:buChar char="•"/>
            </a:pPr>
            <a:r>
              <a:rPr lang="en-US" dirty="0"/>
              <a:t>In our daily lives, the cars or vehicles are not fast moving or not designed in a specially shaped surface (like wings) to generate enough lift to sustain flight. </a:t>
            </a:r>
          </a:p>
        </p:txBody>
      </p:sp>
      <p:pic>
        <p:nvPicPr>
          <p:cNvPr id="9" name="Picture 8">
            <a:extLst>
              <a:ext uri="{FF2B5EF4-FFF2-40B4-BE49-F238E27FC236}">
                <a16:creationId xmlns:a16="http://schemas.microsoft.com/office/drawing/2014/main" id="{223B5E49-C81C-B582-D859-F9D242AFEC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6200" y="3657600"/>
            <a:ext cx="3581400" cy="2696175"/>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FB1AE6B-15D2-12B5-736E-0E06744DBE57}"/>
                  </a:ext>
                </a:extLst>
              </p14:cNvPr>
              <p14:cNvContentPartPr/>
              <p14:nvPr/>
            </p14:nvContentPartPr>
            <p14:xfrm>
              <a:off x="9200178" y="3813647"/>
              <a:ext cx="858240" cy="29160"/>
            </p14:xfrm>
          </p:contentPart>
        </mc:Choice>
        <mc:Fallback xmlns="">
          <p:pic>
            <p:nvPicPr>
              <p:cNvPr id="10" name="Ink 9">
                <a:extLst>
                  <a:ext uri="{FF2B5EF4-FFF2-40B4-BE49-F238E27FC236}">
                    <a16:creationId xmlns:a16="http://schemas.microsoft.com/office/drawing/2014/main" id="{6FB1AE6B-15D2-12B5-736E-0E06744DBE57}"/>
                  </a:ext>
                </a:extLst>
              </p:cNvPr>
              <p:cNvPicPr/>
              <p:nvPr/>
            </p:nvPicPr>
            <p:blipFill>
              <a:blip r:embed="rId5"/>
              <a:stretch>
                <a:fillRect/>
              </a:stretch>
            </p:blipFill>
            <p:spPr>
              <a:xfrm>
                <a:off x="9137538" y="3750647"/>
                <a:ext cx="9838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2609283B-1B39-3AAE-C54B-C6C3251E437A}"/>
                  </a:ext>
                </a:extLst>
              </p14:cNvPr>
              <p14:cNvContentPartPr/>
              <p14:nvPr/>
            </p14:nvContentPartPr>
            <p14:xfrm>
              <a:off x="9085260" y="3824760"/>
              <a:ext cx="1064520" cy="720"/>
            </p14:xfrm>
          </p:contentPart>
        </mc:Choice>
        <mc:Fallback xmlns="">
          <p:pic>
            <p:nvPicPr>
              <p:cNvPr id="12" name="Ink 11">
                <a:extLst>
                  <a:ext uri="{FF2B5EF4-FFF2-40B4-BE49-F238E27FC236}">
                    <a16:creationId xmlns:a16="http://schemas.microsoft.com/office/drawing/2014/main" id="{2609283B-1B39-3AAE-C54B-C6C3251E437A}"/>
                  </a:ext>
                </a:extLst>
              </p:cNvPr>
              <p:cNvPicPr/>
              <p:nvPr/>
            </p:nvPicPr>
            <p:blipFill>
              <a:blip r:embed="rId7"/>
              <a:stretch>
                <a:fillRect/>
              </a:stretch>
            </p:blipFill>
            <p:spPr>
              <a:xfrm>
                <a:off x="9022620" y="3699480"/>
                <a:ext cx="1190160" cy="252000"/>
              </a:xfrm>
              <a:prstGeom prst="rect">
                <a:avLst/>
              </a:prstGeom>
            </p:spPr>
          </p:pic>
        </mc:Fallback>
      </mc:AlternateContent>
      <p:grpSp>
        <p:nvGrpSpPr>
          <p:cNvPr id="15" name="Group 14">
            <a:extLst>
              <a:ext uri="{FF2B5EF4-FFF2-40B4-BE49-F238E27FC236}">
                <a16:creationId xmlns:a16="http://schemas.microsoft.com/office/drawing/2014/main" id="{24E10A8C-C3D8-EB0F-C484-82BDF0CC197E}"/>
              </a:ext>
            </a:extLst>
          </p:cNvPr>
          <p:cNvGrpSpPr/>
          <p:nvPr/>
        </p:nvGrpSpPr>
        <p:grpSpPr>
          <a:xfrm>
            <a:off x="8972220" y="3893520"/>
            <a:ext cx="137520" cy="360"/>
            <a:chOff x="8972220" y="3893520"/>
            <a:chExt cx="137520" cy="360"/>
          </a:xfrm>
        </p:grpSpPr>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8D38856A-47C4-D961-4D73-9374DF4F17B2}"/>
                    </a:ext>
                  </a:extLst>
                </p14:cNvPr>
                <p14:cNvContentPartPr/>
                <p14:nvPr/>
              </p14:nvContentPartPr>
              <p14:xfrm>
                <a:off x="8972220" y="3893520"/>
                <a:ext cx="360" cy="360"/>
              </p14:xfrm>
            </p:contentPart>
          </mc:Choice>
          <mc:Fallback xmlns="">
            <p:pic>
              <p:nvPicPr>
                <p:cNvPr id="13" name="Ink 12">
                  <a:extLst>
                    <a:ext uri="{FF2B5EF4-FFF2-40B4-BE49-F238E27FC236}">
                      <a16:creationId xmlns:a16="http://schemas.microsoft.com/office/drawing/2014/main" id="{8D38856A-47C4-D961-4D73-9374DF4F17B2}"/>
                    </a:ext>
                  </a:extLst>
                </p:cNvPr>
                <p:cNvPicPr/>
                <p:nvPr/>
              </p:nvPicPr>
              <p:blipFill>
                <a:blip r:embed="rId9"/>
                <a:stretch>
                  <a:fillRect/>
                </a:stretch>
              </p:blipFill>
              <p:spPr>
                <a:xfrm>
                  <a:off x="8909580" y="38308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8E126422-B622-5C97-6102-BD21C2FF3499}"/>
                    </a:ext>
                  </a:extLst>
                </p14:cNvPr>
                <p14:cNvContentPartPr/>
                <p14:nvPr/>
              </p14:nvContentPartPr>
              <p14:xfrm>
                <a:off x="9109380" y="3893520"/>
                <a:ext cx="360" cy="360"/>
              </p14:xfrm>
            </p:contentPart>
          </mc:Choice>
          <mc:Fallback xmlns="">
            <p:pic>
              <p:nvPicPr>
                <p:cNvPr id="14" name="Ink 13">
                  <a:extLst>
                    <a:ext uri="{FF2B5EF4-FFF2-40B4-BE49-F238E27FC236}">
                      <a16:creationId xmlns:a16="http://schemas.microsoft.com/office/drawing/2014/main" id="{8E126422-B622-5C97-6102-BD21C2FF3499}"/>
                    </a:ext>
                  </a:extLst>
                </p:cNvPr>
                <p:cNvPicPr/>
                <p:nvPr/>
              </p:nvPicPr>
              <p:blipFill>
                <a:blip r:embed="rId9"/>
                <a:stretch>
                  <a:fillRect/>
                </a:stretch>
              </p:blipFill>
              <p:spPr>
                <a:xfrm>
                  <a:off x="9046740" y="383088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59AF18F9-BCEB-7FF4-64A5-3DE27275CD8C}"/>
                  </a:ext>
                </a:extLst>
              </p14:cNvPr>
              <p14:cNvContentPartPr/>
              <p14:nvPr/>
            </p14:nvContentPartPr>
            <p14:xfrm>
              <a:off x="9803100" y="5809560"/>
              <a:ext cx="1387800" cy="381600"/>
            </p14:xfrm>
          </p:contentPart>
        </mc:Choice>
        <mc:Fallback xmlns="">
          <p:pic>
            <p:nvPicPr>
              <p:cNvPr id="16" name="Ink 15">
                <a:extLst>
                  <a:ext uri="{FF2B5EF4-FFF2-40B4-BE49-F238E27FC236}">
                    <a16:creationId xmlns:a16="http://schemas.microsoft.com/office/drawing/2014/main" id="{59AF18F9-BCEB-7FF4-64A5-3DE27275CD8C}"/>
                  </a:ext>
                </a:extLst>
              </p:cNvPr>
              <p:cNvPicPr/>
              <p:nvPr/>
            </p:nvPicPr>
            <p:blipFill>
              <a:blip r:embed="rId12"/>
              <a:stretch>
                <a:fillRect/>
              </a:stretch>
            </p:blipFill>
            <p:spPr>
              <a:xfrm>
                <a:off x="9740100" y="5746920"/>
                <a:ext cx="1513440" cy="507240"/>
              </a:xfrm>
              <a:prstGeom prst="rect">
                <a:avLst/>
              </a:prstGeom>
            </p:spPr>
          </p:pic>
        </mc:Fallback>
      </mc:AlternateContent>
      <p:pic>
        <p:nvPicPr>
          <p:cNvPr id="18" name="Picture 17">
            <a:extLst>
              <a:ext uri="{FF2B5EF4-FFF2-40B4-BE49-F238E27FC236}">
                <a16:creationId xmlns:a16="http://schemas.microsoft.com/office/drawing/2014/main" id="{D32571C7-68E8-6E76-C4DA-382D2AB83AC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85850" y="3900447"/>
            <a:ext cx="5010150" cy="2257623"/>
          </a:xfrm>
          <a:prstGeom prst="rect">
            <a:avLst/>
          </a:prstGeom>
        </p:spPr>
      </p:pic>
      <p:sp>
        <p:nvSpPr>
          <p:cNvPr id="6" name="TextBox 5">
            <a:extLst>
              <a:ext uri="{FF2B5EF4-FFF2-40B4-BE49-F238E27FC236}">
                <a16:creationId xmlns:a16="http://schemas.microsoft.com/office/drawing/2014/main" id="{0379BF80-F2DF-6523-DADE-415B0A144BE5}"/>
              </a:ext>
            </a:extLst>
          </p:cNvPr>
          <p:cNvSpPr txBox="1"/>
          <p:nvPr/>
        </p:nvSpPr>
        <p:spPr>
          <a:xfrm>
            <a:off x="999150" y="6129899"/>
            <a:ext cx="4191001" cy="369332"/>
          </a:xfrm>
          <a:prstGeom prst="rect">
            <a:avLst/>
          </a:prstGeom>
          <a:noFill/>
        </p:spPr>
        <p:txBody>
          <a:bodyPr wrap="square" rtlCol="0">
            <a:spAutoFit/>
          </a:bodyPr>
          <a:lstStyle/>
          <a:p>
            <a:r>
              <a:rPr lang="en-US" dirty="0">
                <a:hlinkClick r:id="rId14"/>
              </a:rPr>
              <a:t>supplementary video link</a:t>
            </a:r>
            <a:endParaRPr lang="en-US" dirty="0"/>
          </a:p>
        </p:txBody>
      </p:sp>
    </p:spTree>
    <p:extLst>
      <p:ext uri="{BB962C8B-B14F-4D97-AF65-F5344CB8AC3E}">
        <p14:creationId xmlns:p14="http://schemas.microsoft.com/office/powerpoint/2010/main" val="3267139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F4F9C-59A6-8BDE-1B56-B472ACC42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A2407-A80E-F564-CA39-EB85389C28B6}"/>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8AD4DAF2-24DC-8FD7-EE18-C148739FB6B4}"/>
              </a:ext>
            </a:extLst>
          </p:cNvPr>
          <p:cNvSpPr txBox="1"/>
          <p:nvPr/>
        </p:nvSpPr>
        <p:spPr>
          <a:xfrm>
            <a:off x="304800" y="1524000"/>
            <a:ext cx="11582400" cy="2123658"/>
          </a:xfrm>
          <a:prstGeom prst="rect">
            <a:avLst/>
          </a:prstGeom>
          <a:noFill/>
        </p:spPr>
        <p:txBody>
          <a:bodyPr wrap="square" rtlCol="0">
            <a:spAutoFit/>
          </a:bodyPr>
          <a:lstStyle/>
          <a:p>
            <a:pPr algn="just"/>
            <a:r>
              <a:rPr lang="en-US" sz="2400" b="1" dirty="0"/>
              <a:t>Generating Lift: </a:t>
            </a:r>
            <a:r>
              <a:rPr lang="en-US" dirty="0"/>
              <a:t>In Rotorcrafts, the thrust and lift is upwards during the lift-off. Hence gaining altitude, though the aircraft stays (almost) in the same position. </a:t>
            </a:r>
            <a:r>
              <a:rPr lang="en-US" b="1" dirty="0"/>
              <a:t>Lift is always upwards.</a:t>
            </a:r>
          </a:p>
          <a:p>
            <a:pPr algn="just"/>
            <a:endParaRPr lang="en-US" b="1" dirty="0"/>
          </a:p>
          <a:p>
            <a:pPr algn="just"/>
            <a:r>
              <a:rPr lang="en-US" dirty="0"/>
              <a:t>Different phases of flight, in rotorcrafts, effect where the thrust would be pointing to. In </a:t>
            </a:r>
            <a:r>
              <a:rPr lang="en-US" b="1" dirty="0"/>
              <a:t>lift-off</a:t>
            </a:r>
            <a:r>
              <a:rPr lang="en-US" dirty="0"/>
              <a:t> </a:t>
            </a:r>
            <a:r>
              <a:rPr lang="en-US" b="1" dirty="0"/>
              <a:t>phase</a:t>
            </a:r>
            <a:r>
              <a:rPr lang="en-US" dirty="0"/>
              <a:t>, the thrust and lift are </a:t>
            </a:r>
            <a:r>
              <a:rPr lang="en-US" u="sng" dirty="0"/>
              <a:t>upwards</a:t>
            </a:r>
            <a:r>
              <a:rPr lang="en-US" dirty="0"/>
              <a:t>. During </a:t>
            </a:r>
            <a:r>
              <a:rPr lang="en-US" b="1" dirty="0"/>
              <a:t>forward movement</a:t>
            </a:r>
            <a:r>
              <a:rPr lang="en-US" dirty="0"/>
              <a:t>, the thrust moves </a:t>
            </a:r>
            <a:r>
              <a:rPr lang="en-US" u="sng" dirty="0"/>
              <a:t>diagonally to the front</a:t>
            </a:r>
            <a:r>
              <a:rPr lang="en-US" dirty="0"/>
              <a:t>. In the </a:t>
            </a:r>
            <a:r>
              <a:rPr lang="en-US" b="1" dirty="0"/>
              <a:t>hovering phase</a:t>
            </a:r>
            <a:r>
              <a:rPr lang="en-US" dirty="0"/>
              <a:t>, the </a:t>
            </a:r>
            <a:r>
              <a:rPr lang="en-US" u="sng" dirty="0"/>
              <a:t>thrust (upwards first) would then become zero with lift upwards again</a:t>
            </a:r>
            <a:r>
              <a:rPr lang="en-US" dirty="0"/>
              <a:t>. </a:t>
            </a:r>
          </a:p>
          <a:p>
            <a:pPr algn="just"/>
            <a:endParaRPr lang="en-US" b="1" dirty="0"/>
          </a:p>
        </p:txBody>
      </p:sp>
      <p:grpSp>
        <p:nvGrpSpPr>
          <p:cNvPr id="15" name="Group 14">
            <a:extLst>
              <a:ext uri="{FF2B5EF4-FFF2-40B4-BE49-F238E27FC236}">
                <a16:creationId xmlns:a16="http://schemas.microsoft.com/office/drawing/2014/main" id="{C32DA637-91AC-EAF8-C1D6-22B58802C67A}"/>
              </a:ext>
            </a:extLst>
          </p:cNvPr>
          <p:cNvGrpSpPr/>
          <p:nvPr/>
        </p:nvGrpSpPr>
        <p:grpSpPr>
          <a:xfrm>
            <a:off x="8972220" y="3893520"/>
            <a:ext cx="137520" cy="360"/>
            <a:chOff x="8972220" y="3893520"/>
            <a:chExt cx="137520" cy="3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0D374FA6-CADF-B0CF-4EE2-EAAEAB85B550}"/>
                    </a:ext>
                  </a:extLst>
                </p14:cNvPr>
                <p14:cNvContentPartPr/>
                <p14:nvPr/>
              </p14:nvContentPartPr>
              <p14:xfrm>
                <a:off x="8972220" y="3893520"/>
                <a:ext cx="360" cy="360"/>
              </p14:xfrm>
            </p:contentPart>
          </mc:Choice>
          <mc:Fallback xmlns="">
            <p:pic>
              <p:nvPicPr>
                <p:cNvPr id="13" name="Ink 12">
                  <a:extLst>
                    <a:ext uri="{FF2B5EF4-FFF2-40B4-BE49-F238E27FC236}">
                      <a16:creationId xmlns:a16="http://schemas.microsoft.com/office/drawing/2014/main" id="{0D374FA6-CADF-B0CF-4EE2-EAAEAB85B550}"/>
                    </a:ext>
                  </a:extLst>
                </p:cNvPr>
                <p:cNvPicPr/>
                <p:nvPr/>
              </p:nvPicPr>
              <p:blipFill>
                <a:blip r:embed="rId3"/>
                <a:stretch>
                  <a:fillRect/>
                </a:stretch>
              </p:blipFill>
              <p:spPr>
                <a:xfrm>
                  <a:off x="8909220" y="38305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8B41851E-E168-47C5-BEEA-676B7F01D1FE}"/>
                    </a:ext>
                  </a:extLst>
                </p14:cNvPr>
                <p14:cNvContentPartPr/>
                <p14:nvPr/>
              </p14:nvContentPartPr>
              <p14:xfrm>
                <a:off x="9109380" y="3893520"/>
                <a:ext cx="360" cy="360"/>
              </p14:xfrm>
            </p:contentPart>
          </mc:Choice>
          <mc:Fallback xmlns="">
            <p:pic>
              <p:nvPicPr>
                <p:cNvPr id="14" name="Ink 13">
                  <a:extLst>
                    <a:ext uri="{FF2B5EF4-FFF2-40B4-BE49-F238E27FC236}">
                      <a16:creationId xmlns:a16="http://schemas.microsoft.com/office/drawing/2014/main" id="{8B41851E-E168-47C5-BEEA-676B7F01D1FE}"/>
                    </a:ext>
                  </a:extLst>
                </p:cNvPr>
                <p:cNvPicPr/>
                <p:nvPr/>
              </p:nvPicPr>
              <p:blipFill>
                <a:blip r:embed="rId3"/>
                <a:stretch>
                  <a:fillRect/>
                </a:stretch>
              </p:blipFill>
              <p:spPr>
                <a:xfrm>
                  <a:off x="9046380" y="3830520"/>
                  <a:ext cx="126000" cy="126000"/>
                </a:xfrm>
                <a:prstGeom prst="rect">
                  <a:avLst/>
                </a:prstGeom>
              </p:spPr>
            </p:pic>
          </mc:Fallback>
        </mc:AlternateContent>
      </p:grpSp>
      <p:pic>
        <p:nvPicPr>
          <p:cNvPr id="5" name="Picture 4">
            <a:extLst>
              <a:ext uri="{FF2B5EF4-FFF2-40B4-BE49-F238E27FC236}">
                <a16:creationId xmlns:a16="http://schemas.microsoft.com/office/drawing/2014/main" id="{3EB3ED20-EC6E-6D0B-EC28-93BBDFB062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6720" y="3525909"/>
            <a:ext cx="4191000" cy="2570091"/>
          </a:xfrm>
          <a:prstGeom prst="rect">
            <a:avLst/>
          </a:prstGeom>
        </p:spPr>
      </p:pic>
      <p:pic>
        <p:nvPicPr>
          <p:cNvPr id="7" name="Picture 6">
            <a:extLst>
              <a:ext uri="{FF2B5EF4-FFF2-40B4-BE49-F238E27FC236}">
                <a16:creationId xmlns:a16="http://schemas.microsoft.com/office/drawing/2014/main" id="{C120F274-1878-24B8-1C62-A31B276A19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3581400"/>
            <a:ext cx="3962400" cy="2636797"/>
          </a:xfrm>
          <a:prstGeom prst="rect">
            <a:avLst/>
          </a:prstGeom>
        </p:spPr>
      </p:pic>
    </p:spTree>
    <p:extLst>
      <p:ext uri="{BB962C8B-B14F-4D97-AF65-F5344CB8AC3E}">
        <p14:creationId xmlns:p14="http://schemas.microsoft.com/office/powerpoint/2010/main" val="4285507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C808-84FC-01C7-9949-07E67BB8C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9933D-A89B-8F95-045A-C2AA33EA563E}"/>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8BCDC161-3B05-EEB0-32F7-B3F0C479B7EF}"/>
              </a:ext>
            </a:extLst>
          </p:cNvPr>
          <p:cNvSpPr txBox="1"/>
          <p:nvPr/>
        </p:nvSpPr>
        <p:spPr>
          <a:xfrm>
            <a:off x="304800" y="1524000"/>
            <a:ext cx="11582400" cy="1015663"/>
          </a:xfrm>
          <a:prstGeom prst="rect">
            <a:avLst/>
          </a:prstGeom>
          <a:noFill/>
        </p:spPr>
        <p:txBody>
          <a:bodyPr wrap="square" rtlCol="0">
            <a:spAutoFit/>
          </a:bodyPr>
          <a:lstStyle/>
          <a:p>
            <a:pPr algn="just"/>
            <a:r>
              <a:rPr lang="en-US" sz="2000" b="1" dirty="0"/>
              <a:t>Calculating Lift:</a:t>
            </a:r>
            <a:r>
              <a:rPr lang="en-US" sz="2400" b="1" dirty="0"/>
              <a:t> </a:t>
            </a:r>
            <a:r>
              <a:rPr lang="en-US" dirty="0"/>
              <a:t>There’s no universal equation to find out lift, but we can get a good approximation with the above equation. Better way to see the lift is using CFD (Computational Fluid Dynamics) as it provides a 3D environment and adds many factors to calculate the lift, but this equation is a good approximation.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4523CE-FF80-8763-1B12-FCD53533E334}"/>
                  </a:ext>
                </a:extLst>
              </p:cNvPr>
              <p:cNvSpPr txBox="1"/>
              <p:nvPr/>
            </p:nvSpPr>
            <p:spPr>
              <a:xfrm>
                <a:off x="2743200" y="2979518"/>
                <a:ext cx="6097554"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𝐿</m:t>
                      </m:r>
                      <m:r>
                        <a:rPr lang="en-US" sz="2800" i="1" smtClean="0">
                          <a:latin typeface="Cambria Math" panose="02040503050406030204" pitchFamily="18" charset="0"/>
                        </a:rPr>
                        <m:t> =</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r>
                        <a:rPr lang="en-US" sz="2800" b="0" i="1" smtClean="0">
                          <a:latin typeface="Cambria Math" panose="02040503050406030204" pitchFamily="18" charset="0"/>
                        </a:rPr>
                        <m:t> </m:t>
                      </m:r>
                      <m:r>
                        <a:rPr lang="en-US" sz="2800" b="0" i="1" smtClean="0">
                          <a:latin typeface="Cambria Math" panose="02040503050406030204" pitchFamily="18" charset="0"/>
                        </a:rPr>
                        <m:t>𝝆</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𝑣</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𝑆</m:t>
                      </m:r>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𝐿</m:t>
                          </m:r>
                        </m:sub>
                      </m:sSub>
                    </m:oMath>
                  </m:oMathPara>
                </a14:m>
                <a:endParaRPr lang="en-US" sz="2800" dirty="0"/>
              </a:p>
            </p:txBody>
          </p:sp>
        </mc:Choice>
        <mc:Fallback xmlns="">
          <p:sp>
            <p:nvSpPr>
              <p:cNvPr id="5" name="TextBox 4">
                <a:extLst>
                  <a:ext uri="{FF2B5EF4-FFF2-40B4-BE49-F238E27FC236}">
                    <a16:creationId xmlns:a16="http://schemas.microsoft.com/office/drawing/2014/main" id="{F74523CE-FF80-8763-1B12-FCD53533E334}"/>
                  </a:ext>
                </a:extLst>
              </p:cNvPr>
              <p:cNvSpPr txBox="1">
                <a:spLocks noRot="1" noChangeAspect="1" noMove="1" noResize="1" noEditPoints="1" noAdjustHandles="1" noChangeArrowheads="1" noChangeShapeType="1" noTextEdit="1"/>
              </p:cNvSpPr>
              <p:nvPr/>
            </p:nvSpPr>
            <p:spPr>
              <a:xfrm>
                <a:off x="2743200" y="2979518"/>
                <a:ext cx="6097554" cy="8989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BE23651-03B4-4638-588D-9D0CAC0D016B}"/>
                  </a:ext>
                </a:extLst>
              </p:cNvPr>
              <p:cNvSpPr txBox="1"/>
              <p:nvPr/>
            </p:nvSpPr>
            <p:spPr>
              <a:xfrm>
                <a:off x="2020077" y="4318337"/>
                <a:ext cx="7543800" cy="1477328"/>
              </a:xfrm>
              <a:prstGeom prst="rect">
                <a:avLst/>
              </a:prstGeom>
              <a:noFill/>
            </p:spPr>
            <p:txBody>
              <a:bodyPr wrap="square" rtlCol="0">
                <a:spAutoFit/>
              </a:bodyPr>
              <a:lstStyle/>
              <a:p>
                <a:r>
                  <a:rPr lang="en-US" dirty="0"/>
                  <a:t>Where,</a:t>
                </a:r>
              </a:p>
              <a:p>
                <a:r>
                  <a:rPr lang="en-US" dirty="0"/>
                  <a:t>𝝆 = air density</a:t>
                </a:r>
              </a:p>
              <a:p>
                <a14:m>
                  <m:oMath xmlns:m="http://schemas.openxmlformats.org/officeDocument/2006/math">
                    <m:r>
                      <a:rPr lang="en-US" sz="1800" b="0" i="1" smtClean="0">
                        <a:latin typeface="Cambria Math" panose="02040503050406030204" pitchFamily="18" charset="0"/>
                      </a:rPr>
                      <m:t>𝑣</m:t>
                    </m:r>
                  </m:oMath>
                </a14:m>
                <a:r>
                  <a:rPr lang="en-US" dirty="0"/>
                  <a:t> = airspeed relative to the aircraft</a:t>
                </a:r>
              </a:p>
              <a:p>
                <a14:m>
                  <m:oMath xmlns:m="http://schemas.openxmlformats.org/officeDocument/2006/math">
                    <m:r>
                      <a:rPr lang="en-US" sz="1800" b="0" i="1" smtClean="0">
                        <a:latin typeface="Cambria Math" panose="02040503050406030204" pitchFamily="18" charset="0"/>
                      </a:rPr>
                      <m:t>𝑆</m:t>
                    </m:r>
                  </m:oMath>
                </a14:m>
                <a:r>
                  <a:rPr lang="en-US" dirty="0"/>
                  <a:t> = surface area / blades’ disc area </a:t>
                </a:r>
                <a:r>
                  <a:rPr lang="en-US" sz="1400" dirty="0"/>
                  <a:t>(hovercrafts)</a:t>
                </a:r>
              </a:p>
              <a:p>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𝐿</m:t>
                        </m:r>
                      </m:sub>
                    </m:sSub>
                  </m:oMath>
                </a14:m>
                <a:r>
                  <a:rPr lang="en-US" dirty="0"/>
                  <a:t> = lift coefficient</a:t>
                </a:r>
              </a:p>
            </p:txBody>
          </p:sp>
        </mc:Choice>
        <mc:Fallback xmlns="">
          <p:sp>
            <p:nvSpPr>
              <p:cNvPr id="7" name="TextBox 6">
                <a:extLst>
                  <a:ext uri="{FF2B5EF4-FFF2-40B4-BE49-F238E27FC236}">
                    <a16:creationId xmlns:a16="http://schemas.microsoft.com/office/drawing/2014/main" id="{ABE23651-03B4-4638-588D-9D0CAC0D016B}"/>
                  </a:ext>
                </a:extLst>
              </p:cNvPr>
              <p:cNvSpPr txBox="1">
                <a:spLocks noRot="1" noChangeAspect="1" noMove="1" noResize="1" noEditPoints="1" noAdjustHandles="1" noChangeArrowheads="1" noChangeShapeType="1" noTextEdit="1"/>
              </p:cNvSpPr>
              <p:nvPr/>
            </p:nvSpPr>
            <p:spPr>
              <a:xfrm>
                <a:off x="2020077" y="4318337"/>
                <a:ext cx="7543800" cy="1477328"/>
              </a:xfrm>
              <a:prstGeom prst="rect">
                <a:avLst/>
              </a:prstGeom>
              <a:blipFill>
                <a:blip r:embed="rId3"/>
                <a:stretch>
                  <a:fillRect l="-646" t="-2058" b="-5350"/>
                </a:stretch>
              </a:blipFill>
            </p:spPr>
            <p:txBody>
              <a:bodyPr/>
              <a:lstStyle/>
              <a:p>
                <a:r>
                  <a:rPr lang="en-US">
                    <a:noFill/>
                  </a:rPr>
                  <a:t> </a:t>
                </a:r>
              </a:p>
            </p:txBody>
          </p:sp>
        </mc:Fallback>
      </mc:AlternateContent>
      <p:sp>
        <p:nvSpPr>
          <p:cNvPr id="6" name="Frame 5">
            <a:extLst>
              <a:ext uri="{FF2B5EF4-FFF2-40B4-BE49-F238E27FC236}">
                <a16:creationId xmlns:a16="http://schemas.microsoft.com/office/drawing/2014/main" id="{70295A99-57F3-DC00-FD61-2E6A6BFF9253}"/>
              </a:ext>
            </a:extLst>
          </p:cNvPr>
          <p:cNvSpPr/>
          <p:nvPr/>
        </p:nvSpPr>
        <p:spPr>
          <a:xfrm>
            <a:off x="4153677" y="2870284"/>
            <a:ext cx="3276600" cy="1117432"/>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92445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4F38A-1001-B138-E0B8-8846DC39E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CE70B-B554-15F7-8878-39394C50308A}"/>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1D5E73D7-C993-9707-B40F-D076BE6EC4C3}"/>
              </a:ext>
            </a:extLst>
          </p:cNvPr>
          <p:cNvSpPr txBox="1"/>
          <p:nvPr/>
        </p:nvSpPr>
        <p:spPr>
          <a:xfrm>
            <a:off x="304800" y="1524000"/>
            <a:ext cx="11582400" cy="1569660"/>
          </a:xfrm>
          <a:prstGeom prst="rect">
            <a:avLst/>
          </a:prstGeom>
          <a:noFill/>
        </p:spPr>
        <p:txBody>
          <a:bodyPr wrap="square" rtlCol="0">
            <a:spAutoFit/>
          </a:bodyPr>
          <a:lstStyle/>
          <a:p>
            <a:pPr algn="l"/>
            <a:r>
              <a:rPr lang="en-US" sz="2000" b="1" dirty="0"/>
              <a:t>Calculating Lift:</a:t>
            </a:r>
            <a:r>
              <a:rPr lang="en-US" sz="2400" b="1" dirty="0"/>
              <a:t> </a:t>
            </a:r>
            <a:r>
              <a:rPr lang="en-US" dirty="0"/>
              <a:t>Now with this formula in mind, we can now calculate the lift required for any object. </a:t>
            </a:r>
            <a:br>
              <a:rPr lang="en-US" dirty="0"/>
            </a:br>
            <a:br>
              <a:rPr lang="en-US" dirty="0"/>
            </a:br>
            <a:r>
              <a:rPr lang="en-US" dirty="0"/>
              <a:t>To lift the aircraft from the ground, the minimum lift required is equal to the weight of the aircraft ( W = m x g)</a:t>
            </a:r>
            <a:br>
              <a:rPr lang="en-US" dirty="0"/>
            </a:br>
            <a:endParaRPr lang="en-US" dirty="0"/>
          </a:p>
          <a:p>
            <a:pPr algn="just"/>
            <a:r>
              <a:rPr lang="en-US" dirty="0"/>
              <a:t>In other words,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1BCBE9-848C-4B0D-1393-562C50FC710E}"/>
                  </a:ext>
                </a:extLst>
              </p:cNvPr>
              <p:cNvSpPr txBox="1"/>
              <p:nvPr/>
            </p:nvSpPr>
            <p:spPr>
              <a:xfrm>
                <a:off x="2743200" y="2979518"/>
                <a:ext cx="6097554"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𝐿</m:t>
                      </m:r>
                      <m:r>
                        <a:rPr lang="en-US" sz="2800" i="1" smtClean="0">
                          <a:latin typeface="Cambria Math" panose="02040503050406030204" pitchFamily="18" charset="0"/>
                        </a:rPr>
                        <m:t> =</m:t>
                      </m:r>
                      <m:r>
                        <a:rPr lang="en-US" sz="2800" b="0" i="1" smtClean="0">
                          <a:latin typeface="Cambria Math" panose="02040503050406030204" pitchFamily="18" charset="0"/>
                        </a:rPr>
                        <m:t>𝑊</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r>
                        <a:rPr lang="en-US" sz="2800" b="0" i="1" smtClean="0">
                          <a:latin typeface="Cambria Math" panose="02040503050406030204" pitchFamily="18" charset="0"/>
                        </a:rPr>
                        <m:t> </m:t>
                      </m:r>
                      <m:r>
                        <a:rPr lang="en-US" sz="2800" b="0" i="1" smtClean="0">
                          <a:latin typeface="Cambria Math" panose="02040503050406030204" pitchFamily="18" charset="0"/>
                        </a:rPr>
                        <m:t>𝝆</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𝑣</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𝑆</m:t>
                      </m:r>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𝐿</m:t>
                          </m:r>
                        </m:sub>
                      </m:sSub>
                    </m:oMath>
                  </m:oMathPara>
                </a14:m>
                <a:endParaRPr lang="en-US" sz="2800" dirty="0"/>
              </a:p>
            </p:txBody>
          </p:sp>
        </mc:Choice>
        <mc:Fallback xmlns="">
          <p:sp>
            <p:nvSpPr>
              <p:cNvPr id="5" name="TextBox 4">
                <a:extLst>
                  <a:ext uri="{FF2B5EF4-FFF2-40B4-BE49-F238E27FC236}">
                    <a16:creationId xmlns:a16="http://schemas.microsoft.com/office/drawing/2014/main" id="{5D1BCBE9-848C-4B0D-1393-562C50FC710E}"/>
                  </a:ext>
                </a:extLst>
              </p:cNvPr>
              <p:cNvSpPr txBox="1">
                <a:spLocks noRot="1" noChangeAspect="1" noMove="1" noResize="1" noEditPoints="1" noAdjustHandles="1" noChangeArrowheads="1" noChangeShapeType="1" noTextEdit="1"/>
              </p:cNvSpPr>
              <p:nvPr/>
            </p:nvSpPr>
            <p:spPr>
              <a:xfrm>
                <a:off x="2743200" y="2979518"/>
                <a:ext cx="6097554" cy="8989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7A2527A-8F99-1A42-4FF6-45A12C21D4C8}"/>
                  </a:ext>
                </a:extLst>
              </p:cNvPr>
              <p:cNvSpPr txBox="1"/>
              <p:nvPr/>
            </p:nvSpPr>
            <p:spPr>
              <a:xfrm>
                <a:off x="2020077" y="4293455"/>
                <a:ext cx="7543800" cy="1477328"/>
              </a:xfrm>
              <a:prstGeom prst="rect">
                <a:avLst/>
              </a:prstGeom>
              <a:noFill/>
            </p:spPr>
            <p:txBody>
              <a:bodyPr wrap="square" rtlCol="0">
                <a:spAutoFit/>
              </a:bodyPr>
              <a:lstStyle/>
              <a:p>
                <a:r>
                  <a:rPr lang="en-US" dirty="0"/>
                  <a:t>Where,</a:t>
                </a:r>
              </a:p>
              <a:p>
                <a:r>
                  <a:rPr lang="en-US" dirty="0"/>
                  <a:t>𝝆 = air density</a:t>
                </a:r>
              </a:p>
              <a:p>
                <a14:m>
                  <m:oMath xmlns:m="http://schemas.openxmlformats.org/officeDocument/2006/math">
                    <m:r>
                      <a:rPr lang="en-US" sz="1800" b="0" i="1" smtClean="0">
                        <a:latin typeface="Cambria Math" panose="02040503050406030204" pitchFamily="18" charset="0"/>
                      </a:rPr>
                      <m:t>𝑣</m:t>
                    </m:r>
                  </m:oMath>
                </a14:m>
                <a:r>
                  <a:rPr lang="en-US" dirty="0"/>
                  <a:t> = airspeed relative to the aircraft</a:t>
                </a:r>
              </a:p>
              <a:p>
                <a14:m>
                  <m:oMath xmlns:m="http://schemas.openxmlformats.org/officeDocument/2006/math">
                    <m:r>
                      <a:rPr lang="en-US" sz="1800" b="0" i="1" smtClean="0">
                        <a:latin typeface="Cambria Math" panose="02040503050406030204" pitchFamily="18" charset="0"/>
                      </a:rPr>
                      <m:t>𝑆</m:t>
                    </m:r>
                  </m:oMath>
                </a14:m>
                <a:r>
                  <a:rPr lang="en-US" dirty="0"/>
                  <a:t> = surface area / blades’ disc area (</a:t>
                </a:r>
                <a14:m>
                  <m:oMath xmlns:m="http://schemas.openxmlformats.org/officeDocument/2006/math">
                    <m:r>
                      <a:rPr lang="en-US" i="1" smtClean="0">
                        <a:latin typeface="Cambria Math" panose="02040503050406030204" pitchFamily="18" charset="0"/>
                        <a:ea typeface="Cambria Math" panose="02040503050406030204" pitchFamily="18" charset="0"/>
                      </a:rPr>
                      <m:t>𝝅</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2</m:t>
                        </m:r>
                      </m:sup>
                    </m:sSup>
                  </m:oMath>
                </a14:m>
                <a:r>
                  <a:rPr lang="en-US" dirty="0"/>
                  <a:t>) </a:t>
                </a:r>
                <a:r>
                  <a:rPr lang="en-US" sz="1400" dirty="0"/>
                  <a:t>(hovercrafts, r = Blade Length)</a:t>
                </a:r>
              </a:p>
              <a:p>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𝐿</m:t>
                        </m:r>
                      </m:sub>
                    </m:sSub>
                  </m:oMath>
                </a14:m>
                <a:r>
                  <a:rPr lang="en-US" dirty="0"/>
                  <a:t> = lift coefficient</a:t>
                </a:r>
              </a:p>
            </p:txBody>
          </p:sp>
        </mc:Choice>
        <mc:Fallback xmlns="">
          <p:sp>
            <p:nvSpPr>
              <p:cNvPr id="7" name="TextBox 6">
                <a:extLst>
                  <a:ext uri="{FF2B5EF4-FFF2-40B4-BE49-F238E27FC236}">
                    <a16:creationId xmlns:a16="http://schemas.microsoft.com/office/drawing/2014/main" id="{D7A2527A-8F99-1A42-4FF6-45A12C21D4C8}"/>
                  </a:ext>
                </a:extLst>
              </p:cNvPr>
              <p:cNvSpPr txBox="1">
                <a:spLocks noRot="1" noChangeAspect="1" noMove="1" noResize="1" noEditPoints="1" noAdjustHandles="1" noChangeArrowheads="1" noChangeShapeType="1" noTextEdit="1"/>
              </p:cNvSpPr>
              <p:nvPr/>
            </p:nvSpPr>
            <p:spPr>
              <a:xfrm>
                <a:off x="2020077" y="4293455"/>
                <a:ext cx="7543800" cy="1477328"/>
              </a:xfrm>
              <a:prstGeom prst="rect">
                <a:avLst/>
              </a:prstGeom>
              <a:blipFill>
                <a:blip r:embed="rId3"/>
                <a:stretch>
                  <a:fillRect l="-646" t="-2058" b="-5350"/>
                </a:stretch>
              </a:blipFill>
            </p:spPr>
            <p:txBody>
              <a:bodyPr/>
              <a:lstStyle/>
              <a:p>
                <a:r>
                  <a:rPr lang="en-US">
                    <a:noFill/>
                  </a:rPr>
                  <a:t> </a:t>
                </a:r>
              </a:p>
            </p:txBody>
          </p:sp>
        </mc:Fallback>
      </mc:AlternateContent>
    </p:spTree>
    <p:extLst>
      <p:ext uri="{BB962C8B-B14F-4D97-AF65-F5344CB8AC3E}">
        <p14:creationId xmlns:p14="http://schemas.microsoft.com/office/powerpoint/2010/main" val="15991628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08C5-4D8D-9E20-F4CC-A67CC47A5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89117-1DC6-CF2A-D3AE-6F9D3888A729}"/>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A867F6C9-7026-74EC-31B9-C54EB0891F23}"/>
              </a:ext>
            </a:extLst>
          </p:cNvPr>
          <p:cNvSpPr txBox="1"/>
          <p:nvPr/>
        </p:nvSpPr>
        <p:spPr>
          <a:xfrm>
            <a:off x="304800" y="1524000"/>
            <a:ext cx="11582400" cy="1846659"/>
          </a:xfrm>
          <a:prstGeom prst="rect">
            <a:avLst/>
          </a:prstGeom>
          <a:noFill/>
        </p:spPr>
        <p:txBody>
          <a:bodyPr wrap="square" rtlCol="0">
            <a:spAutoFit/>
          </a:bodyPr>
          <a:lstStyle/>
          <a:p>
            <a:pPr algn="l"/>
            <a:r>
              <a:rPr lang="en-US" sz="2000" b="1" dirty="0"/>
              <a:t>Calculating Lift:</a:t>
            </a:r>
            <a:r>
              <a:rPr lang="en-US" sz="2400" b="1" dirty="0"/>
              <a:t> </a:t>
            </a:r>
            <a:r>
              <a:rPr lang="en-US" dirty="0"/>
              <a:t>Different phases of flight needs different lift. </a:t>
            </a:r>
            <a:br>
              <a:rPr lang="en-US" dirty="0"/>
            </a:br>
            <a:br>
              <a:rPr lang="en-US" dirty="0"/>
            </a:br>
            <a:r>
              <a:rPr lang="en-US" dirty="0"/>
              <a:t>Takeoff needs lift more than the weight, cruising needs lift equal to the weight (maintaining altitude) and descent needs a lift less than the weight. </a:t>
            </a:r>
          </a:p>
          <a:p>
            <a:pPr algn="l"/>
            <a:endParaRPr lang="en-US" dirty="0"/>
          </a:p>
          <a:p>
            <a:pPr algn="just"/>
            <a:r>
              <a:rPr lang="en-US" dirty="0"/>
              <a:t>In other words,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8C4765A-8CFD-AE77-360F-A248CBBFF33E}"/>
                  </a:ext>
                </a:extLst>
              </p:cNvPr>
              <p:cNvSpPr txBox="1"/>
              <p:nvPr/>
            </p:nvSpPr>
            <p:spPr>
              <a:xfrm>
                <a:off x="3619500" y="3581400"/>
                <a:ext cx="4953000" cy="2246769"/>
              </a:xfrm>
              <a:prstGeom prst="rect">
                <a:avLst/>
              </a:prstGeom>
              <a:noFill/>
            </p:spPr>
            <p:txBody>
              <a:bodyPr wrap="square">
                <a:spAutoFit/>
              </a:bodyPr>
              <a:lstStyle/>
              <a:p>
                <a:r>
                  <a:rPr lang="en-US" sz="2400" dirty="0">
                    <a:sym typeface="Wingdings" panose="05000000000000000000" pitchFamily="2" charset="2"/>
                  </a:rPr>
                  <a:t>Takeoff/Climb            </a:t>
                </a:r>
                <a:r>
                  <a:rPr lang="en-US" sz="2800" dirty="0">
                    <a:sym typeface="Wingdings" panose="05000000000000000000" pitchFamily="2" charset="2"/>
                  </a:rPr>
                  <a:t> </a:t>
                </a:r>
                <a14:m>
                  <m:oMath xmlns:m="http://schemas.openxmlformats.org/officeDocument/2006/math">
                    <m:r>
                      <a:rPr lang="en-US" sz="2800" i="1" smtClean="0">
                        <a:latin typeface="Cambria Math" panose="02040503050406030204" pitchFamily="18" charset="0"/>
                      </a:rPr>
                      <m:t>𝐿</m:t>
                    </m:r>
                    <m:r>
                      <a:rPr lang="en-US" sz="2800" i="1" smtClean="0">
                        <a:latin typeface="Cambria Math" panose="02040503050406030204" pitchFamily="18" charset="0"/>
                      </a:rPr>
                      <m:t> &gt; </m:t>
                    </m:r>
                    <m:r>
                      <a:rPr lang="en-US" sz="2800" b="0" i="1" smtClean="0">
                        <a:latin typeface="Cambria Math" panose="02040503050406030204" pitchFamily="18" charset="0"/>
                      </a:rPr>
                      <m:t>𝑊</m:t>
                    </m:r>
                  </m:oMath>
                </a14:m>
                <a:endParaRPr lang="en-US" sz="2800" b="0" i="1" dirty="0">
                  <a:latin typeface="Cambria Math" panose="02040503050406030204" pitchFamily="18" charset="0"/>
                </a:endParaRPr>
              </a:p>
              <a:p>
                <a:endParaRPr lang="en-US" sz="2800" b="0" i="1" dirty="0">
                  <a:latin typeface="Cambria Math" panose="02040503050406030204" pitchFamily="18" charset="0"/>
                </a:endParaRPr>
              </a:p>
              <a:p>
                <a:r>
                  <a:rPr lang="en-US" sz="2400" dirty="0">
                    <a:sym typeface="Wingdings" panose="05000000000000000000" pitchFamily="2" charset="2"/>
                  </a:rPr>
                  <a:t>Cruise/Hover </a:t>
                </a:r>
                <a:r>
                  <a:rPr lang="en-US" sz="1400" dirty="0">
                    <a:sym typeface="Wingdings" panose="05000000000000000000" pitchFamily="2" charset="2"/>
                  </a:rPr>
                  <a:t>(rotorcrafts)  </a:t>
                </a:r>
                <a:r>
                  <a:rPr lang="en-US" sz="2400" dirty="0">
                    <a:sym typeface="Wingdings" panose="05000000000000000000" pitchFamily="2" charset="2"/>
                  </a:rPr>
                  <a:t> </a:t>
                </a:r>
                <a14:m>
                  <m:oMath xmlns:m="http://schemas.openxmlformats.org/officeDocument/2006/math">
                    <m:r>
                      <a:rPr lang="en-US" sz="2800" i="1" smtClean="0">
                        <a:latin typeface="Cambria Math" panose="02040503050406030204" pitchFamily="18" charset="0"/>
                      </a:rPr>
                      <m:t>𝐿</m:t>
                    </m:r>
                    <m:r>
                      <a:rPr lang="en-US" sz="2800" b="0" i="1" smtClean="0">
                        <a:latin typeface="Cambria Math" panose="02040503050406030204" pitchFamily="18" charset="0"/>
                      </a:rPr>
                      <m:t> =</m:t>
                    </m:r>
                    <m:r>
                      <a:rPr lang="en-US" sz="2800" i="1" smtClean="0">
                        <a:latin typeface="Cambria Math" panose="02040503050406030204" pitchFamily="18" charset="0"/>
                      </a:rPr>
                      <m:t> </m:t>
                    </m:r>
                    <m:r>
                      <a:rPr lang="en-US" sz="2800" b="0" i="1" smtClean="0">
                        <a:latin typeface="Cambria Math" panose="02040503050406030204" pitchFamily="18" charset="0"/>
                      </a:rPr>
                      <m:t>𝑊</m:t>
                    </m:r>
                    <m:r>
                      <m:rPr>
                        <m:nor/>
                      </m:rPr>
                      <a:rPr lang="en-US" sz="2800" b="0" i="0" smtClean="0">
                        <a:latin typeface="Cambria Math" panose="02040503050406030204" pitchFamily="18" charset="0"/>
                      </a:rPr>
                      <m:t> </m:t>
                    </m:r>
                  </m:oMath>
                </a14:m>
                <a:r>
                  <a:rPr lang="en-US" sz="2800" dirty="0">
                    <a:latin typeface="Cambria Math" panose="02040503050406030204" pitchFamily="18" charset="0"/>
                  </a:rPr>
                  <a:t> </a:t>
                </a:r>
              </a:p>
              <a:p>
                <a:endParaRPr lang="en-US" sz="2400" dirty="0">
                  <a:sym typeface="Wingdings" panose="05000000000000000000" pitchFamily="2" charset="2"/>
                </a:endParaRPr>
              </a:p>
              <a:p>
                <a:r>
                  <a:rPr lang="en-US" sz="2400" dirty="0">
                    <a:sym typeface="Wingdings" panose="05000000000000000000" pitchFamily="2" charset="2"/>
                  </a:rPr>
                  <a:t>Landing/Descent       </a:t>
                </a:r>
                <a:r>
                  <a:rPr lang="en-US" sz="3200" dirty="0">
                    <a:latin typeface="Cambria Math" panose="02040503050406030204" pitchFamily="18" charset="0"/>
                  </a:rPr>
                  <a:t> </a:t>
                </a:r>
                <a14:m>
                  <m:oMath xmlns:m="http://schemas.openxmlformats.org/officeDocument/2006/math">
                    <m:r>
                      <a:rPr lang="en-US" sz="2800" i="1" smtClean="0">
                        <a:latin typeface="Cambria Math" panose="02040503050406030204" pitchFamily="18" charset="0"/>
                      </a:rPr>
                      <m:t>𝐿</m:t>
                    </m:r>
                    <m:r>
                      <a:rPr lang="en-US" sz="2800" b="0" i="1" smtClean="0">
                        <a:latin typeface="Cambria Math" panose="02040503050406030204" pitchFamily="18" charset="0"/>
                      </a:rPr>
                      <m:t> &lt;</m:t>
                    </m:r>
                    <m:r>
                      <a:rPr lang="en-US" sz="2800" i="1" smtClean="0">
                        <a:latin typeface="Cambria Math" panose="02040503050406030204" pitchFamily="18" charset="0"/>
                      </a:rPr>
                      <m:t> </m:t>
                    </m:r>
                    <m:r>
                      <a:rPr lang="en-US" sz="2800" b="0" i="1" smtClean="0">
                        <a:latin typeface="Cambria Math" panose="02040503050406030204" pitchFamily="18" charset="0"/>
                      </a:rPr>
                      <m:t>𝑊</m:t>
                    </m:r>
                    <m:r>
                      <m:rPr>
                        <m:nor/>
                      </m:rPr>
                      <a:rPr lang="en-US" sz="2800" b="0" i="0" smtClean="0">
                        <a:latin typeface="Cambria Math" panose="02040503050406030204" pitchFamily="18" charset="0"/>
                      </a:rPr>
                      <m:t> </m:t>
                    </m:r>
                  </m:oMath>
                </a14:m>
                <a:endParaRPr lang="en-US" sz="2800" dirty="0">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98C4765A-8CFD-AE77-360F-A248CBBFF33E}"/>
                  </a:ext>
                </a:extLst>
              </p:cNvPr>
              <p:cNvSpPr txBox="1">
                <a:spLocks noRot="1" noChangeAspect="1" noMove="1" noResize="1" noEditPoints="1" noAdjustHandles="1" noChangeArrowheads="1" noChangeShapeType="1" noTextEdit="1"/>
              </p:cNvSpPr>
              <p:nvPr/>
            </p:nvSpPr>
            <p:spPr>
              <a:xfrm>
                <a:off x="3619500" y="3581400"/>
                <a:ext cx="4953000" cy="2246769"/>
              </a:xfrm>
              <a:prstGeom prst="rect">
                <a:avLst/>
              </a:prstGeom>
              <a:blipFill>
                <a:blip r:embed="rId2"/>
                <a:stretch>
                  <a:fillRect l="-1970" b="-4348"/>
                </a:stretch>
              </a:blipFill>
            </p:spPr>
            <p:txBody>
              <a:bodyPr/>
              <a:lstStyle/>
              <a:p>
                <a:r>
                  <a:rPr lang="en-US">
                    <a:noFill/>
                  </a:rPr>
                  <a:t> </a:t>
                </a:r>
              </a:p>
            </p:txBody>
          </p:sp>
        </mc:Fallback>
      </mc:AlternateContent>
    </p:spTree>
    <p:extLst>
      <p:ext uri="{BB962C8B-B14F-4D97-AF65-F5344CB8AC3E}">
        <p14:creationId xmlns:p14="http://schemas.microsoft.com/office/powerpoint/2010/main" val="107079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A8206-1B9B-AA6E-3981-04374399C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6F1FD-E976-43FE-4F33-7133C1668595}"/>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ACE2A0F1-1C2F-BAEE-8740-E80FA8BAE4EC}"/>
              </a:ext>
            </a:extLst>
          </p:cNvPr>
          <p:cNvSpPr txBox="1"/>
          <p:nvPr/>
        </p:nvSpPr>
        <p:spPr>
          <a:xfrm>
            <a:off x="304800" y="1524000"/>
            <a:ext cx="11582400" cy="369332"/>
          </a:xfrm>
          <a:prstGeom prst="rect">
            <a:avLst/>
          </a:prstGeom>
          <a:noFill/>
        </p:spPr>
        <p:txBody>
          <a:bodyPr wrap="square" rtlCol="0">
            <a:spAutoFit/>
          </a:bodyPr>
          <a:lstStyle/>
          <a:p>
            <a:pPr algn="just"/>
            <a:r>
              <a:rPr lang="en-US" b="1" dirty="0"/>
              <a:t>Generating Lift: </a:t>
            </a:r>
            <a:r>
              <a:rPr lang="en-US" dirty="0"/>
              <a:t>Example of lift being produced without any wings is a fast car like a Sports Car.</a:t>
            </a:r>
          </a:p>
        </p:txBody>
      </p:sp>
      <p:pic>
        <p:nvPicPr>
          <p:cNvPr id="5" name="Picture 4">
            <a:extLst>
              <a:ext uri="{FF2B5EF4-FFF2-40B4-BE49-F238E27FC236}">
                <a16:creationId xmlns:a16="http://schemas.microsoft.com/office/drawing/2014/main" id="{5F3B8ABA-AB7C-049B-307C-DF8F00923C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25" y="2438400"/>
            <a:ext cx="6086475" cy="3043238"/>
          </a:xfrm>
          <a:prstGeom prst="rect">
            <a:avLst/>
          </a:prstGeom>
        </p:spPr>
      </p:pic>
      <p:sp>
        <p:nvSpPr>
          <p:cNvPr id="6" name="TextBox 5">
            <a:extLst>
              <a:ext uri="{FF2B5EF4-FFF2-40B4-BE49-F238E27FC236}">
                <a16:creationId xmlns:a16="http://schemas.microsoft.com/office/drawing/2014/main" id="{AE442E2F-FD9C-00A7-E6CA-98E53477E641}"/>
              </a:ext>
            </a:extLst>
          </p:cNvPr>
          <p:cNvSpPr txBox="1"/>
          <p:nvPr/>
        </p:nvSpPr>
        <p:spPr>
          <a:xfrm>
            <a:off x="304800" y="2057400"/>
            <a:ext cx="5105400" cy="4524315"/>
          </a:xfrm>
          <a:prstGeom prst="rect">
            <a:avLst/>
          </a:prstGeom>
          <a:noFill/>
        </p:spPr>
        <p:txBody>
          <a:bodyPr wrap="square" rtlCol="0">
            <a:spAutoFit/>
          </a:bodyPr>
          <a:lstStyle/>
          <a:p>
            <a:r>
              <a:rPr lang="en-US" dirty="0"/>
              <a:t>In fast cars like a race car, Formula 1 cars, </a:t>
            </a:r>
            <a:r>
              <a:rPr lang="en-US" dirty="0" err="1"/>
              <a:t>etc</a:t>
            </a:r>
            <a:r>
              <a:rPr lang="en-US" dirty="0"/>
              <a:t>, lift is produced as they gain fast speeds in a fluid (air). </a:t>
            </a:r>
            <a:br>
              <a:rPr lang="en-US" dirty="0"/>
            </a:br>
            <a:br>
              <a:rPr lang="en-US" dirty="0"/>
            </a:br>
            <a:r>
              <a:rPr lang="en-US" dirty="0"/>
              <a:t>But in Sports like these, lift is a disadvantage as it reduces the traction of the car (The contact between the car and the ground) as it tends to lift upwards. Hence, automobile engineers came up with a solution to counter this exact problem of being lifted upwards. </a:t>
            </a:r>
            <a:br>
              <a:rPr lang="en-US" dirty="0"/>
            </a:br>
            <a:br>
              <a:rPr lang="en-US" dirty="0"/>
            </a:br>
            <a:r>
              <a:rPr lang="en-US" dirty="0"/>
              <a:t>They made </a:t>
            </a:r>
            <a:r>
              <a:rPr lang="en-US" b="1" dirty="0"/>
              <a:t>inverted wings</a:t>
            </a:r>
            <a:r>
              <a:rPr lang="en-US" dirty="0"/>
              <a:t>. These inverted wings will make sure that the wind is directed upwards, hence keeping the car grounded. These wings are called </a:t>
            </a:r>
            <a:r>
              <a:rPr lang="en-US" b="1" dirty="0"/>
              <a:t>Spoilers</a:t>
            </a:r>
            <a:r>
              <a:rPr lang="en-US" dirty="0"/>
              <a:t> (As they spoil the wind)</a:t>
            </a:r>
          </a:p>
        </p:txBody>
      </p:sp>
      <p:sp>
        <p:nvSpPr>
          <p:cNvPr id="7" name="Arrow: Right 6">
            <a:extLst>
              <a:ext uri="{FF2B5EF4-FFF2-40B4-BE49-F238E27FC236}">
                <a16:creationId xmlns:a16="http://schemas.microsoft.com/office/drawing/2014/main" id="{547A5D06-7736-F7AC-02C4-931E9BFD7729}"/>
              </a:ext>
            </a:extLst>
          </p:cNvPr>
          <p:cNvSpPr/>
          <p:nvPr/>
        </p:nvSpPr>
        <p:spPr>
          <a:xfrm rot="360216">
            <a:off x="7965440" y="2438400"/>
            <a:ext cx="1600200" cy="431205"/>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Spoiler</a:t>
            </a:r>
          </a:p>
        </p:txBody>
      </p:sp>
    </p:spTree>
    <p:extLst>
      <p:ext uri="{BB962C8B-B14F-4D97-AF65-F5344CB8AC3E}">
        <p14:creationId xmlns:p14="http://schemas.microsoft.com/office/powerpoint/2010/main" val="1773491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5CC2F-B384-D190-C2D2-2557ED1CE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2D8A7-8456-F8F2-C5C8-9EB3C9C02CB7}"/>
              </a:ext>
            </a:extLst>
          </p:cNvPr>
          <p:cNvSpPr>
            <a:spLocks noGrp="1"/>
          </p:cNvSpPr>
          <p:nvPr>
            <p:ph type="title"/>
          </p:nvPr>
        </p:nvSpPr>
        <p:spPr>
          <a:xfrm>
            <a:off x="533400" y="457200"/>
            <a:ext cx="9067800" cy="430887"/>
          </a:xfrm>
        </p:spPr>
        <p:txBody>
          <a:bodyPr/>
          <a:lstStyle/>
          <a:p>
            <a:r>
              <a:rPr lang="en-IN" dirty="0"/>
              <a:t>Aerodynamics: Basics</a:t>
            </a: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BEB64424-EED3-8FFF-3321-BBE7ED9AD8BA}"/>
                  </a:ext>
                </a:extLst>
              </p14:cNvPr>
              <p14:cNvContentPartPr/>
              <p14:nvPr/>
            </p14:nvContentPartPr>
            <p14:xfrm>
              <a:off x="9200178" y="3813647"/>
              <a:ext cx="858240" cy="29160"/>
            </p14:xfrm>
          </p:contentPart>
        </mc:Choice>
        <mc:Fallback xmlns="">
          <p:pic>
            <p:nvPicPr>
              <p:cNvPr id="10" name="Ink 9">
                <a:extLst>
                  <a:ext uri="{FF2B5EF4-FFF2-40B4-BE49-F238E27FC236}">
                    <a16:creationId xmlns:a16="http://schemas.microsoft.com/office/drawing/2014/main" id="{BEB64424-EED3-8FFF-3321-BBE7ED9AD8BA}"/>
                  </a:ext>
                </a:extLst>
              </p:cNvPr>
              <p:cNvPicPr/>
              <p:nvPr/>
            </p:nvPicPr>
            <p:blipFill>
              <a:blip r:embed="rId5"/>
              <a:stretch>
                <a:fillRect/>
              </a:stretch>
            </p:blipFill>
            <p:spPr>
              <a:xfrm>
                <a:off x="9137178" y="3750647"/>
                <a:ext cx="9838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63A31B6C-6D71-CFA6-0E04-0AAC17D6035E}"/>
                  </a:ext>
                </a:extLst>
              </p14:cNvPr>
              <p14:cNvContentPartPr/>
              <p14:nvPr/>
            </p14:nvContentPartPr>
            <p14:xfrm>
              <a:off x="9085260" y="3824760"/>
              <a:ext cx="1064520" cy="720"/>
            </p14:xfrm>
          </p:contentPart>
        </mc:Choice>
        <mc:Fallback xmlns="">
          <p:pic>
            <p:nvPicPr>
              <p:cNvPr id="12" name="Ink 11">
                <a:extLst>
                  <a:ext uri="{FF2B5EF4-FFF2-40B4-BE49-F238E27FC236}">
                    <a16:creationId xmlns:a16="http://schemas.microsoft.com/office/drawing/2014/main" id="{63A31B6C-6D71-CFA6-0E04-0AAC17D6035E}"/>
                  </a:ext>
                </a:extLst>
              </p:cNvPr>
              <p:cNvPicPr/>
              <p:nvPr/>
            </p:nvPicPr>
            <p:blipFill>
              <a:blip r:embed="rId7"/>
              <a:stretch>
                <a:fillRect/>
              </a:stretch>
            </p:blipFill>
            <p:spPr>
              <a:xfrm>
                <a:off x="9022239" y="3698760"/>
                <a:ext cx="1190203" cy="252000"/>
              </a:xfrm>
              <a:prstGeom prst="rect">
                <a:avLst/>
              </a:prstGeom>
            </p:spPr>
          </p:pic>
        </mc:Fallback>
      </mc:AlternateContent>
      <p:grpSp>
        <p:nvGrpSpPr>
          <p:cNvPr id="15" name="Group 14">
            <a:extLst>
              <a:ext uri="{FF2B5EF4-FFF2-40B4-BE49-F238E27FC236}">
                <a16:creationId xmlns:a16="http://schemas.microsoft.com/office/drawing/2014/main" id="{ABC73F2F-788C-B603-BADE-D54F404CD39B}"/>
              </a:ext>
            </a:extLst>
          </p:cNvPr>
          <p:cNvGrpSpPr/>
          <p:nvPr/>
        </p:nvGrpSpPr>
        <p:grpSpPr>
          <a:xfrm>
            <a:off x="8972220" y="3893520"/>
            <a:ext cx="137520" cy="360"/>
            <a:chOff x="8972220" y="3893520"/>
            <a:chExt cx="137520" cy="360"/>
          </a:xfrm>
        </p:grpSpPr>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68743E0E-FB29-4269-3EC4-410BE709D775}"/>
                    </a:ext>
                  </a:extLst>
                </p14:cNvPr>
                <p14:cNvContentPartPr/>
                <p14:nvPr/>
              </p14:nvContentPartPr>
              <p14:xfrm>
                <a:off x="8972220" y="3893520"/>
                <a:ext cx="360" cy="360"/>
              </p14:xfrm>
            </p:contentPart>
          </mc:Choice>
          <mc:Fallback xmlns="">
            <p:pic>
              <p:nvPicPr>
                <p:cNvPr id="13" name="Ink 12">
                  <a:extLst>
                    <a:ext uri="{FF2B5EF4-FFF2-40B4-BE49-F238E27FC236}">
                      <a16:creationId xmlns:a16="http://schemas.microsoft.com/office/drawing/2014/main" id="{68743E0E-FB29-4269-3EC4-410BE709D775}"/>
                    </a:ext>
                  </a:extLst>
                </p:cNvPr>
                <p:cNvPicPr/>
                <p:nvPr/>
              </p:nvPicPr>
              <p:blipFill>
                <a:blip r:embed="rId9"/>
                <a:stretch>
                  <a:fillRect/>
                </a:stretch>
              </p:blipFill>
              <p:spPr>
                <a:xfrm>
                  <a:off x="8909220" y="38305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BFE08AB5-D79D-B8A9-158C-B8A38D9FFCA5}"/>
                    </a:ext>
                  </a:extLst>
                </p14:cNvPr>
                <p14:cNvContentPartPr/>
                <p14:nvPr/>
              </p14:nvContentPartPr>
              <p14:xfrm>
                <a:off x="9109380" y="3893520"/>
                <a:ext cx="360" cy="360"/>
              </p14:xfrm>
            </p:contentPart>
          </mc:Choice>
          <mc:Fallback xmlns="">
            <p:pic>
              <p:nvPicPr>
                <p:cNvPr id="14" name="Ink 13">
                  <a:extLst>
                    <a:ext uri="{FF2B5EF4-FFF2-40B4-BE49-F238E27FC236}">
                      <a16:creationId xmlns:a16="http://schemas.microsoft.com/office/drawing/2014/main" id="{BFE08AB5-D79D-B8A9-158C-B8A38D9FFCA5}"/>
                    </a:ext>
                  </a:extLst>
                </p:cNvPr>
                <p:cNvPicPr/>
                <p:nvPr/>
              </p:nvPicPr>
              <p:blipFill>
                <a:blip r:embed="rId9"/>
                <a:stretch>
                  <a:fillRect/>
                </a:stretch>
              </p:blipFill>
              <p:spPr>
                <a:xfrm>
                  <a:off x="9046380" y="383052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5605C3C8-AE10-440A-8591-FA62CAD628F9}"/>
                  </a:ext>
                </a:extLst>
              </p14:cNvPr>
              <p14:cNvContentPartPr/>
              <p14:nvPr/>
            </p14:nvContentPartPr>
            <p14:xfrm>
              <a:off x="9803100" y="5809560"/>
              <a:ext cx="1387800" cy="381600"/>
            </p14:xfrm>
          </p:contentPart>
        </mc:Choice>
        <mc:Fallback xmlns="">
          <p:pic>
            <p:nvPicPr>
              <p:cNvPr id="16" name="Ink 15">
                <a:extLst>
                  <a:ext uri="{FF2B5EF4-FFF2-40B4-BE49-F238E27FC236}">
                    <a16:creationId xmlns:a16="http://schemas.microsoft.com/office/drawing/2014/main" id="{5605C3C8-AE10-440A-8591-FA62CAD628F9}"/>
                  </a:ext>
                </a:extLst>
              </p:cNvPr>
              <p:cNvPicPr/>
              <p:nvPr/>
            </p:nvPicPr>
            <p:blipFill>
              <a:blip r:embed="rId12"/>
              <a:stretch>
                <a:fillRect/>
              </a:stretch>
            </p:blipFill>
            <p:spPr>
              <a:xfrm>
                <a:off x="9740100" y="5746560"/>
                <a:ext cx="1513440" cy="507240"/>
              </a:xfrm>
              <a:prstGeom prst="rect">
                <a:avLst/>
              </a:prstGeom>
            </p:spPr>
          </p:pic>
        </mc:Fallback>
      </mc:AlternateContent>
      <p:pic>
        <p:nvPicPr>
          <p:cNvPr id="4" name="Online Media 3" title="Flying Porsche GT1">
            <a:hlinkClick r:id="" action="ppaction://media"/>
            <a:extLst>
              <a:ext uri="{FF2B5EF4-FFF2-40B4-BE49-F238E27FC236}">
                <a16:creationId xmlns:a16="http://schemas.microsoft.com/office/drawing/2014/main" id="{66F05587-F2D0-D6D9-C9A2-23F1E07F8C1F}"/>
              </a:ext>
            </a:extLst>
          </p:cNvPr>
          <p:cNvPicPr>
            <a:picLocks noRot="1" noChangeAspect="1"/>
          </p:cNvPicPr>
          <p:nvPr>
            <a:videoFile r:link="rId1"/>
          </p:nvPr>
        </p:nvPicPr>
        <p:blipFill>
          <a:blip r:embed="rId13"/>
          <a:stretch>
            <a:fillRect/>
          </a:stretch>
        </p:blipFill>
        <p:spPr>
          <a:xfrm>
            <a:off x="2458925" y="1447800"/>
            <a:ext cx="6705600" cy="5029200"/>
          </a:xfrm>
          <a:prstGeom prst="rect">
            <a:avLst/>
          </a:prstGeom>
        </p:spPr>
      </p:pic>
    </p:spTree>
    <p:extLst>
      <p:ext uri="{BB962C8B-B14F-4D97-AF65-F5344CB8AC3E}">
        <p14:creationId xmlns:p14="http://schemas.microsoft.com/office/powerpoint/2010/main" val="299002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CDCD-78CF-AA13-26BA-572FB816D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EDCE6-C3A4-CAFC-0929-714C5E2F8487}"/>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EE443842-E494-CFE4-B6C3-07915CFD3E25}"/>
              </a:ext>
            </a:extLst>
          </p:cNvPr>
          <p:cNvSpPr txBox="1"/>
          <p:nvPr/>
        </p:nvSpPr>
        <p:spPr>
          <a:xfrm>
            <a:off x="304800" y="1524000"/>
            <a:ext cx="11582400" cy="2246769"/>
          </a:xfrm>
          <a:prstGeom prst="rect">
            <a:avLst/>
          </a:prstGeom>
          <a:noFill/>
        </p:spPr>
        <p:txBody>
          <a:bodyPr wrap="square" rtlCol="0">
            <a:spAutoFit/>
          </a:bodyPr>
          <a:lstStyle/>
          <a:p>
            <a:pPr algn="l"/>
            <a:r>
              <a:rPr lang="en-US" sz="2000" b="1" u="sng" dirty="0"/>
              <a:t>Drag</a:t>
            </a:r>
            <a:r>
              <a:rPr lang="en-US" sz="2000" b="1" dirty="0"/>
              <a:t>: </a:t>
            </a:r>
            <a:r>
              <a:rPr lang="en-US" sz="2000" dirty="0"/>
              <a:t>Drag is the resistive aerodynamic force acting opposite to the relative motion of an aircraft through the air. It arises from two main sources: viscous effects </a:t>
            </a:r>
            <a:r>
              <a:rPr lang="en-US" sz="2000" b="1" dirty="0"/>
              <a:t>(skin friction) </a:t>
            </a:r>
            <a:r>
              <a:rPr lang="en-US" sz="2000" dirty="0"/>
              <a:t>and pressure differences </a:t>
            </a:r>
            <a:r>
              <a:rPr lang="en-US" sz="2000" b="1" dirty="0"/>
              <a:t>(form drag and induced drag), </a:t>
            </a:r>
            <a:r>
              <a:rPr lang="en-US" sz="2000" dirty="0"/>
              <a:t>along with additional contributions such as wave drag at high speeds.</a:t>
            </a:r>
            <a:br>
              <a:rPr lang="en-US" sz="2000" dirty="0"/>
            </a:br>
            <a:endParaRPr lang="en-US" sz="2000" dirty="0"/>
          </a:p>
          <a:p>
            <a:pPr algn="l"/>
            <a:r>
              <a:rPr lang="en-US" sz="2000" dirty="0"/>
              <a:t>Basically, there are </a:t>
            </a:r>
            <a:r>
              <a:rPr lang="en-US" sz="2000" b="1" dirty="0"/>
              <a:t>three</a:t>
            </a:r>
            <a:r>
              <a:rPr lang="en-US" sz="2000" dirty="0"/>
              <a:t> main types of drag (more on these later). But mathematically, the formula is given as (approx.)</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5F7C10E-0C0A-3657-1518-995EE17EF1EB}"/>
                  </a:ext>
                </a:extLst>
              </p:cNvPr>
              <p:cNvSpPr txBox="1"/>
              <p:nvPr/>
            </p:nvSpPr>
            <p:spPr>
              <a:xfrm>
                <a:off x="2743199" y="3952391"/>
                <a:ext cx="6097554"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𝐷</m:t>
                      </m:r>
                      <m:r>
                        <a:rPr lang="en-US" sz="280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r>
                        <a:rPr lang="en-US" sz="2800" b="0" i="1" smtClean="0">
                          <a:latin typeface="Cambria Math" panose="02040503050406030204" pitchFamily="18" charset="0"/>
                        </a:rPr>
                        <m:t> </m:t>
                      </m:r>
                      <m:r>
                        <a:rPr lang="en-US" sz="2800" b="0" i="1" smtClean="0">
                          <a:latin typeface="Cambria Math" panose="02040503050406030204" pitchFamily="18" charset="0"/>
                        </a:rPr>
                        <m:t>𝝆</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𝑣</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𝑆</m:t>
                      </m:r>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𝐷</m:t>
                          </m:r>
                        </m:sub>
                      </m:sSub>
                    </m:oMath>
                  </m:oMathPara>
                </a14:m>
                <a:endParaRPr lang="en-US" sz="2800" dirty="0"/>
              </a:p>
            </p:txBody>
          </p:sp>
        </mc:Choice>
        <mc:Fallback xmlns="">
          <p:sp>
            <p:nvSpPr>
              <p:cNvPr id="5" name="TextBox 4">
                <a:extLst>
                  <a:ext uri="{FF2B5EF4-FFF2-40B4-BE49-F238E27FC236}">
                    <a16:creationId xmlns:a16="http://schemas.microsoft.com/office/drawing/2014/main" id="{65F7C10E-0C0A-3657-1518-995EE17EF1EB}"/>
                  </a:ext>
                </a:extLst>
              </p:cNvPr>
              <p:cNvSpPr txBox="1">
                <a:spLocks noRot="1" noChangeAspect="1" noMove="1" noResize="1" noEditPoints="1" noAdjustHandles="1" noChangeArrowheads="1" noChangeShapeType="1" noTextEdit="1"/>
              </p:cNvSpPr>
              <p:nvPr/>
            </p:nvSpPr>
            <p:spPr>
              <a:xfrm>
                <a:off x="2743199" y="3952391"/>
                <a:ext cx="6097554" cy="8989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AED838B-6422-32E5-48A2-F97CFF0CCA02}"/>
                  </a:ext>
                </a:extLst>
              </p:cNvPr>
              <p:cNvSpPr txBox="1"/>
              <p:nvPr/>
            </p:nvSpPr>
            <p:spPr>
              <a:xfrm>
                <a:off x="304800" y="4898072"/>
                <a:ext cx="10058400" cy="1631216"/>
              </a:xfrm>
              <a:prstGeom prst="rect">
                <a:avLst/>
              </a:prstGeom>
              <a:noFill/>
            </p:spPr>
            <p:txBody>
              <a:bodyPr wrap="square" rtlCol="0">
                <a:spAutoFit/>
              </a:bodyPr>
              <a:lstStyle/>
              <a:p>
                <a:r>
                  <a:rPr lang="en-US" sz="2000" dirty="0"/>
                  <a:t>Where,</a:t>
                </a:r>
              </a:p>
              <a:p>
                <a:r>
                  <a:rPr lang="en-US" sz="2000" dirty="0"/>
                  <a:t>𝝆 = air density</a:t>
                </a:r>
              </a:p>
              <a:p>
                <a14:m>
                  <m:oMath xmlns:m="http://schemas.openxmlformats.org/officeDocument/2006/math">
                    <m:r>
                      <a:rPr lang="en-US" sz="2000" b="0" i="1" smtClean="0">
                        <a:latin typeface="Cambria Math" panose="02040503050406030204" pitchFamily="18" charset="0"/>
                      </a:rPr>
                      <m:t>𝑣</m:t>
                    </m:r>
                  </m:oMath>
                </a14:m>
                <a:r>
                  <a:rPr lang="en-US" sz="2000" dirty="0"/>
                  <a:t> = airspeed relative to the aircraft</a:t>
                </a:r>
              </a:p>
              <a:p>
                <a14:m>
                  <m:oMath xmlns:m="http://schemas.openxmlformats.org/officeDocument/2006/math">
                    <m:r>
                      <a:rPr lang="en-US" sz="2000" b="0" i="1" smtClean="0">
                        <a:latin typeface="Cambria Math" panose="02040503050406030204" pitchFamily="18" charset="0"/>
                      </a:rPr>
                      <m:t>𝑆</m:t>
                    </m:r>
                  </m:oMath>
                </a14:m>
                <a:r>
                  <a:rPr lang="en-US" sz="2000" dirty="0"/>
                  <a:t> = resistive surface area  (2D projection facing the wind)</a:t>
                </a:r>
                <a:endParaRPr lang="en-US" dirty="0"/>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𝐷</m:t>
                        </m:r>
                      </m:sub>
                    </m:sSub>
                  </m:oMath>
                </a14:m>
                <a:r>
                  <a:rPr lang="en-US" sz="2000" dirty="0"/>
                  <a:t> = drag coefficient</a:t>
                </a:r>
              </a:p>
            </p:txBody>
          </p:sp>
        </mc:Choice>
        <mc:Fallback>
          <p:sp>
            <p:nvSpPr>
              <p:cNvPr id="7" name="TextBox 6">
                <a:extLst>
                  <a:ext uri="{FF2B5EF4-FFF2-40B4-BE49-F238E27FC236}">
                    <a16:creationId xmlns:a16="http://schemas.microsoft.com/office/drawing/2014/main" id="{3AED838B-6422-32E5-48A2-F97CFF0CCA02}"/>
                  </a:ext>
                </a:extLst>
              </p:cNvPr>
              <p:cNvSpPr txBox="1">
                <a:spLocks noRot="1" noChangeAspect="1" noMove="1" noResize="1" noEditPoints="1" noAdjustHandles="1" noChangeArrowheads="1" noChangeShapeType="1" noTextEdit="1"/>
              </p:cNvSpPr>
              <p:nvPr/>
            </p:nvSpPr>
            <p:spPr>
              <a:xfrm>
                <a:off x="304800" y="4898072"/>
                <a:ext cx="10058400" cy="1631216"/>
              </a:xfrm>
              <a:prstGeom prst="rect">
                <a:avLst/>
              </a:prstGeom>
              <a:blipFill>
                <a:blip r:embed="rId3"/>
                <a:stretch>
                  <a:fillRect l="-606" t="-1493" b="-5970"/>
                </a:stretch>
              </a:blipFill>
            </p:spPr>
            <p:txBody>
              <a:bodyPr/>
              <a:lstStyle/>
              <a:p>
                <a:r>
                  <a:rPr lang="en-US">
                    <a:noFill/>
                  </a:rPr>
                  <a:t> </a:t>
                </a:r>
              </a:p>
            </p:txBody>
          </p:sp>
        </mc:Fallback>
      </mc:AlternateContent>
      <p:sp>
        <p:nvSpPr>
          <p:cNvPr id="6" name="Frame 5">
            <a:extLst>
              <a:ext uri="{FF2B5EF4-FFF2-40B4-BE49-F238E27FC236}">
                <a16:creationId xmlns:a16="http://schemas.microsoft.com/office/drawing/2014/main" id="{E462285C-1A83-BAC7-7B55-1508DF8BD6B1}"/>
              </a:ext>
            </a:extLst>
          </p:cNvPr>
          <p:cNvSpPr/>
          <p:nvPr/>
        </p:nvSpPr>
        <p:spPr>
          <a:xfrm>
            <a:off x="4211215" y="3847966"/>
            <a:ext cx="3161523" cy="1117432"/>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82974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F3E0-A555-E747-9C09-B3D9706FA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F7BE5-DE8E-722C-B412-51C523AF0448}"/>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6C111DCA-4BDB-DD13-0777-A6BDF985451A}"/>
              </a:ext>
            </a:extLst>
          </p:cNvPr>
          <p:cNvSpPr txBox="1"/>
          <p:nvPr/>
        </p:nvSpPr>
        <p:spPr>
          <a:xfrm>
            <a:off x="304800" y="1524000"/>
            <a:ext cx="11582400" cy="1323439"/>
          </a:xfrm>
          <a:prstGeom prst="rect">
            <a:avLst/>
          </a:prstGeom>
          <a:noFill/>
        </p:spPr>
        <p:txBody>
          <a:bodyPr wrap="square" rtlCol="0">
            <a:spAutoFit/>
          </a:bodyPr>
          <a:lstStyle/>
          <a:p>
            <a:pPr algn="l"/>
            <a:r>
              <a:rPr lang="en-US" sz="2000" b="1" u="sng" dirty="0"/>
              <a:t>Drag</a:t>
            </a:r>
            <a:r>
              <a:rPr lang="en-US" sz="2000" b="1" dirty="0"/>
              <a:t>: </a:t>
            </a:r>
            <a:r>
              <a:rPr lang="en-US" sz="2000" dirty="0"/>
              <a:t>One intuitive way to understand drag is by extending your arm out of the car window. The way wind affects you hand as the car speeds is a nice way to visualize the drag and lift and how the wind pushes the hand upwards if given certain angles (Angle of attack, more on this in the upcoming slides). But for now, let’s imagine only 0° and 90° (made by arm with respect to the wind flow)</a:t>
            </a:r>
          </a:p>
        </p:txBody>
      </p:sp>
      <p:pic>
        <p:nvPicPr>
          <p:cNvPr id="8" name="Picture 7">
            <a:extLst>
              <a:ext uri="{FF2B5EF4-FFF2-40B4-BE49-F238E27FC236}">
                <a16:creationId xmlns:a16="http://schemas.microsoft.com/office/drawing/2014/main" id="{D8D37F05-7411-A818-6A20-6713C1E45A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048000"/>
            <a:ext cx="5082708" cy="2859024"/>
          </a:xfrm>
          <a:prstGeom prst="rect">
            <a:avLst/>
          </a:prstGeom>
        </p:spPr>
      </p:pic>
      <p:sp>
        <p:nvSpPr>
          <p:cNvPr id="9" name="TextBox 8">
            <a:extLst>
              <a:ext uri="{FF2B5EF4-FFF2-40B4-BE49-F238E27FC236}">
                <a16:creationId xmlns:a16="http://schemas.microsoft.com/office/drawing/2014/main" id="{0A93D843-1216-8E3D-0296-11BE04D29D72}"/>
              </a:ext>
            </a:extLst>
          </p:cNvPr>
          <p:cNvSpPr txBox="1"/>
          <p:nvPr/>
        </p:nvSpPr>
        <p:spPr>
          <a:xfrm>
            <a:off x="1143000" y="6045523"/>
            <a:ext cx="3522118" cy="369332"/>
          </a:xfrm>
          <a:prstGeom prst="rect">
            <a:avLst/>
          </a:prstGeom>
          <a:noFill/>
        </p:spPr>
        <p:txBody>
          <a:bodyPr wrap="none" rtlCol="0">
            <a:spAutoFit/>
          </a:bodyPr>
          <a:lstStyle/>
          <a:p>
            <a:r>
              <a:rPr lang="en-US" b="1" i="1" dirty="0"/>
              <a:t>0° </a:t>
            </a:r>
            <a:r>
              <a:rPr lang="en-US" b="1" i="1" dirty="0" err="1"/>
              <a:t>wrt</a:t>
            </a:r>
            <a:r>
              <a:rPr lang="en-US" b="1" i="1" dirty="0"/>
              <a:t> the wind, hence no drag</a:t>
            </a:r>
          </a:p>
        </p:txBody>
      </p:sp>
      <p:pic>
        <p:nvPicPr>
          <p:cNvPr id="11" name="Picture 10">
            <a:extLst>
              <a:ext uri="{FF2B5EF4-FFF2-40B4-BE49-F238E27FC236}">
                <a16:creationId xmlns:a16="http://schemas.microsoft.com/office/drawing/2014/main" id="{A49B5EC2-B362-1B3B-0106-19085B26AD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040063"/>
            <a:ext cx="4572000" cy="2794000"/>
          </a:xfrm>
          <a:prstGeom prst="rect">
            <a:avLst/>
          </a:prstGeom>
        </p:spPr>
      </p:pic>
      <p:sp>
        <p:nvSpPr>
          <p:cNvPr id="12" name="TextBox 11">
            <a:extLst>
              <a:ext uri="{FF2B5EF4-FFF2-40B4-BE49-F238E27FC236}">
                <a16:creationId xmlns:a16="http://schemas.microsoft.com/office/drawing/2014/main" id="{2315C2BE-CCA8-522F-349B-DF81EA94545B}"/>
              </a:ext>
            </a:extLst>
          </p:cNvPr>
          <p:cNvSpPr txBox="1"/>
          <p:nvPr/>
        </p:nvSpPr>
        <p:spPr>
          <a:xfrm>
            <a:off x="7315200" y="5907024"/>
            <a:ext cx="4572000" cy="646331"/>
          </a:xfrm>
          <a:prstGeom prst="rect">
            <a:avLst/>
          </a:prstGeom>
          <a:noFill/>
        </p:spPr>
        <p:txBody>
          <a:bodyPr wrap="square" rtlCol="0">
            <a:spAutoFit/>
          </a:bodyPr>
          <a:lstStyle/>
          <a:p>
            <a:pPr algn="ctr"/>
            <a:r>
              <a:rPr lang="en-US" b="1" i="1" dirty="0"/>
              <a:t>90° </a:t>
            </a:r>
            <a:r>
              <a:rPr lang="en-US" b="1" i="1" dirty="0" err="1"/>
              <a:t>wrt</a:t>
            </a:r>
            <a:r>
              <a:rPr lang="en-US" b="1" i="1" dirty="0"/>
              <a:t> the wind, maximum drag and hence pushes your hand backward</a:t>
            </a:r>
          </a:p>
        </p:txBody>
      </p:sp>
    </p:spTree>
    <p:extLst>
      <p:ext uri="{BB962C8B-B14F-4D97-AF65-F5344CB8AC3E}">
        <p14:creationId xmlns:p14="http://schemas.microsoft.com/office/powerpoint/2010/main" val="8460634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AB828-8CF0-AD7A-7C84-A0F9D1B38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62927-BC87-05E5-8764-E6E6E7C02946}"/>
              </a:ext>
            </a:extLst>
          </p:cNvPr>
          <p:cNvSpPr>
            <a:spLocks noGrp="1"/>
          </p:cNvSpPr>
          <p:nvPr>
            <p:ph type="title"/>
          </p:nvPr>
        </p:nvSpPr>
        <p:spPr>
          <a:xfrm>
            <a:off x="533400" y="457200"/>
            <a:ext cx="9067800" cy="430887"/>
          </a:xfrm>
        </p:spPr>
        <p:txBody>
          <a:bodyPr/>
          <a:lstStyle/>
          <a:p>
            <a:r>
              <a:rPr lang="en-IN" dirty="0"/>
              <a:t>Aerodynamics: Basics</a:t>
            </a:r>
          </a:p>
        </p:txBody>
      </p:sp>
      <p:sp>
        <p:nvSpPr>
          <p:cNvPr id="3" name="TextBox 2">
            <a:extLst>
              <a:ext uri="{FF2B5EF4-FFF2-40B4-BE49-F238E27FC236}">
                <a16:creationId xmlns:a16="http://schemas.microsoft.com/office/drawing/2014/main" id="{91C21B95-B5CB-55E8-A5F0-D501E7A3041D}"/>
              </a:ext>
            </a:extLst>
          </p:cNvPr>
          <p:cNvSpPr txBox="1"/>
          <p:nvPr/>
        </p:nvSpPr>
        <p:spPr>
          <a:xfrm>
            <a:off x="304800" y="1524000"/>
            <a:ext cx="11582400" cy="2031325"/>
          </a:xfrm>
          <a:prstGeom prst="rect">
            <a:avLst/>
          </a:prstGeom>
          <a:noFill/>
        </p:spPr>
        <p:txBody>
          <a:bodyPr wrap="square" rtlCol="0">
            <a:spAutoFit/>
          </a:bodyPr>
          <a:lstStyle/>
          <a:p>
            <a:pPr algn="just"/>
            <a:r>
              <a:rPr lang="en-US" b="1" u="sng" dirty="0"/>
              <a:t>Wing shape of the Aircrafts (Fixed-winged)</a:t>
            </a:r>
            <a:r>
              <a:rPr lang="en-US" b="1" dirty="0"/>
              <a:t>: </a:t>
            </a:r>
            <a:r>
              <a:rPr lang="en-US" dirty="0"/>
              <a:t>The shape of the wing, from the top-down view depends on the purpose of the aircraft- Military jets are more likely to take a Delta shape as it gives more freedom in terms of maneuverability for dogfights (Aerial combat). Rectangular wings are useful for fuel efficiency and low speed missions. (Cessna 172- the most famous trainer plane)</a:t>
            </a:r>
          </a:p>
          <a:p>
            <a:pPr algn="just"/>
            <a:endParaRPr lang="en-US" dirty="0"/>
          </a:p>
          <a:p>
            <a:pPr algn="just"/>
            <a:r>
              <a:rPr lang="en-US" dirty="0"/>
              <a:t>But from the side view, it is almost always in a </a:t>
            </a:r>
            <a:r>
              <a:rPr lang="en-US" b="1" dirty="0"/>
              <a:t>teardrop</a:t>
            </a:r>
            <a:r>
              <a:rPr lang="en-US" dirty="0"/>
              <a:t> shape. This shape is aerodynamically and structurally advantageous </a:t>
            </a:r>
            <a:endParaRPr lang="en-US" b="1" dirty="0"/>
          </a:p>
        </p:txBody>
      </p:sp>
      <p:pic>
        <p:nvPicPr>
          <p:cNvPr id="12" name="Picture 11">
            <a:extLst>
              <a:ext uri="{FF2B5EF4-FFF2-40B4-BE49-F238E27FC236}">
                <a16:creationId xmlns:a16="http://schemas.microsoft.com/office/drawing/2014/main" id="{45DE2F34-E0C5-C327-199F-0D2C188A85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3810000"/>
            <a:ext cx="4724400" cy="2286000"/>
          </a:xfrm>
          <a:prstGeom prst="rect">
            <a:avLst/>
          </a:prstGeom>
        </p:spPr>
      </p:pic>
      <p:pic>
        <p:nvPicPr>
          <p:cNvPr id="14" name="Picture 13">
            <a:extLst>
              <a:ext uri="{FF2B5EF4-FFF2-40B4-BE49-F238E27FC236}">
                <a16:creationId xmlns:a16="http://schemas.microsoft.com/office/drawing/2014/main" id="{4D13709B-8726-D328-A370-1BB7C4161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164" y="3810564"/>
            <a:ext cx="4657436" cy="2285436"/>
          </a:xfrm>
          <a:prstGeom prst="rect">
            <a:avLst/>
          </a:prstGeom>
        </p:spPr>
      </p:pic>
    </p:spTree>
    <p:extLst>
      <p:ext uri="{BB962C8B-B14F-4D97-AF65-F5344CB8AC3E}">
        <p14:creationId xmlns:p14="http://schemas.microsoft.com/office/powerpoint/2010/main" val="11059523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2FF2-E79A-F05B-5E3D-6714F07D7263}"/>
              </a:ext>
            </a:extLst>
          </p:cNvPr>
          <p:cNvSpPr>
            <a:spLocks noGrp="1"/>
          </p:cNvSpPr>
          <p:nvPr>
            <p:ph type="title"/>
          </p:nvPr>
        </p:nvSpPr>
        <p:spPr>
          <a:xfrm>
            <a:off x="228600" y="685800"/>
            <a:ext cx="9343567" cy="430887"/>
          </a:xfrm>
        </p:spPr>
        <p:txBody>
          <a:bodyPr/>
          <a:lstStyle/>
          <a:p>
            <a:r>
              <a:rPr lang="en-US" dirty="0"/>
              <a:t>How does Wing Work?</a:t>
            </a:r>
          </a:p>
        </p:txBody>
      </p:sp>
      <p:pic>
        <p:nvPicPr>
          <p:cNvPr id="3" name="Online Media 2" title="How Does A Wing Actually Work?">
            <a:hlinkClick r:id="" action="ppaction://media"/>
            <a:extLst>
              <a:ext uri="{FF2B5EF4-FFF2-40B4-BE49-F238E27FC236}">
                <a16:creationId xmlns:a16="http://schemas.microsoft.com/office/drawing/2014/main" id="{8F246763-20AB-0DD2-3062-E69ECF56619D}"/>
              </a:ext>
            </a:extLst>
          </p:cNvPr>
          <p:cNvPicPr>
            <a:picLocks noRot="1" noChangeAspect="1"/>
          </p:cNvPicPr>
          <p:nvPr>
            <a:videoFile r:link="rId1"/>
          </p:nvPr>
        </p:nvPicPr>
        <p:blipFill>
          <a:blip r:embed="rId3"/>
          <a:stretch>
            <a:fillRect/>
          </a:stretch>
        </p:blipFill>
        <p:spPr>
          <a:xfrm>
            <a:off x="1524000" y="1447800"/>
            <a:ext cx="8737600" cy="4936744"/>
          </a:xfrm>
          <a:prstGeom prst="rect">
            <a:avLst/>
          </a:prstGeom>
        </p:spPr>
      </p:pic>
    </p:spTree>
    <p:extLst>
      <p:ext uri="{BB962C8B-B14F-4D97-AF65-F5344CB8AC3E}">
        <p14:creationId xmlns:p14="http://schemas.microsoft.com/office/powerpoint/2010/main" val="11739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A837E-4767-7064-1310-8391FEBC8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E1476B-55D8-864A-B9EB-8F4148AAE161}"/>
              </a:ext>
            </a:extLst>
          </p:cNvPr>
          <p:cNvSpPr>
            <a:spLocks noGrp="1"/>
          </p:cNvSpPr>
          <p:nvPr>
            <p:ph type="title"/>
          </p:nvPr>
        </p:nvSpPr>
        <p:spPr>
          <a:xfrm>
            <a:off x="533400" y="457200"/>
            <a:ext cx="9067800" cy="430887"/>
          </a:xfrm>
        </p:spPr>
        <p:txBody>
          <a:bodyPr/>
          <a:lstStyle/>
          <a:p>
            <a:r>
              <a:rPr lang="en-IN" dirty="0"/>
              <a:t>Aerodynamics: </a:t>
            </a:r>
            <a:r>
              <a:rPr lang="en-US" dirty="0"/>
              <a:t>Critical Analysis of Teardrop </a:t>
            </a:r>
            <a:endParaRPr lang="en-IN" dirty="0"/>
          </a:p>
        </p:txBody>
      </p:sp>
      <p:sp>
        <p:nvSpPr>
          <p:cNvPr id="3" name="TextBox 2">
            <a:extLst>
              <a:ext uri="{FF2B5EF4-FFF2-40B4-BE49-F238E27FC236}">
                <a16:creationId xmlns:a16="http://schemas.microsoft.com/office/drawing/2014/main" id="{23B21735-3582-8C2F-894A-91F0AC48CA1F}"/>
              </a:ext>
            </a:extLst>
          </p:cNvPr>
          <p:cNvSpPr txBox="1"/>
          <p:nvPr/>
        </p:nvSpPr>
        <p:spPr>
          <a:xfrm>
            <a:off x="304800" y="1524000"/>
            <a:ext cx="11582400" cy="1200329"/>
          </a:xfrm>
          <a:prstGeom prst="rect">
            <a:avLst/>
          </a:prstGeom>
          <a:noFill/>
        </p:spPr>
        <p:txBody>
          <a:bodyPr wrap="square" rtlCol="0">
            <a:spAutoFit/>
          </a:bodyPr>
          <a:lstStyle/>
          <a:p>
            <a:pPr algn="just"/>
            <a:r>
              <a:rPr lang="en-US" b="1" u="sng" dirty="0"/>
              <a:t>Critical Analysis of Teardrop shape</a:t>
            </a:r>
            <a:r>
              <a:rPr lang="en-US" b="1" dirty="0"/>
              <a:t>: </a:t>
            </a:r>
            <a:r>
              <a:rPr lang="en-US" dirty="0"/>
              <a:t>This shape can be seen everywhere in the nature that has some level of interaction with the fluids (can be liquid or air). This can be seen in both Aerodynamics and Hydrodynamics, nature too always tend to take the teardrop shape- this can be seen in birds (in flight) like Swallow or Swifts, in fishes like Tuna or Sharks, they all evolved to take the teardrop shape to be fast and agile. </a:t>
            </a:r>
            <a:endParaRPr lang="en-US" b="1" dirty="0"/>
          </a:p>
        </p:txBody>
      </p:sp>
      <p:pic>
        <p:nvPicPr>
          <p:cNvPr id="5" name="Picture 4">
            <a:extLst>
              <a:ext uri="{FF2B5EF4-FFF2-40B4-BE49-F238E27FC236}">
                <a16:creationId xmlns:a16="http://schemas.microsoft.com/office/drawing/2014/main" id="{E9C0E8CC-67BC-71B3-DEA2-20E3D63C8D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278" y="2724329"/>
            <a:ext cx="1905000" cy="2265655"/>
          </a:xfrm>
          <a:prstGeom prst="rect">
            <a:avLst/>
          </a:prstGeom>
        </p:spPr>
      </p:pic>
      <p:pic>
        <p:nvPicPr>
          <p:cNvPr id="7" name="Picture 6">
            <a:extLst>
              <a:ext uri="{FF2B5EF4-FFF2-40B4-BE49-F238E27FC236}">
                <a16:creationId xmlns:a16="http://schemas.microsoft.com/office/drawing/2014/main" id="{95D577EA-1B38-5E93-2E3F-5C207FD8E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0784" y="2751426"/>
            <a:ext cx="3387095" cy="1896773"/>
          </a:xfrm>
          <a:prstGeom prst="rect">
            <a:avLst/>
          </a:prstGeom>
        </p:spPr>
      </p:pic>
      <p:pic>
        <p:nvPicPr>
          <p:cNvPr id="9" name="Picture 8">
            <a:extLst>
              <a:ext uri="{FF2B5EF4-FFF2-40B4-BE49-F238E27FC236}">
                <a16:creationId xmlns:a16="http://schemas.microsoft.com/office/drawing/2014/main" id="{2C992EF9-787D-1AEA-9989-6A52CB8468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2786" y="4759725"/>
            <a:ext cx="3323490" cy="1600199"/>
          </a:xfrm>
          <a:prstGeom prst="rect">
            <a:avLst/>
          </a:prstGeom>
        </p:spPr>
      </p:pic>
      <p:pic>
        <p:nvPicPr>
          <p:cNvPr id="11" name="Picture 10">
            <a:extLst>
              <a:ext uri="{FF2B5EF4-FFF2-40B4-BE49-F238E27FC236}">
                <a16:creationId xmlns:a16="http://schemas.microsoft.com/office/drawing/2014/main" id="{2A37BA1F-F8CA-5FDC-7739-D41B820B28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02786" y="2751427"/>
            <a:ext cx="2514600" cy="1981200"/>
          </a:xfrm>
          <a:prstGeom prst="rect">
            <a:avLst/>
          </a:prstGeom>
        </p:spPr>
      </p:pic>
      <p:pic>
        <p:nvPicPr>
          <p:cNvPr id="15" name="Picture 14">
            <a:extLst>
              <a:ext uri="{FF2B5EF4-FFF2-40B4-BE49-F238E27FC236}">
                <a16:creationId xmlns:a16="http://schemas.microsoft.com/office/drawing/2014/main" id="{372E6044-365D-22EF-01A3-45A78C1275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0784" y="4732627"/>
            <a:ext cx="3323490" cy="1627297"/>
          </a:xfrm>
          <a:prstGeom prst="rect">
            <a:avLst/>
          </a:prstGeom>
        </p:spPr>
      </p:pic>
      <p:pic>
        <p:nvPicPr>
          <p:cNvPr id="17" name="Picture 16">
            <a:extLst>
              <a:ext uri="{FF2B5EF4-FFF2-40B4-BE49-F238E27FC236}">
                <a16:creationId xmlns:a16="http://schemas.microsoft.com/office/drawing/2014/main" id="{614930CE-F876-EC45-1EFA-B6D66005F6C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585036" y="2751426"/>
            <a:ext cx="2489073" cy="3608497"/>
          </a:xfrm>
          <a:prstGeom prst="rect">
            <a:avLst/>
          </a:prstGeom>
        </p:spPr>
      </p:pic>
    </p:spTree>
    <p:extLst>
      <p:ext uri="{BB962C8B-B14F-4D97-AF65-F5344CB8AC3E}">
        <p14:creationId xmlns:p14="http://schemas.microsoft.com/office/powerpoint/2010/main" val="2482920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EEA23-7C45-595F-0E53-73F8BAD7B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70294-E4D3-669D-A429-D3541419628B}"/>
              </a:ext>
            </a:extLst>
          </p:cNvPr>
          <p:cNvSpPr>
            <a:spLocks noGrp="1"/>
          </p:cNvSpPr>
          <p:nvPr>
            <p:ph type="title"/>
          </p:nvPr>
        </p:nvSpPr>
        <p:spPr>
          <a:xfrm>
            <a:off x="533400" y="457200"/>
            <a:ext cx="9067800" cy="430887"/>
          </a:xfrm>
        </p:spPr>
        <p:txBody>
          <a:bodyPr/>
          <a:lstStyle/>
          <a:p>
            <a:r>
              <a:rPr lang="en-IN" dirty="0"/>
              <a:t>Aerodynamics: </a:t>
            </a:r>
            <a:r>
              <a:rPr lang="en-US" dirty="0"/>
              <a:t>Critical Analysis of Teardrop</a:t>
            </a:r>
            <a:endParaRPr lang="en-IN" dirty="0"/>
          </a:p>
        </p:txBody>
      </p:sp>
      <p:sp>
        <p:nvSpPr>
          <p:cNvPr id="3" name="TextBox 2">
            <a:extLst>
              <a:ext uri="{FF2B5EF4-FFF2-40B4-BE49-F238E27FC236}">
                <a16:creationId xmlns:a16="http://schemas.microsoft.com/office/drawing/2014/main" id="{19D0F30F-73F7-BDEF-0602-0B6ECA21807B}"/>
              </a:ext>
            </a:extLst>
          </p:cNvPr>
          <p:cNvSpPr txBox="1"/>
          <p:nvPr/>
        </p:nvSpPr>
        <p:spPr>
          <a:xfrm>
            <a:off x="304800" y="1524000"/>
            <a:ext cx="11582400" cy="646331"/>
          </a:xfrm>
          <a:prstGeom prst="rect">
            <a:avLst/>
          </a:prstGeom>
          <a:noFill/>
        </p:spPr>
        <p:txBody>
          <a:bodyPr wrap="square" rtlCol="0">
            <a:spAutoFit/>
          </a:bodyPr>
          <a:lstStyle/>
          <a:p>
            <a:pPr algn="just"/>
            <a:r>
              <a:rPr lang="en-US" b="1" u="sng" dirty="0"/>
              <a:t>Critical Analysis of Teardrop shape</a:t>
            </a:r>
            <a:r>
              <a:rPr lang="en-US" b="1" dirty="0"/>
              <a:t>: </a:t>
            </a:r>
            <a:r>
              <a:rPr lang="en-US" dirty="0"/>
              <a:t>But why did the teardrop shape became the most streamlined shape in nature? Let’s start from the most basic shape in the nature- A Sphere. </a:t>
            </a:r>
            <a:endParaRPr lang="en-US" b="1" dirty="0"/>
          </a:p>
        </p:txBody>
      </p:sp>
      <p:pic>
        <p:nvPicPr>
          <p:cNvPr id="6" name="Picture 5">
            <a:extLst>
              <a:ext uri="{FF2B5EF4-FFF2-40B4-BE49-F238E27FC236}">
                <a16:creationId xmlns:a16="http://schemas.microsoft.com/office/drawing/2014/main" id="{7B61349B-A64B-D645-D77B-60E6BD927EFE}"/>
              </a:ext>
            </a:extLst>
          </p:cNvPr>
          <p:cNvPicPr>
            <a:picLocks noChangeAspect="1"/>
          </p:cNvPicPr>
          <p:nvPr/>
        </p:nvPicPr>
        <p:blipFill>
          <a:blip r:embed="rId2"/>
          <a:stretch>
            <a:fillRect/>
          </a:stretch>
        </p:blipFill>
        <p:spPr>
          <a:xfrm>
            <a:off x="5791200" y="2286001"/>
            <a:ext cx="5410200" cy="3592776"/>
          </a:xfrm>
          <a:prstGeom prst="rect">
            <a:avLst/>
          </a:prstGeom>
        </p:spPr>
      </p:pic>
      <p:sp>
        <p:nvSpPr>
          <p:cNvPr id="8" name="TextBox 7">
            <a:extLst>
              <a:ext uri="{FF2B5EF4-FFF2-40B4-BE49-F238E27FC236}">
                <a16:creationId xmlns:a16="http://schemas.microsoft.com/office/drawing/2014/main" id="{1D764740-4133-9D08-EA0F-C4A55D7630F9}"/>
              </a:ext>
            </a:extLst>
          </p:cNvPr>
          <p:cNvSpPr txBox="1"/>
          <p:nvPr/>
        </p:nvSpPr>
        <p:spPr>
          <a:xfrm>
            <a:off x="304800" y="2890915"/>
            <a:ext cx="5410200" cy="1754326"/>
          </a:xfrm>
          <a:prstGeom prst="rect">
            <a:avLst/>
          </a:prstGeom>
          <a:noFill/>
        </p:spPr>
        <p:txBody>
          <a:bodyPr wrap="square" rtlCol="0">
            <a:spAutoFit/>
          </a:bodyPr>
          <a:lstStyle/>
          <a:p>
            <a:pPr algn="l"/>
            <a:r>
              <a:rPr lang="en-US" dirty="0"/>
              <a:t>The Wind Direction, in the image, is from Right to Left and as we can see, the wind pressure is not smooth at the back of the ball, making it a little less aerodynamic, as compared to the golf balls. Smoother the pressure difference at the back of the object, lesser the drag</a:t>
            </a:r>
          </a:p>
        </p:txBody>
      </p:sp>
      <p:sp>
        <p:nvSpPr>
          <p:cNvPr id="13" name="Arrow: Right 12">
            <a:extLst>
              <a:ext uri="{FF2B5EF4-FFF2-40B4-BE49-F238E27FC236}">
                <a16:creationId xmlns:a16="http://schemas.microsoft.com/office/drawing/2014/main" id="{7841E8B6-FEFE-D00A-9912-1DB3AC9F7CCF}"/>
              </a:ext>
            </a:extLst>
          </p:cNvPr>
          <p:cNvSpPr/>
          <p:nvPr/>
        </p:nvSpPr>
        <p:spPr>
          <a:xfrm>
            <a:off x="6116320" y="4953000"/>
            <a:ext cx="1654074" cy="5379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Coanda Effect</a:t>
            </a:r>
          </a:p>
        </p:txBody>
      </p:sp>
      <p:sp>
        <p:nvSpPr>
          <p:cNvPr id="4" name="TextBox 3">
            <a:extLst>
              <a:ext uri="{FF2B5EF4-FFF2-40B4-BE49-F238E27FC236}">
                <a16:creationId xmlns:a16="http://schemas.microsoft.com/office/drawing/2014/main" id="{30ABBC94-1DCA-9590-A11D-EC508062C3FF}"/>
              </a:ext>
            </a:extLst>
          </p:cNvPr>
          <p:cNvSpPr txBox="1"/>
          <p:nvPr/>
        </p:nvSpPr>
        <p:spPr>
          <a:xfrm>
            <a:off x="5379618" y="5878777"/>
            <a:ext cx="6233363" cy="923330"/>
          </a:xfrm>
          <a:prstGeom prst="rect">
            <a:avLst/>
          </a:prstGeom>
          <a:noFill/>
        </p:spPr>
        <p:txBody>
          <a:bodyPr wrap="square" rtlCol="0">
            <a:spAutoFit/>
          </a:bodyPr>
          <a:lstStyle/>
          <a:p>
            <a:pPr algn="ctr"/>
            <a:r>
              <a:rPr lang="en-US" b="1" i="1" dirty="0"/>
              <a:t>The Wind Tunnel test of the 2014 FIFA World Cup </a:t>
            </a:r>
          </a:p>
          <a:p>
            <a:pPr algn="ctr"/>
            <a:r>
              <a:rPr lang="en-US" b="1" i="1" dirty="0"/>
              <a:t>Also known as the Brazuca Ball. </a:t>
            </a:r>
          </a:p>
          <a:p>
            <a:endParaRPr lang="en-US" dirty="0"/>
          </a:p>
        </p:txBody>
      </p:sp>
    </p:spTree>
    <p:extLst>
      <p:ext uri="{BB962C8B-B14F-4D97-AF65-F5344CB8AC3E}">
        <p14:creationId xmlns:p14="http://schemas.microsoft.com/office/powerpoint/2010/main" val="1289651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7889-0D30-86D1-46BD-0FF1C42A9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2537B-D39B-C299-085A-F0C41ED18286}"/>
              </a:ext>
            </a:extLst>
          </p:cNvPr>
          <p:cNvSpPr>
            <a:spLocks noGrp="1"/>
          </p:cNvSpPr>
          <p:nvPr>
            <p:ph type="title"/>
          </p:nvPr>
        </p:nvSpPr>
        <p:spPr>
          <a:xfrm>
            <a:off x="533400" y="457200"/>
            <a:ext cx="9067800" cy="430887"/>
          </a:xfrm>
        </p:spPr>
        <p:txBody>
          <a:bodyPr/>
          <a:lstStyle/>
          <a:p>
            <a:r>
              <a:rPr lang="en-IN" dirty="0"/>
              <a:t>Aerodynamics: </a:t>
            </a:r>
            <a:r>
              <a:rPr lang="en-US" dirty="0"/>
              <a:t>Critical Analysis of Teardrop</a:t>
            </a:r>
            <a:endParaRPr lang="en-IN" dirty="0"/>
          </a:p>
        </p:txBody>
      </p:sp>
      <p:sp>
        <p:nvSpPr>
          <p:cNvPr id="5" name="TextBox 4">
            <a:extLst>
              <a:ext uri="{FF2B5EF4-FFF2-40B4-BE49-F238E27FC236}">
                <a16:creationId xmlns:a16="http://schemas.microsoft.com/office/drawing/2014/main" id="{949CCB0E-E366-134D-C5F3-0334AFEB4526}"/>
              </a:ext>
            </a:extLst>
          </p:cNvPr>
          <p:cNvSpPr txBox="1"/>
          <p:nvPr/>
        </p:nvSpPr>
        <p:spPr>
          <a:xfrm>
            <a:off x="304800" y="1600201"/>
            <a:ext cx="11506200" cy="646331"/>
          </a:xfrm>
          <a:prstGeom prst="rect">
            <a:avLst/>
          </a:prstGeom>
          <a:noFill/>
        </p:spPr>
        <p:txBody>
          <a:bodyPr wrap="square" rtlCol="0">
            <a:spAutoFit/>
          </a:bodyPr>
          <a:lstStyle/>
          <a:p>
            <a:r>
              <a:rPr lang="en-US" b="1" dirty="0"/>
              <a:t>Coanda effect: </a:t>
            </a:r>
            <a:r>
              <a:rPr lang="en-US" dirty="0"/>
              <a:t>The tendency of a fluid to “Stick“ to the object’s surface and flow along its curvature is called Coanda effect. </a:t>
            </a:r>
            <a:endParaRPr lang="en-US" b="1" dirty="0"/>
          </a:p>
        </p:txBody>
      </p:sp>
      <p:pic>
        <p:nvPicPr>
          <p:cNvPr id="6" name="Picture 5">
            <a:extLst>
              <a:ext uri="{FF2B5EF4-FFF2-40B4-BE49-F238E27FC236}">
                <a16:creationId xmlns:a16="http://schemas.microsoft.com/office/drawing/2014/main" id="{5D67BE26-46FF-5204-D081-C260FB4242C0}"/>
              </a:ext>
            </a:extLst>
          </p:cNvPr>
          <p:cNvPicPr>
            <a:picLocks noChangeAspect="1"/>
          </p:cNvPicPr>
          <p:nvPr/>
        </p:nvPicPr>
        <p:blipFill>
          <a:blip r:embed="rId2"/>
          <a:stretch>
            <a:fillRect/>
          </a:stretch>
        </p:blipFill>
        <p:spPr>
          <a:xfrm>
            <a:off x="4343400" y="2057400"/>
            <a:ext cx="7467600" cy="3598905"/>
          </a:xfrm>
          <a:prstGeom prst="rect">
            <a:avLst/>
          </a:prstGeom>
        </p:spPr>
      </p:pic>
      <p:sp>
        <p:nvSpPr>
          <p:cNvPr id="9" name="TextBox 8">
            <a:extLst>
              <a:ext uri="{FF2B5EF4-FFF2-40B4-BE49-F238E27FC236}">
                <a16:creationId xmlns:a16="http://schemas.microsoft.com/office/drawing/2014/main" id="{278B08F7-AF1D-4826-9EE6-73A66F9272EA}"/>
              </a:ext>
            </a:extLst>
          </p:cNvPr>
          <p:cNvSpPr txBox="1"/>
          <p:nvPr/>
        </p:nvSpPr>
        <p:spPr>
          <a:xfrm>
            <a:off x="304800" y="2287191"/>
            <a:ext cx="3657600" cy="3416320"/>
          </a:xfrm>
          <a:prstGeom prst="rect">
            <a:avLst/>
          </a:prstGeom>
          <a:noFill/>
        </p:spPr>
        <p:txBody>
          <a:bodyPr wrap="square">
            <a:spAutoFit/>
          </a:bodyPr>
          <a:lstStyle/>
          <a:p>
            <a:endParaRPr lang="en-US" dirty="0"/>
          </a:p>
          <a:p>
            <a:r>
              <a:rPr lang="en-US" dirty="0"/>
              <a:t>In this image, the Basketball’s curvature is affecting the flow of air, the wind is being curved with the curve of the ball. </a:t>
            </a:r>
            <a:br>
              <a:rPr lang="en-US" dirty="0"/>
            </a:br>
            <a:endParaRPr lang="en-US" dirty="0"/>
          </a:p>
          <a:p>
            <a:br>
              <a:rPr lang="en-US" dirty="0"/>
            </a:br>
            <a:r>
              <a:rPr lang="en-US" dirty="0"/>
              <a:t>Due to this, the lift is possible, aerodynamically, in wings. The wind will “stick” to the upper surface of the wing and flow to the trailing end of the wing. </a:t>
            </a:r>
          </a:p>
        </p:txBody>
      </p:sp>
      <p:sp>
        <p:nvSpPr>
          <p:cNvPr id="22" name="Arrow: U-Turn 21">
            <a:extLst>
              <a:ext uri="{FF2B5EF4-FFF2-40B4-BE49-F238E27FC236}">
                <a16:creationId xmlns:a16="http://schemas.microsoft.com/office/drawing/2014/main" id="{9BE689F1-846C-CCC8-1AA7-BDCC54851836}"/>
              </a:ext>
            </a:extLst>
          </p:cNvPr>
          <p:cNvSpPr/>
          <p:nvPr/>
        </p:nvSpPr>
        <p:spPr>
          <a:xfrm>
            <a:off x="6553200" y="2729131"/>
            <a:ext cx="3048000" cy="739594"/>
          </a:xfrm>
          <a:prstGeom prst="uturnArrow">
            <a:avLst>
              <a:gd name="adj1" fmla="val 8515"/>
              <a:gd name="adj2" fmla="val 25000"/>
              <a:gd name="adj3" fmla="val 37091"/>
              <a:gd name="adj4" fmla="val 43750"/>
              <a:gd name="adj5" fmla="val 100000"/>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41685936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165CC-B2CF-27BF-17B1-0B3431A82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7D2D8-42AD-2044-8377-CC97B30BCC57}"/>
              </a:ext>
            </a:extLst>
          </p:cNvPr>
          <p:cNvSpPr>
            <a:spLocks noGrp="1"/>
          </p:cNvSpPr>
          <p:nvPr>
            <p:ph type="title"/>
          </p:nvPr>
        </p:nvSpPr>
        <p:spPr>
          <a:xfrm>
            <a:off x="533400" y="457200"/>
            <a:ext cx="9067800" cy="430887"/>
          </a:xfrm>
        </p:spPr>
        <p:txBody>
          <a:bodyPr/>
          <a:lstStyle/>
          <a:p>
            <a:r>
              <a:rPr lang="en-IN" dirty="0"/>
              <a:t>Aerodynamics: </a:t>
            </a:r>
            <a:r>
              <a:rPr lang="en-US" dirty="0"/>
              <a:t>Critical Analysis of Teardrop</a:t>
            </a:r>
            <a:endParaRPr lang="en-IN" dirty="0"/>
          </a:p>
        </p:txBody>
      </p:sp>
      <p:sp>
        <p:nvSpPr>
          <p:cNvPr id="5" name="TextBox 4">
            <a:extLst>
              <a:ext uri="{FF2B5EF4-FFF2-40B4-BE49-F238E27FC236}">
                <a16:creationId xmlns:a16="http://schemas.microsoft.com/office/drawing/2014/main" id="{7A9BAFE6-BA3E-4595-30A2-3E65FE851B9C}"/>
              </a:ext>
            </a:extLst>
          </p:cNvPr>
          <p:cNvSpPr txBox="1"/>
          <p:nvPr/>
        </p:nvSpPr>
        <p:spPr>
          <a:xfrm>
            <a:off x="304800" y="1600201"/>
            <a:ext cx="11506200" cy="1754326"/>
          </a:xfrm>
          <a:prstGeom prst="rect">
            <a:avLst/>
          </a:prstGeom>
          <a:noFill/>
        </p:spPr>
        <p:txBody>
          <a:bodyPr wrap="square" rtlCol="0">
            <a:spAutoFit/>
          </a:bodyPr>
          <a:lstStyle/>
          <a:p>
            <a:r>
              <a:rPr lang="en-US" b="1" dirty="0"/>
              <a:t>Coanda effect: </a:t>
            </a:r>
            <a:r>
              <a:rPr lang="en-US" dirty="0"/>
              <a:t>This can also be seen other places, the frustrating moment when the coffee sticks to the cup and flow with the cup’s surface rather than pouring down into the other cup below directly. </a:t>
            </a:r>
          </a:p>
          <a:p>
            <a:endParaRPr lang="en-US" b="1" dirty="0"/>
          </a:p>
          <a:p>
            <a:r>
              <a:rPr lang="en-US" dirty="0"/>
              <a:t>The same principle is also seen in the aerodynamics of the wings; in the most photos we see about it. This is one of the main reason why the wind “sticks“ to the wing on the upper surface even though intuitively we think it would bounce off reflect like a beam of light. </a:t>
            </a:r>
          </a:p>
        </p:txBody>
      </p:sp>
      <p:pic>
        <p:nvPicPr>
          <p:cNvPr id="4" name="Picture 3">
            <a:extLst>
              <a:ext uri="{FF2B5EF4-FFF2-40B4-BE49-F238E27FC236}">
                <a16:creationId xmlns:a16="http://schemas.microsoft.com/office/drawing/2014/main" id="{5A8CC120-39D5-C473-DAF6-62C7E94EA192}"/>
              </a:ext>
            </a:extLst>
          </p:cNvPr>
          <p:cNvPicPr>
            <a:picLocks noChangeAspect="1"/>
          </p:cNvPicPr>
          <p:nvPr/>
        </p:nvPicPr>
        <p:blipFill>
          <a:blip r:embed="rId2"/>
          <a:stretch>
            <a:fillRect/>
          </a:stretch>
        </p:blipFill>
        <p:spPr>
          <a:xfrm>
            <a:off x="304800" y="3383280"/>
            <a:ext cx="5486400" cy="2853940"/>
          </a:xfrm>
          <a:prstGeom prst="rect">
            <a:avLst/>
          </a:prstGeom>
        </p:spPr>
      </p:pic>
      <p:pic>
        <p:nvPicPr>
          <p:cNvPr id="7" name="Picture 6">
            <a:extLst>
              <a:ext uri="{FF2B5EF4-FFF2-40B4-BE49-F238E27FC236}">
                <a16:creationId xmlns:a16="http://schemas.microsoft.com/office/drawing/2014/main" id="{F50DF7B0-2A15-F75B-95E2-D21180BB44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7739" y="3429000"/>
            <a:ext cx="5803655" cy="2808220"/>
          </a:xfrm>
          <a:prstGeom prst="rect">
            <a:avLst/>
          </a:prstGeom>
        </p:spPr>
      </p:pic>
    </p:spTree>
    <p:extLst>
      <p:ext uri="{BB962C8B-B14F-4D97-AF65-F5344CB8AC3E}">
        <p14:creationId xmlns:p14="http://schemas.microsoft.com/office/powerpoint/2010/main" val="35503159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75B08-FF88-A51A-3896-D5310B1A1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A8FED-1D48-9B48-D122-49BD7AB58C4D}"/>
              </a:ext>
            </a:extLst>
          </p:cNvPr>
          <p:cNvSpPr>
            <a:spLocks noGrp="1"/>
          </p:cNvSpPr>
          <p:nvPr>
            <p:ph type="title"/>
          </p:nvPr>
        </p:nvSpPr>
        <p:spPr>
          <a:xfrm>
            <a:off x="533400" y="457200"/>
            <a:ext cx="9067800" cy="430887"/>
          </a:xfrm>
        </p:spPr>
        <p:txBody>
          <a:bodyPr/>
          <a:lstStyle/>
          <a:p>
            <a:r>
              <a:rPr lang="en-IN" dirty="0"/>
              <a:t>Aerodynamics: </a:t>
            </a:r>
            <a:r>
              <a:rPr lang="en-US" dirty="0"/>
              <a:t>Critical Analysis of Teardrop</a:t>
            </a:r>
            <a:endParaRPr lang="en-IN" dirty="0"/>
          </a:p>
        </p:txBody>
      </p:sp>
      <p:sp>
        <p:nvSpPr>
          <p:cNvPr id="3" name="TextBox 2">
            <a:extLst>
              <a:ext uri="{FF2B5EF4-FFF2-40B4-BE49-F238E27FC236}">
                <a16:creationId xmlns:a16="http://schemas.microsoft.com/office/drawing/2014/main" id="{5573C6B4-C04D-34B2-4AAB-E4CA1838E072}"/>
              </a:ext>
            </a:extLst>
          </p:cNvPr>
          <p:cNvSpPr txBox="1"/>
          <p:nvPr/>
        </p:nvSpPr>
        <p:spPr>
          <a:xfrm>
            <a:off x="304800" y="1524000"/>
            <a:ext cx="11582400" cy="646331"/>
          </a:xfrm>
          <a:prstGeom prst="rect">
            <a:avLst/>
          </a:prstGeom>
          <a:noFill/>
        </p:spPr>
        <p:txBody>
          <a:bodyPr wrap="square" rtlCol="0">
            <a:spAutoFit/>
          </a:bodyPr>
          <a:lstStyle/>
          <a:p>
            <a:pPr algn="just"/>
            <a:r>
              <a:rPr lang="en-US" b="1" u="sng" dirty="0"/>
              <a:t>Critical Analysis of Teardrop shape</a:t>
            </a:r>
            <a:r>
              <a:rPr lang="en-US" b="1" dirty="0"/>
              <a:t>: </a:t>
            </a:r>
            <a:r>
              <a:rPr lang="en-US" dirty="0"/>
              <a:t>The drag on an object depends on how small the Wake Region is (Behind the object). The Coanda Effect is negligible on the smooth ball. </a:t>
            </a:r>
            <a:endParaRPr lang="en-US" b="1" dirty="0"/>
          </a:p>
        </p:txBody>
      </p:sp>
      <p:sp>
        <p:nvSpPr>
          <p:cNvPr id="8" name="TextBox 7">
            <a:extLst>
              <a:ext uri="{FF2B5EF4-FFF2-40B4-BE49-F238E27FC236}">
                <a16:creationId xmlns:a16="http://schemas.microsoft.com/office/drawing/2014/main" id="{863D3794-0E55-1A2F-F6DD-B546D7C9A157}"/>
              </a:ext>
            </a:extLst>
          </p:cNvPr>
          <p:cNvSpPr txBox="1"/>
          <p:nvPr/>
        </p:nvSpPr>
        <p:spPr>
          <a:xfrm>
            <a:off x="304800" y="2286000"/>
            <a:ext cx="5105401" cy="3970318"/>
          </a:xfrm>
          <a:prstGeom prst="rect">
            <a:avLst/>
          </a:prstGeom>
          <a:noFill/>
        </p:spPr>
        <p:txBody>
          <a:bodyPr wrap="square" rtlCol="0">
            <a:spAutoFit/>
          </a:bodyPr>
          <a:lstStyle/>
          <a:p>
            <a:r>
              <a:rPr lang="en-US" dirty="0"/>
              <a:t>The difference between these two balls will be discussed in the upcoming slides</a:t>
            </a:r>
          </a:p>
          <a:p>
            <a:endParaRPr lang="en-US" dirty="0"/>
          </a:p>
          <a:p>
            <a:r>
              <a:rPr lang="en-US" b="1" dirty="0"/>
              <a:t>Wake Region:</a:t>
            </a:r>
            <a:r>
              <a:rPr lang="en-US" dirty="0"/>
              <a:t> Turbulent, low pressured air caused by the </a:t>
            </a:r>
            <a:r>
              <a:rPr lang="en-US" b="1" dirty="0"/>
              <a:t>Separation</a:t>
            </a:r>
            <a:r>
              <a:rPr lang="en-US" dirty="0"/>
              <a:t> of the Air from the surface of the object</a:t>
            </a:r>
            <a:br>
              <a:rPr lang="en-US" dirty="0"/>
            </a:br>
            <a:br>
              <a:rPr lang="en-US" dirty="0"/>
            </a:br>
            <a:r>
              <a:rPr lang="en-US" dirty="0"/>
              <a:t>The major difference here is the </a:t>
            </a:r>
            <a:r>
              <a:rPr lang="en-US" b="1" dirty="0"/>
              <a:t>Separation</a:t>
            </a:r>
            <a:r>
              <a:rPr lang="en-US" dirty="0"/>
              <a:t> of the wind from the surface of the ball. This is the most crucial part of Aerospace Engineering as this one property vaguely means </a:t>
            </a:r>
          </a:p>
          <a:p>
            <a:r>
              <a:rPr lang="en-US" b="1" u="sng" dirty="0"/>
              <a:t>Smaller the Wake Region = Lesser the Drag</a:t>
            </a:r>
          </a:p>
          <a:p>
            <a:r>
              <a:rPr lang="en-US" dirty="0"/>
              <a:t>and as drone designers/aerodynamicist we need the drag to be minimum. </a:t>
            </a:r>
          </a:p>
        </p:txBody>
      </p:sp>
      <p:pic>
        <p:nvPicPr>
          <p:cNvPr id="9" name="Picture 8">
            <a:extLst>
              <a:ext uri="{FF2B5EF4-FFF2-40B4-BE49-F238E27FC236}">
                <a16:creationId xmlns:a16="http://schemas.microsoft.com/office/drawing/2014/main" id="{6F04CC50-F722-6116-DB08-A212347C55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8600" y="1999565"/>
            <a:ext cx="3735616" cy="4401235"/>
          </a:xfrm>
          <a:prstGeom prst="rect">
            <a:avLst/>
          </a:prstGeom>
        </p:spPr>
      </p:pic>
    </p:spTree>
    <p:extLst>
      <p:ext uri="{BB962C8B-B14F-4D97-AF65-F5344CB8AC3E}">
        <p14:creationId xmlns:p14="http://schemas.microsoft.com/office/powerpoint/2010/main" val="16431416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88C4D-610D-49B6-1F59-724B502D1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5DA2C-DE0D-1C1C-FFD2-955413971853}"/>
              </a:ext>
            </a:extLst>
          </p:cNvPr>
          <p:cNvSpPr>
            <a:spLocks noGrp="1"/>
          </p:cNvSpPr>
          <p:nvPr>
            <p:ph type="title"/>
          </p:nvPr>
        </p:nvSpPr>
        <p:spPr>
          <a:xfrm>
            <a:off x="533400" y="457200"/>
            <a:ext cx="9067800" cy="430887"/>
          </a:xfrm>
        </p:spPr>
        <p:txBody>
          <a:bodyPr/>
          <a:lstStyle/>
          <a:p>
            <a:r>
              <a:rPr lang="en-IN" dirty="0"/>
              <a:t>Aerodynamics: </a:t>
            </a:r>
            <a:r>
              <a:rPr lang="en-US" dirty="0"/>
              <a:t>Critical Analysis of Teardrop</a:t>
            </a:r>
            <a:endParaRPr lang="en-IN" dirty="0"/>
          </a:p>
        </p:txBody>
      </p:sp>
      <p:sp>
        <p:nvSpPr>
          <p:cNvPr id="3" name="TextBox 2">
            <a:extLst>
              <a:ext uri="{FF2B5EF4-FFF2-40B4-BE49-F238E27FC236}">
                <a16:creationId xmlns:a16="http://schemas.microsoft.com/office/drawing/2014/main" id="{B1D59F1F-CD8E-46C7-B9F7-A539F83BA67C}"/>
              </a:ext>
            </a:extLst>
          </p:cNvPr>
          <p:cNvSpPr txBox="1"/>
          <p:nvPr/>
        </p:nvSpPr>
        <p:spPr>
          <a:xfrm>
            <a:off x="304800" y="1524000"/>
            <a:ext cx="11582400" cy="923330"/>
          </a:xfrm>
          <a:prstGeom prst="rect">
            <a:avLst/>
          </a:prstGeom>
          <a:noFill/>
        </p:spPr>
        <p:txBody>
          <a:bodyPr wrap="square" rtlCol="0">
            <a:spAutoFit/>
          </a:bodyPr>
          <a:lstStyle/>
          <a:p>
            <a:pPr algn="just"/>
            <a:r>
              <a:rPr lang="en-US" b="1" u="sng" dirty="0"/>
              <a:t>Separation and Wake Regions</a:t>
            </a:r>
            <a:r>
              <a:rPr lang="en-US" b="1" dirty="0"/>
              <a:t>: </a:t>
            </a:r>
            <a:r>
              <a:rPr lang="en-US" dirty="0"/>
              <a:t>Separation, as the name says, is the point where the wind “separates” from the surface of the object. The Wake Region is the region, starting from Separation (the wind in this region is turbulent, random and messy)</a:t>
            </a:r>
            <a:endParaRPr lang="en-US" b="1" dirty="0"/>
          </a:p>
        </p:txBody>
      </p:sp>
      <p:pic>
        <p:nvPicPr>
          <p:cNvPr id="13" name="Picture 12">
            <a:extLst>
              <a:ext uri="{FF2B5EF4-FFF2-40B4-BE49-F238E27FC236}">
                <a16:creationId xmlns:a16="http://schemas.microsoft.com/office/drawing/2014/main" id="{5C5701D2-F6E6-7D5A-6682-239170977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7600" y="2447330"/>
            <a:ext cx="3517813" cy="3899971"/>
          </a:xfrm>
          <a:prstGeom prst="rect">
            <a:avLst/>
          </a:prstGeom>
        </p:spPr>
      </p:pic>
      <p:sp>
        <p:nvSpPr>
          <p:cNvPr id="14" name="TextBox 13">
            <a:extLst>
              <a:ext uri="{FF2B5EF4-FFF2-40B4-BE49-F238E27FC236}">
                <a16:creationId xmlns:a16="http://schemas.microsoft.com/office/drawing/2014/main" id="{C20EF354-D546-D223-31AF-231C71D19AA9}"/>
              </a:ext>
            </a:extLst>
          </p:cNvPr>
          <p:cNvSpPr txBox="1"/>
          <p:nvPr/>
        </p:nvSpPr>
        <p:spPr>
          <a:xfrm>
            <a:off x="304800" y="2666999"/>
            <a:ext cx="6858000" cy="3970318"/>
          </a:xfrm>
          <a:prstGeom prst="rect">
            <a:avLst/>
          </a:prstGeom>
          <a:noFill/>
        </p:spPr>
        <p:txBody>
          <a:bodyPr wrap="square" rtlCol="0">
            <a:spAutoFit/>
          </a:bodyPr>
          <a:lstStyle/>
          <a:p>
            <a:r>
              <a:rPr lang="en-US" dirty="0"/>
              <a:t>Now if we start stretching out the sphere to make the Wake Region smaller (basically extending the surface of the sphere “backwards“/in the direction of the wind so that the Coanda effect can make the wind slide till the end of the wing so that there will be close to no separation, no Wake Region, hence reducing the drag.)</a:t>
            </a:r>
          </a:p>
          <a:p>
            <a:endParaRPr lang="en-US" dirty="0"/>
          </a:p>
          <a:p>
            <a:r>
              <a:rPr lang="en-US" dirty="0"/>
              <a:t>By doing this, we ended up with the </a:t>
            </a:r>
            <a:r>
              <a:rPr lang="en-US" b="1" dirty="0"/>
              <a:t>Teardrop shape</a:t>
            </a:r>
            <a:r>
              <a:rPr lang="en-US" dirty="0"/>
              <a:t> which not only uses the Coanda effect to reduce drag, it also has close to no separation and gives higher lift. </a:t>
            </a:r>
          </a:p>
          <a:p>
            <a:endParaRPr lang="en-US" dirty="0"/>
          </a:p>
          <a:p>
            <a:r>
              <a:rPr lang="en-US" b="1" dirty="0"/>
              <a:t>BUT, </a:t>
            </a:r>
            <a:r>
              <a:rPr lang="en-US" dirty="0"/>
              <a:t>it has close to no separation and no wake region only when the Angle of Attack (</a:t>
            </a:r>
            <a:r>
              <a:rPr lang="en-US" dirty="0" err="1"/>
              <a:t>AoA</a:t>
            </a:r>
            <a:r>
              <a:rPr lang="en-US" dirty="0"/>
              <a:t>) is nearly 0° also known as leveled to the wind flow.</a:t>
            </a:r>
          </a:p>
        </p:txBody>
      </p:sp>
    </p:spTree>
    <p:extLst>
      <p:ext uri="{BB962C8B-B14F-4D97-AF65-F5344CB8AC3E}">
        <p14:creationId xmlns:p14="http://schemas.microsoft.com/office/powerpoint/2010/main" val="40111278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D122-B4AA-5CC5-D999-7174F918A3AC}"/>
              </a:ext>
            </a:extLst>
          </p:cNvPr>
          <p:cNvSpPr>
            <a:spLocks noGrp="1"/>
          </p:cNvSpPr>
          <p:nvPr>
            <p:ph type="title"/>
          </p:nvPr>
        </p:nvSpPr>
        <p:spPr>
          <a:xfrm>
            <a:off x="152400" y="609600"/>
            <a:ext cx="9343567" cy="430887"/>
          </a:xfrm>
        </p:spPr>
        <p:txBody>
          <a:bodyPr/>
          <a:lstStyle/>
          <a:p>
            <a:r>
              <a:rPr lang="en-US" dirty="0"/>
              <a:t>Angle of Attack</a:t>
            </a:r>
          </a:p>
        </p:txBody>
      </p:sp>
      <p:pic>
        <p:nvPicPr>
          <p:cNvPr id="3" name="Online Media 2" title="What Is a Stall? Angle of Attack Explained">
            <a:hlinkClick r:id="" action="ppaction://media"/>
            <a:extLst>
              <a:ext uri="{FF2B5EF4-FFF2-40B4-BE49-F238E27FC236}">
                <a16:creationId xmlns:a16="http://schemas.microsoft.com/office/drawing/2014/main" id="{DA695798-97B5-6209-8348-85F765D41108}"/>
              </a:ext>
            </a:extLst>
          </p:cNvPr>
          <p:cNvPicPr>
            <a:picLocks noRot="1" noChangeAspect="1"/>
          </p:cNvPicPr>
          <p:nvPr>
            <a:videoFile r:link="rId1"/>
          </p:nvPr>
        </p:nvPicPr>
        <p:blipFill>
          <a:blip r:embed="rId3"/>
          <a:stretch>
            <a:fillRect/>
          </a:stretch>
        </p:blipFill>
        <p:spPr>
          <a:xfrm>
            <a:off x="1600200" y="1474441"/>
            <a:ext cx="8432800" cy="4764532"/>
          </a:xfrm>
          <a:prstGeom prst="rect">
            <a:avLst/>
          </a:prstGeom>
        </p:spPr>
      </p:pic>
    </p:spTree>
    <p:extLst>
      <p:ext uri="{BB962C8B-B14F-4D97-AF65-F5344CB8AC3E}">
        <p14:creationId xmlns:p14="http://schemas.microsoft.com/office/powerpoint/2010/main" val="3271852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09E66-0CCF-B0B3-21F3-7E3444301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C943D-E0E9-459E-1A20-99ECD4E85795}"/>
              </a:ext>
            </a:extLst>
          </p:cNvPr>
          <p:cNvSpPr>
            <a:spLocks noGrp="1"/>
          </p:cNvSpPr>
          <p:nvPr>
            <p:ph type="title"/>
          </p:nvPr>
        </p:nvSpPr>
        <p:spPr>
          <a:xfrm>
            <a:off x="533400" y="457200"/>
            <a:ext cx="9067800" cy="430887"/>
          </a:xfrm>
        </p:spPr>
        <p:txBody>
          <a:bodyPr/>
          <a:lstStyle/>
          <a:p>
            <a:r>
              <a:rPr lang="en-IN" dirty="0"/>
              <a:t>Aerodynamics: </a:t>
            </a:r>
            <a:r>
              <a:rPr lang="en-US" dirty="0" err="1"/>
              <a:t>AoA</a:t>
            </a:r>
            <a:r>
              <a:rPr lang="en-US" dirty="0"/>
              <a:t> (Fixed-Wing Aircrafts)</a:t>
            </a:r>
            <a:endParaRPr lang="en-IN" dirty="0"/>
          </a:p>
        </p:txBody>
      </p:sp>
      <p:sp>
        <p:nvSpPr>
          <p:cNvPr id="3" name="TextBox 2">
            <a:extLst>
              <a:ext uri="{FF2B5EF4-FFF2-40B4-BE49-F238E27FC236}">
                <a16:creationId xmlns:a16="http://schemas.microsoft.com/office/drawing/2014/main" id="{5E355A39-12EB-869C-0BFB-086C66AB54DC}"/>
              </a:ext>
            </a:extLst>
          </p:cNvPr>
          <p:cNvSpPr txBox="1"/>
          <p:nvPr/>
        </p:nvSpPr>
        <p:spPr>
          <a:xfrm>
            <a:off x="304800" y="1524000"/>
            <a:ext cx="11582400" cy="646331"/>
          </a:xfrm>
          <a:prstGeom prst="rect">
            <a:avLst/>
          </a:prstGeom>
          <a:noFill/>
        </p:spPr>
        <p:txBody>
          <a:bodyPr wrap="square" rtlCol="0">
            <a:spAutoFit/>
          </a:bodyPr>
          <a:lstStyle/>
          <a:p>
            <a:pPr algn="l"/>
            <a:r>
              <a:rPr lang="en-US" b="1" u="sng" dirty="0"/>
              <a:t>Angle Of Attack (𝛂) </a:t>
            </a:r>
            <a:r>
              <a:rPr lang="en-US" b="1" dirty="0"/>
              <a:t>: </a:t>
            </a:r>
            <a:r>
              <a:rPr lang="en-US" dirty="0"/>
              <a:t>The angle made by the wing’s </a:t>
            </a:r>
            <a:r>
              <a:rPr lang="en-US" b="1" dirty="0"/>
              <a:t>chord</a:t>
            </a:r>
            <a:r>
              <a:rPr lang="en-US" dirty="0"/>
              <a:t> (in Fixed-Wing Aircrafts) with respect to the direction of the wind is called Angle of Attack, better known as </a:t>
            </a:r>
            <a:r>
              <a:rPr lang="en-US" dirty="0" err="1"/>
              <a:t>AoA</a:t>
            </a:r>
            <a:r>
              <a:rPr lang="en-US" dirty="0"/>
              <a:t>. </a:t>
            </a:r>
            <a:endParaRPr lang="en-US" b="1" dirty="0"/>
          </a:p>
        </p:txBody>
      </p:sp>
      <p:pic>
        <p:nvPicPr>
          <p:cNvPr id="5" name="Picture 4">
            <a:extLst>
              <a:ext uri="{FF2B5EF4-FFF2-40B4-BE49-F238E27FC236}">
                <a16:creationId xmlns:a16="http://schemas.microsoft.com/office/drawing/2014/main" id="{688AA61D-9D82-4401-B30E-F160C70AA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1831001"/>
            <a:ext cx="4760407" cy="2286000"/>
          </a:xfrm>
          <a:prstGeom prst="rect">
            <a:avLst/>
          </a:prstGeom>
        </p:spPr>
      </p:pic>
      <p:sp>
        <p:nvSpPr>
          <p:cNvPr id="6" name="TextBox 5">
            <a:extLst>
              <a:ext uri="{FF2B5EF4-FFF2-40B4-BE49-F238E27FC236}">
                <a16:creationId xmlns:a16="http://schemas.microsoft.com/office/drawing/2014/main" id="{D0F252C0-5900-CB78-BFED-50B05B66E15A}"/>
              </a:ext>
            </a:extLst>
          </p:cNvPr>
          <p:cNvSpPr txBox="1"/>
          <p:nvPr/>
        </p:nvSpPr>
        <p:spPr>
          <a:xfrm>
            <a:off x="304800" y="2286000"/>
            <a:ext cx="5181600" cy="1477328"/>
          </a:xfrm>
          <a:prstGeom prst="rect">
            <a:avLst/>
          </a:prstGeom>
          <a:noFill/>
        </p:spPr>
        <p:txBody>
          <a:bodyPr wrap="square" rtlCol="0">
            <a:spAutoFit/>
          </a:bodyPr>
          <a:lstStyle/>
          <a:p>
            <a:r>
              <a:rPr lang="en-US" b="1" dirty="0"/>
              <a:t>Chord: </a:t>
            </a:r>
            <a:r>
              <a:rPr lang="en-US" dirty="0"/>
              <a:t>The imaginary line that is connecting the leading end of the wing to the trailing end of the wing. This line is not necessarily straight and can change with the shape of the wing. It can be curved as well!</a:t>
            </a:r>
            <a:endParaRPr lang="en-US" b="1" dirty="0"/>
          </a:p>
        </p:txBody>
      </p:sp>
      <p:sp>
        <p:nvSpPr>
          <p:cNvPr id="11" name="TextBox 10">
            <a:extLst>
              <a:ext uri="{FF2B5EF4-FFF2-40B4-BE49-F238E27FC236}">
                <a16:creationId xmlns:a16="http://schemas.microsoft.com/office/drawing/2014/main" id="{D8FE63CA-6E2B-6B72-4850-AB18A4FF529E}"/>
              </a:ext>
            </a:extLst>
          </p:cNvPr>
          <p:cNvSpPr txBox="1"/>
          <p:nvPr/>
        </p:nvSpPr>
        <p:spPr>
          <a:xfrm>
            <a:off x="304800" y="3816327"/>
            <a:ext cx="4495800" cy="2031325"/>
          </a:xfrm>
          <a:prstGeom prst="rect">
            <a:avLst/>
          </a:prstGeom>
          <a:noFill/>
        </p:spPr>
        <p:txBody>
          <a:bodyPr wrap="square" rtlCol="0">
            <a:spAutoFit/>
          </a:bodyPr>
          <a:lstStyle/>
          <a:p>
            <a:r>
              <a:rPr lang="en-US" dirty="0"/>
              <a:t>When enough speed is reached, the wings can be angled slightly upwards (increased angle of attack) to generate more lift. From the pilot’s perspective, the pitch angle is the angle between the aircraft’s longitudinal axis (nose-to-tail) and the horizon.</a:t>
            </a:r>
            <a:endParaRPr lang="en-US" b="1" dirty="0"/>
          </a:p>
        </p:txBody>
      </p:sp>
      <p:pic>
        <p:nvPicPr>
          <p:cNvPr id="13" name="Picture 12">
            <a:extLst>
              <a:ext uri="{FF2B5EF4-FFF2-40B4-BE49-F238E27FC236}">
                <a16:creationId xmlns:a16="http://schemas.microsoft.com/office/drawing/2014/main" id="{F4C7DB91-860F-DDCD-BB25-0A9207275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0036" y="3701673"/>
            <a:ext cx="5181600" cy="2699127"/>
          </a:xfrm>
          <a:prstGeom prst="rect">
            <a:avLst/>
          </a:prstGeom>
        </p:spPr>
      </p:pic>
    </p:spTree>
    <p:extLst>
      <p:ext uri="{BB962C8B-B14F-4D97-AF65-F5344CB8AC3E}">
        <p14:creationId xmlns:p14="http://schemas.microsoft.com/office/powerpoint/2010/main" val="31037371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8CC94-CEA3-8158-9B3C-0E09503FF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B622E-D3DC-C9B4-1EF7-9344382F83CA}"/>
              </a:ext>
            </a:extLst>
          </p:cNvPr>
          <p:cNvSpPr>
            <a:spLocks noGrp="1"/>
          </p:cNvSpPr>
          <p:nvPr>
            <p:ph type="title"/>
          </p:nvPr>
        </p:nvSpPr>
        <p:spPr>
          <a:xfrm>
            <a:off x="533400" y="457200"/>
            <a:ext cx="9067800" cy="430887"/>
          </a:xfrm>
        </p:spPr>
        <p:txBody>
          <a:bodyPr/>
          <a:lstStyle/>
          <a:p>
            <a:r>
              <a:rPr lang="en-IN" dirty="0"/>
              <a:t>Aerodynamics: </a:t>
            </a:r>
            <a:r>
              <a:rPr lang="en-US" dirty="0" err="1"/>
              <a:t>AoA</a:t>
            </a:r>
            <a:r>
              <a:rPr lang="en-US" dirty="0"/>
              <a:t> (Rotorcrafts)</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97C180B-6826-3C0D-BFA1-77645304D15E}"/>
                  </a:ext>
                </a:extLst>
              </p:cNvPr>
              <p:cNvSpPr txBox="1"/>
              <p:nvPr/>
            </p:nvSpPr>
            <p:spPr>
              <a:xfrm>
                <a:off x="304800" y="1524000"/>
                <a:ext cx="11582400" cy="1776897"/>
              </a:xfrm>
              <a:prstGeom prst="rect">
                <a:avLst/>
              </a:prstGeom>
              <a:noFill/>
            </p:spPr>
            <p:txBody>
              <a:bodyPr wrap="square" rtlCol="0">
                <a:spAutoFit/>
              </a:bodyPr>
              <a:lstStyle/>
              <a:p>
                <a:pPr algn="l"/>
                <a:r>
                  <a:rPr lang="en-US" b="1" u="sng" dirty="0"/>
                  <a:t>Angle Of Attack (𝛂) </a:t>
                </a:r>
                <a:r>
                  <a:rPr lang="en-US" b="1" dirty="0"/>
                  <a:t>: </a:t>
                </a:r>
                <a:r>
                  <a:rPr lang="en-US" dirty="0"/>
                  <a:t>For rotorcrafts (such as drones or helicopters), the </a:t>
                </a:r>
                <a:r>
                  <a:rPr lang="en-US" b="1" dirty="0"/>
                  <a:t>Angle of Attack</a:t>
                </a:r>
                <a:r>
                  <a:rPr lang="en-US" dirty="0"/>
                  <a:t> is the angle between the rotor’s (aerodynamically considered as a disc) or body’s reference line (typically the plane of the rotor disk or the copter frame) and the relative airflow. </a:t>
                </a:r>
              </a:p>
              <a:p>
                <a:pPr algn="l"/>
                <a:endParaRPr lang="en-US" dirty="0"/>
              </a:p>
              <a:p>
                <a:pPr algn="l"/>
                <a:r>
                  <a:rPr lang="en-US" dirty="0"/>
                  <a:t>The </a:t>
                </a:r>
                <a:r>
                  <a:rPr lang="en-US" b="1" dirty="0"/>
                  <a:t>Angle of Attack</a:t>
                </a:r>
                <a:r>
                  <a:rPr lang="en-US" dirty="0"/>
                  <a:t> can also be derived from the angle difference of the Forces. The angle difference between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𝑊𝑒𝑖𝑔</m:t>
                        </m:r>
                        <m:r>
                          <a:rPr lang="en-US" b="0" i="1" smtClean="0">
                            <a:latin typeface="Cambria Math" panose="02040503050406030204" pitchFamily="18" charset="0"/>
                          </a:rPr>
                          <m:t>h</m:t>
                        </m:r>
                        <m:r>
                          <a:rPr lang="en-US" b="0" i="1" smtClean="0">
                            <a:latin typeface="Cambria Math" panose="02040503050406030204" pitchFamily="18" charset="0"/>
                          </a:rPr>
                          <m:t>𝑡</m:t>
                        </m:r>
                      </m:sub>
                    </m:sSub>
                  </m:oMath>
                </a14:m>
                <a:r>
                  <a:rPr lang="en-US" b="1" dirty="0"/>
                  <a:t> </a:t>
                </a:r>
                <a:r>
                  <a:rPr lang="en-US" dirty="0"/>
                  <a:t>(Red arrow)</a:t>
                </a:r>
                <a:r>
                  <a:rPr lang="en-US" b="1"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𝐷𝑜𝑤𝑛𝑤𝑎𝑠</m:t>
                        </m:r>
                        <m:r>
                          <a:rPr lang="en-US" b="0" i="1" smtClean="0">
                            <a:latin typeface="Cambria Math" panose="02040503050406030204" pitchFamily="18" charset="0"/>
                          </a:rPr>
                          <m:t>h</m:t>
                        </m:r>
                      </m:sub>
                    </m:sSub>
                  </m:oMath>
                </a14:m>
                <a:r>
                  <a:rPr lang="en-US" b="0" dirty="0"/>
                  <a:t> (Green Arrow) is also the Angle of Attack. </a:t>
                </a:r>
              </a:p>
            </p:txBody>
          </p:sp>
        </mc:Choice>
        <mc:Fallback xmlns="">
          <p:sp>
            <p:nvSpPr>
              <p:cNvPr id="3" name="TextBox 2">
                <a:extLst>
                  <a:ext uri="{FF2B5EF4-FFF2-40B4-BE49-F238E27FC236}">
                    <a16:creationId xmlns:a16="http://schemas.microsoft.com/office/drawing/2014/main" id="{197C180B-6826-3C0D-BFA1-77645304D15E}"/>
                  </a:ext>
                </a:extLst>
              </p:cNvPr>
              <p:cNvSpPr txBox="1">
                <a:spLocks noRot="1" noChangeAspect="1" noMove="1" noResize="1" noEditPoints="1" noAdjustHandles="1" noChangeArrowheads="1" noChangeShapeType="1" noTextEdit="1"/>
              </p:cNvSpPr>
              <p:nvPr/>
            </p:nvSpPr>
            <p:spPr>
              <a:xfrm>
                <a:off x="304800" y="1524000"/>
                <a:ext cx="11582400" cy="1776897"/>
              </a:xfrm>
              <a:prstGeom prst="rect">
                <a:avLst/>
              </a:prstGeom>
              <a:blipFill>
                <a:blip r:embed="rId2"/>
                <a:stretch>
                  <a:fillRect l="-421" t="-2062" r="-368" b="-3436"/>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721449B2-534F-535C-8D2D-3406F5500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8600" y="3171726"/>
            <a:ext cx="3505200" cy="3068056"/>
          </a:xfrm>
          <a:prstGeom prst="rect">
            <a:avLst/>
          </a:prstGeom>
        </p:spPr>
      </p:pic>
      <p:pic>
        <p:nvPicPr>
          <p:cNvPr id="12" name="Picture 11">
            <a:extLst>
              <a:ext uri="{FF2B5EF4-FFF2-40B4-BE49-F238E27FC236}">
                <a16:creationId xmlns:a16="http://schemas.microsoft.com/office/drawing/2014/main" id="{1D3ECD40-5246-BB3F-D50C-5748D298E725}"/>
              </a:ext>
            </a:extLst>
          </p:cNvPr>
          <p:cNvPicPr>
            <a:picLocks noChangeAspect="1"/>
          </p:cNvPicPr>
          <p:nvPr/>
        </p:nvPicPr>
        <p:blipFill>
          <a:blip r:embed="rId4"/>
          <a:stretch>
            <a:fillRect/>
          </a:stretch>
        </p:blipFill>
        <p:spPr>
          <a:xfrm>
            <a:off x="533400" y="3405903"/>
            <a:ext cx="4724400" cy="2795344"/>
          </a:xfrm>
          <a:prstGeom prst="rect">
            <a:avLst/>
          </a:prstGeom>
        </p:spPr>
      </p:pic>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117C8344-F99F-6984-23D3-0C97B9B06F9D}"/>
                  </a:ext>
                </a:extLst>
              </p14:cNvPr>
              <p14:cNvContentPartPr/>
              <p14:nvPr/>
            </p14:nvContentPartPr>
            <p14:xfrm>
              <a:off x="5115978" y="5340767"/>
              <a:ext cx="122400" cy="348120"/>
            </p14:xfrm>
          </p:contentPart>
        </mc:Choice>
        <mc:Fallback xmlns="">
          <p:pic>
            <p:nvPicPr>
              <p:cNvPr id="14" name="Ink 13">
                <a:extLst>
                  <a:ext uri="{FF2B5EF4-FFF2-40B4-BE49-F238E27FC236}">
                    <a16:creationId xmlns:a16="http://schemas.microsoft.com/office/drawing/2014/main" id="{117C8344-F99F-6984-23D3-0C97B9B06F9D}"/>
                  </a:ext>
                </a:extLst>
              </p:cNvPr>
              <p:cNvPicPr/>
              <p:nvPr/>
            </p:nvPicPr>
            <p:blipFill>
              <a:blip r:embed="rId6"/>
              <a:stretch>
                <a:fillRect/>
              </a:stretch>
            </p:blipFill>
            <p:spPr>
              <a:xfrm>
                <a:off x="5052978" y="5278127"/>
                <a:ext cx="248040" cy="47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44AD2E28-4B40-6D48-F80A-767098D9F508}"/>
                  </a:ext>
                </a:extLst>
              </p14:cNvPr>
              <p14:cNvContentPartPr/>
              <p14:nvPr/>
            </p14:nvContentPartPr>
            <p14:xfrm>
              <a:off x="5217858" y="3463007"/>
              <a:ext cx="360" cy="360"/>
            </p14:xfrm>
          </p:contentPart>
        </mc:Choice>
        <mc:Fallback xmlns="">
          <p:pic>
            <p:nvPicPr>
              <p:cNvPr id="15" name="Ink 14">
                <a:extLst>
                  <a:ext uri="{FF2B5EF4-FFF2-40B4-BE49-F238E27FC236}">
                    <a16:creationId xmlns:a16="http://schemas.microsoft.com/office/drawing/2014/main" id="{44AD2E28-4B40-6D48-F80A-767098D9F508}"/>
                  </a:ext>
                </a:extLst>
              </p:cNvPr>
              <p:cNvPicPr/>
              <p:nvPr/>
            </p:nvPicPr>
            <p:blipFill>
              <a:blip r:embed="rId8"/>
              <a:stretch>
                <a:fillRect/>
              </a:stretch>
            </p:blipFill>
            <p:spPr>
              <a:xfrm>
                <a:off x="5155218" y="3400367"/>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06927D52-D544-9041-9D9D-387F7412F802}"/>
                  </a:ext>
                </a:extLst>
              </p14:cNvPr>
              <p14:cNvContentPartPr/>
              <p14:nvPr/>
            </p14:nvContentPartPr>
            <p14:xfrm>
              <a:off x="2900178" y="3445007"/>
              <a:ext cx="360" cy="360"/>
            </p14:xfrm>
          </p:contentPart>
        </mc:Choice>
        <mc:Fallback xmlns="">
          <p:pic>
            <p:nvPicPr>
              <p:cNvPr id="16" name="Ink 15">
                <a:extLst>
                  <a:ext uri="{FF2B5EF4-FFF2-40B4-BE49-F238E27FC236}">
                    <a16:creationId xmlns:a16="http://schemas.microsoft.com/office/drawing/2014/main" id="{06927D52-D544-9041-9D9D-387F7412F802}"/>
                  </a:ext>
                </a:extLst>
              </p:cNvPr>
              <p:cNvPicPr/>
              <p:nvPr/>
            </p:nvPicPr>
            <p:blipFill>
              <a:blip r:embed="rId8"/>
              <a:stretch>
                <a:fillRect/>
              </a:stretch>
            </p:blipFill>
            <p:spPr>
              <a:xfrm>
                <a:off x="2837178" y="3382007"/>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9ACC4C08-FD92-A481-ACA1-0C9ACA47599D}"/>
                  </a:ext>
                </a:extLst>
              </p14:cNvPr>
              <p14:cNvContentPartPr/>
              <p14:nvPr/>
            </p14:nvContentPartPr>
            <p14:xfrm>
              <a:off x="2899818" y="3269327"/>
              <a:ext cx="2410920" cy="175680"/>
            </p14:xfrm>
          </p:contentPart>
        </mc:Choice>
        <mc:Fallback xmlns="">
          <p:pic>
            <p:nvPicPr>
              <p:cNvPr id="18" name="Ink 17">
                <a:extLst>
                  <a:ext uri="{FF2B5EF4-FFF2-40B4-BE49-F238E27FC236}">
                    <a16:creationId xmlns:a16="http://schemas.microsoft.com/office/drawing/2014/main" id="{9ACC4C08-FD92-A481-ACA1-0C9ACA47599D}"/>
                  </a:ext>
                </a:extLst>
              </p:cNvPr>
              <p:cNvPicPr/>
              <p:nvPr/>
            </p:nvPicPr>
            <p:blipFill>
              <a:blip r:embed="rId11"/>
              <a:stretch>
                <a:fillRect/>
              </a:stretch>
            </p:blipFill>
            <p:spPr>
              <a:xfrm>
                <a:off x="2836818" y="3206687"/>
                <a:ext cx="25365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86ECF2B9-C526-1AD5-8565-CB35915A05C7}"/>
                  </a:ext>
                </a:extLst>
              </p14:cNvPr>
              <p14:cNvContentPartPr/>
              <p14:nvPr/>
            </p14:nvContentPartPr>
            <p14:xfrm>
              <a:off x="4423698" y="3362207"/>
              <a:ext cx="878040" cy="28080"/>
            </p14:xfrm>
          </p:contentPart>
        </mc:Choice>
        <mc:Fallback xmlns="">
          <p:pic>
            <p:nvPicPr>
              <p:cNvPr id="19" name="Ink 18">
                <a:extLst>
                  <a:ext uri="{FF2B5EF4-FFF2-40B4-BE49-F238E27FC236}">
                    <a16:creationId xmlns:a16="http://schemas.microsoft.com/office/drawing/2014/main" id="{86ECF2B9-C526-1AD5-8565-CB35915A05C7}"/>
                  </a:ext>
                </a:extLst>
              </p:cNvPr>
              <p:cNvPicPr/>
              <p:nvPr/>
            </p:nvPicPr>
            <p:blipFill>
              <a:blip r:embed="rId13"/>
              <a:stretch>
                <a:fillRect/>
              </a:stretch>
            </p:blipFill>
            <p:spPr>
              <a:xfrm>
                <a:off x="4360698" y="3299207"/>
                <a:ext cx="10036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C2F51D89-AE7E-FB1B-A773-5003503D3018}"/>
                  </a:ext>
                </a:extLst>
              </p14:cNvPr>
              <p14:cNvContentPartPr/>
              <p14:nvPr/>
            </p14:nvContentPartPr>
            <p14:xfrm>
              <a:off x="498258" y="3454007"/>
              <a:ext cx="2281680" cy="28440"/>
            </p14:xfrm>
          </p:contentPart>
        </mc:Choice>
        <mc:Fallback xmlns="">
          <p:pic>
            <p:nvPicPr>
              <p:cNvPr id="21" name="Ink 20">
                <a:extLst>
                  <a:ext uri="{FF2B5EF4-FFF2-40B4-BE49-F238E27FC236}">
                    <a16:creationId xmlns:a16="http://schemas.microsoft.com/office/drawing/2014/main" id="{C2F51D89-AE7E-FB1B-A773-5003503D3018}"/>
                  </a:ext>
                </a:extLst>
              </p:cNvPr>
              <p:cNvPicPr/>
              <p:nvPr/>
            </p:nvPicPr>
            <p:blipFill>
              <a:blip r:embed="rId15"/>
              <a:stretch>
                <a:fillRect/>
              </a:stretch>
            </p:blipFill>
            <p:spPr>
              <a:xfrm>
                <a:off x="435258" y="3391007"/>
                <a:ext cx="24073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125E5DB1-21CF-55A8-C9DF-694278B15C92}"/>
                  </a:ext>
                </a:extLst>
              </p14:cNvPr>
              <p14:cNvContentPartPr/>
              <p14:nvPr/>
            </p14:nvContentPartPr>
            <p14:xfrm>
              <a:off x="460098" y="3416927"/>
              <a:ext cx="141840" cy="2919600"/>
            </p14:xfrm>
          </p:contentPart>
        </mc:Choice>
        <mc:Fallback xmlns="">
          <p:pic>
            <p:nvPicPr>
              <p:cNvPr id="22" name="Ink 21">
                <a:extLst>
                  <a:ext uri="{FF2B5EF4-FFF2-40B4-BE49-F238E27FC236}">
                    <a16:creationId xmlns:a16="http://schemas.microsoft.com/office/drawing/2014/main" id="{125E5DB1-21CF-55A8-C9DF-694278B15C92}"/>
                  </a:ext>
                </a:extLst>
              </p:cNvPr>
              <p:cNvPicPr/>
              <p:nvPr/>
            </p:nvPicPr>
            <p:blipFill>
              <a:blip r:embed="rId17"/>
              <a:stretch>
                <a:fillRect/>
              </a:stretch>
            </p:blipFill>
            <p:spPr>
              <a:xfrm>
                <a:off x="397458" y="3353927"/>
                <a:ext cx="267480" cy="3045240"/>
              </a:xfrm>
              <a:prstGeom prst="rect">
                <a:avLst/>
              </a:prstGeom>
            </p:spPr>
          </p:pic>
        </mc:Fallback>
      </mc:AlternateContent>
    </p:spTree>
    <p:extLst>
      <p:ext uri="{BB962C8B-B14F-4D97-AF65-F5344CB8AC3E}">
        <p14:creationId xmlns:p14="http://schemas.microsoft.com/office/powerpoint/2010/main" val="1590184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20A77-DC0C-CA00-06B1-BFCCB2BD7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B8875-0870-4E1A-EEA3-DDE533BCBAA7}"/>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p:sp>
        <p:nvSpPr>
          <p:cNvPr id="3" name="TextBox 2">
            <a:extLst>
              <a:ext uri="{FF2B5EF4-FFF2-40B4-BE49-F238E27FC236}">
                <a16:creationId xmlns:a16="http://schemas.microsoft.com/office/drawing/2014/main" id="{FCB99D4F-7C18-655C-8FFE-1F1E058799F5}"/>
              </a:ext>
            </a:extLst>
          </p:cNvPr>
          <p:cNvSpPr txBox="1"/>
          <p:nvPr/>
        </p:nvSpPr>
        <p:spPr>
          <a:xfrm>
            <a:off x="304800" y="1524000"/>
            <a:ext cx="11582400" cy="646331"/>
          </a:xfrm>
          <a:prstGeom prst="rect">
            <a:avLst/>
          </a:prstGeom>
          <a:noFill/>
        </p:spPr>
        <p:txBody>
          <a:bodyPr wrap="square" rtlCol="0">
            <a:spAutoFit/>
          </a:bodyPr>
          <a:lstStyle/>
          <a:p>
            <a:pPr algn="just"/>
            <a:r>
              <a:rPr lang="en-US" b="1" u="sng" dirty="0"/>
              <a:t>Pitch vs </a:t>
            </a:r>
            <a:r>
              <a:rPr lang="en-US" b="1" u="sng" dirty="0" err="1"/>
              <a:t>AoA</a:t>
            </a:r>
            <a:r>
              <a:rPr lang="en-US" b="1" dirty="0"/>
              <a:t>: </a:t>
            </a:r>
            <a:r>
              <a:rPr lang="en-US" dirty="0"/>
              <a:t>The angle made by the wing’s </a:t>
            </a:r>
            <a:r>
              <a:rPr lang="en-US" b="1" dirty="0"/>
              <a:t>chord</a:t>
            </a:r>
            <a:r>
              <a:rPr lang="en-US" dirty="0"/>
              <a:t> with respect to the </a:t>
            </a:r>
            <a:r>
              <a:rPr lang="en-US" u="sng" dirty="0"/>
              <a:t>direction of the wind</a:t>
            </a:r>
            <a:r>
              <a:rPr lang="en-US" dirty="0"/>
              <a:t> is called Angle of Attack, on the other hand, the angle made by the aircraft </a:t>
            </a:r>
            <a:r>
              <a:rPr lang="en-US" u="sng" dirty="0"/>
              <a:t>with respect to the horizon</a:t>
            </a:r>
            <a:r>
              <a:rPr lang="en-US" dirty="0"/>
              <a:t> is called pitch angle. </a:t>
            </a:r>
            <a:endParaRPr lang="en-US" b="1" dirty="0"/>
          </a:p>
        </p:txBody>
      </p:sp>
      <p:pic>
        <p:nvPicPr>
          <p:cNvPr id="5" name="Picture 4">
            <a:extLst>
              <a:ext uri="{FF2B5EF4-FFF2-40B4-BE49-F238E27FC236}">
                <a16:creationId xmlns:a16="http://schemas.microsoft.com/office/drawing/2014/main" id="{4103804A-81EB-DECA-7ACE-4B0F3B0809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4267200"/>
            <a:ext cx="4760407" cy="2286000"/>
          </a:xfrm>
          <a:prstGeom prst="rect">
            <a:avLst/>
          </a:prstGeom>
        </p:spPr>
      </p:pic>
      <p:sp>
        <p:nvSpPr>
          <p:cNvPr id="6" name="TextBox 5">
            <a:extLst>
              <a:ext uri="{FF2B5EF4-FFF2-40B4-BE49-F238E27FC236}">
                <a16:creationId xmlns:a16="http://schemas.microsoft.com/office/drawing/2014/main" id="{7C9FF470-35FE-CC4F-5A25-7E81D4A0328F}"/>
              </a:ext>
            </a:extLst>
          </p:cNvPr>
          <p:cNvSpPr txBox="1"/>
          <p:nvPr/>
        </p:nvSpPr>
        <p:spPr>
          <a:xfrm>
            <a:off x="304800" y="2286000"/>
            <a:ext cx="5181600" cy="4524315"/>
          </a:xfrm>
          <a:prstGeom prst="rect">
            <a:avLst/>
          </a:prstGeom>
          <a:noFill/>
        </p:spPr>
        <p:txBody>
          <a:bodyPr wrap="square" rtlCol="0">
            <a:spAutoFit/>
          </a:bodyPr>
          <a:lstStyle/>
          <a:p>
            <a:r>
              <a:rPr lang="en-US" b="1" dirty="0"/>
              <a:t>Optimal Pitch and </a:t>
            </a:r>
            <a:r>
              <a:rPr lang="en-US" b="1" dirty="0" err="1"/>
              <a:t>AoA</a:t>
            </a:r>
            <a:r>
              <a:rPr lang="en-US" b="1" dirty="0"/>
              <a:t>: </a:t>
            </a:r>
            <a:r>
              <a:rPr lang="en-US" dirty="0"/>
              <a:t>The image beside shows the avionics of an Airbus A320, the pilot, almost always rely on the </a:t>
            </a:r>
            <a:r>
              <a:rPr lang="en-US" b="1" dirty="0"/>
              <a:t>avionics</a:t>
            </a:r>
            <a:r>
              <a:rPr lang="en-US" dirty="0"/>
              <a:t> to know about the angles (the numbers in the blue and brown area). For most of the Aircrafts, commercial or transport, including aircrafts like Military fixed-wing drones need a pitch angle range of </a:t>
            </a:r>
            <a:r>
              <a:rPr lang="en-US" b="1" dirty="0"/>
              <a:t>8° – 15°</a:t>
            </a:r>
            <a:r>
              <a:rPr lang="en-US" dirty="0"/>
              <a:t> during the takeoff (this angle depends on the weight of the aircraft as well).</a:t>
            </a:r>
          </a:p>
          <a:p>
            <a:endParaRPr lang="en-US" b="1" dirty="0"/>
          </a:p>
          <a:p>
            <a:r>
              <a:rPr lang="en-US" dirty="0"/>
              <a:t>The </a:t>
            </a:r>
            <a:r>
              <a:rPr lang="en-US" dirty="0" err="1"/>
              <a:t>AoA</a:t>
            </a:r>
            <a:r>
              <a:rPr lang="en-US" dirty="0"/>
              <a:t> at takeoff is almost the same as the Pitch angle, with the range of </a:t>
            </a:r>
            <a:r>
              <a:rPr lang="en-US" b="1" dirty="0"/>
              <a:t>10° – 15°</a:t>
            </a:r>
            <a:r>
              <a:rPr lang="en-US" dirty="0"/>
              <a:t>, this is because during takeoff, the airflow relative to the wings is nearly aligned with the ground (Wind is almost leveled to the ground angle, ~0° angle difference)</a:t>
            </a:r>
          </a:p>
        </p:txBody>
      </p:sp>
      <p:pic>
        <p:nvPicPr>
          <p:cNvPr id="10" name="Picture 9">
            <a:extLst>
              <a:ext uri="{FF2B5EF4-FFF2-40B4-BE49-F238E27FC236}">
                <a16:creationId xmlns:a16="http://schemas.microsoft.com/office/drawing/2014/main" id="{A3D167BB-FA5A-5396-16BA-28D143DAE7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2371297"/>
            <a:ext cx="5257800" cy="2346391"/>
          </a:xfrm>
          <a:prstGeom prst="rect">
            <a:avLst/>
          </a:prstGeom>
        </p:spPr>
      </p:pic>
    </p:spTree>
    <p:extLst>
      <p:ext uri="{BB962C8B-B14F-4D97-AF65-F5344CB8AC3E}">
        <p14:creationId xmlns:p14="http://schemas.microsoft.com/office/powerpoint/2010/main" val="35335251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06DB-8001-717F-E384-B3F48956D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65559-1477-3540-5F6A-EB4653918316}"/>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p:sp>
        <p:nvSpPr>
          <p:cNvPr id="3" name="TextBox 2">
            <a:extLst>
              <a:ext uri="{FF2B5EF4-FFF2-40B4-BE49-F238E27FC236}">
                <a16:creationId xmlns:a16="http://schemas.microsoft.com/office/drawing/2014/main" id="{B5509A35-E580-97C9-2541-569D589D2303}"/>
              </a:ext>
            </a:extLst>
          </p:cNvPr>
          <p:cNvSpPr txBox="1"/>
          <p:nvPr/>
        </p:nvSpPr>
        <p:spPr>
          <a:xfrm>
            <a:off x="304800" y="1524000"/>
            <a:ext cx="11582400" cy="369332"/>
          </a:xfrm>
          <a:prstGeom prst="rect">
            <a:avLst/>
          </a:prstGeom>
          <a:noFill/>
        </p:spPr>
        <p:txBody>
          <a:bodyPr wrap="square" rtlCol="0">
            <a:spAutoFit/>
          </a:bodyPr>
          <a:lstStyle/>
          <a:p>
            <a:pPr algn="just"/>
            <a:r>
              <a:rPr lang="en-US" b="1" u="sng" dirty="0"/>
              <a:t>The Angles for Typical Pitch and </a:t>
            </a:r>
            <a:r>
              <a:rPr lang="en-US" b="1" u="sng" dirty="0" err="1"/>
              <a:t>AoA</a:t>
            </a:r>
            <a:r>
              <a:rPr lang="en-US" b="1" u="sng" dirty="0"/>
              <a:t> in Different Aircrafts:</a:t>
            </a:r>
          </a:p>
        </p:txBody>
      </p:sp>
      <p:pic>
        <p:nvPicPr>
          <p:cNvPr id="5" name="Picture 4">
            <a:extLst>
              <a:ext uri="{FF2B5EF4-FFF2-40B4-BE49-F238E27FC236}">
                <a16:creationId xmlns:a16="http://schemas.microsoft.com/office/drawing/2014/main" id="{3BA3023B-DAEC-C91B-9D4E-C55442114A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4267200"/>
            <a:ext cx="4760407" cy="2286000"/>
          </a:xfrm>
          <a:prstGeom prst="rect">
            <a:avLst/>
          </a:prstGeom>
        </p:spPr>
      </p:pic>
      <p:sp>
        <p:nvSpPr>
          <p:cNvPr id="6" name="TextBox 5">
            <a:extLst>
              <a:ext uri="{FF2B5EF4-FFF2-40B4-BE49-F238E27FC236}">
                <a16:creationId xmlns:a16="http://schemas.microsoft.com/office/drawing/2014/main" id="{DAF78B7F-A563-9672-D0F8-A9854BADCDA5}"/>
              </a:ext>
            </a:extLst>
          </p:cNvPr>
          <p:cNvSpPr txBox="1"/>
          <p:nvPr/>
        </p:nvSpPr>
        <p:spPr>
          <a:xfrm>
            <a:off x="304800" y="2286000"/>
            <a:ext cx="5181600" cy="2585323"/>
          </a:xfrm>
          <a:prstGeom prst="rect">
            <a:avLst/>
          </a:prstGeom>
          <a:noFill/>
        </p:spPr>
        <p:txBody>
          <a:bodyPr wrap="square" rtlCol="0">
            <a:spAutoFit/>
          </a:bodyPr>
          <a:lstStyle/>
          <a:p>
            <a:r>
              <a:rPr lang="en-US" b="1" u="sng" dirty="0"/>
              <a:t>Takeoff Angles</a:t>
            </a:r>
            <a:r>
              <a:rPr lang="en-US" b="1" dirty="0"/>
              <a:t>: </a:t>
            </a:r>
          </a:p>
          <a:p>
            <a:br>
              <a:rPr lang="en-US" b="1" dirty="0"/>
            </a:br>
            <a:r>
              <a:rPr lang="en-US" b="1" dirty="0"/>
              <a:t>A320-  </a:t>
            </a:r>
          </a:p>
          <a:p>
            <a:r>
              <a:rPr lang="en-US" b="1" dirty="0"/>
              <a:t>            </a:t>
            </a:r>
            <a:r>
              <a:rPr lang="en-US" dirty="0"/>
              <a:t>Pitch -&gt; 8° and 15°</a:t>
            </a:r>
          </a:p>
          <a:p>
            <a:r>
              <a:rPr lang="en-US" dirty="0"/>
              <a:t>            </a:t>
            </a:r>
            <a:r>
              <a:rPr lang="en-US" dirty="0" err="1"/>
              <a:t>AoA</a:t>
            </a:r>
            <a:r>
              <a:rPr lang="en-US" dirty="0"/>
              <a:t>  -&gt; 8° and 15°</a:t>
            </a:r>
          </a:p>
          <a:p>
            <a:endParaRPr lang="en-US" dirty="0"/>
          </a:p>
          <a:p>
            <a:r>
              <a:rPr lang="en-US" b="1" dirty="0"/>
              <a:t>MQ-9 Reaper Drone- </a:t>
            </a:r>
          </a:p>
          <a:p>
            <a:r>
              <a:rPr lang="en-US" b="1" dirty="0"/>
              <a:t>           </a:t>
            </a:r>
            <a:r>
              <a:rPr lang="en-US" dirty="0"/>
              <a:t>Pitch -&gt; 8° and 15°</a:t>
            </a:r>
          </a:p>
          <a:p>
            <a:r>
              <a:rPr lang="en-US" dirty="0"/>
              <a:t>           </a:t>
            </a:r>
            <a:r>
              <a:rPr lang="en-US" dirty="0" err="1"/>
              <a:t>AoA</a:t>
            </a:r>
            <a:r>
              <a:rPr lang="en-US" dirty="0"/>
              <a:t>  -&gt; 8° and 12°</a:t>
            </a:r>
          </a:p>
        </p:txBody>
      </p:sp>
      <p:pic>
        <p:nvPicPr>
          <p:cNvPr id="10" name="Picture 9">
            <a:extLst>
              <a:ext uri="{FF2B5EF4-FFF2-40B4-BE49-F238E27FC236}">
                <a16:creationId xmlns:a16="http://schemas.microsoft.com/office/drawing/2014/main" id="{2CA0CEA9-9A7A-C705-9B83-5F815F089F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2371297"/>
            <a:ext cx="5257800" cy="2346391"/>
          </a:xfrm>
          <a:prstGeom prst="rect">
            <a:avLst/>
          </a:prstGeom>
        </p:spPr>
      </p:pic>
      <p:sp>
        <p:nvSpPr>
          <p:cNvPr id="4" name="TextBox 3">
            <a:extLst>
              <a:ext uri="{FF2B5EF4-FFF2-40B4-BE49-F238E27FC236}">
                <a16:creationId xmlns:a16="http://schemas.microsoft.com/office/drawing/2014/main" id="{EA58134B-EBFE-1859-B230-023046A2E779}"/>
              </a:ext>
            </a:extLst>
          </p:cNvPr>
          <p:cNvSpPr txBox="1"/>
          <p:nvPr/>
        </p:nvSpPr>
        <p:spPr>
          <a:xfrm>
            <a:off x="304800" y="4871323"/>
            <a:ext cx="6400802" cy="1477328"/>
          </a:xfrm>
          <a:prstGeom prst="rect">
            <a:avLst/>
          </a:prstGeom>
          <a:noFill/>
        </p:spPr>
        <p:txBody>
          <a:bodyPr wrap="square" rtlCol="0">
            <a:spAutoFit/>
          </a:bodyPr>
          <a:lstStyle/>
          <a:p>
            <a:r>
              <a:rPr lang="en-US" dirty="0"/>
              <a:t>These are the general angles at which the aircraft takes off. The actual takeoff angle depends heavily on the aircraft’s speed: higher speeds allow for steeper climb angles, while lower speeds require shallower climbs to maintain lift and avoid stall.</a:t>
            </a:r>
          </a:p>
        </p:txBody>
      </p:sp>
    </p:spTree>
    <p:extLst>
      <p:ext uri="{BB962C8B-B14F-4D97-AF65-F5344CB8AC3E}">
        <p14:creationId xmlns:p14="http://schemas.microsoft.com/office/powerpoint/2010/main" val="7217661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25D18-EC76-1789-7BBD-CCE70C9EB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DD9C9-E7C4-0C43-6B47-E0AD732267CA}"/>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p:sp>
        <p:nvSpPr>
          <p:cNvPr id="3" name="TextBox 2">
            <a:extLst>
              <a:ext uri="{FF2B5EF4-FFF2-40B4-BE49-F238E27FC236}">
                <a16:creationId xmlns:a16="http://schemas.microsoft.com/office/drawing/2014/main" id="{12D1AEDE-08B0-2EEF-5D60-8335D5D99211}"/>
              </a:ext>
            </a:extLst>
          </p:cNvPr>
          <p:cNvSpPr txBox="1"/>
          <p:nvPr/>
        </p:nvSpPr>
        <p:spPr>
          <a:xfrm>
            <a:off x="304800" y="1524000"/>
            <a:ext cx="11582400" cy="923330"/>
          </a:xfrm>
          <a:prstGeom prst="rect">
            <a:avLst/>
          </a:prstGeom>
          <a:noFill/>
        </p:spPr>
        <p:txBody>
          <a:bodyPr wrap="square" rtlCol="0">
            <a:spAutoFit/>
          </a:bodyPr>
          <a:lstStyle/>
          <a:p>
            <a:pPr algn="just"/>
            <a:r>
              <a:rPr lang="en-US" b="1" u="sng" dirty="0"/>
              <a:t>Calculating </a:t>
            </a:r>
            <a:r>
              <a:rPr lang="en-US" b="1" u="sng" dirty="0" err="1"/>
              <a:t>AoA</a:t>
            </a:r>
            <a:r>
              <a:rPr lang="en-US" b="1" dirty="0"/>
              <a:t>: </a:t>
            </a:r>
            <a:r>
              <a:rPr lang="en-US" dirty="0"/>
              <a:t>At higher altitudes and higher speeds, the wind might be different, </a:t>
            </a:r>
            <a:r>
              <a:rPr lang="en-US" b="1" dirty="0"/>
              <a:t>needing for an </a:t>
            </a:r>
            <a:r>
              <a:rPr lang="en-US" b="1" dirty="0" err="1"/>
              <a:t>AoA</a:t>
            </a:r>
            <a:r>
              <a:rPr lang="en-US" b="1" dirty="0"/>
              <a:t> even when trying to maintain a constant altitude</a:t>
            </a:r>
            <a:r>
              <a:rPr lang="en-US" dirty="0"/>
              <a:t>. Mostly, the Autopilot on board can calculate and set the </a:t>
            </a:r>
            <a:r>
              <a:rPr lang="en-US" dirty="0" err="1"/>
              <a:t>AoA</a:t>
            </a:r>
            <a:r>
              <a:rPr lang="en-US" dirty="0"/>
              <a:t> to maintain the constant altitude using control systems, but we can also do it mathematically, given all the values. </a:t>
            </a:r>
            <a:endParaRPr lang="en-US" b="1"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0E9253-7B6C-5E9B-F8EE-C72045ED82CF}"/>
                  </a:ext>
                </a:extLst>
              </p:cNvPr>
              <p:cNvSpPr txBox="1"/>
              <p:nvPr/>
            </p:nvSpPr>
            <p:spPr>
              <a:xfrm>
                <a:off x="3124200" y="2447330"/>
                <a:ext cx="4953000" cy="1833259"/>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𝐿</m:t>
                      </m:r>
                      <m:r>
                        <a:rPr lang="en-US" sz="240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 </m:t>
                      </m:r>
                      <m:r>
                        <a:rPr lang="en-US" sz="2400" b="0" i="1" smtClean="0">
                          <a:latin typeface="Cambria Math" panose="02040503050406030204" pitchFamily="18" charset="0"/>
                        </a:rPr>
                        <m:t>𝝆</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𝐿</m:t>
                          </m:r>
                        </m:sub>
                      </m:sSub>
                    </m:oMath>
                  </m:oMathPara>
                </a14:m>
                <a:endParaRPr lang="en-US" sz="2400" i="1" dirty="0">
                  <a:latin typeface="Cambria Math" panose="02040503050406030204" pitchFamily="18" charset="0"/>
                </a:endParaRPr>
              </a:p>
              <a:p>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𝐿</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𝛼</m:t>
                      </m:r>
                    </m:oMath>
                  </m:oMathPara>
                </a14:m>
                <a:endParaRPr lang="en-US" sz="2400" b="0" i="1" dirty="0">
                  <a:latin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7A0E9253-7B6C-5E9B-F8EE-C72045ED82CF}"/>
                  </a:ext>
                </a:extLst>
              </p:cNvPr>
              <p:cNvSpPr txBox="1">
                <a:spLocks noRot="1" noChangeAspect="1" noMove="1" noResize="1" noEditPoints="1" noAdjustHandles="1" noChangeArrowheads="1" noChangeShapeType="1" noTextEdit="1"/>
              </p:cNvSpPr>
              <p:nvPr/>
            </p:nvSpPr>
            <p:spPr>
              <a:xfrm>
                <a:off x="3124200" y="2447330"/>
                <a:ext cx="4953000" cy="183325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571EB59-4446-DE3F-DF3D-119B7173767C}"/>
                  </a:ext>
                </a:extLst>
              </p:cNvPr>
              <p:cNvSpPr txBox="1"/>
              <p:nvPr/>
            </p:nvSpPr>
            <p:spPr>
              <a:xfrm>
                <a:off x="2514600" y="4440689"/>
                <a:ext cx="6667500" cy="1225657"/>
              </a:xfrm>
              <a:prstGeom prst="rect">
                <a:avLst/>
              </a:prstGeom>
              <a:noFill/>
            </p:spPr>
            <p:txBody>
              <a:bodyPr wrap="square" rtlCol="0">
                <a:spAutoFit/>
              </a:bodyPr>
              <a:lstStyle/>
              <a:p>
                <a:r>
                  <a:rPr lang="en-US" dirty="0"/>
                  <a:t>Here,</a:t>
                </a:r>
                <a:endParaRPr lang="en-US" sz="1800" b="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𝐶</m:t>
                        </m:r>
                      </m:e>
                      <m:sub>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𝐿</m:t>
                            </m:r>
                          </m:e>
                          <m:sub>
                            <m:r>
                              <a:rPr lang="en-US" sz="1800" b="0" i="1" smtClean="0">
                                <a:latin typeface="Cambria Math" panose="02040503050406030204" pitchFamily="18" charset="0"/>
                                <a:ea typeface="Cambria Math" panose="02040503050406030204" pitchFamily="18" charset="0"/>
                              </a:rPr>
                              <m:t>0</m:t>
                            </m:r>
                          </m:sub>
                        </m:sSub>
                      </m:sub>
                    </m:sSub>
                  </m:oMath>
                </a14:m>
                <a:r>
                  <a:rPr lang="en-US" dirty="0"/>
                  <a:t> = lift coefficient at zero </a:t>
                </a:r>
                <a:r>
                  <a:rPr lang="en-US" dirty="0" err="1"/>
                  <a:t>AoA</a:t>
                </a:r>
                <a:r>
                  <a:rPr lang="en-US" dirty="0"/>
                  <a:t> (from wind tunnel tests or CFD)</a:t>
                </a:r>
              </a:p>
              <a:p>
                <a14:m>
                  <m:oMath xmlns:m="http://schemas.openxmlformats.org/officeDocument/2006/math">
                    <m:r>
                      <a:rPr lang="en-US" sz="1800" b="0" i="1" smtClean="0">
                        <a:latin typeface="Cambria Math" panose="02040503050406030204" pitchFamily="18" charset="0"/>
                        <a:ea typeface="Cambria Math" panose="02040503050406030204" pitchFamily="18" charset="0"/>
                      </a:rPr>
                      <m:t>𝑎</m:t>
                    </m:r>
                  </m:oMath>
                </a14:m>
                <a:r>
                  <a:rPr lang="en-US" dirty="0"/>
                  <a:t>    = lift curve slope (~0.1 per degree or 2</a:t>
                </a:r>
                <a:r>
                  <a:rPr lang="en-US" dirty="0">
                    <a:latin typeface="Cambria Math" panose="02040503050406030204" pitchFamily="18" charset="0"/>
                    <a:ea typeface="Cambria Math" panose="02040503050406030204" pitchFamily="18" charset="0"/>
                  </a:rPr>
                  <a:t>𝝅 per radian</a:t>
                </a:r>
                <a:r>
                  <a:rPr lang="en-US" dirty="0"/>
                  <a:t>)</a:t>
                </a:r>
              </a:p>
              <a:p>
                <a14:m>
                  <m:oMath xmlns:m="http://schemas.openxmlformats.org/officeDocument/2006/math">
                    <m:r>
                      <a:rPr lang="en-US" sz="1800" b="0" i="1" smtClean="0">
                        <a:latin typeface="Cambria Math" panose="02040503050406030204" pitchFamily="18" charset="0"/>
                        <a:ea typeface="Cambria Math" panose="02040503050406030204" pitchFamily="18" charset="0"/>
                      </a:rPr>
                      <m:t>𝛼</m:t>
                    </m:r>
                  </m:oMath>
                </a14:m>
                <a:r>
                  <a:rPr lang="en-US" dirty="0"/>
                  <a:t>    = Angle of Attack</a:t>
                </a:r>
              </a:p>
            </p:txBody>
          </p:sp>
        </mc:Choice>
        <mc:Fallback xmlns="">
          <p:sp>
            <p:nvSpPr>
              <p:cNvPr id="13" name="TextBox 12">
                <a:extLst>
                  <a:ext uri="{FF2B5EF4-FFF2-40B4-BE49-F238E27FC236}">
                    <a16:creationId xmlns:a16="http://schemas.microsoft.com/office/drawing/2014/main" id="{7571EB59-4446-DE3F-DF3D-119B7173767C}"/>
                  </a:ext>
                </a:extLst>
              </p:cNvPr>
              <p:cNvSpPr txBox="1">
                <a:spLocks noRot="1" noChangeAspect="1" noMove="1" noResize="1" noEditPoints="1" noAdjustHandles="1" noChangeArrowheads="1" noChangeShapeType="1" noTextEdit="1"/>
              </p:cNvSpPr>
              <p:nvPr/>
            </p:nvSpPr>
            <p:spPr>
              <a:xfrm>
                <a:off x="2514600" y="4440689"/>
                <a:ext cx="6667500" cy="1225657"/>
              </a:xfrm>
              <a:prstGeom prst="rect">
                <a:avLst/>
              </a:prstGeom>
              <a:blipFill>
                <a:blip r:embed="rId3"/>
                <a:stretch>
                  <a:fillRect l="-823" t="-2475" b="-6931"/>
                </a:stretch>
              </a:blipFill>
            </p:spPr>
            <p:txBody>
              <a:bodyPr/>
              <a:lstStyle/>
              <a:p>
                <a:r>
                  <a:rPr lang="en-US">
                    <a:noFill/>
                  </a:rPr>
                  <a:t> </a:t>
                </a:r>
              </a:p>
            </p:txBody>
          </p:sp>
        </mc:Fallback>
      </mc:AlternateContent>
      <p:sp>
        <p:nvSpPr>
          <p:cNvPr id="4" name="Frame 3">
            <a:extLst>
              <a:ext uri="{FF2B5EF4-FFF2-40B4-BE49-F238E27FC236}">
                <a16:creationId xmlns:a16="http://schemas.microsoft.com/office/drawing/2014/main" id="{834AE403-F71E-9569-3C85-D3D89E5418F7}"/>
              </a:ext>
            </a:extLst>
          </p:cNvPr>
          <p:cNvSpPr/>
          <p:nvPr/>
        </p:nvSpPr>
        <p:spPr>
          <a:xfrm>
            <a:off x="4267200" y="2743200"/>
            <a:ext cx="2895600" cy="857908"/>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5" name="Frame 4">
            <a:extLst>
              <a:ext uri="{FF2B5EF4-FFF2-40B4-BE49-F238E27FC236}">
                <a16:creationId xmlns:a16="http://schemas.microsoft.com/office/drawing/2014/main" id="{BB5EE8BF-0116-16A1-7EBE-ECD5E9695B88}"/>
              </a:ext>
            </a:extLst>
          </p:cNvPr>
          <p:cNvSpPr/>
          <p:nvPr/>
        </p:nvSpPr>
        <p:spPr>
          <a:xfrm>
            <a:off x="4572000" y="3829876"/>
            <a:ext cx="2143125" cy="416921"/>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18106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BFF4C-E6E1-F2E4-C927-BD4118429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73266-CF2F-7A3D-DF9C-9A11107A8173}"/>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p:sp>
        <p:nvSpPr>
          <p:cNvPr id="3" name="TextBox 2">
            <a:extLst>
              <a:ext uri="{FF2B5EF4-FFF2-40B4-BE49-F238E27FC236}">
                <a16:creationId xmlns:a16="http://schemas.microsoft.com/office/drawing/2014/main" id="{63B145C2-E81E-49CC-E33E-0E441D48F393}"/>
              </a:ext>
            </a:extLst>
          </p:cNvPr>
          <p:cNvSpPr txBox="1"/>
          <p:nvPr/>
        </p:nvSpPr>
        <p:spPr>
          <a:xfrm>
            <a:off x="304800" y="1524000"/>
            <a:ext cx="11582400" cy="646331"/>
          </a:xfrm>
          <a:prstGeom prst="rect">
            <a:avLst/>
          </a:prstGeom>
          <a:noFill/>
        </p:spPr>
        <p:txBody>
          <a:bodyPr wrap="square" rtlCol="0">
            <a:spAutoFit/>
          </a:bodyPr>
          <a:lstStyle/>
          <a:p>
            <a:pPr algn="just"/>
            <a:r>
              <a:rPr lang="en-US" b="1" u="sng" dirty="0"/>
              <a:t>Calculating </a:t>
            </a:r>
            <a:r>
              <a:rPr lang="en-US" b="1" u="sng" dirty="0" err="1"/>
              <a:t>AoA</a:t>
            </a:r>
            <a:r>
              <a:rPr lang="en-US" b="1" dirty="0"/>
              <a:t>: </a:t>
            </a:r>
            <a:r>
              <a:rPr lang="en-US" dirty="0"/>
              <a:t>The </a:t>
            </a:r>
            <a:r>
              <a:rPr lang="en-US" dirty="0" err="1"/>
              <a:t>AoA</a:t>
            </a:r>
            <a:r>
              <a:rPr lang="en-US" dirty="0"/>
              <a:t> also has an effect on the Drag too, from the formula of the Drag from the previous slides</a:t>
            </a:r>
            <a:endParaRPr lang="en-US" b="1"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768CBC7-34BE-4181-785E-9B8FD9877F86}"/>
                  </a:ext>
                </a:extLst>
              </p:cNvPr>
              <p:cNvSpPr txBox="1"/>
              <p:nvPr/>
            </p:nvSpPr>
            <p:spPr>
              <a:xfrm>
                <a:off x="3505200" y="1734127"/>
                <a:ext cx="4953000" cy="1833259"/>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𝐷</m:t>
                      </m:r>
                      <m:r>
                        <a:rPr lang="en-US" sz="240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 </m:t>
                      </m:r>
                      <m:r>
                        <a:rPr lang="en-US" sz="2400" b="0" i="1" smtClean="0">
                          <a:latin typeface="Cambria Math" panose="02040503050406030204" pitchFamily="18" charset="0"/>
                        </a:rPr>
                        <m:t>𝝆</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𝐷</m:t>
                          </m:r>
                        </m:sub>
                      </m:sSub>
                    </m:oMath>
                  </m:oMathPara>
                </a14:m>
                <a:endParaRPr lang="en-US" sz="2400" i="1" dirty="0">
                  <a:latin typeface="Cambria Math" panose="02040503050406030204" pitchFamily="18" charset="0"/>
                </a:endParaRPr>
              </a:p>
              <a:p>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𝐷</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𝑖</m:t>
                              </m:r>
                            </m:sub>
                          </m:sSub>
                        </m:sub>
                      </m:sSub>
                    </m:oMath>
                  </m:oMathPara>
                </a14:m>
                <a:endParaRPr lang="en-US" sz="2400" i="1"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0768CBC7-34BE-4181-785E-9B8FD9877F86}"/>
                  </a:ext>
                </a:extLst>
              </p:cNvPr>
              <p:cNvSpPr txBox="1">
                <a:spLocks noRot="1" noChangeAspect="1" noMove="1" noResize="1" noEditPoints="1" noAdjustHandles="1" noChangeArrowheads="1" noChangeShapeType="1" noTextEdit="1"/>
              </p:cNvSpPr>
              <p:nvPr/>
            </p:nvSpPr>
            <p:spPr>
              <a:xfrm>
                <a:off x="3505200" y="1734127"/>
                <a:ext cx="4953000" cy="1833259"/>
              </a:xfrm>
              <a:prstGeom prst="rect">
                <a:avLst/>
              </a:prstGeom>
              <a:blipFill>
                <a:blip r:embed="rId2"/>
                <a:stretch>
                  <a:fillRect b="-3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DB0E7C3-5B9B-2792-161C-F292A312C7FC}"/>
                  </a:ext>
                </a:extLst>
              </p:cNvPr>
              <p:cNvSpPr txBox="1"/>
              <p:nvPr/>
            </p:nvSpPr>
            <p:spPr>
              <a:xfrm>
                <a:off x="304799" y="5188906"/>
                <a:ext cx="10058398" cy="1414426"/>
              </a:xfrm>
              <a:prstGeom prst="rect">
                <a:avLst/>
              </a:prstGeom>
              <a:noFill/>
            </p:spPr>
            <p:txBody>
              <a:bodyPr wrap="square" rtlCol="0">
                <a:spAutoFit/>
              </a:bodyPr>
              <a:lstStyle/>
              <a:p>
                <a:r>
                  <a:rPr lang="en-US" dirty="0"/>
                  <a:t>Here,</a:t>
                </a:r>
                <a:endParaRPr lang="en-US" sz="1800" b="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𝐶</m:t>
                        </m:r>
                      </m:e>
                      <m:sub>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𝐷</m:t>
                            </m:r>
                          </m:e>
                          <m:sub>
                            <m:r>
                              <a:rPr lang="en-US" sz="1800" b="0" i="1" smtClean="0">
                                <a:latin typeface="Cambria Math" panose="02040503050406030204" pitchFamily="18" charset="0"/>
                                <a:ea typeface="Cambria Math" panose="02040503050406030204" pitchFamily="18" charset="0"/>
                              </a:rPr>
                              <m:t>0</m:t>
                            </m:r>
                          </m:sub>
                        </m:sSub>
                      </m:sub>
                    </m:sSub>
                  </m:oMath>
                </a14:m>
                <a:r>
                  <a:rPr lang="en-US" dirty="0"/>
                  <a:t> =  Drag coefficient at zero Lift (AKA Parasite Drag Coefficient) </a:t>
                </a:r>
                <a:r>
                  <a:rPr lang="en-US" sz="1400" dirty="0"/>
                  <a:t>(CFD)</a:t>
                </a:r>
              </a:p>
              <a:p>
                <a14:m>
                  <m:oMath xmlns:m="http://schemas.openxmlformats.org/officeDocument/2006/math">
                    <m:r>
                      <a:rPr lang="en-US" b="0" i="1" smtClean="0">
                        <a:latin typeface="Cambria Math" panose="02040503050406030204" pitchFamily="18" charset="0"/>
                      </a:rPr>
                      <m:t>𝑒</m:t>
                    </m:r>
                  </m:oMath>
                </a14:m>
                <a:r>
                  <a:rPr lang="en-US" dirty="0"/>
                  <a:t>    =  Oswald Coefficient Factor (~0.7 for elliptical wings)</a:t>
                </a:r>
              </a:p>
              <a:p>
                <a14:m>
                  <m:oMath xmlns:m="http://schemas.openxmlformats.org/officeDocument/2006/math">
                    <m:r>
                      <a:rPr lang="en-US" b="0" i="1" smtClean="0">
                        <a:latin typeface="Cambria Math" panose="02040503050406030204" pitchFamily="18" charset="0"/>
                      </a:rPr>
                      <m:t>𝐴𝑅</m:t>
                    </m:r>
                  </m:oMath>
                </a14:m>
                <a:r>
                  <a:rPr lang="en-US" dirty="0"/>
                  <a:t> =  Aspect Ratio of the Aircraft/Rotorcraft (</a:t>
                </a:r>
                <a14:m>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2</m:t>
                            </m:r>
                          </m:sup>
                        </m:s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𝑤</m:t>
                            </m:r>
                          </m:sub>
                        </m:sSub>
                      </m:den>
                    </m:f>
                  </m:oMath>
                </a14:m>
                <a:r>
                  <a:rPr lang="en-US" dirty="0"/>
                  <a:t>)</a:t>
                </a:r>
              </a:p>
            </p:txBody>
          </p:sp>
        </mc:Choice>
        <mc:Fallback xmlns="">
          <p:sp>
            <p:nvSpPr>
              <p:cNvPr id="13" name="TextBox 12">
                <a:extLst>
                  <a:ext uri="{FF2B5EF4-FFF2-40B4-BE49-F238E27FC236}">
                    <a16:creationId xmlns:a16="http://schemas.microsoft.com/office/drawing/2014/main" id="{0DB0E7C3-5B9B-2792-161C-F292A312C7FC}"/>
                  </a:ext>
                </a:extLst>
              </p:cNvPr>
              <p:cNvSpPr txBox="1">
                <a:spLocks noRot="1" noChangeAspect="1" noMove="1" noResize="1" noEditPoints="1" noAdjustHandles="1" noChangeArrowheads="1" noChangeShapeType="1" noTextEdit="1"/>
              </p:cNvSpPr>
              <p:nvPr/>
            </p:nvSpPr>
            <p:spPr>
              <a:xfrm>
                <a:off x="304799" y="5188906"/>
                <a:ext cx="10058398" cy="1414426"/>
              </a:xfrm>
              <a:prstGeom prst="rect">
                <a:avLst/>
              </a:prstGeom>
              <a:blipFill>
                <a:blip r:embed="rId3"/>
                <a:stretch>
                  <a:fillRect l="-485" t="-21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3EAF79D-5ABB-2BC7-F531-BBCB26954487}"/>
                  </a:ext>
                </a:extLst>
              </p:cNvPr>
              <p:cNvSpPr txBox="1"/>
              <p:nvPr/>
            </p:nvSpPr>
            <p:spPr>
              <a:xfrm>
                <a:off x="5151268" y="4366606"/>
                <a:ext cx="1815753" cy="428259"/>
              </a:xfrm>
              <a:prstGeom prst="rect">
                <a:avLst/>
              </a:prstGeom>
              <a:noFill/>
            </p:spPr>
            <p:txBody>
              <a:bodyPr wrap="none" rtlCol="0">
                <a:spAutoFit/>
              </a:bodyPr>
              <a:lstStyle/>
              <a:p>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𝐿</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𝐿</m:t>
                            </m:r>
                          </m:e>
                          <m:sub>
                            <m:r>
                              <a:rPr lang="en-US" sz="2000" b="0" i="1" smtClean="0">
                                <a:latin typeface="Cambria Math" panose="02040503050406030204" pitchFamily="18" charset="0"/>
                                <a:ea typeface="Cambria Math" panose="02040503050406030204" pitchFamily="18" charset="0"/>
                              </a:rPr>
                              <m:t>0</m:t>
                            </m:r>
                          </m:sub>
                        </m:sSub>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𝑎</m:t>
                    </m:r>
                    <m:r>
                      <a:rPr lang="en-US" sz="2000" b="1" i="1" smtClean="0">
                        <a:latin typeface="Cambria Math" panose="02040503050406030204" pitchFamily="18" charset="0"/>
                        <a:ea typeface="Cambria Math" panose="02040503050406030204" pitchFamily="18" charset="0"/>
                      </a:rPr>
                      <m:t>𝜶</m:t>
                    </m:r>
                  </m:oMath>
                </a14:m>
                <a:endParaRPr lang="en-US" sz="2000" b="1" dirty="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83EAF79D-5ABB-2BC7-F531-BBCB26954487}"/>
                  </a:ext>
                </a:extLst>
              </p:cNvPr>
              <p:cNvSpPr txBox="1">
                <a:spLocks noRot="1" noChangeAspect="1" noMove="1" noResize="1" noEditPoints="1" noAdjustHandles="1" noChangeArrowheads="1" noChangeShapeType="1" noTextEdit="1"/>
              </p:cNvSpPr>
              <p:nvPr/>
            </p:nvSpPr>
            <p:spPr>
              <a:xfrm>
                <a:off x="5151268" y="4366606"/>
                <a:ext cx="1815753" cy="428259"/>
              </a:xfrm>
              <a:prstGeom prst="rect">
                <a:avLst/>
              </a:prstGeom>
              <a:blipFill>
                <a:blip r:embed="rId4"/>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7D795A9B-C259-7DF4-700D-BD39CDAD0DBF}"/>
              </a:ext>
            </a:extLst>
          </p:cNvPr>
          <p:cNvCxnSpPr>
            <a:cxnSpLocks/>
          </p:cNvCxnSpPr>
          <p:nvPr/>
        </p:nvCxnSpPr>
        <p:spPr>
          <a:xfrm>
            <a:off x="5068141" y="4162034"/>
            <a:ext cx="0" cy="433172"/>
          </a:xfrm>
          <a:prstGeom prst="line">
            <a:avLst/>
          </a:prstGeom>
          <a:ln w="28575"/>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D990D8B-9F80-52F4-D836-755FE60E85AF}"/>
              </a:ext>
            </a:extLst>
          </p:cNvPr>
          <p:cNvCxnSpPr>
            <a:cxnSpLocks/>
          </p:cNvCxnSpPr>
          <p:nvPr/>
        </p:nvCxnSpPr>
        <p:spPr>
          <a:xfrm>
            <a:off x="5068141" y="4595206"/>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3C8494AE-0A2E-04B9-236A-96F4891D2CF2}"/>
              </a:ext>
            </a:extLst>
          </p:cNvPr>
          <p:cNvCxnSpPr>
            <a:cxnSpLocks/>
          </p:cNvCxnSpPr>
          <p:nvPr/>
        </p:nvCxnSpPr>
        <p:spPr>
          <a:xfrm>
            <a:off x="5068718" y="4572000"/>
            <a:ext cx="0" cy="480406"/>
          </a:xfrm>
          <a:prstGeom prst="line">
            <a:avLst/>
          </a:prstGeom>
          <a:ln w="28575"/>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6CE27ADD-A0B1-37EE-77A0-43E7B02C01E1}"/>
              </a:ext>
            </a:extLst>
          </p:cNvPr>
          <p:cNvCxnSpPr>
            <a:cxnSpLocks/>
          </p:cNvCxnSpPr>
          <p:nvPr/>
        </p:nvCxnSpPr>
        <p:spPr>
          <a:xfrm>
            <a:off x="5068718" y="5052406"/>
            <a:ext cx="190500" cy="0"/>
          </a:xfrm>
          <a:prstGeom prst="line">
            <a:avLst/>
          </a:prstGeom>
          <a:ln w="28575"/>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C008659-1F7F-AE90-EEAA-6A5A7C12F4D3}"/>
                  </a:ext>
                </a:extLst>
              </p:cNvPr>
              <p:cNvSpPr txBox="1"/>
              <p:nvPr/>
            </p:nvSpPr>
            <p:spPr>
              <a:xfrm>
                <a:off x="5240168" y="4716265"/>
                <a:ext cx="2532232" cy="558102"/>
              </a:xfrm>
              <a:prstGeom prst="rect">
                <a:avLst/>
              </a:prstGeom>
              <a:noFill/>
            </p:spPr>
            <p:txBody>
              <a:bodyPr wrap="none" rtlCol="0">
                <a:spAutoFit/>
              </a:bodyPr>
              <a:lstStyle/>
              <a:p>
                <a14:m>
                  <m:oMath xmlns:m="http://schemas.openxmlformats.org/officeDocument/2006/math">
                    <m:r>
                      <a:rPr lang="en-US" sz="1800" b="0" i="1" smtClean="0">
                        <a:latin typeface="Cambria Math" panose="02040503050406030204" pitchFamily="18" charset="0"/>
                        <a:ea typeface="Cambria Math" panose="02040503050406030204" pitchFamily="18" charset="0"/>
                      </a:rPr>
                      <m:t>𝐴𝑅</m:t>
                    </m:r>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𝑏</m:t>
                            </m:r>
                          </m:e>
                          <m:sup>
                            <m:r>
                              <a:rPr lang="en-US" sz="1800" b="0" i="1" smtClean="0">
                                <a:latin typeface="Cambria Math" panose="02040503050406030204" pitchFamily="18" charset="0"/>
                                <a:ea typeface="Cambria Math" panose="02040503050406030204" pitchFamily="18" charset="0"/>
                              </a:rPr>
                              <m:t>2</m:t>
                            </m:r>
                          </m:sup>
                        </m:sSup>
                      </m:num>
                      <m:den>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𝑠</m:t>
                            </m:r>
                          </m:e>
                          <m:sub>
                            <m:r>
                              <a:rPr lang="en-US" sz="1800" b="0" i="1" smtClean="0">
                                <a:latin typeface="Cambria Math" panose="02040503050406030204" pitchFamily="18" charset="0"/>
                                <a:ea typeface="Cambria Math" panose="02040503050406030204" pitchFamily="18" charset="0"/>
                              </a:rPr>
                              <m:t>𝑤</m:t>
                            </m:r>
                          </m:sub>
                        </m:sSub>
                      </m:den>
                    </m:f>
                    <m:r>
                      <a:rPr lang="en-US" sz="1800" b="0" i="0" smtClean="0">
                        <a:latin typeface="Cambria Math" panose="02040503050406030204" pitchFamily="18" charset="0"/>
                        <a:ea typeface="Cambria Math" panose="02040503050406030204" pitchFamily="18" charset="0"/>
                      </a:rPr>
                      <m:t> </m:t>
                    </m:r>
                  </m:oMath>
                </a14:m>
                <a:r>
                  <a:rPr lang="en-US" sz="1800" dirty="0"/>
                  <a:t> </a:t>
                </a:r>
                <a:r>
                  <a:rPr lang="en-US" sz="1800" dirty="0">
                    <a:sym typeface="Wingdings" panose="05000000000000000000" pitchFamily="2" charset="2"/>
                  </a:rPr>
                  <a:t> </a:t>
                </a:r>
                <a:r>
                  <a:rPr lang="en-US" sz="1800" dirty="0"/>
                  <a:t>(</a:t>
                </a:r>
                <a14:m>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𝑊𝑖𝑛𝑔</m:t>
                        </m:r>
                        <m:r>
                          <a:rPr lang="en-US" sz="1800" b="0" i="1" smtClean="0">
                            <a:latin typeface="Cambria Math" panose="02040503050406030204" pitchFamily="18" charset="0"/>
                          </a:rPr>
                          <m:t> </m:t>
                        </m:r>
                        <m:r>
                          <a:rPr lang="en-US" sz="1800" b="0" i="1" smtClean="0">
                            <a:latin typeface="Cambria Math" panose="02040503050406030204" pitchFamily="18" charset="0"/>
                          </a:rPr>
                          <m:t>𝑠𝑝𝑎</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𝑛</m:t>
                            </m:r>
                          </m:e>
                          <m:sup>
                            <m:r>
                              <a:rPr lang="en-US" sz="1800" b="0" i="1" smtClean="0">
                                <a:latin typeface="Cambria Math" panose="02040503050406030204" pitchFamily="18" charset="0"/>
                              </a:rPr>
                              <m:t>2</m:t>
                            </m:r>
                          </m:sup>
                        </m:sSup>
                      </m:num>
                      <m:den>
                        <m:r>
                          <a:rPr lang="en-US" sz="1800" b="0" i="1" smtClean="0">
                            <a:latin typeface="Cambria Math" panose="02040503050406030204" pitchFamily="18" charset="0"/>
                          </a:rPr>
                          <m:t>𝑊𝑖𝑛𝑔</m:t>
                        </m:r>
                        <m:r>
                          <a:rPr lang="en-US" sz="1800" b="0" i="1" smtClean="0">
                            <a:latin typeface="Cambria Math" panose="02040503050406030204" pitchFamily="18" charset="0"/>
                          </a:rPr>
                          <m:t> </m:t>
                        </m:r>
                        <m:r>
                          <a:rPr lang="en-US" sz="1800" b="0" i="1" smtClean="0">
                            <a:latin typeface="Cambria Math" panose="02040503050406030204" pitchFamily="18" charset="0"/>
                          </a:rPr>
                          <m:t>𝐴𝑟𝑒𝑎</m:t>
                        </m:r>
                      </m:den>
                    </m:f>
                  </m:oMath>
                </a14:m>
                <a:r>
                  <a:rPr lang="en-US" sz="1800" dirty="0"/>
                  <a:t>)</a:t>
                </a:r>
                <a:endParaRPr lang="en-US" dirty="0"/>
              </a:p>
            </p:txBody>
          </p:sp>
        </mc:Choice>
        <mc:Fallback xmlns="">
          <p:sp>
            <p:nvSpPr>
              <p:cNvPr id="19" name="TextBox 18">
                <a:extLst>
                  <a:ext uri="{FF2B5EF4-FFF2-40B4-BE49-F238E27FC236}">
                    <a16:creationId xmlns:a16="http://schemas.microsoft.com/office/drawing/2014/main" id="{FC008659-1F7F-AE90-EEAA-6A5A7C12F4D3}"/>
                  </a:ext>
                </a:extLst>
              </p:cNvPr>
              <p:cNvSpPr txBox="1">
                <a:spLocks noRot="1" noChangeAspect="1" noMove="1" noResize="1" noEditPoints="1" noAdjustHandles="1" noChangeArrowheads="1" noChangeShapeType="1" noTextEdit="1"/>
              </p:cNvSpPr>
              <p:nvPr/>
            </p:nvSpPr>
            <p:spPr>
              <a:xfrm>
                <a:off x="5240168" y="4716265"/>
                <a:ext cx="2532232" cy="558102"/>
              </a:xfrm>
              <a:prstGeom prst="rect">
                <a:avLst/>
              </a:prstGeom>
              <a:blipFill>
                <a:blip r:embed="rId5"/>
                <a:stretch>
                  <a:fillRect r="-14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B0268E6-858D-E973-E34A-56B4C9750A31}"/>
                  </a:ext>
                </a:extLst>
              </p:cNvPr>
              <p:cNvSpPr txBox="1"/>
              <p:nvPr/>
            </p:nvSpPr>
            <p:spPr>
              <a:xfrm>
                <a:off x="7848600" y="5461337"/>
                <a:ext cx="2806700" cy="101566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𝐿</m:t>
                        </m:r>
                      </m:sub>
                    </m:sSub>
                  </m:oMath>
                </a14:m>
                <a:r>
                  <a:rPr lang="en-US" sz="2000" dirty="0"/>
                  <a:t> = lift coefficient </a:t>
                </a:r>
              </a:p>
              <a:p>
                <a14:m>
                  <m:oMath xmlns:m="http://schemas.openxmlformats.org/officeDocument/2006/math">
                    <m:r>
                      <a:rPr lang="en-US" sz="2000" b="0" i="1" smtClean="0">
                        <a:latin typeface="Cambria Math" panose="02040503050406030204" pitchFamily="18" charset="0"/>
                        <a:ea typeface="Cambria Math" panose="02040503050406030204" pitchFamily="18" charset="0"/>
                      </a:rPr>
                      <m:t>𝑎</m:t>
                    </m:r>
                  </m:oMath>
                </a14:m>
                <a:r>
                  <a:rPr lang="en-US" sz="2000" dirty="0"/>
                  <a:t>  = lift curve slope</a:t>
                </a:r>
              </a:p>
              <a:p>
                <a14:m>
                  <m:oMath xmlns:m="http://schemas.openxmlformats.org/officeDocument/2006/math">
                    <m:r>
                      <a:rPr lang="en-US" sz="2000" b="1" i="1" smtClean="0">
                        <a:latin typeface="Cambria Math" panose="02040503050406030204" pitchFamily="18" charset="0"/>
                        <a:ea typeface="Cambria Math" panose="02040503050406030204" pitchFamily="18" charset="0"/>
                      </a:rPr>
                      <m:t>𝜶</m:t>
                    </m:r>
                  </m:oMath>
                </a14:m>
                <a:r>
                  <a:rPr lang="en-US" sz="2000" b="1" dirty="0"/>
                  <a:t>  = Angle of Attack</a:t>
                </a:r>
              </a:p>
            </p:txBody>
          </p:sp>
        </mc:Choice>
        <mc:Fallback xmlns="">
          <p:sp>
            <p:nvSpPr>
              <p:cNvPr id="20" name="TextBox 19">
                <a:extLst>
                  <a:ext uri="{FF2B5EF4-FFF2-40B4-BE49-F238E27FC236}">
                    <a16:creationId xmlns:a16="http://schemas.microsoft.com/office/drawing/2014/main" id="{9B0268E6-858D-E973-E34A-56B4C9750A31}"/>
                  </a:ext>
                </a:extLst>
              </p:cNvPr>
              <p:cNvSpPr txBox="1">
                <a:spLocks noRot="1" noChangeAspect="1" noMove="1" noResize="1" noEditPoints="1" noAdjustHandles="1" noChangeArrowheads="1" noChangeShapeType="1" noTextEdit="1"/>
              </p:cNvSpPr>
              <p:nvPr/>
            </p:nvSpPr>
            <p:spPr>
              <a:xfrm>
                <a:off x="7848600" y="5461337"/>
                <a:ext cx="2806700" cy="1015663"/>
              </a:xfrm>
              <a:prstGeom prst="rect">
                <a:avLst/>
              </a:prstGeom>
              <a:blipFill>
                <a:blip r:embed="rId6"/>
                <a:stretch>
                  <a:fillRect t="-2994" b="-10180"/>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4D9B9973-0005-6DEC-8458-56FD5B3FCEDA}"/>
              </a:ext>
            </a:extLst>
          </p:cNvPr>
          <p:cNvCxnSpPr>
            <a:cxnSpLocks/>
          </p:cNvCxnSpPr>
          <p:nvPr/>
        </p:nvCxnSpPr>
        <p:spPr>
          <a:xfrm>
            <a:off x="7772400" y="5403561"/>
            <a:ext cx="0" cy="1073439"/>
          </a:xfrm>
          <a:prstGeom prst="line">
            <a:avLst/>
          </a:prstGeom>
          <a:ln w="28575"/>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6F6BD30-FF28-E950-A179-5BE32B6B568C}"/>
                  </a:ext>
                </a:extLst>
              </p:cNvPr>
              <p:cNvSpPr txBox="1"/>
              <p:nvPr/>
            </p:nvSpPr>
            <p:spPr>
              <a:xfrm>
                <a:off x="3637330" y="3598121"/>
                <a:ext cx="4211262" cy="891783"/>
              </a:xfrm>
              <a:prstGeom prst="rect">
                <a:avLst/>
              </a:prstGeom>
              <a:noFill/>
            </p:spPr>
            <p:txBody>
              <a:bodyPr wrap="square" rtlCol="0">
                <a:spAutoFit/>
              </a:bodyPr>
              <a:lstStyle/>
              <a:p>
                <a:r>
                  <a:rPr lang="en-US" sz="2000" dirty="0">
                    <a:ea typeface="Cambria Math" panose="02040503050406030204" pitchFamily="18" charset="0"/>
                  </a:rPr>
                  <a:t>Where,</a:t>
                </a:r>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𝐷</m:t>
                            </m:r>
                          </m:e>
                          <m:sub>
                            <m:r>
                              <a:rPr lang="en-US" sz="2000" b="0" i="1" smtClean="0">
                                <a:latin typeface="Cambria Math" panose="02040503050406030204" pitchFamily="18" charset="0"/>
                                <a:ea typeface="Cambria Math" panose="02040503050406030204" pitchFamily="18" charset="0"/>
                              </a:rPr>
                              <m:t>𝑖</m:t>
                            </m:r>
                          </m:sub>
                        </m:sSub>
                      </m:sub>
                    </m:sSub>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bSup>
                          <m:sSubSupPr>
                            <m:ctrlPr>
                              <a:rPr lang="en-US" sz="2000" b="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𝐿</m:t>
                            </m:r>
                          </m:sub>
                          <m:sup>
                            <m:r>
                              <a:rPr lang="en-US" sz="2000" b="0" i="1" smtClean="0">
                                <a:latin typeface="Cambria Math" panose="02040503050406030204" pitchFamily="18" charset="0"/>
                                <a:ea typeface="Cambria Math" panose="02040503050406030204" pitchFamily="18" charset="0"/>
                              </a:rPr>
                              <m:t>2</m:t>
                            </m:r>
                          </m:sup>
                        </m:sSubSup>
                      </m:num>
                      <m:den>
                        <m:r>
                          <a:rPr lang="en-US" sz="2000" b="0" i="1" smtClean="0">
                            <a:latin typeface="Cambria Math" panose="02040503050406030204" pitchFamily="18" charset="0"/>
                            <a:ea typeface="Cambria Math" panose="02040503050406030204" pitchFamily="18" charset="0"/>
                          </a:rPr>
                          <m:t>𝝅</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𝑒</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𝐴𝑅</m:t>
                        </m:r>
                      </m:den>
                    </m:f>
                  </m:oMath>
                </a14:m>
                <a:endParaRPr lang="en-US" sz="2000" b="0" i="1" dirty="0">
                  <a:latin typeface="Cambria Math" panose="02040503050406030204" pitchFamily="18" charset="0"/>
                  <a:ea typeface="Cambria Math" panose="02040503050406030204" pitchFamily="18" charset="0"/>
                </a:endParaRPr>
              </a:p>
              <a:p>
                <a:endParaRPr lang="en-US" sz="2000" dirty="0"/>
              </a:p>
            </p:txBody>
          </p:sp>
        </mc:Choice>
        <mc:Fallback xmlns="">
          <p:sp>
            <p:nvSpPr>
              <p:cNvPr id="23" name="TextBox 22">
                <a:extLst>
                  <a:ext uri="{FF2B5EF4-FFF2-40B4-BE49-F238E27FC236}">
                    <a16:creationId xmlns:a16="http://schemas.microsoft.com/office/drawing/2014/main" id="{36F6BD30-FF28-E950-A179-5BE32B6B568C}"/>
                  </a:ext>
                </a:extLst>
              </p:cNvPr>
              <p:cNvSpPr txBox="1">
                <a:spLocks noRot="1" noChangeAspect="1" noMove="1" noResize="1" noEditPoints="1" noAdjustHandles="1" noChangeArrowheads="1" noChangeShapeType="1" noTextEdit="1"/>
              </p:cNvSpPr>
              <p:nvPr/>
            </p:nvSpPr>
            <p:spPr>
              <a:xfrm>
                <a:off x="3637330" y="3598121"/>
                <a:ext cx="4211262" cy="891783"/>
              </a:xfrm>
              <a:prstGeom prst="rect">
                <a:avLst/>
              </a:prstGeom>
              <a:blipFill>
                <a:blip r:embed="rId7"/>
                <a:stretch>
                  <a:fillRect l="-1594"/>
                </a:stretch>
              </a:blipFill>
            </p:spPr>
            <p:txBody>
              <a:bodyPr/>
              <a:lstStyle/>
              <a:p>
                <a:r>
                  <a:rPr lang="en-US">
                    <a:noFill/>
                  </a:rPr>
                  <a:t> </a:t>
                </a:r>
              </a:p>
            </p:txBody>
          </p:sp>
        </mc:Fallback>
      </mc:AlternateContent>
      <p:sp>
        <p:nvSpPr>
          <p:cNvPr id="24" name="Frame 23">
            <a:extLst>
              <a:ext uri="{FF2B5EF4-FFF2-40B4-BE49-F238E27FC236}">
                <a16:creationId xmlns:a16="http://schemas.microsoft.com/office/drawing/2014/main" id="{35A0A14A-F664-4269-6A48-74F59287DA4C}"/>
              </a:ext>
            </a:extLst>
          </p:cNvPr>
          <p:cNvSpPr/>
          <p:nvPr/>
        </p:nvSpPr>
        <p:spPr>
          <a:xfrm>
            <a:off x="4572000" y="2011426"/>
            <a:ext cx="2895600" cy="857908"/>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cxnSp>
        <p:nvCxnSpPr>
          <p:cNvPr id="25" name="Straight Connector 24">
            <a:extLst>
              <a:ext uri="{FF2B5EF4-FFF2-40B4-BE49-F238E27FC236}">
                <a16:creationId xmlns:a16="http://schemas.microsoft.com/office/drawing/2014/main" id="{73D7BCAC-2E56-D67E-2E90-C274DCE764B4}"/>
              </a:ext>
            </a:extLst>
          </p:cNvPr>
          <p:cNvCxnSpPr>
            <a:cxnSpLocks/>
          </p:cNvCxnSpPr>
          <p:nvPr/>
        </p:nvCxnSpPr>
        <p:spPr>
          <a:xfrm>
            <a:off x="4724400" y="2872394"/>
            <a:ext cx="0" cy="480406"/>
          </a:xfrm>
          <a:prstGeom prst="line">
            <a:avLst/>
          </a:prstGeom>
          <a:ln w="28575"/>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8B9C5BA5-6B08-7F4B-6AEE-B125623FEA25}"/>
              </a:ext>
            </a:extLst>
          </p:cNvPr>
          <p:cNvCxnSpPr>
            <a:cxnSpLocks/>
          </p:cNvCxnSpPr>
          <p:nvPr/>
        </p:nvCxnSpPr>
        <p:spPr>
          <a:xfrm>
            <a:off x="4724400" y="3352800"/>
            <a:ext cx="190500" cy="0"/>
          </a:xfrm>
          <a:prstGeom prst="line">
            <a:avLst/>
          </a:prstGeom>
          <a:ln w="28575"/>
        </p:spPr>
        <p:style>
          <a:lnRef idx="2">
            <a:schemeClr val="dk1"/>
          </a:lnRef>
          <a:fillRef idx="0">
            <a:schemeClr val="dk1"/>
          </a:fillRef>
          <a:effectRef idx="1">
            <a:schemeClr val="dk1"/>
          </a:effectRef>
          <a:fontRef idx="minor">
            <a:schemeClr val="tx1"/>
          </a:fontRef>
        </p:style>
      </p:cxnSp>
      <p:sp>
        <p:nvSpPr>
          <p:cNvPr id="27" name="Frame 26">
            <a:extLst>
              <a:ext uri="{FF2B5EF4-FFF2-40B4-BE49-F238E27FC236}">
                <a16:creationId xmlns:a16="http://schemas.microsoft.com/office/drawing/2014/main" id="{4BA4D7B4-35CD-C28F-BA58-69BFAD1D38D9}"/>
              </a:ext>
            </a:extLst>
          </p:cNvPr>
          <p:cNvSpPr/>
          <p:nvPr/>
        </p:nvSpPr>
        <p:spPr>
          <a:xfrm>
            <a:off x="4914900" y="3098356"/>
            <a:ext cx="2171700" cy="469979"/>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8" name="Frame 27">
            <a:extLst>
              <a:ext uri="{FF2B5EF4-FFF2-40B4-BE49-F238E27FC236}">
                <a16:creationId xmlns:a16="http://schemas.microsoft.com/office/drawing/2014/main" id="{31912458-163C-E311-837F-2B3F1BD52CBE}"/>
              </a:ext>
            </a:extLst>
          </p:cNvPr>
          <p:cNvSpPr/>
          <p:nvPr/>
        </p:nvSpPr>
        <p:spPr>
          <a:xfrm>
            <a:off x="4917209" y="3660119"/>
            <a:ext cx="1815753" cy="501915"/>
          </a:xfrm>
          <a:prstGeom prst="frame">
            <a:avLst>
              <a:gd name="adj1" fmla="val 2480"/>
            </a:avLst>
          </a:prstGeom>
          <a:ln w="952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282373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533F3-9C4B-6C74-1B39-25FB32517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A1E80-7EE3-8F74-8FCB-6B8065F423CC}"/>
              </a:ext>
            </a:extLst>
          </p:cNvPr>
          <p:cNvSpPr>
            <a:spLocks noGrp="1"/>
          </p:cNvSpPr>
          <p:nvPr>
            <p:ph type="title"/>
          </p:nvPr>
        </p:nvSpPr>
        <p:spPr>
          <a:xfrm>
            <a:off x="533400" y="457200"/>
            <a:ext cx="9067800" cy="430887"/>
          </a:xfrm>
        </p:spPr>
        <p:txBody>
          <a:bodyPr/>
          <a:lstStyle/>
          <a:p>
            <a:r>
              <a:rPr lang="en-IN" dirty="0"/>
              <a:t>Aerodynamics: </a:t>
            </a:r>
            <a:r>
              <a:rPr lang="en-US" dirty="0"/>
              <a:t>Formulae (Sum up)</a:t>
            </a:r>
            <a:endParaRPr lang="en-IN" dirty="0"/>
          </a:p>
        </p:txBody>
      </p:sp>
      <p:sp>
        <p:nvSpPr>
          <p:cNvPr id="3" name="TextBox 2">
            <a:extLst>
              <a:ext uri="{FF2B5EF4-FFF2-40B4-BE49-F238E27FC236}">
                <a16:creationId xmlns:a16="http://schemas.microsoft.com/office/drawing/2014/main" id="{927A1412-20C5-5F2A-9D33-2FD842BC96BA}"/>
              </a:ext>
            </a:extLst>
          </p:cNvPr>
          <p:cNvSpPr txBox="1"/>
          <p:nvPr/>
        </p:nvSpPr>
        <p:spPr>
          <a:xfrm>
            <a:off x="304800" y="1600200"/>
            <a:ext cx="11582400" cy="707886"/>
          </a:xfrm>
          <a:prstGeom prst="rect">
            <a:avLst/>
          </a:prstGeom>
          <a:noFill/>
        </p:spPr>
        <p:txBody>
          <a:bodyPr wrap="square" rtlCol="0">
            <a:spAutoFit/>
          </a:bodyPr>
          <a:lstStyle/>
          <a:p>
            <a:pPr algn="ctr"/>
            <a:r>
              <a:rPr lang="en-US" sz="2000" b="1" dirty="0"/>
              <a:t>NOTE: </a:t>
            </a:r>
            <a:r>
              <a:rPr lang="en-US" sz="2000" dirty="0"/>
              <a:t>The Formulae for Lift and Drag are universal for </a:t>
            </a:r>
            <a:r>
              <a:rPr lang="en-US" sz="2000" b="1" dirty="0"/>
              <a:t>all types of Aircrafts</a:t>
            </a:r>
            <a:r>
              <a:rPr lang="en-US" sz="2000" dirty="0"/>
              <a:t> (Fixed-wing or Rotorcraft)</a:t>
            </a:r>
            <a:endParaRPr lang="en-US" sz="2000" b="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9258AC4-BBCE-DCE8-C45B-03B13BEA1D35}"/>
                  </a:ext>
                </a:extLst>
              </p:cNvPr>
              <p:cNvSpPr txBox="1"/>
              <p:nvPr/>
            </p:nvSpPr>
            <p:spPr>
              <a:xfrm>
                <a:off x="762000" y="3500741"/>
                <a:ext cx="4114800" cy="1833259"/>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𝐿</m:t>
                      </m:r>
                      <m:r>
                        <a:rPr lang="en-US" sz="240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 </m:t>
                      </m:r>
                      <m:r>
                        <a:rPr lang="en-US" sz="2400" b="0" i="1" smtClean="0">
                          <a:latin typeface="Cambria Math" panose="02040503050406030204" pitchFamily="18" charset="0"/>
                        </a:rPr>
                        <m:t>𝝆</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𝐿</m:t>
                          </m:r>
                        </m:sub>
                      </m:sSub>
                    </m:oMath>
                  </m:oMathPara>
                </a14:m>
                <a:endParaRPr lang="en-US" sz="2400" i="1" dirty="0">
                  <a:latin typeface="Cambria Math" panose="02040503050406030204" pitchFamily="18" charset="0"/>
                </a:endParaRPr>
              </a:p>
              <a:p>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𝐿</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𝛼</m:t>
                      </m:r>
                    </m:oMath>
                  </m:oMathPara>
                </a14:m>
                <a:endParaRPr lang="en-US" sz="2400"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79258AC4-BBCE-DCE8-C45B-03B13BEA1D35}"/>
                  </a:ext>
                </a:extLst>
              </p:cNvPr>
              <p:cNvSpPr txBox="1">
                <a:spLocks noRot="1" noChangeAspect="1" noMove="1" noResize="1" noEditPoints="1" noAdjustHandles="1" noChangeArrowheads="1" noChangeShapeType="1" noTextEdit="1"/>
              </p:cNvSpPr>
              <p:nvPr/>
            </p:nvSpPr>
            <p:spPr>
              <a:xfrm>
                <a:off x="762000" y="3500741"/>
                <a:ext cx="4114800" cy="183325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D32380B-0F26-4A47-2A27-6D18C98D1870}"/>
                  </a:ext>
                </a:extLst>
              </p:cNvPr>
              <p:cNvSpPr txBox="1"/>
              <p:nvPr/>
            </p:nvSpPr>
            <p:spPr>
              <a:xfrm>
                <a:off x="7104232" y="2683280"/>
                <a:ext cx="4953000" cy="1833259"/>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𝐷</m:t>
                      </m:r>
                      <m:r>
                        <a:rPr lang="en-US" sz="240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 </m:t>
                      </m:r>
                      <m:r>
                        <a:rPr lang="en-US" sz="2400" b="0" i="1" smtClean="0">
                          <a:latin typeface="Cambria Math" panose="02040503050406030204" pitchFamily="18" charset="0"/>
                        </a:rPr>
                        <m:t>𝝆</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𝐷</m:t>
                          </m:r>
                        </m:sub>
                      </m:sSub>
                    </m:oMath>
                  </m:oMathPara>
                </a14:m>
                <a:endParaRPr lang="en-US" sz="2400" i="1" dirty="0">
                  <a:latin typeface="Cambria Math" panose="02040503050406030204" pitchFamily="18" charset="0"/>
                </a:endParaRPr>
              </a:p>
              <a:p>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𝐷</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𝑖</m:t>
                              </m:r>
                            </m:sub>
                          </m:sSub>
                        </m:sub>
                      </m:sSub>
                    </m:oMath>
                  </m:oMathPara>
                </a14:m>
                <a:endParaRPr lang="en-US" sz="2400" i="1" dirty="0">
                  <a:latin typeface="Cambria Math" panose="02040503050406030204" pitchFamily="18" charset="0"/>
                  <a:ea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3D32380B-0F26-4A47-2A27-6D18C98D1870}"/>
                  </a:ext>
                </a:extLst>
              </p:cNvPr>
              <p:cNvSpPr txBox="1">
                <a:spLocks noRot="1" noChangeAspect="1" noMove="1" noResize="1" noEditPoints="1" noAdjustHandles="1" noChangeArrowheads="1" noChangeShapeType="1" noTextEdit="1"/>
              </p:cNvSpPr>
              <p:nvPr/>
            </p:nvSpPr>
            <p:spPr>
              <a:xfrm>
                <a:off x="7104232" y="2683280"/>
                <a:ext cx="4953000" cy="1833259"/>
              </a:xfrm>
              <a:prstGeom prst="rect">
                <a:avLst/>
              </a:prstGeom>
              <a:blipFill>
                <a:blip r:embed="rId3"/>
                <a:stretch>
                  <a:fillRect b="-3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D693C2C-07D5-C64F-2016-7E0318727986}"/>
                  </a:ext>
                </a:extLst>
              </p:cNvPr>
              <p:cNvSpPr txBox="1"/>
              <p:nvPr/>
            </p:nvSpPr>
            <p:spPr>
              <a:xfrm>
                <a:off x="8750300" y="5315759"/>
                <a:ext cx="1815753" cy="400110"/>
              </a:xfrm>
              <a:prstGeom prst="rect">
                <a:avLst/>
              </a:prstGeom>
              <a:noFill/>
            </p:spPr>
            <p:txBody>
              <a:bodyPr wrap="none" rtlCol="0">
                <a:spAutoFit/>
              </a:bodyPr>
              <a:lstStyle/>
              <a:p>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𝐿</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𝐿</m:t>
                        </m:r>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𝑎</m:t>
                    </m:r>
                    <m:r>
                      <a:rPr lang="en-US" sz="2000" b="1" i="1" smtClean="0">
                        <a:latin typeface="Cambria Math" panose="02040503050406030204" pitchFamily="18" charset="0"/>
                        <a:ea typeface="Cambria Math" panose="02040503050406030204" pitchFamily="18" charset="0"/>
                      </a:rPr>
                      <m:t>𝜶</m:t>
                    </m:r>
                  </m:oMath>
                </a14:m>
                <a:endParaRPr lang="en-US" sz="2000" b="1" dirty="0">
                  <a:ea typeface="Cambria Math" panose="02040503050406030204" pitchFamily="18" charset="0"/>
                </a:endParaRPr>
              </a:p>
            </p:txBody>
          </p:sp>
        </mc:Choice>
        <mc:Fallback xmlns="">
          <p:sp>
            <p:nvSpPr>
              <p:cNvPr id="6" name="TextBox 5">
                <a:extLst>
                  <a:ext uri="{FF2B5EF4-FFF2-40B4-BE49-F238E27FC236}">
                    <a16:creationId xmlns:a16="http://schemas.microsoft.com/office/drawing/2014/main" id="{2D693C2C-07D5-C64F-2016-7E0318727986}"/>
                  </a:ext>
                </a:extLst>
              </p:cNvPr>
              <p:cNvSpPr txBox="1">
                <a:spLocks noRot="1" noChangeAspect="1" noMove="1" noResize="1" noEditPoints="1" noAdjustHandles="1" noChangeArrowheads="1" noChangeShapeType="1" noTextEdit="1"/>
              </p:cNvSpPr>
              <p:nvPr/>
            </p:nvSpPr>
            <p:spPr>
              <a:xfrm>
                <a:off x="8750300" y="5315759"/>
                <a:ext cx="1815753" cy="400110"/>
              </a:xfrm>
              <a:prstGeom prst="rect">
                <a:avLst/>
              </a:prstGeom>
              <a:blipFill>
                <a:blip r:embed="rId4"/>
                <a:stretch>
                  <a:fillRect b="-3030"/>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9D358F1E-1416-5544-C38B-E80B6D21D194}"/>
              </a:ext>
            </a:extLst>
          </p:cNvPr>
          <p:cNvCxnSpPr>
            <a:cxnSpLocks/>
          </p:cNvCxnSpPr>
          <p:nvPr/>
        </p:nvCxnSpPr>
        <p:spPr>
          <a:xfrm>
            <a:off x="8667173" y="5111187"/>
            <a:ext cx="0" cy="433172"/>
          </a:xfrm>
          <a:prstGeom prst="line">
            <a:avLst/>
          </a:prstGeom>
          <a:ln w="28575"/>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A92883F7-4CEC-521E-1124-71B051B19D36}"/>
              </a:ext>
            </a:extLst>
          </p:cNvPr>
          <p:cNvCxnSpPr>
            <a:cxnSpLocks/>
          </p:cNvCxnSpPr>
          <p:nvPr/>
        </p:nvCxnSpPr>
        <p:spPr>
          <a:xfrm>
            <a:off x="8667173" y="5544359"/>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60B806E1-2B6D-1818-E126-DC61D7CF2229}"/>
              </a:ext>
            </a:extLst>
          </p:cNvPr>
          <p:cNvCxnSpPr>
            <a:cxnSpLocks/>
          </p:cNvCxnSpPr>
          <p:nvPr/>
        </p:nvCxnSpPr>
        <p:spPr>
          <a:xfrm>
            <a:off x="8667750" y="5521153"/>
            <a:ext cx="0" cy="480406"/>
          </a:xfrm>
          <a:prstGeom prst="line">
            <a:avLst/>
          </a:prstGeom>
          <a:ln w="28575"/>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9B818C9E-C810-6681-F0A6-B984B97D58A1}"/>
              </a:ext>
            </a:extLst>
          </p:cNvPr>
          <p:cNvCxnSpPr>
            <a:cxnSpLocks/>
          </p:cNvCxnSpPr>
          <p:nvPr/>
        </p:nvCxnSpPr>
        <p:spPr>
          <a:xfrm>
            <a:off x="8667750" y="6001559"/>
            <a:ext cx="190500" cy="0"/>
          </a:xfrm>
          <a:prstGeom prst="line">
            <a:avLst/>
          </a:prstGeom>
          <a:ln w="28575"/>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077B5FC-7BD1-6F16-2B3E-8C34C94DDABC}"/>
                  </a:ext>
                </a:extLst>
              </p:cNvPr>
              <p:cNvSpPr txBox="1"/>
              <p:nvPr/>
            </p:nvSpPr>
            <p:spPr>
              <a:xfrm>
                <a:off x="8839200" y="5665418"/>
                <a:ext cx="2532232" cy="558102"/>
              </a:xfrm>
              <a:prstGeom prst="rect">
                <a:avLst/>
              </a:prstGeom>
              <a:noFill/>
            </p:spPr>
            <p:txBody>
              <a:bodyPr wrap="none" rtlCol="0">
                <a:spAutoFit/>
              </a:bodyPr>
              <a:lstStyle/>
              <a:p>
                <a14:m>
                  <m:oMath xmlns:m="http://schemas.openxmlformats.org/officeDocument/2006/math">
                    <m:r>
                      <a:rPr lang="en-US" sz="1800" b="0" i="1" smtClean="0">
                        <a:latin typeface="Cambria Math" panose="02040503050406030204" pitchFamily="18" charset="0"/>
                        <a:ea typeface="Cambria Math" panose="02040503050406030204" pitchFamily="18" charset="0"/>
                      </a:rPr>
                      <m:t>𝐴𝑅</m:t>
                    </m:r>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𝑏</m:t>
                            </m:r>
                          </m:e>
                          <m:sup>
                            <m:r>
                              <a:rPr lang="en-US" sz="1800" b="0" i="1" smtClean="0">
                                <a:latin typeface="Cambria Math" panose="02040503050406030204" pitchFamily="18" charset="0"/>
                                <a:ea typeface="Cambria Math" panose="02040503050406030204" pitchFamily="18" charset="0"/>
                              </a:rPr>
                              <m:t>2</m:t>
                            </m:r>
                          </m:sup>
                        </m:sSup>
                      </m:num>
                      <m:den>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𝑠</m:t>
                            </m:r>
                          </m:e>
                          <m:sub>
                            <m:r>
                              <a:rPr lang="en-US" sz="1800" b="0" i="1" smtClean="0">
                                <a:latin typeface="Cambria Math" panose="02040503050406030204" pitchFamily="18" charset="0"/>
                                <a:ea typeface="Cambria Math" panose="02040503050406030204" pitchFamily="18" charset="0"/>
                              </a:rPr>
                              <m:t>𝑤</m:t>
                            </m:r>
                          </m:sub>
                        </m:sSub>
                      </m:den>
                    </m:f>
                    <m:r>
                      <a:rPr lang="en-US" sz="1800" b="0" i="0" smtClean="0">
                        <a:latin typeface="Cambria Math" panose="02040503050406030204" pitchFamily="18" charset="0"/>
                        <a:ea typeface="Cambria Math" panose="02040503050406030204" pitchFamily="18" charset="0"/>
                      </a:rPr>
                      <m:t> </m:t>
                    </m:r>
                  </m:oMath>
                </a14:m>
                <a:r>
                  <a:rPr lang="en-US" sz="1800" dirty="0"/>
                  <a:t> </a:t>
                </a:r>
                <a:r>
                  <a:rPr lang="en-US" sz="1800" dirty="0">
                    <a:sym typeface="Wingdings" panose="05000000000000000000" pitchFamily="2" charset="2"/>
                  </a:rPr>
                  <a:t> </a:t>
                </a:r>
                <a:r>
                  <a:rPr lang="en-US" sz="1800" dirty="0"/>
                  <a:t>(</a:t>
                </a:r>
                <a14:m>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𝑊𝑖𝑛𝑔</m:t>
                        </m:r>
                        <m:r>
                          <a:rPr lang="en-US" sz="1800" b="0" i="1" smtClean="0">
                            <a:latin typeface="Cambria Math" panose="02040503050406030204" pitchFamily="18" charset="0"/>
                          </a:rPr>
                          <m:t> </m:t>
                        </m:r>
                        <m:r>
                          <a:rPr lang="en-US" sz="1800" b="0" i="1" smtClean="0">
                            <a:latin typeface="Cambria Math" panose="02040503050406030204" pitchFamily="18" charset="0"/>
                          </a:rPr>
                          <m:t>𝑠𝑝𝑎</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𝑛</m:t>
                            </m:r>
                          </m:e>
                          <m:sup>
                            <m:r>
                              <a:rPr lang="en-US" sz="1800" b="0" i="1" smtClean="0">
                                <a:latin typeface="Cambria Math" panose="02040503050406030204" pitchFamily="18" charset="0"/>
                              </a:rPr>
                              <m:t>2</m:t>
                            </m:r>
                          </m:sup>
                        </m:sSup>
                      </m:num>
                      <m:den>
                        <m:r>
                          <a:rPr lang="en-US" sz="1800" b="0" i="1" smtClean="0">
                            <a:latin typeface="Cambria Math" panose="02040503050406030204" pitchFamily="18" charset="0"/>
                          </a:rPr>
                          <m:t>𝑊𝑖𝑛𝑔</m:t>
                        </m:r>
                        <m:r>
                          <a:rPr lang="en-US" sz="1800" b="0" i="1" smtClean="0">
                            <a:latin typeface="Cambria Math" panose="02040503050406030204" pitchFamily="18" charset="0"/>
                          </a:rPr>
                          <m:t> </m:t>
                        </m:r>
                        <m:r>
                          <a:rPr lang="en-US" sz="1800" b="0" i="1" smtClean="0">
                            <a:latin typeface="Cambria Math" panose="02040503050406030204" pitchFamily="18" charset="0"/>
                          </a:rPr>
                          <m:t>𝐴𝑟𝑒𝑎</m:t>
                        </m:r>
                      </m:den>
                    </m:f>
                  </m:oMath>
                </a14:m>
                <a:r>
                  <a:rPr lang="en-US" sz="1800" dirty="0"/>
                  <a:t>)</a:t>
                </a:r>
                <a:endParaRPr lang="en-US" dirty="0"/>
              </a:p>
            </p:txBody>
          </p:sp>
        </mc:Choice>
        <mc:Fallback xmlns="">
          <p:sp>
            <p:nvSpPr>
              <p:cNvPr id="11" name="TextBox 10">
                <a:extLst>
                  <a:ext uri="{FF2B5EF4-FFF2-40B4-BE49-F238E27FC236}">
                    <a16:creationId xmlns:a16="http://schemas.microsoft.com/office/drawing/2014/main" id="{A077B5FC-7BD1-6F16-2B3E-8C34C94DDABC}"/>
                  </a:ext>
                </a:extLst>
              </p:cNvPr>
              <p:cNvSpPr txBox="1">
                <a:spLocks noRot="1" noChangeAspect="1" noMove="1" noResize="1" noEditPoints="1" noAdjustHandles="1" noChangeArrowheads="1" noChangeShapeType="1" noTextEdit="1"/>
              </p:cNvSpPr>
              <p:nvPr/>
            </p:nvSpPr>
            <p:spPr>
              <a:xfrm>
                <a:off x="8839200" y="5665418"/>
                <a:ext cx="2532232" cy="558102"/>
              </a:xfrm>
              <a:prstGeom prst="rect">
                <a:avLst/>
              </a:prstGeom>
              <a:blipFill>
                <a:blip r:embed="rId5"/>
                <a:stretch>
                  <a:fillRect r="-14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205DFE2-0CEF-AD81-CD6D-48203A31CC78}"/>
                  </a:ext>
                </a:extLst>
              </p:cNvPr>
              <p:cNvSpPr txBox="1"/>
              <p:nvPr/>
            </p:nvSpPr>
            <p:spPr>
              <a:xfrm>
                <a:off x="7236362" y="4547274"/>
                <a:ext cx="4211262" cy="891783"/>
              </a:xfrm>
              <a:prstGeom prst="rect">
                <a:avLst/>
              </a:prstGeom>
              <a:noFill/>
            </p:spPr>
            <p:txBody>
              <a:bodyPr wrap="square" rtlCol="0">
                <a:spAutoFit/>
              </a:bodyPr>
              <a:lstStyle/>
              <a:p>
                <a:r>
                  <a:rPr lang="en-US" sz="2000" dirty="0">
                    <a:ea typeface="Cambria Math" panose="02040503050406030204" pitchFamily="18" charset="0"/>
                  </a:rPr>
                  <a:t>Where,</a:t>
                </a:r>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𝐷</m:t>
                            </m:r>
                          </m:e>
                          <m:sub>
                            <m:r>
                              <a:rPr lang="en-US" sz="2000" b="0" i="1" smtClean="0">
                                <a:latin typeface="Cambria Math" panose="02040503050406030204" pitchFamily="18" charset="0"/>
                                <a:ea typeface="Cambria Math" panose="02040503050406030204" pitchFamily="18" charset="0"/>
                              </a:rPr>
                              <m:t>𝑖</m:t>
                            </m:r>
                          </m:sub>
                        </m:sSub>
                      </m:sub>
                    </m:sSub>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bSup>
                          <m:sSubSupPr>
                            <m:ctrlPr>
                              <a:rPr lang="en-US" sz="2000" b="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𝐿</m:t>
                            </m:r>
                          </m:sub>
                          <m:sup>
                            <m:r>
                              <a:rPr lang="en-US" sz="2000" b="0" i="1" smtClean="0">
                                <a:latin typeface="Cambria Math" panose="02040503050406030204" pitchFamily="18" charset="0"/>
                                <a:ea typeface="Cambria Math" panose="02040503050406030204" pitchFamily="18" charset="0"/>
                              </a:rPr>
                              <m:t>2</m:t>
                            </m:r>
                          </m:sup>
                        </m:sSubSup>
                      </m:num>
                      <m:den>
                        <m:r>
                          <a:rPr lang="en-US" sz="2000" b="0" i="1" smtClean="0">
                            <a:latin typeface="Cambria Math" panose="02040503050406030204" pitchFamily="18" charset="0"/>
                            <a:ea typeface="Cambria Math" panose="02040503050406030204" pitchFamily="18" charset="0"/>
                          </a:rPr>
                          <m:t>𝝅</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𝑒</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𝐴𝑅</m:t>
                        </m:r>
                      </m:den>
                    </m:f>
                  </m:oMath>
                </a14:m>
                <a:endParaRPr lang="en-US" sz="2000" b="0" i="1" dirty="0">
                  <a:latin typeface="Cambria Math" panose="02040503050406030204" pitchFamily="18" charset="0"/>
                  <a:ea typeface="Cambria Math" panose="02040503050406030204" pitchFamily="18" charset="0"/>
                </a:endParaRPr>
              </a:p>
              <a:p>
                <a:endParaRPr lang="en-US" sz="2000" dirty="0"/>
              </a:p>
            </p:txBody>
          </p:sp>
        </mc:Choice>
        <mc:Fallback xmlns="">
          <p:sp>
            <p:nvSpPr>
              <p:cNvPr id="12" name="TextBox 11">
                <a:extLst>
                  <a:ext uri="{FF2B5EF4-FFF2-40B4-BE49-F238E27FC236}">
                    <a16:creationId xmlns:a16="http://schemas.microsoft.com/office/drawing/2014/main" id="{E205DFE2-0CEF-AD81-CD6D-48203A31CC78}"/>
                  </a:ext>
                </a:extLst>
              </p:cNvPr>
              <p:cNvSpPr txBox="1">
                <a:spLocks noRot="1" noChangeAspect="1" noMove="1" noResize="1" noEditPoints="1" noAdjustHandles="1" noChangeArrowheads="1" noChangeShapeType="1" noTextEdit="1"/>
              </p:cNvSpPr>
              <p:nvPr/>
            </p:nvSpPr>
            <p:spPr>
              <a:xfrm>
                <a:off x="7236362" y="4547274"/>
                <a:ext cx="4211262" cy="891783"/>
              </a:xfrm>
              <a:prstGeom prst="rect">
                <a:avLst/>
              </a:prstGeom>
              <a:blipFill>
                <a:blip r:embed="rId6"/>
                <a:stretch>
                  <a:fillRect l="-1447"/>
                </a:stretch>
              </a:blipFill>
            </p:spPr>
            <p:txBody>
              <a:bodyPr/>
              <a:lstStyle/>
              <a:p>
                <a:r>
                  <a:rPr lang="en-US">
                    <a:noFill/>
                  </a:rPr>
                  <a:t> </a:t>
                </a:r>
              </a:p>
            </p:txBody>
          </p:sp>
        </mc:Fallback>
      </mc:AlternateContent>
      <p:sp>
        <p:nvSpPr>
          <p:cNvPr id="13" name="Frame 12">
            <a:extLst>
              <a:ext uri="{FF2B5EF4-FFF2-40B4-BE49-F238E27FC236}">
                <a16:creationId xmlns:a16="http://schemas.microsoft.com/office/drawing/2014/main" id="{7172242D-52D9-6330-056B-19121176BDAE}"/>
              </a:ext>
            </a:extLst>
          </p:cNvPr>
          <p:cNvSpPr/>
          <p:nvPr/>
        </p:nvSpPr>
        <p:spPr>
          <a:xfrm>
            <a:off x="8171032" y="2960579"/>
            <a:ext cx="2895600" cy="857908"/>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cxnSp>
        <p:nvCxnSpPr>
          <p:cNvPr id="14" name="Straight Connector 13">
            <a:extLst>
              <a:ext uri="{FF2B5EF4-FFF2-40B4-BE49-F238E27FC236}">
                <a16:creationId xmlns:a16="http://schemas.microsoft.com/office/drawing/2014/main" id="{EF550FD5-4547-3A9B-C375-C9581E41F5E1}"/>
              </a:ext>
            </a:extLst>
          </p:cNvPr>
          <p:cNvCxnSpPr>
            <a:cxnSpLocks/>
          </p:cNvCxnSpPr>
          <p:nvPr/>
        </p:nvCxnSpPr>
        <p:spPr>
          <a:xfrm>
            <a:off x="8323432" y="3821547"/>
            <a:ext cx="0" cy="480406"/>
          </a:xfrm>
          <a:prstGeom prst="line">
            <a:avLst/>
          </a:prstGeom>
          <a:ln w="28575"/>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BECBC9A2-DDE1-CF2D-5348-7F4126A375CB}"/>
              </a:ext>
            </a:extLst>
          </p:cNvPr>
          <p:cNvCxnSpPr>
            <a:cxnSpLocks/>
          </p:cNvCxnSpPr>
          <p:nvPr/>
        </p:nvCxnSpPr>
        <p:spPr>
          <a:xfrm>
            <a:off x="8323432" y="4301953"/>
            <a:ext cx="190500" cy="0"/>
          </a:xfrm>
          <a:prstGeom prst="line">
            <a:avLst/>
          </a:prstGeom>
          <a:ln w="28575"/>
        </p:spPr>
        <p:style>
          <a:lnRef idx="2">
            <a:schemeClr val="dk1"/>
          </a:lnRef>
          <a:fillRef idx="0">
            <a:schemeClr val="dk1"/>
          </a:fillRef>
          <a:effectRef idx="1">
            <a:schemeClr val="dk1"/>
          </a:effectRef>
          <a:fontRef idx="minor">
            <a:schemeClr val="tx1"/>
          </a:fontRef>
        </p:style>
      </p:cxnSp>
      <p:sp>
        <p:nvSpPr>
          <p:cNvPr id="16" name="Frame 15">
            <a:extLst>
              <a:ext uri="{FF2B5EF4-FFF2-40B4-BE49-F238E27FC236}">
                <a16:creationId xmlns:a16="http://schemas.microsoft.com/office/drawing/2014/main" id="{BD1A46CA-2D97-B92F-AEED-56E941352C9B}"/>
              </a:ext>
            </a:extLst>
          </p:cNvPr>
          <p:cNvSpPr/>
          <p:nvPr/>
        </p:nvSpPr>
        <p:spPr>
          <a:xfrm>
            <a:off x="8513932" y="4047509"/>
            <a:ext cx="2171700" cy="469979"/>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17A52DBC-DF68-B6D8-83A0-4B945F047739}"/>
              </a:ext>
            </a:extLst>
          </p:cNvPr>
          <p:cNvSpPr/>
          <p:nvPr/>
        </p:nvSpPr>
        <p:spPr>
          <a:xfrm>
            <a:off x="8516241" y="4609272"/>
            <a:ext cx="1815753" cy="501915"/>
          </a:xfrm>
          <a:prstGeom prst="frame">
            <a:avLst>
              <a:gd name="adj1" fmla="val 2480"/>
            </a:avLst>
          </a:prstGeom>
          <a:ln w="952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cxnSp>
        <p:nvCxnSpPr>
          <p:cNvPr id="18" name="Straight Connector 17">
            <a:extLst>
              <a:ext uri="{FF2B5EF4-FFF2-40B4-BE49-F238E27FC236}">
                <a16:creationId xmlns:a16="http://schemas.microsoft.com/office/drawing/2014/main" id="{BCEBC87C-AA09-9443-F9BC-36A1F495FCEE}"/>
              </a:ext>
            </a:extLst>
          </p:cNvPr>
          <p:cNvCxnSpPr>
            <a:cxnSpLocks/>
          </p:cNvCxnSpPr>
          <p:nvPr/>
        </p:nvCxnSpPr>
        <p:spPr>
          <a:xfrm>
            <a:off x="6049108" y="2685229"/>
            <a:ext cx="0" cy="3435535"/>
          </a:xfrm>
          <a:prstGeom prst="line">
            <a:avLst/>
          </a:prstGeom>
          <a:ln w="28575"/>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1FB999BE-E96D-6D59-2D27-13F4D9C8DA51}"/>
              </a:ext>
            </a:extLst>
          </p:cNvPr>
          <p:cNvSpPr txBox="1"/>
          <p:nvPr/>
        </p:nvSpPr>
        <p:spPr>
          <a:xfrm>
            <a:off x="6196239" y="2708675"/>
            <a:ext cx="851482" cy="369332"/>
          </a:xfrm>
          <a:prstGeom prst="rect">
            <a:avLst/>
          </a:prstGeom>
          <a:noFill/>
        </p:spPr>
        <p:txBody>
          <a:bodyPr wrap="square" rtlCol="0">
            <a:spAutoFit/>
          </a:bodyPr>
          <a:lstStyle/>
          <a:p>
            <a:r>
              <a:rPr lang="en-US" b="1" dirty="0"/>
              <a:t>Drag-</a:t>
            </a:r>
          </a:p>
        </p:txBody>
      </p:sp>
      <p:sp>
        <p:nvSpPr>
          <p:cNvPr id="22" name="TextBox 21">
            <a:extLst>
              <a:ext uri="{FF2B5EF4-FFF2-40B4-BE49-F238E27FC236}">
                <a16:creationId xmlns:a16="http://schemas.microsoft.com/office/drawing/2014/main" id="{013F511A-9392-6058-A519-713FFAD79662}"/>
              </a:ext>
            </a:extLst>
          </p:cNvPr>
          <p:cNvSpPr txBox="1"/>
          <p:nvPr/>
        </p:nvSpPr>
        <p:spPr>
          <a:xfrm>
            <a:off x="457200" y="2708675"/>
            <a:ext cx="620683" cy="369332"/>
          </a:xfrm>
          <a:prstGeom prst="rect">
            <a:avLst/>
          </a:prstGeom>
          <a:noFill/>
        </p:spPr>
        <p:txBody>
          <a:bodyPr wrap="none" rtlCol="0">
            <a:spAutoFit/>
          </a:bodyPr>
          <a:lstStyle/>
          <a:p>
            <a:r>
              <a:rPr lang="en-US" b="1" dirty="0"/>
              <a:t>Lift-</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6F01922-1ADA-54FA-6F64-97530AED9156}"/>
                  </a:ext>
                </a:extLst>
              </p:cNvPr>
              <p:cNvSpPr txBox="1"/>
              <p:nvPr/>
            </p:nvSpPr>
            <p:spPr>
              <a:xfrm>
                <a:off x="3720830" y="6177831"/>
                <a:ext cx="4750339"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𝝅</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2</m:t>
                        </m:r>
                      </m:sup>
                    </m:sSup>
                  </m:oMath>
                </a14:m>
                <a:r>
                  <a:rPr lang="en-US" dirty="0"/>
                  <a:t> for Rotorcrafts, r = blade length</a:t>
                </a:r>
              </a:p>
            </p:txBody>
          </p:sp>
        </mc:Choice>
        <mc:Fallback xmlns="">
          <p:sp>
            <p:nvSpPr>
              <p:cNvPr id="23" name="TextBox 22">
                <a:extLst>
                  <a:ext uri="{FF2B5EF4-FFF2-40B4-BE49-F238E27FC236}">
                    <a16:creationId xmlns:a16="http://schemas.microsoft.com/office/drawing/2014/main" id="{76F01922-1ADA-54FA-6F64-97530AED9156}"/>
                  </a:ext>
                </a:extLst>
              </p:cNvPr>
              <p:cNvSpPr txBox="1">
                <a:spLocks noRot="1" noChangeAspect="1" noMove="1" noResize="1" noEditPoints="1" noAdjustHandles="1" noChangeArrowheads="1" noChangeShapeType="1" noTextEdit="1"/>
              </p:cNvSpPr>
              <p:nvPr/>
            </p:nvSpPr>
            <p:spPr>
              <a:xfrm>
                <a:off x="3720830" y="6177831"/>
                <a:ext cx="4750339" cy="369332"/>
              </a:xfrm>
              <a:prstGeom prst="rect">
                <a:avLst/>
              </a:prstGeom>
              <a:blipFill>
                <a:blip r:embed="rId7"/>
                <a:stretch>
                  <a:fillRect t="-8197" r="-256" b="-24590"/>
                </a:stretch>
              </a:blipFill>
            </p:spPr>
            <p:txBody>
              <a:bodyPr/>
              <a:lstStyle/>
              <a:p>
                <a:r>
                  <a:rPr lang="en-US">
                    <a:noFill/>
                  </a:rPr>
                  <a:t> </a:t>
                </a:r>
              </a:p>
            </p:txBody>
          </p:sp>
        </mc:Fallback>
      </mc:AlternateContent>
      <p:sp>
        <p:nvSpPr>
          <p:cNvPr id="19" name="Frame 18">
            <a:extLst>
              <a:ext uri="{FF2B5EF4-FFF2-40B4-BE49-F238E27FC236}">
                <a16:creationId xmlns:a16="http://schemas.microsoft.com/office/drawing/2014/main" id="{A235D4C7-6A7A-B80B-B411-AC6880CFF9EE}"/>
              </a:ext>
            </a:extLst>
          </p:cNvPr>
          <p:cNvSpPr/>
          <p:nvPr/>
        </p:nvSpPr>
        <p:spPr>
          <a:xfrm>
            <a:off x="1496375" y="3770011"/>
            <a:ext cx="2649368" cy="857908"/>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0" name="Frame 19">
            <a:extLst>
              <a:ext uri="{FF2B5EF4-FFF2-40B4-BE49-F238E27FC236}">
                <a16:creationId xmlns:a16="http://schemas.microsoft.com/office/drawing/2014/main" id="{F803A842-E34F-5A14-4987-191434036494}"/>
              </a:ext>
            </a:extLst>
          </p:cNvPr>
          <p:cNvSpPr/>
          <p:nvPr/>
        </p:nvSpPr>
        <p:spPr>
          <a:xfrm>
            <a:off x="1778923" y="4748068"/>
            <a:ext cx="2107277" cy="618625"/>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cxnSp>
        <p:nvCxnSpPr>
          <p:cNvPr id="24" name="Straight Connector 23">
            <a:extLst>
              <a:ext uri="{FF2B5EF4-FFF2-40B4-BE49-F238E27FC236}">
                <a16:creationId xmlns:a16="http://schemas.microsoft.com/office/drawing/2014/main" id="{C25D3152-38F9-A227-FE8D-6FF0C51C9929}"/>
              </a:ext>
            </a:extLst>
          </p:cNvPr>
          <p:cNvCxnSpPr>
            <a:cxnSpLocks/>
          </p:cNvCxnSpPr>
          <p:nvPr/>
        </p:nvCxnSpPr>
        <p:spPr>
          <a:xfrm>
            <a:off x="1588423" y="4638969"/>
            <a:ext cx="0" cy="480406"/>
          </a:xfrm>
          <a:prstGeom prst="line">
            <a:avLst/>
          </a:prstGeom>
          <a:ln w="28575"/>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7C7DFB56-B255-1014-364F-E0B62E37EB57}"/>
              </a:ext>
            </a:extLst>
          </p:cNvPr>
          <p:cNvCxnSpPr>
            <a:cxnSpLocks/>
          </p:cNvCxnSpPr>
          <p:nvPr/>
        </p:nvCxnSpPr>
        <p:spPr>
          <a:xfrm>
            <a:off x="1588423" y="5119375"/>
            <a:ext cx="190500" cy="0"/>
          </a:xfrm>
          <a:prstGeom prst="line">
            <a:avLst/>
          </a:prstGeom>
          <a:ln w="28575"/>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136328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31AC7-F87F-715A-E8D1-867245D68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8319C-B5A4-CDA7-3829-B082509BB8DF}"/>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6566DB-F771-69ED-B67B-CBE86338D622}"/>
                  </a:ext>
                </a:extLst>
              </p:cNvPr>
              <p:cNvSpPr txBox="1"/>
              <p:nvPr/>
            </p:nvSpPr>
            <p:spPr>
              <a:xfrm>
                <a:off x="304800" y="1524000"/>
                <a:ext cx="11582400" cy="4247317"/>
              </a:xfrm>
              <a:prstGeom prst="rect">
                <a:avLst/>
              </a:prstGeom>
              <a:noFill/>
            </p:spPr>
            <p:txBody>
              <a:bodyPr wrap="square" rtlCol="0">
                <a:spAutoFit/>
              </a:bodyPr>
              <a:lstStyle/>
              <a:p>
                <a:pPr algn="l"/>
                <a:r>
                  <a:rPr lang="en-US" b="1" u="sng" dirty="0"/>
                  <a:t>Question</a:t>
                </a:r>
                <a:r>
                  <a:rPr lang="en-US" b="1" dirty="0"/>
                  <a:t>: </a:t>
                </a:r>
                <a:r>
                  <a:rPr lang="en-US" dirty="0"/>
                  <a:t>An MQ-9 Reaper Drone is cruising at an altitude of 500 </a:t>
                </a:r>
                <a:r>
                  <a:rPr lang="en-US" i="1" dirty="0"/>
                  <a:t>ft</a:t>
                </a:r>
                <a:r>
                  <a:rPr lang="en-US" dirty="0"/>
                  <a:t> in a reconnaissance mission and needs to stay at that altitude to avoid detection by radars or avoid visual detection. The air density (𝝆) at the altitude of 500 </a:t>
                </a:r>
                <a:r>
                  <a:rPr lang="en-US" i="1" dirty="0"/>
                  <a:t>ft</a:t>
                </a:r>
                <a:r>
                  <a:rPr lang="en-US" dirty="0"/>
                  <a:t> is </a:t>
                </a:r>
                <a:r>
                  <a:rPr lang="en-US" i="1" dirty="0"/>
                  <a:t>1.225</a:t>
                </a:r>
                <a:r>
                  <a:rPr lang="en-US" dirty="0"/>
                  <a:t> </a:t>
                </a:r>
                <a:r>
                  <a:rPr lang="en-US" i="1" dirty="0"/>
                  <a:t>kg</a:t>
                </a:r>
                <a:r>
                  <a:rPr lang="en-US" dirty="0"/>
                  <a:t>/</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oMath>
                </a14:m>
                <a:r>
                  <a:rPr lang="en-US" b="0" dirty="0"/>
                  <a:t> and the true airspeed is 62 m/s. The weight of the drone (</a:t>
                </a:r>
                <a:r>
                  <a:rPr lang="en-US" b="0" i="1" dirty="0"/>
                  <a:t>W = mg</a:t>
                </a:r>
                <a:r>
                  <a:rPr lang="en-US" b="0" dirty="0"/>
                  <a:t>) is given as 37,278 </a:t>
                </a:r>
                <a:r>
                  <a:rPr lang="en-US" b="0" i="1" dirty="0"/>
                  <a:t>N</a:t>
                </a:r>
                <a:r>
                  <a:rPr lang="en-US" b="0" dirty="0"/>
                  <a:t> and Wing area is 26.7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r>
                      <a:rPr lang="en-US" b="0" i="0" smtClean="0">
                        <a:latin typeface="Cambria Math" panose="02040503050406030204" pitchFamily="18" charset="0"/>
                      </a:rPr>
                      <m:t>. </m:t>
                    </m:r>
                  </m:oMath>
                </a14:m>
                <a:endParaRPr lang="en-US" b="0" dirty="0"/>
              </a:p>
              <a:p>
                <a:pPr algn="l"/>
                <a:endParaRPr lang="en-US" dirty="0"/>
              </a:p>
              <a:p>
                <a:pPr algn="l"/>
                <a:endParaRPr lang="en-US" b="0" dirty="0"/>
              </a:p>
              <a:p>
                <a:pPr algn="l"/>
                <a:r>
                  <a:rPr lang="en-US" b="0" dirty="0"/>
                  <a:t>The lift coefficient at 0</a:t>
                </a:r>
                <a:r>
                  <a:rPr lang="en-US" dirty="0"/>
                  <a:t>° </a:t>
                </a:r>
                <a:r>
                  <a:rPr lang="en-US" dirty="0" err="1"/>
                  <a:t>AoA</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0</m:t>
                            </m:r>
                          </m:sub>
                        </m:sSub>
                      </m:sub>
                    </m:sSub>
                  </m:oMath>
                </a14:m>
                <a:r>
                  <a:rPr lang="en-US" dirty="0"/>
                  <a:t>) = 0.20</a:t>
                </a:r>
              </a:p>
              <a:p>
                <a:pPr algn="l"/>
                <a:r>
                  <a:rPr lang="en-US" dirty="0"/>
                  <a:t>Lift slope curve (a) = 0.1°</a:t>
                </a:r>
              </a:p>
              <a:p>
                <a:pPr algn="l"/>
                <a:endParaRPr lang="en-US" b="0" dirty="0"/>
              </a:p>
              <a:p>
                <a:pPr algn="l"/>
                <a:endParaRPr lang="en-US" dirty="0"/>
              </a:p>
              <a:p>
                <a:pPr algn="l"/>
                <a:r>
                  <a:rPr lang="en-US" dirty="0"/>
                  <a:t>Determine the required </a:t>
                </a:r>
                <a:r>
                  <a:rPr lang="en-US" dirty="0" err="1"/>
                  <a:t>AoA</a:t>
                </a:r>
                <a:r>
                  <a:rPr lang="en-US" dirty="0"/>
                  <a:t> (in degrees) for the Drone to maintain the altitude of 500 </a:t>
                </a:r>
                <a:r>
                  <a:rPr lang="en-US" i="1" dirty="0"/>
                  <a:t>ft</a:t>
                </a:r>
                <a:r>
                  <a:rPr lang="en-US" dirty="0"/>
                  <a:t>. </a:t>
                </a:r>
                <a:endParaRPr lang="en-US" b="0" dirty="0"/>
              </a:p>
              <a:p>
                <a:pPr algn="l"/>
                <a:endParaRPr lang="en-US" b="0" dirty="0"/>
              </a:p>
              <a:p>
                <a:pPr algn="l"/>
                <a:br>
                  <a:rPr lang="en-US" dirty="0"/>
                </a:br>
                <a:br>
                  <a:rPr lang="en-US" dirty="0"/>
                </a:br>
                <a:endParaRPr lang="en-US" b="1" dirty="0"/>
              </a:p>
            </p:txBody>
          </p:sp>
        </mc:Choice>
        <mc:Fallback xmlns="">
          <p:sp>
            <p:nvSpPr>
              <p:cNvPr id="3" name="TextBox 2">
                <a:extLst>
                  <a:ext uri="{FF2B5EF4-FFF2-40B4-BE49-F238E27FC236}">
                    <a16:creationId xmlns:a16="http://schemas.microsoft.com/office/drawing/2014/main" id="{9B6566DB-F771-69ED-B67B-CBE86338D622}"/>
                  </a:ext>
                </a:extLst>
              </p:cNvPr>
              <p:cNvSpPr txBox="1">
                <a:spLocks noRot="1" noChangeAspect="1" noMove="1" noResize="1" noEditPoints="1" noAdjustHandles="1" noChangeArrowheads="1" noChangeShapeType="1" noTextEdit="1"/>
              </p:cNvSpPr>
              <p:nvPr/>
            </p:nvSpPr>
            <p:spPr>
              <a:xfrm>
                <a:off x="304800" y="1524000"/>
                <a:ext cx="11582400" cy="4247317"/>
              </a:xfrm>
              <a:prstGeom prst="rect">
                <a:avLst/>
              </a:prstGeom>
              <a:blipFill>
                <a:blip r:embed="rId2"/>
                <a:stretch>
                  <a:fillRect l="-421" t="-717"/>
                </a:stretch>
              </a:blipFill>
            </p:spPr>
            <p:txBody>
              <a:bodyPr/>
              <a:lstStyle/>
              <a:p>
                <a:r>
                  <a:rPr lang="en-US">
                    <a:noFill/>
                  </a:rPr>
                  <a:t> </a:t>
                </a:r>
              </a:p>
            </p:txBody>
          </p:sp>
        </mc:Fallback>
      </mc:AlternateContent>
    </p:spTree>
    <p:extLst>
      <p:ext uri="{BB962C8B-B14F-4D97-AF65-F5344CB8AC3E}">
        <p14:creationId xmlns:p14="http://schemas.microsoft.com/office/powerpoint/2010/main" val="35420247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BB7F-01C5-5709-657D-65ECE4FAE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BF771-158B-83E9-C3EC-2E6E66515337}"/>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15C828-7C59-1175-BC39-13BBC9AF0354}"/>
                  </a:ext>
                </a:extLst>
              </p:cNvPr>
              <p:cNvSpPr txBox="1"/>
              <p:nvPr/>
            </p:nvSpPr>
            <p:spPr>
              <a:xfrm>
                <a:off x="304800" y="1524000"/>
                <a:ext cx="11582400" cy="3693319"/>
              </a:xfrm>
              <a:prstGeom prst="rect">
                <a:avLst/>
              </a:prstGeom>
              <a:noFill/>
            </p:spPr>
            <p:txBody>
              <a:bodyPr wrap="square" rtlCol="0">
                <a:spAutoFit/>
              </a:bodyPr>
              <a:lstStyle/>
              <a:p>
                <a:pPr algn="l"/>
                <a:r>
                  <a:rPr lang="en-US" b="1" u="sng" dirty="0"/>
                  <a:t>Solution</a:t>
                </a:r>
                <a:r>
                  <a:rPr lang="en-US" b="1" dirty="0"/>
                  <a:t>: </a:t>
                </a:r>
                <a:r>
                  <a:rPr lang="en-US" dirty="0"/>
                  <a:t>Need to maintain the altitude, so L = W</a:t>
                </a:r>
                <a:endParaRPr lang="en-US" b="0" dirty="0"/>
              </a:p>
              <a:p>
                <a:pPr algn="l"/>
                <a:endParaRPr lang="en-US" dirty="0"/>
              </a:p>
              <a:p>
                <a:pPr algn="l"/>
                <a:r>
                  <a:rPr lang="en-US" dirty="0"/>
                  <a:t>Given,</a:t>
                </a:r>
              </a:p>
              <a:p>
                <a:pPr algn="l"/>
                <a:r>
                  <a:rPr lang="en-US" b="0" dirty="0"/>
                  <a:t>W = 37,278 N</a:t>
                </a:r>
              </a:p>
              <a:p>
                <a:pPr algn="l"/>
                <a14:m>
                  <m:oMath xmlns:m="http://schemas.openxmlformats.org/officeDocument/2006/math">
                    <m:r>
                      <a:rPr lang="en-US" sz="1800" b="0" i="1" smtClean="0">
                        <a:latin typeface="Cambria Math" panose="02040503050406030204" pitchFamily="18" charset="0"/>
                      </a:rPr>
                      <m:t>𝑣</m:t>
                    </m:r>
                  </m:oMath>
                </a14:m>
                <a:r>
                  <a:rPr lang="en-US" b="0" dirty="0"/>
                  <a:t>  = 62 m/s</a:t>
                </a:r>
              </a:p>
              <a:p>
                <a:pPr algn="l"/>
                <a:r>
                  <a:rPr lang="en-US" dirty="0"/>
                  <a:t>S = 26.7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oMath>
                </a14:m>
                <a:endParaRPr lang="en-US" dirty="0"/>
              </a:p>
              <a:p>
                <a:pPr algn="l"/>
                <a:r>
                  <a:rPr lang="en-US" dirty="0"/>
                  <a:t>𝝆 = 1.255 kg/</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endParaRPr lang="en-US" dirty="0"/>
              </a:p>
              <a:p>
                <a:pPr algn="l"/>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𝐿</m:t>
                        </m:r>
                        <m:r>
                          <a:rPr lang="en-US" b="0" i="1" smtClean="0">
                            <a:latin typeface="Cambria Math" panose="02040503050406030204" pitchFamily="18" charset="0"/>
                          </a:rPr>
                          <m:t>0</m:t>
                        </m:r>
                      </m:sub>
                    </m:sSub>
                  </m:oMath>
                </a14:m>
                <a:r>
                  <a:rPr lang="en-US" dirty="0"/>
                  <a:t> = 0.20</a:t>
                </a:r>
              </a:p>
              <a:p>
                <a:pPr algn="l"/>
                <a:r>
                  <a:rPr lang="en-US" dirty="0"/>
                  <a:t>a = 0.1°</a:t>
                </a:r>
              </a:p>
              <a:p>
                <a:pPr algn="l"/>
                <a14:m>
                  <m:oMath xmlns:m="http://schemas.openxmlformats.org/officeDocument/2006/math">
                    <m:r>
                      <a:rPr lang="en-US" sz="1800" b="0" i="1" smtClean="0">
                        <a:latin typeface="Cambria Math" panose="02040503050406030204" pitchFamily="18" charset="0"/>
                        <a:ea typeface="Cambria Math" panose="02040503050406030204" pitchFamily="18" charset="0"/>
                      </a:rPr>
                      <m:t>𝛼</m:t>
                    </m:r>
                  </m:oMath>
                </a14:m>
                <a:r>
                  <a:rPr lang="en-US" b="0" dirty="0"/>
                  <a:t> = </a:t>
                </a:r>
                <a:r>
                  <a:rPr lang="en-US" b="0" dirty="0" err="1"/>
                  <a:t>AoA</a:t>
                </a:r>
                <a:endParaRPr lang="en-US" b="0" dirty="0"/>
              </a:p>
              <a:p>
                <a:pPr algn="l"/>
                <a:endParaRPr lang="en-US" dirty="0"/>
              </a:p>
              <a:p>
                <a:pPr algn="l"/>
                <a:endParaRPr lang="en-US" dirty="0"/>
              </a:p>
              <a:p>
                <a:pPr algn="l"/>
                <a:r>
                  <a:rPr lang="en-US" b="0" dirty="0"/>
                  <a:t>We need </a:t>
                </a:r>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𝐶</m:t>
                        </m:r>
                      </m:e>
                      <m:sub>
                        <m:r>
                          <a:rPr lang="en-US" sz="1800" b="0" i="1" smtClean="0">
                            <a:latin typeface="Cambria Math" panose="02040503050406030204" pitchFamily="18" charset="0"/>
                            <a:ea typeface="Cambria Math" panose="02040503050406030204" pitchFamily="18" charset="0"/>
                          </a:rPr>
                          <m:t>𝐿</m:t>
                        </m:r>
                      </m:sub>
                    </m:sSub>
                  </m:oMath>
                </a14:m>
                <a:r>
                  <a:rPr lang="en-US" b="0" dirty="0"/>
                  <a:t> to get </a:t>
                </a:r>
                <a14:m>
                  <m:oMath xmlns:m="http://schemas.openxmlformats.org/officeDocument/2006/math">
                    <m:r>
                      <a:rPr lang="en-US" sz="1800" b="0" i="1" smtClean="0">
                        <a:latin typeface="Cambria Math" panose="02040503050406030204" pitchFamily="18" charset="0"/>
                        <a:ea typeface="Cambria Math" panose="02040503050406030204" pitchFamily="18" charset="0"/>
                      </a:rPr>
                      <m:t>𝛼</m:t>
                    </m:r>
                  </m:oMath>
                </a14:m>
                <a:endParaRPr lang="en-US" b="0" dirty="0"/>
              </a:p>
            </p:txBody>
          </p:sp>
        </mc:Choice>
        <mc:Fallback xmlns="">
          <p:sp>
            <p:nvSpPr>
              <p:cNvPr id="3" name="TextBox 2">
                <a:extLst>
                  <a:ext uri="{FF2B5EF4-FFF2-40B4-BE49-F238E27FC236}">
                    <a16:creationId xmlns:a16="http://schemas.microsoft.com/office/drawing/2014/main" id="{4115C828-7C59-1175-BC39-13BBC9AF0354}"/>
                  </a:ext>
                </a:extLst>
              </p:cNvPr>
              <p:cNvSpPr txBox="1">
                <a:spLocks noRot="1" noChangeAspect="1" noMove="1" noResize="1" noEditPoints="1" noAdjustHandles="1" noChangeArrowheads="1" noChangeShapeType="1" noTextEdit="1"/>
              </p:cNvSpPr>
              <p:nvPr/>
            </p:nvSpPr>
            <p:spPr>
              <a:xfrm>
                <a:off x="304800" y="1524000"/>
                <a:ext cx="11582400" cy="3693319"/>
              </a:xfrm>
              <a:prstGeom prst="rect">
                <a:avLst/>
              </a:prstGeom>
              <a:blipFill>
                <a:blip r:embed="rId2"/>
                <a:stretch>
                  <a:fillRect l="-421" t="-825" b="-16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6C38BFB-2851-E485-C76B-3724AB6BED6B}"/>
                  </a:ext>
                </a:extLst>
              </p:cNvPr>
              <p:cNvSpPr txBox="1"/>
              <p:nvPr/>
            </p:nvSpPr>
            <p:spPr>
              <a:xfrm>
                <a:off x="3276600" y="2362200"/>
                <a:ext cx="5638800" cy="261950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𝐿</m:t>
                      </m:r>
                      <m:r>
                        <a:rPr lang="en-US" sz="2400" i="1" smtClean="0">
                          <a:latin typeface="Cambria Math" panose="02040503050406030204" pitchFamily="18" charset="0"/>
                        </a:rPr>
                        <m:t> =</m:t>
                      </m:r>
                      <m:r>
                        <a:rPr lang="en-US" sz="2400" b="0" i="1" smtClean="0">
                          <a:latin typeface="Cambria Math" panose="02040503050406030204" pitchFamily="18" charset="0"/>
                        </a:rPr>
                        <m:t>𝑊</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 </m:t>
                      </m:r>
                      <m:r>
                        <a:rPr lang="en-US" sz="2400" b="0" i="1" smtClean="0">
                          <a:latin typeface="Cambria Math" panose="02040503050406030204" pitchFamily="18" charset="0"/>
                        </a:rPr>
                        <m:t>𝝆</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𝐿</m:t>
                          </m:r>
                        </m:sub>
                      </m:sSub>
                    </m:oMath>
                  </m:oMathPara>
                </a14:m>
                <a:endParaRPr lang="en-US" sz="2400" dirty="0"/>
              </a:p>
              <a:p>
                <a:pPr algn="l"/>
                <a:endParaRPr lang="en-US" sz="2400" dirty="0"/>
              </a:p>
              <a:p>
                <a:pPr algn="l"/>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𝐿</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𝛼</m:t>
                      </m:r>
                    </m:oMath>
                  </m:oMathPara>
                </a14:m>
                <a:endParaRPr lang="en-US" sz="2400" b="0" dirty="0"/>
              </a:p>
              <a:p>
                <a:pPr algn="l"/>
                <a:endParaRPr lang="en-US" sz="2400" b="0" dirty="0"/>
              </a:p>
              <a:p>
                <a:pPr algn="l"/>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𝐿</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0</m:t>
                                  </m:r>
                                </m:sub>
                              </m:sSub>
                            </m:sub>
                          </m:sSub>
                        </m:num>
                        <m:den>
                          <m:r>
                            <a:rPr lang="en-US" sz="2400" b="0" i="1" smtClean="0">
                              <a:latin typeface="Cambria Math" panose="02040503050406030204" pitchFamily="18" charset="0"/>
                              <a:ea typeface="Cambria Math" panose="02040503050406030204" pitchFamily="18" charset="0"/>
                            </a:rPr>
                            <m:t>𝑎</m:t>
                          </m:r>
                        </m:den>
                      </m:f>
                    </m:oMath>
                  </m:oMathPara>
                </a14:m>
                <a:endParaRPr lang="en-US" sz="2400" dirty="0"/>
              </a:p>
            </p:txBody>
          </p:sp>
        </mc:Choice>
        <mc:Fallback xmlns="">
          <p:sp>
            <p:nvSpPr>
              <p:cNvPr id="4" name="TextBox 3">
                <a:extLst>
                  <a:ext uri="{FF2B5EF4-FFF2-40B4-BE49-F238E27FC236}">
                    <a16:creationId xmlns:a16="http://schemas.microsoft.com/office/drawing/2014/main" id="{A6C38BFB-2851-E485-C76B-3724AB6BED6B}"/>
                  </a:ext>
                </a:extLst>
              </p:cNvPr>
              <p:cNvSpPr txBox="1">
                <a:spLocks noRot="1" noChangeAspect="1" noMove="1" noResize="1" noEditPoints="1" noAdjustHandles="1" noChangeArrowheads="1" noChangeShapeType="1" noTextEdit="1"/>
              </p:cNvSpPr>
              <p:nvPr/>
            </p:nvSpPr>
            <p:spPr>
              <a:xfrm>
                <a:off x="3276600" y="2362200"/>
                <a:ext cx="5638800" cy="26195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613547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AC9F5-4F54-F046-C939-C7B43A1E4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E795B-AD7A-29CA-40B3-081ED52B4D3C}"/>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D0D3C3-1AA9-7AFE-EE44-13D3B6BB99BD}"/>
                  </a:ext>
                </a:extLst>
              </p:cNvPr>
              <p:cNvSpPr txBox="1"/>
              <p:nvPr/>
            </p:nvSpPr>
            <p:spPr>
              <a:xfrm>
                <a:off x="304800" y="1524000"/>
                <a:ext cx="11582400" cy="4524315"/>
              </a:xfrm>
              <a:prstGeom prst="rect">
                <a:avLst/>
              </a:prstGeom>
              <a:noFill/>
            </p:spPr>
            <p:txBody>
              <a:bodyPr wrap="square" rtlCol="0">
                <a:spAutoFit/>
              </a:bodyPr>
              <a:lstStyle/>
              <a:p>
                <a:pPr algn="l"/>
                <a:r>
                  <a:rPr lang="en-US" b="1" u="sng" dirty="0"/>
                  <a:t>Solution</a:t>
                </a:r>
                <a:r>
                  <a:rPr lang="en-US" b="1" dirty="0"/>
                  <a:t>: </a:t>
                </a:r>
                <a:r>
                  <a:rPr lang="en-US" dirty="0"/>
                  <a:t>From equating L with W, we get </a:t>
                </a:r>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𝐶</m:t>
                        </m:r>
                      </m:e>
                      <m:sub>
                        <m:r>
                          <a:rPr lang="en-US" sz="1800" b="0" i="1" smtClean="0">
                            <a:latin typeface="Cambria Math" panose="02040503050406030204" pitchFamily="18" charset="0"/>
                            <a:ea typeface="Cambria Math" panose="02040503050406030204" pitchFamily="18" charset="0"/>
                          </a:rPr>
                          <m:t>𝐿</m:t>
                        </m:r>
                      </m:sub>
                    </m:sSub>
                  </m:oMath>
                </a14:m>
                <a:endParaRPr lang="en-US" b="0" dirty="0"/>
              </a:p>
              <a:p>
                <a:pPr algn="l"/>
                <a:endParaRPr lang="en-US" dirty="0"/>
              </a:p>
              <a:p>
                <a:pPr algn="l"/>
                <a:endParaRPr lang="en-US" b="0" dirty="0"/>
              </a:p>
              <a:p>
                <a:pPr algn="l"/>
                <a:endParaRPr lang="en-US" dirty="0"/>
              </a:p>
              <a:p>
                <a:pPr algn="l"/>
                <a:endParaRPr lang="en-US" b="0" dirty="0"/>
              </a:p>
              <a:p>
                <a:pPr algn="l"/>
                <a:endParaRPr lang="en-US" dirty="0"/>
              </a:p>
              <a:p>
                <a:pPr algn="l"/>
                <a:endParaRPr lang="en-US" b="0" dirty="0"/>
              </a:p>
              <a:p>
                <a:pPr algn="l"/>
                <a:endParaRPr lang="en-US" dirty="0"/>
              </a:p>
              <a:p>
                <a:pPr algn="l"/>
                <a:endParaRPr lang="en-US" b="0" dirty="0"/>
              </a:p>
              <a:p>
                <a:pPr algn="l"/>
                <a:endParaRPr lang="en-US" dirty="0"/>
              </a:p>
              <a:p>
                <a:pPr algn="l"/>
                <a:endParaRPr lang="en-US" b="0" dirty="0"/>
              </a:p>
              <a:p>
                <a:pPr algn="l"/>
                <a:endParaRPr lang="en-US" dirty="0"/>
              </a:p>
              <a:p>
                <a:pPr algn="l"/>
                <a:endParaRPr lang="en-US" dirty="0"/>
              </a:p>
              <a:p>
                <a:pPr algn="l"/>
                <a:endParaRPr lang="en-US" dirty="0"/>
              </a:p>
              <a:p>
                <a:pPr algn="l"/>
                <a:endParaRPr lang="en-US" dirty="0"/>
              </a:p>
              <a:p>
                <a:pPr algn="l"/>
                <a:r>
                  <a:rPr lang="en-US" dirty="0"/>
                  <a:t>Substituting the values, we get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𝐿</m:t>
                        </m:r>
                      </m:sub>
                    </m:sSub>
                  </m:oMath>
                </a14:m>
                <a:r>
                  <a:rPr lang="en-US" b="0" dirty="0"/>
                  <a:t> as </a:t>
                </a:r>
                <a:r>
                  <a:rPr lang="en-US" b="1" dirty="0"/>
                  <a:t>0.592996 (</a:t>
                </a:r>
                <a:r>
                  <a:rPr lang="en-US" b="1" dirty="0">
                    <a:latin typeface="Cambria Math" panose="02040503050406030204" pitchFamily="18" charset="0"/>
                    <a:ea typeface="Cambria Math" panose="02040503050406030204" pitchFamily="18" charset="0"/>
                  </a:rPr>
                  <a:t>≈ </a:t>
                </a:r>
                <a:r>
                  <a:rPr lang="en-US" b="1" dirty="0"/>
                  <a:t>0.593)</a:t>
                </a:r>
              </a:p>
            </p:txBody>
          </p:sp>
        </mc:Choice>
        <mc:Fallback xmlns="">
          <p:sp>
            <p:nvSpPr>
              <p:cNvPr id="3" name="TextBox 2">
                <a:extLst>
                  <a:ext uri="{FF2B5EF4-FFF2-40B4-BE49-F238E27FC236}">
                    <a16:creationId xmlns:a16="http://schemas.microsoft.com/office/drawing/2014/main" id="{B4D0D3C3-1AA9-7AFE-EE44-13D3B6BB99BD}"/>
                  </a:ext>
                </a:extLst>
              </p:cNvPr>
              <p:cNvSpPr txBox="1">
                <a:spLocks noRot="1" noChangeAspect="1" noMove="1" noResize="1" noEditPoints="1" noAdjustHandles="1" noChangeArrowheads="1" noChangeShapeType="1" noTextEdit="1"/>
              </p:cNvSpPr>
              <p:nvPr/>
            </p:nvSpPr>
            <p:spPr>
              <a:xfrm>
                <a:off x="304800" y="1524000"/>
                <a:ext cx="11582400" cy="4524315"/>
              </a:xfrm>
              <a:prstGeom prst="rect">
                <a:avLst/>
              </a:prstGeom>
              <a:blipFill>
                <a:blip r:embed="rId2"/>
                <a:stretch>
                  <a:fillRect l="-421" t="-674" b="-12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9C36410-54DD-C148-1CC5-E2DCB3BC47AC}"/>
                  </a:ext>
                </a:extLst>
              </p:cNvPr>
              <p:cNvSpPr txBox="1"/>
              <p:nvPr/>
            </p:nvSpPr>
            <p:spPr>
              <a:xfrm>
                <a:off x="3276600" y="2133600"/>
                <a:ext cx="5638800" cy="2925032"/>
              </a:xfrm>
              <a:prstGeom prst="rect">
                <a:avLst/>
              </a:prstGeom>
              <a:noFill/>
            </p:spPr>
            <p:txBody>
              <a:bodyPr wrap="square" rtlCol="0">
                <a:spAutoFit/>
              </a:bodyPr>
              <a:lstStyle/>
              <a:p>
                <a:pPr algn="l"/>
                <a:endParaRPr lang="en-US" sz="2400" i="1" dirty="0">
                  <a:latin typeface="Cambria Math" panose="02040503050406030204" pitchFamily="18" charset="0"/>
                </a:endParaRPr>
              </a:p>
              <a:p>
                <a:pPr algn="l"/>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𝐿</m:t>
                      </m:r>
                      <m:r>
                        <a:rPr lang="en-US" sz="2400" i="1" smtClean="0">
                          <a:latin typeface="Cambria Math" panose="02040503050406030204" pitchFamily="18" charset="0"/>
                        </a:rPr>
                        <m:t> =</m:t>
                      </m:r>
                      <m:r>
                        <a:rPr lang="en-US" sz="2400" b="0" i="1" smtClean="0">
                          <a:latin typeface="Cambria Math" panose="02040503050406030204" pitchFamily="18" charset="0"/>
                        </a:rPr>
                        <m:t>𝑊</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 </m:t>
                      </m:r>
                      <m:r>
                        <a:rPr lang="en-US" sz="2400" b="0" i="1" smtClean="0">
                          <a:latin typeface="Cambria Math" panose="02040503050406030204" pitchFamily="18" charset="0"/>
                        </a:rPr>
                        <m:t>𝝆</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𝐿</m:t>
                          </m:r>
                        </m:sub>
                      </m:sSub>
                    </m:oMath>
                  </m:oMathPara>
                </a14:m>
                <a:endParaRPr lang="en-US" sz="2400" dirty="0"/>
              </a:p>
              <a:p>
                <a:pPr algn="l"/>
                <a:endParaRPr lang="en-US" sz="2400" dirty="0"/>
              </a:p>
              <a:p>
                <a:pPr algn="l"/>
                <a:endParaRPr lang="en-US" sz="2400" b="0" i="1" dirty="0">
                  <a:latin typeface="Cambria Math" panose="02040503050406030204" pitchFamily="18" charset="0"/>
                </a:endParaRPr>
              </a:p>
              <a:p>
                <a:pPr algn="l"/>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𝐿</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r>
                            <a:rPr lang="en-US" sz="2400" b="0" i="1" smtClean="0">
                              <a:latin typeface="Cambria Math" panose="02040503050406030204" pitchFamily="18" charset="0"/>
                            </a:rPr>
                            <m:t>𝑊</m:t>
                          </m:r>
                        </m:num>
                        <m:den>
                          <m:r>
                            <a:rPr lang="en-US" sz="2400" b="0" i="1" smtClean="0">
                              <a:latin typeface="Cambria Math" panose="02040503050406030204" pitchFamily="18" charset="0"/>
                            </a:rPr>
                            <m:t>𝝆</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den>
                      </m:f>
                    </m:oMath>
                  </m:oMathPara>
                </a14:m>
                <a:endParaRPr lang="en-US" sz="2400" dirty="0"/>
              </a:p>
              <a:p>
                <a:endParaRPr lang="en-US" dirty="0"/>
              </a:p>
            </p:txBody>
          </p:sp>
        </mc:Choice>
        <mc:Fallback xmlns="">
          <p:sp>
            <p:nvSpPr>
              <p:cNvPr id="4" name="TextBox 3">
                <a:extLst>
                  <a:ext uri="{FF2B5EF4-FFF2-40B4-BE49-F238E27FC236}">
                    <a16:creationId xmlns:a16="http://schemas.microsoft.com/office/drawing/2014/main" id="{D9C36410-54DD-C148-1CC5-E2DCB3BC47AC}"/>
                  </a:ext>
                </a:extLst>
              </p:cNvPr>
              <p:cNvSpPr txBox="1">
                <a:spLocks noRot="1" noChangeAspect="1" noMove="1" noResize="1" noEditPoints="1" noAdjustHandles="1" noChangeArrowheads="1" noChangeShapeType="1" noTextEdit="1"/>
              </p:cNvSpPr>
              <p:nvPr/>
            </p:nvSpPr>
            <p:spPr>
              <a:xfrm>
                <a:off x="3276600" y="2133600"/>
                <a:ext cx="5638800" cy="292503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497061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477EB-A8BA-38A4-23C3-0A3D81CDB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EFDEC-C24D-4924-B97F-C438FF743300}"/>
              </a:ext>
            </a:extLst>
          </p:cNvPr>
          <p:cNvSpPr>
            <a:spLocks noGrp="1"/>
          </p:cNvSpPr>
          <p:nvPr>
            <p:ph type="title"/>
          </p:nvPr>
        </p:nvSpPr>
        <p:spPr>
          <a:xfrm>
            <a:off x="533400" y="457200"/>
            <a:ext cx="9067800" cy="430887"/>
          </a:xfrm>
        </p:spPr>
        <p:txBody>
          <a:bodyPr/>
          <a:lstStyle/>
          <a:p>
            <a:r>
              <a:rPr lang="en-IN" dirty="0"/>
              <a:t>Aerodynamics: </a:t>
            </a:r>
            <a:r>
              <a:rPr lang="en-US" dirty="0" err="1"/>
              <a:t>AoA</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CD722CB-F5AA-54AF-587B-B93C88B900D6}"/>
                  </a:ext>
                </a:extLst>
              </p:cNvPr>
              <p:cNvSpPr txBox="1"/>
              <p:nvPr/>
            </p:nvSpPr>
            <p:spPr>
              <a:xfrm>
                <a:off x="304800" y="1524000"/>
                <a:ext cx="11582400" cy="5355312"/>
              </a:xfrm>
              <a:prstGeom prst="rect">
                <a:avLst/>
              </a:prstGeom>
              <a:noFill/>
            </p:spPr>
            <p:txBody>
              <a:bodyPr wrap="square" rtlCol="0">
                <a:spAutoFit/>
              </a:bodyPr>
              <a:lstStyle/>
              <a:p>
                <a:pPr algn="l"/>
                <a:r>
                  <a:rPr lang="en-US" b="1" u="sng" dirty="0"/>
                  <a:t>Solution</a:t>
                </a:r>
                <a:r>
                  <a:rPr lang="en-US" b="1" dirty="0"/>
                  <a:t>: </a:t>
                </a:r>
                <a:r>
                  <a:rPr lang="en-US" dirty="0"/>
                  <a:t>Now substituting the value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𝐿</m:t>
                        </m:r>
                      </m:sub>
                    </m:sSub>
                  </m:oMath>
                </a14:m>
                <a:r>
                  <a:rPr lang="en-US" b="0" dirty="0"/>
                  <a:t> in the formula of </a:t>
                </a:r>
                <a:r>
                  <a:rPr lang="en-US" b="0" dirty="0" err="1"/>
                  <a:t>AoA</a:t>
                </a:r>
                <a:r>
                  <a:rPr lang="en-US" b="0" dirty="0"/>
                  <a:t>, we get</a:t>
                </a:r>
              </a:p>
              <a:p>
                <a:pPr algn="l"/>
                <a:endParaRPr lang="en-US" dirty="0"/>
              </a:p>
              <a:p>
                <a:pPr algn="l"/>
                <a:endParaRPr lang="en-US" b="0" dirty="0"/>
              </a:p>
              <a:p>
                <a:pPr algn="l"/>
                <a:endParaRPr lang="en-US" dirty="0"/>
              </a:p>
              <a:p>
                <a:pPr algn="l"/>
                <a:endParaRPr lang="en-US" b="0" dirty="0"/>
              </a:p>
              <a:p>
                <a:pPr algn="l"/>
                <a:endParaRPr lang="en-US" dirty="0"/>
              </a:p>
              <a:p>
                <a:pPr algn="l"/>
                <a:endParaRPr lang="en-US" b="0" dirty="0"/>
              </a:p>
              <a:p>
                <a:pPr algn="l"/>
                <a:endParaRPr lang="en-US" dirty="0"/>
              </a:p>
              <a:p>
                <a:pPr algn="l"/>
                <a:endParaRPr lang="en-US" b="0" dirty="0"/>
              </a:p>
              <a:p>
                <a:pPr algn="l"/>
                <a:endParaRPr lang="en-US" dirty="0"/>
              </a:p>
              <a:p>
                <a:pPr algn="l"/>
                <a:endParaRPr lang="en-US" b="0" dirty="0"/>
              </a:p>
              <a:p>
                <a:pPr algn="l"/>
                <a:endParaRPr lang="en-US" dirty="0"/>
              </a:p>
              <a:p>
                <a:pPr algn="l"/>
                <a:endParaRPr lang="en-US" dirty="0"/>
              </a:p>
              <a:p>
                <a:pPr algn="l"/>
                <a:endParaRPr lang="en-US" dirty="0"/>
              </a:p>
              <a:p>
                <a:pPr algn="l"/>
                <a:endParaRPr lang="en-US" dirty="0"/>
              </a:p>
              <a:p>
                <a:pPr algn="l"/>
                <a:endParaRPr lang="en-US" dirty="0"/>
              </a:p>
              <a:p>
                <a:pPr algn="l"/>
                <a:r>
                  <a:rPr lang="en-US" dirty="0"/>
                  <a:t>Hence, the </a:t>
                </a:r>
                <a:r>
                  <a:rPr lang="en-US" dirty="0" err="1"/>
                  <a:t>AoA</a:t>
                </a:r>
                <a:r>
                  <a:rPr lang="en-US" dirty="0"/>
                  <a:t> required to keep the drone at constant altitude of 500ft (and the given parameters) is </a:t>
                </a:r>
                <a:r>
                  <a:rPr lang="en-US" b="1" dirty="0"/>
                  <a:t>3.93°</a:t>
                </a:r>
              </a:p>
              <a:p>
                <a:pPr algn="l"/>
                <a:endParaRPr lang="en-US" dirty="0"/>
              </a:p>
              <a:p>
                <a:pPr algn="l"/>
                <a:endParaRPr lang="en-US" dirty="0"/>
              </a:p>
            </p:txBody>
          </p:sp>
        </mc:Choice>
        <mc:Fallback xmlns="">
          <p:sp>
            <p:nvSpPr>
              <p:cNvPr id="3" name="TextBox 2">
                <a:extLst>
                  <a:ext uri="{FF2B5EF4-FFF2-40B4-BE49-F238E27FC236}">
                    <a16:creationId xmlns:a16="http://schemas.microsoft.com/office/drawing/2014/main" id="{0CD722CB-F5AA-54AF-587B-B93C88B900D6}"/>
                  </a:ext>
                </a:extLst>
              </p:cNvPr>
              <p:cNvSpPr txBox="1">
                <a:spLocks noRot="1" noChangeAspect="1" noMove="1" noResize="1" noEditPoints="1" noAdjustHandles="1" noChangeArrowheads="1" noChangeShapeType="1" noTextEdit="1"/>
              </p:cNvSpPr>
              <p:nvPr/>
            </p:nvSpPr>
            <p:spPr>
              <a:xfrm>
                <a:off x="304800" y="1524000"/>
                <a:ext cx="11582400" cy="5355312"/>
              </a:xfrm>
              <a:prstGeom prst="rect">
                <a:avLst/>
              </a:prstGeom>
              <a:blipFill>
                <a:blip r:embed="rId2"/>
                <a:stretch>
                  <a:fillRect l="-421" t="-5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65E0551-60AA-3AFB-3008-35E9E75911AD}"/>
                  </a:ext>
                </a:extLst>
              </p:cNvPr>
              <p:cNvSpPr txBox="1"/>
              <p:nvPr/>
            </p:nvSpPr>
            <p:spPr>
              <a:xfrm>
                <a:off x="3276600" y="2362200"/>
                <a:ext cx="5638800" cy="3853491"/>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𝐿</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0</m:t>
                              </m:r>
                            </m:sub>
                          </m:sSub>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𝛼</m:t>
                      </m:r>
                    </m:oMath>
                  </m:oMathPara>
                </a14:m>
                <a:endParaRPr lang="en-US" sz="2400" b="0" dirty="0"/>
              </a:p>
              <a:p>
                <a:pPr algn="l"/>
                <a:endParaRPr lang="en-US" sz="2400" b="0" dirty="0"/>
              </a:p>
              <a:p>
                <a:pPr algn="l"/>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𝐿</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0</m:t>
                                  </m:r>
                                </m:sub>
                              </m:sSub>
                            </m:sub>
                          </m:sSub>
                        </m:num>
                        <m:den>
                          <m:r>
                            <a:rPr lang="en-US" sz="2400" b="0" i="1" smtClean="0">
                              <a:latin typeface="Cambria Math" panose="02040503050406030204" pitchFamily="18" charset="0"/>
                              <a:ea typeface="Cambria Math" panose="02040503050406030204" pitchFamily="18" charset="0"/>
                            </a:rPr>
                            <m:t>𝑎</m:t>
                          </m:r>
                        </m:den>
                      </m:f>
                    </m:oMath>
                  </m:oMathPara>
                </a14:m>
                <a:endParaRPr lang="en-US" sz="2400" dirty="0"/>
              </a:p>
              <a:p>
                <a:pPr algn="l"/>
                <a:endParaRPr lang="en-US" sz="2400" dirty="0"/>
              </a:p>
              <a:p>
                <a:pPr algn="l"/>
                <a:r>
                  <a:rPr lang="en-US" sz="2400" b="0" dirty="0">
                    <a:ea typeface="Cambria Math" panose="02040503050406030204" pitchFamily="18" charset="0"/>
                  </a:rPr>
                  <a:t>                     </a:t>
                </a:r>
                <a14:m>
                  <m:oMath xmlns:m="http://schemas.openxmlformats.org/officeDocument/2006/math">
                    <m:r>
                      <a:rPr lang="en-US" sz="2800" b="0" i="1" smtClean="0">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0.593 −0.20</m:t>
                        </m:r>
                      </m:num>
                      <m:den>
                        <m:r>
                          <a:rPr lang="en-US" sz="2800" b="0" i="1" smtClean="0">
                            <a:latin typeface="Cambria Math" panose="02040503050406030204" pitchFamily="18" charset="0"/>
                            <a:ea typeface="Cambria Math" panose="02040503050406030204" pitchFamily="18" charset="0"/>
                          </a:rPr>
                          <m:t>0.1</m:t>
                        </m:r>
                      </m:den>
                    </m:f>
                  </m:oMath>
                </a14:m>
                <a:endParaRPr lang="en-US" sz="2800" dirty="0"/>
              </a:p>
              <a:p>
                <a:pPr algn="l"/>
                <a:endParaRPr lang="en-US" sz="2800" b="0" i="1" dirty="0">
                  <a:latin typeface="Cambria Math" panose="02040503050406030204" pitchFamily="18" charset="0"/>
                  <a:ea typeface="Cambria Math" panose="02040503050406030204" pitchFamily="18" charset="0"/>
                </a:endParaRPr>
              </a:p>
              <a:p>
                <a:pPr algn="l"/>
                <a:r>
                  <a:rPr lang="en-US" sz="2800" i="1" dirty="0">
                    <a:latin typeface="Cambria Math" panose="02040503050406030204" pitchFamily="18" charset="0"/>
                    <a:ea typeface="Cambria Math" panose="02040503050406030204" pitchFamily="18" charset="0"/>
                  </a:rPr>
                  <a:t>                          </a:t>
                </a:r>
                <a:r>
                  <a:rPr lang="en-US" sz="2400" i="1" dirty="0">
                    <a:latin typeface="Cambria Math" panose="02040503050406030204" pitchFamily="18" charset="0"/>
                    <a:ea typeface="Cambria Math" panose="02040503050406030204" pitchFamily="18" charset="0"/>
                  </a:rPr>
                  <a:t> </a:t>
                </a:r>
                <a14:m>
                  <m:oMath xmlns:m="http://schemas.openxmlformats.org/officeDocument/2006/math">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=3.93</m:t>
                    </m:r>
                  </m:oMath>
                </a14:m>
                <a:r>
                  <a:rPr lang="en-US" sz="2400" dirty="0"/>
                  <a:t>°</a:t>
                </a:r>
              </a:p>
              <a:p>
                <a:pPr algn="l"/>
                <a:endParaRPr lang="en-US" sz="2800" dirty="0"/>
              </a:p>
            </p:txBody>
          </p:sp>
        </mc:Choice>
        <mc:Fallback xmlns="">
          <p:sp>
            <p:nvSpPr>
              <p:cNvPr id="4" name="TextBox 3">
                <a:extLst>
                  <a:ext uri="{FF2B5EF4-FFF2-40B4-BE49-F238E27FC236}">
                    <a16:creationId xmlns:a16="http://schemas.microsoft.com/office/drawing/2014/main" id="{765E0551-60AA-3AFB-3008-35E9E75911AD}"/>
                  </a:ext>
                </a:extLst>
              </p:cNvPr>
              <p:cNvSpPr txBox="1">
                <a:spLocks noRot="1" noChangeAspect="1" noMove="1" noResize="1" noEditPoints="1" noAdjustHandles="1" noChangeArrowheads="1" noChangeShapeType="1" noTextEdit="1"/>
              </p:cNvSpPr>
              <p:nvPr/>
            </p:nvSpPr>
            <p:spPr>
              <a:xfrm>
                <a:off x="3276600" y="2362200"/>
                <a:ext cx="5638800" cy="385349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0987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2E37E-AD54-8145-8927-C870A4707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9426E-3C92-E745-7211-22E1B3DD0221}"/>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46584BF9-1008-3A9A-69B7-452099E93C72}"/>
              </a:ext>
            </a:extLst>
          </p:cNvPr>
          <p:cNvSpPr txBox="1"/>
          <p:nvPr/>
        </p:nvSpPr>
        <p:spPr>
          <a:xfrm>
            <a:off x="304800" y="1524000"/>
            <a:ext cx="11582400" cy="2031325"/>
          </a:xfrm>
          <a:prstGeom prst="rect">
            <a:avLst/>
          </a:prstGeom>
          <a:noFill/>
        </p:spPr>
        <p:txBody>
          <a:bodyPr wrap="square" rtlCol="0">
            <a:spAutoFit/>
          </a:bodyPr>
          <a:lstStyle/>
          <a:p>
            <a:pPr algn="l"/>
            <a:r>
              <a:rPr lang="en-US" b="1" u="sng" dirty="0"/>
              <a:t>Lift &amp; Drag of Teardrop Shape</a:t>
            </a:r>
            <a:r>
              <a:rPr lang="en-US" b="1" dirty="0"/>
              <a:t>: </a:t>
            </a:r>
            <a:r>
              <a:rPr lang="en-US" dirty="0"/>
              <a:t>We do know at this point that At </a:t>
            </a:r>
            <a:r>
              <a:rPr lang="en-US" b="1" dirty="0"/>
              <a:t>0° Angle of Attack (</a:t>
            </a:r>
            <a:r>
              <a:rPr lang="en-US" b="1" dirty="0" err="1"/>
              <a:t>AoA</a:t>
            </a:r>
            <a:r>
              <a:rPr lang="en-US" b="1" dirty="0"/>
              <a:t>)</a:t>
            </a:r>
            <a:r>
              <a:rPr lang="en-US" dirty="0"/>
              <a:t>, the teardrop-shaped airfoil produces </a:t>
            </a:r>
            <a:r>
              <a:rPr lang="en-US" u="sng" dirty="0"/>
              <a:t>very little drag and almost no wake region</a:t>
            </a:r>
            <a:r>
              <a:rPr lang="en-US" dirty="0"/>
              <a:t>. As the </a:t>
            </a:r>
            <a:r>
              <a:rPr lang="en-US" dirty="0" err="1"/>
              <a:t>AoA</a:t>
            </a:r>
            <a:r>
              <a:rPr lang="en-US" dirty="0"/>
              <a:t> increases, both </a:t>
            </a:r>
            <a:r>
              <a:rPr lang="en-US" b="1" dirty="0"/>
              <a:t>lift and drag</a:t>
            </a:r>
            <a:r>
              <a:rPr lang="en-US" dirty="0"/>
              <a:t> increase significantly (until critical angle is reached)</a:t>
            </a:r>
          </a:p>
          <a:p>
            <a:pPr algn="l"/>
            <a:endParaRPr lang="en-US" dirty="0"/>
          </a:p>
          <a:p>
            <a:pPr algn="l"/>
            <a:endParaRPr lang="en-US" b="1" dirty="0"/>
          </a:p>
          <a:p>
            <a:pPr algn="l"/>
            <a:r>
              <a:rPr lang="en-US" b="1" dirty="0"/>
              <a:t>NOTE: </a:t>
            </a:r>
            <a:r>
              <a:rPr lang="en-US" dirty="0"/>
              <a:t>This </a:t>
            </a:r>
            <a:r>
              <a:rPr lang="en-US" b="1" dirty="0"/>
              <a:t>doesn’t</a:t>
            </a:r>
            <a:r>
              <a:rPr lang="en-US" dirty="0"/>
              <a:t> mean that the Lift or Drag is 0. The </a:t>
            </a:r>
            <a:r>
              <a:rPr lang="en-US" dirty="0" err="1"/>
              <a:t>AoA</a:t>
            </a:r>
            <a:r>
              <a:rPr lang="en-US" dirty="0"/>
              <a:t> is only one, yet, factor that affects the Lift and Drag as seen mathematically in both the formulae of Lift and Drag (Directly or Indirectly) so far. </a:t>
            </a:r>
            <a:endParaRPr lang="en-US" b="1" dirty="0"/>
          </a:p>
        </p:txBody>
      </p:sp>
      <mc:AlternateContent xmlns:mc="http://schemas.openxmlformats.org/markup-compatibility/2006" xmlns:p14="http://schemas.microsoft.com/office/powerpoint/2010/main">
        <mc:Choice Requires="p14">
          <p:contentPart p14:bwMode="auto" r:id="rId2">
            <p14:nvContentPartPr>
              <p14:cNvPr id="24" name="Ink 23">
                <a:extLst>
                  <a:ext uri="{FF2B5EF4-FFF2-40B4-BE49-F238E27FC236}">
                    <a16:creationId xmlns:a16="http://schemas.microsoft.com/office/drawing/2014/main" id="{0A20512A-9EC8-31B6-7C48-A23C3B3D1B20}"/>
                  </a:ext>
                </a:extLst>
              </p14:cNvPr>
              <p14:cNvContentPartPr/>
              <p14:nvPr/>
            </p14:nvContentPartPr>
            <p14:xfrm>
              <a:off x="2110140" y="3779460"/>
              <a:ext cx="1722960" cy="167760"/>
            </p14:xfrm>
          </p:contentPart>
        </mc:Choice>
        <mc:Fallback xmlns="">
          <p:pic>
            <p:nvPicPr>
              <p:cNvPr id="24" name="Ink 23">
                <a:extLst>
                  <a:ext uri="{FF2B5EF4-FFF2-40B4-BE49-F238E27FC236}">
                    <a16:creationId xmlns:a16="http://schemas.microsoft.com/office/drawing/2014/main" id="{0A20512A-9EC8-31B6-7C48-A23C3B3D1B20}"/>
                  </a:ext>
                </a:extLst>
              </p:cNvPr>
              <p:cNvPicPr/>
              <p:nvPr/>
            </p:nvPicPr>
            <p:blipFill>
              <a:blip r:embed="rId3"/>
              <a:stretch>
                <a:fillRect/>
              </a:stretch>
            </p:blipFill>
            <p:spPr>
              <a:xfrm>
                <a:off x="2047127" y="3716460"/>
                <a:ext cx="1848626" cy="293400"/>
              </a:xfrm>
              <a:prstGeom prst="rect">
                <a:avLst/>
              </a:prstGeom>
            </p:spPr>
          </p:pic>
        </mc:Fallback>
      </mc:AlternateContent>
      <p:pic>
        <p:nvPicPr>
          <p:cNvPr id="5" name="Picture 4">
            <a:extLst>
              <a:ext uri="{FF2B5EF4-FFF2-40B4-BE49-F238E27FC236}">
                <a16:creationId xmlns:a16="http://schemas.microsoft.com/office/drawing/2014/main" id="{1CB31874-BDD3-5CBF-2A2A-513811AF3D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944911"/>
            <a:ext cx="5695060" cy="2118087"/>
          </a:xfrm>
          <a:prstGeom prst="rect">
            <a:avLst/>
          </a:prstGeom>
        </p:spPr>
      </p:pic>
      <p:pic>
        <p:nvPicPr>
          <p:cNvPr id="7" name="Picture 6">
            <a:extLst>
              <a:ext uri="{FF2B5EF4-FFF2-40B4-BE49-F238E27FC236}">
                <a16:creationId xmlns:a16="http://schemas.microsoft.com/office/drawing/2014/main" id="{7C13530B-306A-C493-1551-1DEB8CA608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3712368"/>
            <a:ext cx="4648200" cy="2671763"/>
          </a:xfrm>
          <a:prstGeom prst="rect">
            <a:avLst/>
          </a:prstGeom>
        </p:spPr>
      </p:pic>
    </p:spTree>
    <p:extLst>
      <p:ext uri="{BB962C8B-B14F-4D97-AF65-F5344CB8AC3E}">
        <p14:creationId xmlns:p14="http://schemas.microsoft.com/office/powerpoint/2010/main" val="14875673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18A69-B72A-ED93-6D6C-158F27D3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806FB-1363-2DC8-20AC-37F8C08B484E}"/>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1A1D9C23-A896-BE7A-3FB0-778F116668AB}"/>
              </a:ext>
            </a:extLst>
          </p:cNvPr>
          <p:cNvSpPr txBox="1"/>
          <p:nvPr/>
        </p:nvSpPr>
        <p:spPr>
          <a:xfrm>
            <a:off x="304800" y="1524000"/>
            <a:ext cx="11582400" cy="1754326"/>
          </a:xfrm>
          <a:prstGeom prst="rect">
            <a:avLst/>
          </a:prstGeom>
          <a:noFill/>
        </p:spPr>
        <p:txBody>
          <a:bodyPr wrap="square" rtlCol="0">
            <a:spAutoFit/>
          </a:bodyPr>
          <a:lstStyle/>
          <a:p>
            <a:pPr algn="l"/>
            <a:r>
              <a:rPr lang="en-US" b="1" u="sng" dirty="0"/>
              <a:t>Lift in Teardrop Shape</a:t>
            </a:r>
            <a:r>
              <a:rPr lang="en-US" b="1" dirty="0"/>
              <a:t>: </a:t>
            </a:r>
            <a:r>
              <a:rPr lang="en-US" dirty="0"/>
              <a:t>It’s a famous debate on whether it is the Bernoulli’s principle that generates lift, or is it the Newton’s 3</a:t>
            </a:r>
            <a:r>
              <a:rPr lang="en-US" baseline="30000" dirty="0"/>
              <a:t>rd</a:t>
            </a:r>
            <a:r>
              <a:rPr lang="en-US" dirty="0"/>
              <a:t> Law that generates lift. But it’s both of these which help in the lift of an aircraft. </a:t>
            </a:r>
            <a:br>
              <a:rPr lang="en-US" dirty="0"/>
            </a:br>
            <a:br>
              <a:rPr lang="en-US" dirty="0"/>
            </a:br>
            <a:r>
              <a:rPr lang="en-US" b="1" dirty="0"/>
              <a:t>Bernoulli’s Principle: </a:t>
            </a:r>
            <a:r>
              <a:rPr lang="en-US" dirty="0"/>
              <a:t>Air flowing over the curved top surface of the wing moves faster than the air beneath. Faster flow means lower pressure (Bernoulli’s principle). The pressure beneath the wing is therefore higher than the pressure above, and this </a:t>
            </a:r>
            <a:r>
              <a:rPr lang="en-US" b="1" dirty="0"/>
              <a:t>pressure difference pushes the wing upward</a:t>
            </a:r>
            <a:r>
              <a:rPr lang="en-US" dirty="0"/>
              <a:t>, creating lift.</a:t>
            </a:r>
          </a:p>
        </p:txBody>
      </p:sp>
      <p:pic>
        <p:nvPicPr>
          <p:cNvPr id="9" name="Picture 8">
            <a:extLst>
              <a:ext uri="{FF2B5EF4-FFF2-40B4-BE49-F238E27FC236}">
                <a16:creationId xmlns:a16="http://schemas.microsoft.com/office/drawing/2014/main" id="{AE4C7DBE-91CB-9D9E-2213-464E3D3D8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799" y="3733800"/>
            <a:ext cx="5388429" cy="2514600"/>
          </a:xfrm>
          <a:prstGeom prst="rect">
            <a:avLst/>
          </a:prstGeom>
        </p:spPr>
      </p:pic>
      <p:pic>
        <p:nvPicPr>
          <p:cNvPr id="15" name="Picture 14">
            <a:extLst>
              <a:ext uri="{FF2B5EF4-FFF2-40B4-BE49-F238E27FC236}">
                <a16:creationId xmlns:a16="http://schemas.microsoft.com/office/drawing/2014/main" id="{9109DF5D-D08F-D439-F94E-43D014929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743960"/>
            <a:ext cx="4267200" cy="2243721"/>
          </a:xfrm>
          <a:prstGeom prst="rect">
            <a:avLst/>
          </a:prstGeom>
        </p:spPr>
      </p:pic>
      <mc:AlternateContent xmlns:mc="http://schemas.openxmlformats.org/markup-compatibility/2006" xmlns:p14="http://schemas.microsoft.com/office/powerpoint/2010/main">
        <mc:Choice Requires="p14">
          <p:contentPart p14:bwMode="auto" r:id="rId4">
            <p14:nvContentPartPr>
              <p14:cNvPr id="24" name="Ink 23">
                <a:extLst>
                  <a:ext uri="{FF2B5EF4-FFF2-40B4-BE49-F238E27FC236}">
                    <a16:creationId xmlns:a16="http://schemas.microsoft.com/office/drawing/2014/main" id="{CC0729A7-172C-1DF2-0F0F-A21C8549C12A}"/>
                  </a:ext>
                </a:extLst>
              </p14:cNvPr>
              <p14:cNvContentPartPr/>
              <p14:nvPr/>
            </p14:nvContentPartPr>
            <p14:xfrm>
              <a:off x="2110140" y="3779460"/>
              <a:ext cx="1722960" cy="167760"/>
            </p14:xfrm>
          </p:contentPart>
        </mc:Choice>
        <mc:Fallback xmlns="">
          <p:pic>
            <p:nvPicPr>
              <p:cNvPr id="24" name="Ink 23">
                <a:extLst>
                  <a:ext uri="{FF2B5EF4-FFF2-40B4-BE49-F238E27FC236}">
                    <a16:creationId xmlns:a16="http://schemas.microsoft.com/office/drawing/2014/main" id="{CC0729A7-172C-1DF2-0F0F-A21C8549C12A}"/>
                  </a:ext>
                </a:extLst>
              </p:cNvPr>
              <p:cNvPicPr/>
              <p:nvPr/>
            </p:nvPicPr>
            <p:blipFill>
              <a:blip r:embed="rId5"/>
              <a:stretch>
                <a:fillRect/>
              </a:stretch>
            </p:blipFill>
            <p:spPr>
              <a:xfrm>
                <a:off x="2047500" y="3716460"/>
                <a:ext cx="1848600" cy="293400"/>
              </a:xfrm>
              <a:prstGeom prst="rect">
                <a:avLst/>
              </a:prstGeom>
            </p:spPr>
          </p:pic>
        </mc:Fallback>
      </mc:AlternateContent>
    </p:spTree>
    <p:extLst>
      <p:ext uri="{BB962C8B-B14F-4D97-AF65-F5344CB8AC3E}">
        <p14:creationId xmlns:p14="http://schemas.microsoft.com/office/powerpoint/2010/main" val="32091918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EB2E1-1EB7-3959-32E8-A285DD7ED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58917-CB90-0369-F239-6FDBB6BAFFF3}"/>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DBC4F7-7821-2A96-BA6B-B892B64CB89E}"/>
                  </a:ext>
                </a:extLst>
              </p:cNvPr>
              <p:cNvSpPr txBox="1"/>
              <p:nvPr/>
            </p:nvSpPr>
            <p:spPr>
              <a:xfrm>
                <a:off x="304800" y="1524000"/>
                <a:ext cx="11582400" cy="1510926"/>
              </a:xfrm>
              <a:prstGeom prst="rect">
                <a:avLst/>
              </a:prstGeom>
              <a:noFill/>
            </p:spPr>
            <p:txBody>
              <a:bodyPr wrap="square" rtlCol="0">
                <a:spAutoFit/>
              </a:bodyPr>
              <a:lstStyle/>
              <a:p>
                <a:pPr algn="l"/>
                <a:r>
                  <a:rPr lang="en-US" b="1" u="sng" dirty="0"/>
                  <a:t>Lift in Teardrop Shape</a:t>
                </a:r>
                <a:r>
                  <a:rPr lang="en-US" b="1" dirty="0"/>
                  <a:t>: </a:t>
                </a:r>
                <a:r>
                  <a:rPr lang="en-US" dirty="0"/>
                  <a:t>Similarly,</a:t>
                </a:r>
              </a:p>
              <a:p>
                <a:pPr algn="l"/>
                <a:endParaRPr lang="en-US" b="1" dirty="0"/>
              </a:p>
              <a:p>
                <a:pPr algn="l"/>
                <a:r>
                  <a:rPr lang="en-US" b="1" dirty="0"/>
                  <a:t>Newton’s 3</a:t>
                </a:r>
                <a:r>
                  <a:rPr lang="en-US" b="1" baseline="30000" dirty="0"/>
                  <a:t>rd</a:t>
                </a:r>
                <a:r>
                  <a:rPr lang="en-US" b="1" dirty="0"/>
                  <a:t> Law: </a:t>
                </a:r>
                <a:r>
                  <a:rPr lang="en-US" dirty="0"/>
                  <a:t>The wing pushes the wind downwards (downwash) with a Force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oMath>
                </a14:m>
                <a:r>
                  <a:rPr lang="en-US" dirty="0"/>
                  <a:t>), hence as a consequence, the same amount of Force </a:t>
                </a:r>
                <a:r>
                  <a:rPr lang="en-US" sz="1600" dirty="0"/>
                  <a:t>(</a:t>
                </a:r>
                <a:r>
                  <a:rPr lang="en-US" sz="1600" b="1" dirty="0"/>
                  <a:t>Equal Force </a:t>
                </a:r>
                <a14:m>
                  <m:oMath xmlns:m="http://schemas.openxmlformats.org/officeDocument/2006/math">
                    <m:acc>
                      <m:accPr>
                        <m:chr m:val="⃑"/>
                        <m:ctrlPr>
                          <a:rPr lang="en-US" sz="1600" b="1" i="1" smtClean="0">
                            <a:latin typeface="Cambria Math" panose="02040503050406030204" pitchFamily="18" charset="0"/>
                          </a:rPr>
                        </m:ctrlPr>
                      </m:accPr>
                      <m:e>
                        <m:r>
                          <a:rPr lang="en-US" sz="1600" b="1" i="1" smtClean="0">
                            <a:latin typeface="Cambria Math" panose="02040503050406030204" pitchFamily="18" charset="0"/>
                          </a:rPr>
                          <m:t>𝑭</m:t>
                        </m:r>
                      </m:e>
                    </m:acc>
                  </m:oMath>
                </a14:m>
                <a:r>
                  <a:rPr lang="en-US" sz="1600" dirty="0"/>
                  <a:t>) </a:t>
                </a:r>
                <a:r>
                  <a:rPr lang="en-US" dirty="0"/>
                  <a:t>acts upwards </a:t>
                </a:r>
                <a:r>
                  <a:rPr lang="en-US" sz="1600" dirty="0"/>
                  <a:t>(</a:t>
                </a:r>
                <a:r>
                  <a:rPr lang="en-US" sz="1600" b="1" dirty="0"/>
                  <a:t>Opposite Direction</a:t>
                </a:r>
                <a:r>
                  <a:rPr lang="en-US" sz="1600" dirty="0"/>
                  <a:t>) </a:t>
                </a:r>
                <a:r>
                  <a:rPr lang="en-US" dirty="0"/>
                  <a:t>on the wing, producing lift upwards.</a:t>
                </a:r>
                <a:endParaRPr lang="en-US" b="1" dirty="0"/>
              </a:p>
            </p:txBody>
          </p:sp>
        </mc:Choice>
        <mc:Fallback xmlns="">
          <p:sp>
            <p:nvSpPr>
              <p:cNvPr id="3" name="TextBox 2">
                <a:extLst>
                  <a:ext uri="{FF2B5EF4-FFF2-40B4-BE49-F238E27FC236}">
                    <a16:creationId xmlns:a16="http://schemas.microsoft.com/office/drawing/2014/main" id="{46DBC4F7-7821-2A96-BA6B-B892B64CB89E}"/>
                  </a:ext>
                </a:extLst>
              </p:cNvPr>
              <p:cNvSpPr txBox="1">
                <a:spLocks noRot="1" noChangeAspect="1" noMove="1" noResize="1" noEditPoints="1" noAdjustHandles="1" noChangeArrowheads="1" noChangeShapeType="1" noTextEdit="1"/>
              </p:cNvSpPr>
              <p:nvPr/>
            </p:nvSpPr>
            <p:spPr>
              <a:xfrm>
                <a:off x="304800" y="1524000"/>
                <a:ext cx="11582400" cy="1510926"/>
              </a:xfrm>
              <a:prstGeom prst="rect">
                <a:avLst/>
              </a:prstGeom>
              <a:blipFill>
                <a:blip r:embed="rId2"/>
                <a:stretch>
                  <a:fillRect l="-421" t="-2016" b="-564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64108B1-53F5-FF26-7975-9EFBF361BF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6600" y="3208433"/>
            <a:ext cx="4343400" cy="2483476"/>
          </a:xfrm>
          <a:prstGeom prst="rect">
            <a:avLst/>
          </a:prstGeom>
        </p:spPr>
      </p:pic>
      <p:pic>
        <p:nvPicPr>
          <p:cNvPr id="8" name="Picture 7">
            <a:extLst>
              <a:ext uri="{FF2B5EF4-FFF2-40B4-BE49-F238E27FC236}">
                <a16:creationId xmlns:a16="http://schemas.microsoft.com/office/drawing/2014/main" id="{CA3F51E7-F7CD-327E-A3C7-E04D95B86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0" y="3195008"/>
            <a:ext cx="4495800" cy="2519992"/>
          </a:xfrm>
          <a:prstGeom prst="rect">
            <a:avLst/>
          </a:prstGeom>
        </p:spPr>
      </p:pic>
      <p:sp>
        <p:nvSpPr>
          <p:cNvPr id="9" name="TextBox 8">
            <a:extLst>
              <a:ext uri="{FF2B5EF4-FFF2-40B4-BE49-F238E27FC236}">
                <a16:creationId xmlns:a16="http://schemas.microsoft.com/office/drawing/2014/main" id="{FFA65FB8-E58A-AFD4-074B-EDB3E758890C}"/>
              </a:ext>
            </a:extLst>
          </p:cNvPr>
          <p:cNvSpPr txBox="1"/>
          <p:nvPr/>
        </p:nvSpPr>
        <p:spPr>
          <a:xfrm>
            <a:off x="390525" y="5126752"/>
            <a:ext cx="11410950" cy="1477328"/>
          </a:xfrm>
          <a:prstGeom prst="rect">
            <a:avLst/>
          </a:prstGeom>
          <a:noFill/>
        </p:spPr>
        <p:txBody>
          <a:bodyPr wrap="square" rtlCol="0">
            <a:spAutoFit/>
          </a:bodyPr>
          <a:lstStyle/>
          <a:p>
            <a:pPr algn="ctr"/>
            <a:endParaRPr lang="en-US" dirty="0"/>
          </a:p>
          <a:p>
            <a:pPr algn="ctr"/>
            <a:endParaRPr lang="en-US" dirty="0"/>
          </a:p>
          <a:p>
            <a:pPr algn="ctr"/>
            <a:r>
              <a:rPr lang="en-US" b="1" dirty="0"/>
              <a:t>Therefore, the force upwards (Lift) is produced both by the Pressure difference on the surfaces and the Downwash of the Wind because of the Wing Shape. </a:t>
            </a:r>
          </a:p>
          <a:p>
            <a:pPr algn="ctr"/>
            <a:endParaRPr lang="en-US" dirty="0"/>
          </a:p>
        </p:txBody>
      </p:sp>
    </p:spTree>
    <p:extLst>
      <p:ext uri="{BB962C8B-B14F-4D97-AF65-F5344CB8AC3E}">
        <p14:creationId xmlns:p14="http://schemas.microsoft.com/office/powerpoint/2010/main" val="24716274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DF026-D909-A4CB-636B-DF1EB5B7F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07331-402C-6943-7C1E-108E12E5382B}"/>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076E5AFE-6B88-56C8-A498-D4E3E496E3D9}"/>
              </a:ext>
            </a:extLst>
          </p:cNvPr>
          <p:cNvSpPr txBox="1"/>
          <p:nvPr/>
        </p:nvSpPr>
        <p:spPr>
          <a:xfrm>
            <a:off x="304800" y="1524000"/>
            <a:ext cx="11582400" cy="4247317"/>
          </a:xfrm>
          <a:prstGeom prst="rect">
            <a:avLst/>
          </a:prstGeom>
          <a:noFill/>
        </p:spPr>
        <p:txBody>
          <a:bodyPr wrap="square" rtlCol="0">
            <a:spAutoFit/>
          </a:bodyPr>
          <a:lstStyle/>
          <a:p>
            <a:pPr algn="l"/>
            <a:r>
              <a:rPr lang="en-US" b="1" u="sng" dirty="0"/>
              <a:t>Drag in Teardrop Shape</a:t>
            </a:r>
            <a:r>
              <a:rPr lang="en-US" b="1" dirty="0"/>
              <a:t>: </a:t>
            </a:r>
            <a:r>
              <a:rPr lang="en-US" dirty="0"/>
              <a:t>There’re three main types of Drag- </a:t>
            </a:r>
          </a:p>
          <a:p>
            <a:pPr algn="l"/>
            <a:endParaRPr lang="en-US" dirty="0"/>
          </a:p>
          <a:p>
            <a:pPr algn="l"/>
            <a:endParaRPr lang="en-US" dirty="0"/>
          </a:p>
          <a:p>
            <a:pPr marL="342900" indent="-342900" algn="l">
              <a:buFont typeface="+mj-lt"/>
              <a:buAutoNum type="arabicPeriod"/>
            </a:pPr>
            <a:r>
              <a:rPr lang="en-US" b="1" dirty="0"/>
              <a:t>Parasite Drag: </a:t>
            </a:r>
            <a:r>
              <a:rPr lang="en-US" dirty="0"/>
              <a:t>Drag which is </a:t>
            </a:r>
            <a:r>
              <a:rPr lang="en-US" b="1" dirty="0"/>
              <a:t>not</a:t>
            </a:r>
            <a:r>
              <a:rPr lang="en-US" dirty="0"/>
              <a:t> caused by the lift, further classified into </a:t>
            </a:r>
            <a:r>
              <a:rPr lang="en-US" b="1" dirty="0"/>
              <a:t>THREE </a:t>
            </a:r>
            <a:r>
              <a:rPr lang="en-US" dirty="0"/>
              <a:t>more drags- </a:t>
            </a:r>
          </a:p>
          <a:p>
            <a:pPr algn="l"/>
            <a:endParaRPr lang="en-US" dirty="0"/>
          </a:p>
          <a:p>
            <a:pPr marL="285750" indent="-285750" algn="l">
              <a:buFont typeface="Wingdings" panose="05000000000000000000" pitchFamily="2" charset="2"/>
              <a:buChar char="à"/>
            </a:pPr>
            <a:r>
              <a:rPr lang="en-US" b="1" dirty="0"/>
              <a:t>Form Drag</a:t>
            </a:r>
          </a:p>
          <a:p>
            <a:pPr marL="285750" indent="-285750" algn="l">
              <a:buFont typeface="Wingdings" panose="05000000000000000000" pitchFamily="2" charset="2"/>
              <a:buChar char="à"/>
            </a:pPr>
            <a:r>
              <a:rPr lang="en-US" b="1" dirty="0"/>
              <a:t>Skin Friction Drag</a:t>
            </a:r>
          </a:p>
          <a:p>
            <a:pPr marL="285750" indent="-285750" algn="l">
              <a:buFont typeface="Wingdings" panose="05000000000000000000" pitchFamily="2" charset="2"/>
              <a:buChar char="à"/>
            </a:pPr>
            <a:r>
              <a:rPr lang="en-US" b="1" dirty="0"/>
              <a:t>Interference Drags</a:t>
            </a:r>
          </a:p>
          <a:p>
            <a:pPr marL="285750" indent="-285750" algn="l">
              <a:buFont typeface="Wingdings" panose="05000000000000000000" pitchFamily="2" charset="2"/>
              <a:buChar char="à"/>
            </a:pPr>
            <a:endParaRPr lang="en-US" b="1" dirty="0"/>
          </a:p>
          <a:p>
            <a:pPr marL="342900" indent="-342900" algn="l">
              <a:buFont typeface="+mj-lt"/>
              <a:buAutoNum type="arabicPeriod"/>
            </a:pPr>
            <a:endParaRPr lang="en-US" b="1" dirty="0"/>
          </a:p>
          <a:p>
            <a:pPr marL="342900" indent="-342900" algn="l">
              <a:buAutoNum type="arabicPeriod" startAt="2"/>
            </a:pPr>
            <a:r>
              <a:rPr lang="en-US" b="1" dirty="0"/>
              <a:t>Induced Drag: </a:t>
            </a:r>
            <a:r>
              <a:rPr lang="en-US" dirty="0"/>
              <a:t>Drag which is caused by the lift, mainly due to vortices (Wingtips)</a:t>
            </a:r>
          </a:p>
          <a:p>
            <a:pPr marL="342900" indent="-342900" algn="l">
              <a:buAutoNum type="arabicPeriod" startAt="2"/>
            </a:pPr>
            <a:endParaRPr lang="en-US" b="1" dirty="0"/>
          </a:p>
          <a:p>
            <a:pPr marL="342900" indent="-342900" algn="l">
              <a:buAutoNum type="arabicPeriod" startAt="2"/>
            </a:pPr>
            <a:endParaRPr lang="en-US" b="1" dirty="0"/>
          </a:p>
          <a:p>
            <a:pPr marL="342900" indent="-342900" algn="l">
              <a:buAutoNum type="arabicPeriod" startAt="2"/>
            </a:pPr>
            <a:r>
              <a:rPr lang="en-US" b="1" dirty="0"/>
              <a:t>Wave Drag: </a:t>
            </a:r>
            <a:r>
              <a:rPr lang="en-US" dirty="0"/>
              <a:t>Drag which is only caused by high speeds (Supersonic Speeds) due to shockwaves. </a:t>
            </a:r>
            <a:endParaRPr lang="en-US" b="1" dirty="0"/>
          </a:p>
          <a:p>
            <a:pPr marL="342900" indent="-342900" algn="l">
              <a:buAutoNum type="arabicPeriod" startAt="2"/>
            </a:pPr>
            <a:endParaRPr lang="en-US" b="1" dirty="0"/>
          </a:p>
        </p:txBody>
      </p:sp>
    </p:spTree>
    <p:extLst>
      <p:ext uri="{BB962C8B-B14F-4D97-AF65-F5344CB8AC3E}">
        <p14:creationId xmlns:p14="http://schemas.microsoft.com/office/powerpoint/2010/main" val="29787898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7BC3C-A038-8BB7-CCD7-D0CB58AED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3E6AE-53A4-FFC5-E278-DDC2F19375AF}"/>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1F8E28F8-8B2F-7130-0D9A-CE1FE8CBCACF}"/>
              </a:ext>
            </a:extLst>
          </p:cNvPr>
          <p:cNvSpPr txBox="1"/>
          <p:nvPr/>
        </p:nvSpPr>
        <p:spPr>
          <a:xfrm>
            <a:off x="304800" y="1524000"/>
            <a:ext cx="11582400" cy="2862322"/>
          </a:xfrm>
          <a:prstGeom prst="rect">
            <a:avLst/>
          </a:prstGeom>
          <a:noFill/>
        </p:spPr>
        <p:txBody>
          <a:bodyPr wrap="square" rtlCol="0">
            <a:spAutoFit/>
          </a:bodyPr>
          <a:lstStyle/>
          <a:p>
            <a:pPr marL="400050" indent="-400050" algn="l">
              <a:buFont typeface="+mj-lt"/>
              <a:buAutoNum type="romanUcPeriod"/>
            </a:pPr>
            <a:r>
              <a:rPr lang="en-US" b="1" u="sng" dirty="0"/>
              <a:t>Drag in Teardrop Shape</a:t>
            </a:r>
            <a:r>
              <a:rPr lang="en-US" b="1" dirty="0"/>
              <a:t>: </a:t>
            </a:r>
            <a:r>
              <a:rPr lang="en-US" b="1" u="sng" dirty="0"/>
              <a:t>Parasite Drag </a:t>
            </a:r>
          </a:p>
          <a:p>
            <a:pPr algn="l"/>
            <a:endParaRPr lang="en-US" dirty="0"/>
          </a:p>
          <a:p>
            <a:pPr marL="342900" indent="-342900" algn="l">
              <a:buFont typeface="+mj-lt"/>
              <a:buAutoNum type="arabicPeriod"/>
            </a:pPr>
            <a:r>
              <a:rPr lang="en-US" b="1" dirty="0"/>
              <a:t>Form Drag </a:t>
            </a:r>
            <a:r>
              <a:rPr lang="en-US" dirty="0"/>
              <a:t>(Pressure Drag)</a:t>
            </a:r>
            <a:r>
              <a:rPr lang="en-US" b="1" dirty="0"/>
              <a:t>: </a:t>
            </a:r>
            <a:r>
              <a:rPr lang="en-US" dirty="0"/>
              <a:t>The drag that is experienced on the wing due to the </a:t>
            </a:r>
            <a:r>
              <a:rPr lang="en-US" b="1" dirty="0"/>
              <a:t>pressure difference</a:t>
            </a:r>
            <a:r>
              <a:rPr lang="en-US" dirty="0"/>
              <a:t> between the Front (Leading End @ 0°, the Bottom surface at </a:t>
            </a:r>
            <a:r>
              <a:rPr lang="en-US" dirty="0" err="1"/>
              <a:t>AoA</a:t>
            </a:r>
            <a:r>
              <a:rPr lang="en-US" dirty="0"/>
              <a:t> &gt; 0°) of the Wing and the Back (Trailing End @ 0°, the Upper surface at </a:t>
            </a:r>
            <a:r>
              <a:rPr lang="en-US" dirty="0" err="1"/>
              <a:t>AoA</a:t>
            </a:r>
            <a:r>
              <a:rPr lang="en-US" dirty="0"/>
              <a:t> &gt; 0°). </a:t>
            </a:r>
            <a:br>
              <a:rPr lang="en-US" dirty="0"/>
            </a:br>
            <a:br>
              <a:rPr lang="en-US" dirty="0"/>
            </a:br>
            <a:r>
              <a:rPr lang="en-US" dirty="0"/>
              <a:t>Here, the wind separates at a point in the upper surface at an </a:t>
            </a:r>
            <a:r>
              <a:rPr lang="en-US" dirty="0" err="1"/>
              <a:t>AoA</a:t>
            </a:r>
            <a:r>
              <a:rPr lang="en-US" dirty="0"/>
              <a:t> of 10°. From that point onwards, the wind is turbulent and hence less speed, less pressure at the Wake Region. The higher pressure at the bottom surface (now, basically the front surface) tries to move towards the lower pressure region (Wake Region) by pushing the wing towards it (backwards), hence creating Pressure Drag, negative force </a:t>
            </a:r>
            <a:endParaRPr lang="en-US" b="1" dirty="0"/>
          </a:p>
        </p:txBody>
      </p:sp>
      <p:pic>
        <p:nvPicPr>
          <p:cNvPr id="5" name="Picture 4">
            <a:extLst>
              <a:ext uri="{FF2B5EF4-FFF2-40B4-BE49-F238E27FC236}">
                <a16:creationId xmlns:a16="http://schemas.microsoft.com/office/drawing/2014/main" id="{B778FA19-DA9C-6EC6-A211-3D9C920BB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4495800"/>
            <a:ext cx="3581400" cy="1922127"/>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9A0B8BB-8D6E-954E-711C-5F2FE9E1E40A}"/>
                  </a:ext>
                </a:extLst>
              </p14:cNvPr>
              <p14:cNvContentPartPr/>
              <p14:nvPr/>
            </p14:nvContentPartPr>
            <p14:xfrm>
              <a:off x="6463080" y="4571100"/>
              <a:ext cx="1116000" cy="256680"/>
            </p14:xfrm>
          </p:contentPart>
        </mc:Choice>
        <mc:Fallback xmlns="">
          <p:pic>
            <p:nvPicPr>
              <p:cNvPr id="6" name="Ink 5">
                <a:extLst>
                  <a:ext uri="{FF2B5EF4-FFF2-40B4-BE49-F238E27FC236}">
                    <a16:creationId xmlns:a16="http://schemas.microsoft.com/office/drawing/2014/main" id="{69A0B8BB-8D6E-954E-711C-5F2FE9E1E40A}"/>
                  </a:ext>
                </a:extLst>
              </p:cNvPr>
              <p:cNvPicPr/>
              <p:nvPr/>
            </p:nvPicPr>
            <p:blipFill>
              <a:blip r:embed="rId4"/>
              <a:stretch>
                <a:fillRect/>
              </a:stretch>
            </p:blipFill>
            <p:spPr>
              <a:xfrm>
                <a:off x="6400440" y="4508460"/>
                <a:ext cx="124164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FC173611-02EF-EA60-4158-A1A14C3276BF}"/>
                  </a:ext>
                </a:extLst>
              </p14:cNvPr>
              <p14:cNvContentPartPr/>
              <p14:nvPr/>
            </p14:nvContentPartPr>
            <p14:xfrm>
              <a:off x="4922280" y="4430340"/>
              <a:ext cx="1013040" cy="497520"/>
            </p14:xfrm>
          </p:contentPart>
        </mc:Choice>
        <mc:Fallback xmlns="">
          <p:pic>
            <p:nvPicPr>
              <p:cNvPr id="9" name="Ink 8">
                <a:extLst>
                  <a:ext uri="{FF2B5EF4-FFF2-40B4-BE49-F238E27FC236}">
                    <a16:creationId xmlns:a16="http://schemas.microsoft.com/office/drawing/2014/main" id="{FC173611-02EF-EA60-4158-A1A14C3276BF}"/>
                  </a:ext>
                </a:extLst>
              </p:cNvPr>
              <p:cNvPicPr/>
              <p:nvPr/>
            </p:nvPicPr>
            <p:blipFill>
              <a:blip r:embed="rId6"/>
              <a:stretch>
                <a:fillRect/>
              </a:stretch>
            </p:blipFill>
            <p:spPr>
              <a:xfrm>
                <a:off x="4859280" y="4367340"/>
                <a:ext cx="1138680" cy="623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8CE092C4-88CA-5FBD-B6B6-2B507141681B}"/>
                  </a:ext>
                </a:extLst>
              </p14:cNvPr>
              <p14:cNvContentPartPr/>
              <p14:nvPr/>
            </p14:nvContentPartPr>
            <p14:xfrm>
              <a:off x="5188950" y="4800210"/>
              <a:ext cx="360" cy="360"/>
            </p14:xfrm>
          </p:contentPart>
        </mc:Choice>
        <mc:Fallback xmlns="">
          <p:pic>
            <p:nvPicPr>
              <p:cNvPr id="10" name="Ink 9">
                <a:extLst>
                  <a:ext uri="{FF2B5EF4-FFF2-40B4-BE49-F238E27FC236}">
                    <a16:creationId xmlns:a16="http://schemas.microsoft.com/office/drawing/2014/main" id="{8CE092C4-88CA-5FBD-B6B6-2B507141681B}"/>
                  </a:ext>
                </a:extLst>
              </p:cNvPr>
              <p:cNvPicPr/>
              <p:nvPr/>
            </p:nvPicPr>
            <p:blipFill>
              <a:blip r:embed="rId8"/>
              <a:stretch>
                <a:fillRect/>
              </a:stretch>
            </p:blipFill>
            <p:spPr>
              <a:xfrm>
                <a:off x="5126310" y="4737570"/>
                <a:ext cx="126000" cy="126000"/>
              </a:xfrm>
              <a:prstGeom prst="rect">
                <a:avLst/>
              </a:prstGeom>
            </p:spPr>
          </p:pic>
        </mc:Fallback>
      </mc:AlternateContent>
      <p:sp>
        <p:nvSpPr>
          <p:cNvPr id="11" name="TextBox 10">
            <a:extLst>
              <a:ext uri="{FF2B5EF4-FFF2-40B4-BE49-F238E27FC236}">
                <a16:creationId xmlns:a16="http://schemas.microsoft.com/office/drawing/2014/main" id="{1D793617-E00A-172F-F512-DAF555F3BFEE}"/>
              </a:ext>
            </a:extLst>
          </p:cNvPr>
          <p:cNvSpPr txBox="1"/>
          <p:nvPr/>
        </p:nvSpPr>
        <p:spPr>
          <a:xfrm>
            <a:off x="6072240" y="4494434"/>
            <a:ext cx="1300356" cy="369332"/>
          </a:xfrm>
          <a:prstGeom prst="rect">
            <a:avLst/>
          </a:prstGeom>
          <a:noFill/>
        </p:spPr>
        <p:txBody>
          <a:bodyPr wrap="none" rtlCol="0">
            <a:spAutoFit/>
          </a:bodyPr>
          <a:lstStyle/>
          <a:p>
            <a:r>
              <a:rPr lang="en-US" dirty="0"/>
              <a:t>Separation</a:t>
            </a:r>
          </a:p>
        </p:txBody>
      </p:sp>
      <p:sp>
        <p:nvSpPr>
          <p:cNvPr id="12" name="TextBox 11">
            <a:extLst>
              <a:ext uri="{FF2B5EF4-FFF2-40B4-BE49-F238E27FC236}">
                <a16:creationId xmlns:a16="http://schemas.microsoft.com/office/drawing/2014/main" id="{5FC94D50-3474-148F-AFE9-5587FEBA836F}"/>
              </a:ext>
            </a:extLst>
          </p:cNvPr>
          <p:cNvSpPr txBox="1"/>
          <p:nvPr/>
        </p:nvSpPr>
        <p:spPr>
          <a:xfrm>
            <a:off x="4495800" y="4563480"/>
            <a:ext cx="1646605" cy="369332"/>
          </a:xfrm>
          <a:prstGeom prst="rect">
            <a:avLst/>
          </a:prstGeom>
          <a:noFill/>
        </p:spPr>
        <p:txBody>
          <a:bodyPr wrap="none" rtlCol="0">
            <a:spAutoFit/>
          </a:bodyPr>
          <a:lstStyle/>
          <a:p>
            <a:r>
              <a:rPr lang="en-US" dirty="0"/>
              <a:t>Coanda Effect</a:t>
            </a:r>
          </a:p>
        </p:txBody>
      </p:sp>
      <p:cxnSp>
        <p:nvCxnSpPr>
          <p:cNvPr id="14" name="Straight Connector 13">
            <a:extLst>
              <a:ext uri="{FF2B5EF4-FFF2-40B4-BE49-F238E27FC236}">
                <a16:creationId xmlns:a16="http://schemas.microsoft.com/office/drawing/2014/main" id="{1BA43E15-14AD-1BE6-0A86-2E46E30C64F0}"/>
              </a:ext>
            </a:extLst>
          </p:cNvPr>
          <p:cNvCxnSpPr>
            <a:cxnSpLocks/>
          </p:cNvCxnSpPr>
          <p:nvPr/>
        </p:nvCxnSpPr>
        <p:spPr>
          <a:xfrm>
            <a:off x="4114800" y="5224408"/>
            <a:ext cx="3810000" cy="119351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C62D4F3-83C6-0C34-D553-2318788C91E5}"/>
              </a:ext>
            </a:extLst>
          </p:cNvPr>
          <p:cNvCxnSpPr>
            <a:cxnSpLocks/>
          </p:cNvCxnSpPr>
          <p:nvPr/>
        </p:nvCxnSpPr>
        <p:spPr>
          <a:xfrm>
            <a:off x="4191000" y="5638800"/>
            <a:ext cx="1237800" cy="0"/>
          </a:xfrm>
          <a:prstGeom prst="line">
            <a:avLst/>
          </a:prstGeom>
          <a:ln w="19050"/>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E1EE670B-E251-D1EF-64A9-CC6427DC9253}"/>
              </a:ext>
            </a:extLst>
          </p:cNvPr>
          <p:cNvSpPr txBox="1"/>
          <p:nvPr/>
        </p:nvSpPr>
        <p:spPr>
          <a:xfrm>
            <a:off x="3370337" y="4930264"/>
            <a:ext cx="813043" cy="369332"/>
          </a:xfrm>
          <a:prstGeom prst="rect">
            <a:avLst/>
          </a:prstGeom>
          <a:noFill/>
        </p:spPr>
        <p:txBody>
          <a:bodyPr wrap="none" rtlCol="0">
            <a:spAutoFit/>
          </a:bodyPr>
          <a:lstStyle/>
          <a:p>
            <a:r>
              <a:rPr lang="en-US" dirty="0"/>
              <a:t>Chord</a:t>
            </a:r>
          </a:p>
        </p:txBody>
      </p:sp>
      <p:sp>
        <p:nvSpPr>
          <p:cNvPr id="27" name="TextBox 26">
            <a:extLst>
              <a:ext uri="{FF2B5EF4-FFF2-40B4-BE49-F238E27FC236}">
                <a16:creationId xmlns:a16="http://schemas.microsoft.com/office/drawing/2014/main" id="{3221E315-875F-AF69-D2B7-F58485865BAD}"/>
              </a:ext>
            </a:extLst>
          </p:cNvPr>
          <p:cNvSpPr txBox="1"/>
          <p:nvPr/>
        </p:nvSpPr>
        <p:spPr>
          <a:xfrm>
            <a:off x="3006060" y="5451835"/>
            <a:ext cx="1184940" cy="369332"/>
          </a:xfrm>
          <a:prstGeom prst="rect">
            <a:avLst/>
          </a:prstGeom>
          <a:noFill/>
        </p:spPr>
        <p:txBody>
          <a:bodyPr wrap="none" rtlCol="0">
            <a:spAutoFit/>
          </a:bodyPr>
          <a:lstStyle/>
          <a:p>
            <a:r>
              <a:rPr lang="en-US" dirty="0"/>
              <a:t>Wind flow</a:t>
            </a:r>
          </a:p>
        </p:txBody>
      </p:sp>
      <p:sp>
        <p:nvSpPr>
          <p:cNvPr id="28" name="Arrow: Curved Right 27">
            <a:extLst>
              <a:ext uri="{FF2B5EF4-FFF2-40B4-BE49-F238E27FC236}">
                <a16:creationId xmlns:a16="http://schemas.microsoft.com/office/drawing/2014/main" id="{82D969E5-7E79-E2DA-36BC-55989B084AA6}"/>
              </a:ext>
            </a:extLst>
          </p:cNvPr>
          <p:cNvSpPr/>
          <p:nvPr/>
        </p:nvSpPr>
        <p:spPr>
          <a:xfrm>
            <a:off x="4541520" y="5415608"/>
            <a:ext cx="76200" cy="209584"/>
          </a:xfrm>
          <a:prstGeom prst="curv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0CFBEAA7-0FBA-1232-21EB-4EB771E5E383}"/>
              </a:ext>
            </a:extLst>
          </p:cNvPr>
          <p:cNvSpPr txBox="1"/>
          <p:nvPr/>
        </p:nvSpPr>
        <p:spPr>
          <a:xfrm>
            <a:off x="4099560" y="5292088"/>
            <a:ext cx="534121"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24454710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62135-513F-B3A3-DCBB-24FD0C26C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D168-0E8E-1276-A644-0E6ADD8EC801}"/>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64D6EE51-BE33-C160-313C-D1E330FD6573}"/>
              </a:ext>
            </a:extLst>
          </p:cNvPr>
          <p:cNvSpPr txBox="1"/>
          <p:nvPr/>
        </p:nvSpPr>
        <p:spPr>
          <a:xfrm>
            <a:off x="304800" y="1524000"/>
            <a:ext cx="11582400" cy="2031325"/>
          </a:xfrm>
          <a:prstGeom prst="rect">
            <a:avLst/>
          </a:prstGeom>
          <a:noFill/>
        </p:spPr>
        <p:txBody>
          <a:bodyPr wrap="square" rtlCol="0">
            <a:spAutoFit/>
          </a:bodyPr>
          <a:lstStyle/>
          <a:p>
            <a:pPr marL="400050" indent="-400050" algn="l">
              <a:buFont typeface="+mj-lt"/>
              <a:buAutoNum type="romanUcPeriod"/>
            </a:pPr>
            <a:r>
              <a:rPr lang="en-US" b="1" u="sng" dirty="0"/>
              <a:t>Drag in Teardrop Shape</a:t>
            </a:r>
            <a:r>
              <a:rPr lang="en-US" b="1" dirty="0"/>
              <a:t>: </a:t>
            </a:r>
            <a:r>
              <a:rPr lang="en-US" b="1" u="sng" dirty="0"/>
              <a:t>Parasite Drag </a:t>
            </a:r>
          </a:p>
          <a:p>
            <a:pPr algn="l"/>
            <a:endParaRPr lang="en-US" dirty="0"/>
          </a:p>
          <a:p>
            <a:pPr marL="342900" indent="-342900" algn="l">
              <a:buFont typeface="+mj-lt"/>
              <a:buAutoNum type="arabicPeriod"/>
            </a:pPr>
            <a:r>
              <a:rPr lang="en-US" b="1" dirty="0"/>
              <a:t>Form Drag </a:t>
            </a:r>
            <a:r>
              <a:rPr lang="en-US" dirty="0"/>
              <a:t>(Pressure Drag)</a:t>
            </a:r>
            <a:r>
              <a:rPr lang="en-US" b="1" dirty="0"/>
              <a:t>: </a:t>
            </a:r>
            <a:r>
              <a:rPr lang="en-US" dirty="0"/>
              <a:t>This is the reason why we feel our hand pushed backwards when we extend it out of the car window at 90°. It is because our hand is now separating the Wind earlier, creating a huge Wake Region behind the arm, creating low pressure behind. The higher pressure on the front of the arm pushes the arm backwards, towards the lower pressure and hence you feel your hand pushed backwards. This is Form Drag/Pressure Drag.</a:t>
            </a:r>
            <a:endParaRPr lang="en-US" b="1" dirty="0"/>
          </a:p>
        </p:txBody>
      </p:sp>
      <p:pic>
        <p:nvPicPr>
          <p:cNvPr id="5" name="Picture 4">
            <a:extLst>
              <a:ext uri="{FF2B5EF4-FFF2-40B4-BE49-F238E27FC236}">
                <a16:creationId xmlns:a16="http://schemas.microsoft.com/office/drawing/2014/main" id="{88518FF2-8519-8099-92EE-F71668DF9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7740" y="3869073"/>
            <a:ext cx="3581400" cy="1922127"/>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4CF59E6A-769C-2522-5B9B-B21FAEB6E37D}"/>
                  </a:ext>
                </a:extLst>
              </p14:cNvPr>
              <p14:cNvContentPartPr/>
              <p14:nvPr/>
            </p14:nvContentPartPr>
            <p14:xfrm>
              <a:off x="6200220" y="3944373"/>
              <a:ext cx="1116000" cy="256680"/>
            </p14:xfrm>
          </p:contentPart>
        </mc:Choice>
        <mc:Fallback xmlns="">
          <p:pic>
            <p:nvPicPr>
              <p:cNvPr id="6" name="Ink 5">
                <a:extLst>
                  <a:ext uri="{FF2B5EF4-FFF2-40B4-BE49-F238E27FC236}">
                    <a16:creationId xmlns:a16="http://schemas.microsoft.com/office/drawing/2014/main" id="{4CF59E6A-769C-2522-5B9B-B21FAEB6E37D}"/>
                  </a:ext>
                </a:extLst>
              </p:cNvPr>
              <p:cNvPicPr/>
              <p:nvPr/>
            </p:nvPicPr>
            <p:blipFill>
              <a:blip r:embed="rId4"/>
              <a:stretch>
                <a:fillRect/>
              </a:stretch>
            </p:blipFill>
            <p:spPr>
              <a:xfrm>
                <a:off x="6137220" y="3881373"/>
                <a:ext cx="124164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9009BEB-C4AA-EA6A-D283-AB109D70FB13}"/>
                  </a:ext>
                </a:extLst>
              </p14:cNvPr>
              <p14:cNvContentPartPr/>
              <p14:nvPr/>
            </p14:nvContentPartPr>
            <p14:xfrm>
              <a:off x="4659420" y="3803613"/>
              <a:ext cx="1013040" cy="497520"/>
            </p14:xfrm>
          </p:contentPart>
        </mc:Choice>
        <mc:Fallback xmlns="">
          <p:pic>
            <p:nvPicPr>
              <p:cNvPr id="9" name="Ink 8">
                <a:extLst>
                  <a:ext uri="{FF2B5EF4-FFF2-40B4-BE49-F238E27FC236}">
                    <a16:creationId xmlns:a16="http://schemas.microsoft.com/office/drawing/2014/main" id="{99009BEB-C4AA-EA6A-D283-AB109D70FB13}"/>
                  </a:ext>
                </a:extLst>
              </p:cNvPr>
              <p:cNvPicPr/>
              <p:nvPr/>
            </p:nvPicPr>
            <p:blipFill>
              <a:blip r:embed="rId6"/>
              <a:stretch>
                <a:fillRect/>
              </a:stretch>
            </p:blipFill>
            <p:spPr>
              <a:xfrm>
                <a:off x="4596420" y="3740613"/>
                <a:ext cx="1138680" cy="623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7B3D5028-3910-E8E7-DEE0-5586CE7A0680}"/>
                  </a:ext>
                </a:extLst>
              </p14:cNvPr>
              <p14:cNvContentPartPr/>
              <p14:nvPr/>
            </p14:nvContentPartPr>
            <p14:xfrm>
              <a:off x="4926090" y="4173483"/>
              <a:ext cx="360" cy="360"/>
            </p14:xfrm>
          </p:contentPart>
        </mc:Choice>
        <mc:Fallback xmlns="">
          <p:pic>
            <p:nvPicPr>
              <p:cNvPr id="10" name="Ink 9">
                <a:extLst>
                  <a:ext uri="{FF2B5EF4-FFF2-40B4-BE49-F238E27FC236}">
                    <a16:creationId xmlns:a16="http://schemas.microsoft.com/office/drawing/2014/main" id="{7B3D5028-3910-E8E7-DEE0-5586CE7A0680}"/>
                  </a:ext>
                </a:extLst>
              </p:cNvPr>
              <p:cNvPicPr/>
              <p:nvPr/>
            </p:nvPicPr>
            <p:blipFill>
              <a:blip r:embed="rId8"/>
              <a:stretch>
                <a:fillRect/>
              </a:stretch>
            </p:blipFill>
            <p:spPr>
              <a:xfrm>
                <a:off x="4863090" y="4110483"/>
                <a:ext cx="126000" cy="126000"/>
              </a:xfrm>
              <a:prstGeom prst="rect">
                <a:avLst/>
              </a:prstGeom>
            </p:spPr>
          </p:pic>
        </mc:Fallback>
      </mc:AlternateContent>
      <p:sp>
        <p:nvSpPr>
          <p:cNvPr id="11" name="TextBox 10">
            <a:extLst>
              <a:ext uri="{FF2B5EF4-FFF2-40B4-BE49-F238E27FC236}">
                <a16:creationId xmlns:a16="http://schemas.microsoft.com/office/drawing/2014/main" id="{490B9ADC-5B43-7D97-3BD1-CEB06F131558}"/>
              </a:ext>
            </a:extLst>
          </p:cNvPr>
          <p:cNvSpPr txBox="1"/>
          <p:nvPr/>
        </p:nvSpPr>
        <p:spPr>
          <a:xfrm>
            <a:off x="5809380" y="3867707"/>
            <a:ext cx="1300356" cy="369332"/>
          </a:xfrm>
          <a:prstGeom prst="rect">
            <a:avLst/>
          </a:prstGeom>
          <a:noFill/>
        </p:spPr>
        <p:txBody>
          <a:bodyPr wrap="none" rtlCol="0">
            <a:spAutoFit/>
          </a:bodyPr>
          <a:lstStyle/>
          <a:p>
            <a:r>
              <a:rPr lang="en-US" dirty="0"/>
              <a:t>Separation</a:t>
            </a:r>
          </a:p>
        </p:txBody>
      </p:sp>
      <p:sp>
        <p:nvSpPr>
          <p:cNvPr id="12" name="TextBox 11">
            <a:extLst>
              <a:ext uri="{FF2B5EF4-FFF2-40B4-BE49-F238E27FC236}">
                <a16:creationId xmlns:a16="http://schemas.microsoft.com/office/drawing/2014/main" id="{BAD94049-86B3-2256-7384-215B7DCEA8ED}"/>
              </a:ext>
            </a:extLst>
          </p:cNvPr>
          <p:cNvSpPr txBox="1"/>
          <p:nvPr/>
        </p:nvSpPr>
        <p:spPr>
          <a:xfrm>
            <a:off x="4232940" y="3936753"/>
            <a:ext cx="1646605" cy="369332"/>
          </a:xfrm>
          <a:prstGeom prst="rect">
            <a:avLst/>
          </a:prstGeom>
          <a:noFill/>
        </p:spPr>
        <p:txBody>
          <a:bodyPr wrap="none" rtlCol="0">
            <a:spAutoFit/>
          </a:bodyPr>
          <a:lstStyle/>
          <a:p>
            <a:r>
              <a:rPr lang="en-US" dirty="0"/>
              <a:t>Coanda Effect</a:t>
            </a:r>
          </a:p>
        </p:txBody>
      </p:sp>
      <p:cxnSp>
        <p:nvCxnSpPr>
          <p:cNvPr id="14" name="Straight Connector 13">
            <a:extLst>
              <a:ext uri="{FF2B5EF4-FFF2-40B4-BE49-F238E27FC236}">
                <a16:creationId xmlns:a16="http://schemas.microsoft.com/office/drawing/2014/main" id="{CCB12F5F-A5F7-EA18-D223-C2181C0A0DA1}"/>
              </a:ext>
            </a:extLst>
          </p:cNvPr>
          <p:cNvCxnSpPr>
            <a:cxnSpLocks/>
          </p:cNvCxnSpPr>
          <p:nvPr/>
        </p:nvCxnSpPr>
        <p:spPr>
          <a:xfrm>
            <a:off x="3851940" y="4597681"/>
            <a:ext cx="3810000" cy="119351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050BB5AC-F805-43E7-42C3-28FCE55AFB86}"/>
              </a:ext>
            </a:extLst>
          </p:cNvPr>
          <p:cNvCxnSpPr>
            <a:cxnSpLocks/>
          </p:cNvCxnSpPr>
          <p:nvPr/>
        </p:nvCxnSpPr>
        <p:spPr>
          <a:xfrm>
            <a:off x="3928140" y="5012073"/>
            <a:ext cx="1237800" cy="0"/>
          </a:xfrm>
          <a:prstGeom prst="line">
            <a:avLst/>
          </a:prstGeom>
          <a:ln w="19050"/>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2A9C12AF-71BC-D6C2-92CD-48AB4D2FFB7C}"/>
              </a:ext>
            </a:extLst>
          </p:cNvPr>
          <p:cNvSpPr txBox="1"/>
          <p:nvPr/>
        </p:nvSpPr>
        <p:spPr>
          <a:xfrm>
            <a:off x="3107477" y="4303537"/>
            <a:ext cx="813043" cy="369332"/>
          </a:xfrm>
          <a:prstGeom prst="rect">
            <a:avLst/>
          </a:prstGeom>
          <a:noFill/>
        </p:spPr>
        <p:txBody>
          <a:bodyPr wrap="none" rtlCol="0">
            <a:spAutoFit/>
          </a:bodyPr>
          <a:lstStyle/>
          <a:p>
            <a:r>
              <a:rPr lang="en-US" dirty="0"/>
              <a:t>Chord</a:t>
            </a:r>
          </a:p>
        </p:txBody>
      </p:sp>
      <p:sp>
        <p:nvSpPr>
          <p:cNvPr id="27" name="TextBox 26">
            <a:extLst>
              <a:ext uri="{FF2B5EF4-FFF2-40B4-BE49-F238E27FC236}">
                <a16:creationId xmlns:a16="http://schemas.microsoft.com/office/drawing/2014/main" id="{140713BC-F0E7-49CB-A3DF-4CFA1F58C802}"/>
              </a:ext>
            </a:extLst>
          </p:cNvPr>
          <p:cNvSpPr txBox="1"/>
          <p:nvPr/>
        </p:nvSpPr>
        <p:spPr>
          <a:xfrm>
            <a:off x="2743200" y="4825108"/>
            <a:ext cx="1184940" cy="369332"/>
          </a:xfrm>
          <a:prstGeom prst="rect">
            <a:avLst/>
          </a:prstGeom>
          <a:noFill/>
        </p:spPr>
        <p:txBody>
          <a:bodyPr wrap="none" rtlCol="0">
            <a:spAutoFit/>
          </a:bodyPr>
          <a:lstStyle/>
          <a:p>
            <a:r>
              <a:rPr lang="en-US" dirty="0"/>
              <a:t>Wind flow</a:t>
            </a:r>
          </a:p>
        </p:txBody>
      </p:sp>
      <p:sp>
        <p:nvSpPr>
          <p:cNvPr id="28" name="Arrow: Curved Right 27">
            <a:extLst>
              <a:ext uri="{FF2B5EF4-FFF2-40B4-BE49-F238E27FC236}">
                <a16:creationId xmlns:a16="http://schemas.microsoft.com/office/drawing/2014/main" id="{12E6344A-DFF8-E4B4-9A67-3298D512B8A5}"/>
              </a:ext>
            </a:extLst>
          </p:cNvPr>
          <p:cNvSpPr/>
          <p:nvPr/>
        </p:nvSpPr>
        <p:spPr>
          <a:xfrm>
            <a:off x="4278660" y="4788881"/>
            <a:ext cx="76200" cy="209584"/>
          </a:xfrm>
          <a:prstGeom prst="curv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710F7FAB-247D-DE48-DF3C-A6636BA78013}"/>
              </a:ext>
            </a:extLst>
          </p:cNvPr>
          <p:cNvSpPr txBox="1"/>
          <p:nvPr/>
        </p:nvSpPr>
        <p:spPr>
          <a:xfrm>
            <a:off x="3836700" y="4665361"/>
            <a:ext cx="534121"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5315317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11E28-A9C8-A8F6-7FBE-ED0149146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7673B-E78F-E1E2-31F5-E310A48BC5F4}"/>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3F98ACCF-3BA3-0D82-9DC3-8108A749B407}"/>
              </a:ext>
            </a:extLst>
          </p:cNvPr>
          <p:cNvSpPr txBox="1"/>
          <p:nvPr/>
        </p:nvSpPr>
        <p:spPr>
          <a:xfrm>
            <a:off x="304800" y="1524000"/>
            <a:ext cx="11582400" cy="1754326"/>
          </a:xfrm>
          <a:prstGeom prst="rect">
            <a:avLst/>
          </a:prstGeom>
          <a:noFill/>
        </p:spPr>
        <p:txBody>
          <a:bodyPr wrap="square" rtlCol="0">
            <a:spAutoFit/>
          </a:bodyPr>
          <a:lstStyle/>
          <a:p>
            <a:pPr marL="400050" indent="-400050" algn="l">
              <a:buFont typeface="+mj-lt"/>
              <a:buAutoNum type="romanUcPeriod"/>
            </a:pPr>
            <a:r>
              <a:rPr lang="en-US" b="1" u="sng" dirty="0"/>
              <a:t>Drag in Teardrop Shape</a:t>
            </a:r>
            <a:r>
              <a:rPr lang="en-US" b="1" dirty="0"/>
              <a:t>: </a:t>
            </a:r>
            <a:r>
              <a:rPr lang="en-US" b="1" u="sng" dirty="0"/>
              <a:t>Parasite Drag </a:t>
            </a:r>
          </a:p>
          <a:p>
            <a:pPr algn="l"/>
            <a:endParaRPr lang="en-US" b="1" dirty="0"/>
          </a:p>
          <a:p>
            <a:pPr marL="342900" indent="-342900" algn="l">
              <a:buAutoNum type="arabicPeriod" startAt="2"/>
            </a:pPr>
            <a:r>
              <a:rPr lang="en-US" b="1" dirty="0"/>
              <a:t>Skin Friction: </a:t>
            </a:r>
            <a:r>
              <a:rPr lang="en-US" dirty="0"/>
              <a:t>Produced by the </a:t>
            </a:r>
            <a:r>
              <a:rPr lang="en-US" b="1" dirty="0"/>
              <a:t>air molecules rubbing against the surface</a:t>
            </a:r>
            <a:r>
              <a:rPr lang="en-US" dirty="0"/>
              <a:t> of the aircraft.</a:t>
            </a:r>
          </a:p>
          <a:p>
            <a:pPr algn="l"/>
            <a:r>
              <a:rPr lang="en-US" dirty="0"/>
              <a:t>                                     </a:t>
            </a:r>
          </a:p>
          <a:p>
            <a:pPr algn="ctr"/>
            <a:endParaRPr lang="en-US" b="1" dirty="0"/>
          </a:p>
          <a:p>
            <a:pPr algn="ctr"/>
            <a:r>
              <a:rPr lang="en-US" b="1" dirty="0"/>
              <a:t>Smoother the Surface = Lesser the Skin Friction Drag</a:t>
            </a:r>
          </a:p>
        </p:txBody>
      </p:sp>
      <p:pic>
        <p:nvPicPr>
          <p:cNvPr id="7" name="Picture 6">
            <a:extLst>
              <a:ext uri="{FF2B5EF4-FFF2-40B4-BE49-F238E27FC236}">
                <a16:creationId xmlns:a16="http://schemas.microsoft.com/office/drawing/2014/main" id="{A2654DB2-7A22-B145-86F7-9BC4011D8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3484841"/>
            <a:ext cx="2971800" cy="2860358"/>
          </a:xfrm>
          <a:prstGeom prst="rect">
            <a:avLst/>
          </a:prstGeom>
        </p:spPr>
      </p:pic>
    </p:spTree>
    <p:extLst>
      <p:ext uri="{BB962C8B-B14F-4D97-AF65-F5344CB8AC3E}">
        <p14:creationId xmlns:p14="http://schemas.microsoft.com/office/powerpoint/2010/main" val="1495514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42EBD-6FD1-9B23-36A3-85FC88C51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FF74F-D942-A6FC-BD3A-C89B283DC130}"/>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D0A256DE-6EFA-E846-9985-3C0CA1269CA1}"/>
              </a:ext>
            </a:extLst>
          </p:cNvPr>
          <p:cNvSpPr txBox="1"/>
          <p:nvPr/>
        </p:nvSpPr>
        <p:spPr>
          <a:xfrm>
            <a:off x="304800" y="1524000"/>
            <a:ext cx="11582400" cy="1477328"/>
          </a:xfrm>
          <a:prstGeom prst="rect">
            <a:avLst/>
          </a:prstGeom>
          <a:noFill/>
        </p:spPr>
        <p:txBody>
          <a:bodyPr wrap="square" rtlCol="0">
            <a:spAutoFit/>
          </a:bodyPr>
          <a:lstStyle/>
          <a:p>
            <a:pPr marL="400050" indent="-400050" algn="l">
              <a:buFont typeface="+mj-lt"/>
              <a:buAutoNum type="romanUcPeriod"/>
            </a:pPr>
            <a:r>
              <a:rPr lang="en-US" b="1" u="sng" dirty="0"/>
              <a:t>Drag in Teardrop Shape</a:t>
            </a:r>
            <a:r>
              <a:rPr lang="en-US" b="1" dirty="0"/>
              <a:t>: </a:t>
            </a:r>
            <a:r>
              <a:rPr lang="en-US" b="1" u="sng" dirty="0"/>
              <a:t>Parasite Drag </a:t>
            </a:r>
          </a:p>
          <a:p>
            <a:pPr algn="l"/>
            <a:endParaRPr lang="en-US" b="1" u="sng" dirty="0"/>
          </a:p>
          <a:p>
            <a:pPr algn="l"/>
            <a:r>
              <a:rPr lang="en-US" b="1" dirty="0"/>
              <a:t>3.   Interference Drag: </a:t>
            </a:r>
            <a:r>
              <a:rPr lang="en-US" dirty="0"/>
              <a:t>Interference drag is an aerodynamic force that occurs when the airflows around two or more adjacent aircraft components, such as the wing and fuselage, interact and disrupt each other, creating turbulence and localized high-pressure areas that increase the total drag on the aircraft</a:t>
            </a:r>
          </a:p>
        </p:txBody>
      </p:sp>
      <p:pic>
        <p:nvPicPr>
          <p:cNvPr id="8" name="Picture 7">
            <a:extLst>
              <a:ext uri="{FF2B5EF4-FFF2-40B4-BE49-F238E27FC236}">
                <a16:creationId xmlns:a16="http://schemas.microsoft.com/office/drawing/2014/main" id="{159C47D1-EFBF-F2A6-C990-1F4C221C93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920" y="3725228"/>
            <a:ext cx="5669280" cy="2362200"/>
          </a:xfrm>
          <a:prstGeom prst="rect">
            <a:avLst/>
          </a:prstGeom>
        </p:spPr>
      </p:pic>
      <p:pic>
        <p:nvPicPr>
          <p:cNvPr id="10" name="Picture 9">
            <a:extLst>
              <a:ext uri="{FF2B5EF4-FFF2-40B4-BE49-F238E27FC236}">
                <a16:creationId xmlns:a16="http://schemas.microsoft.com/office/drawing/2014/main" id="{EB4F10F6-E036-ED04-8987-7B003BA6E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3842563"/>
            <a:ext cx="5410200" cy="2405837"/>
          </a:xfrm>
          <a:prstGeom prst="rect">
            <a:avLst/>
          </a:prstGeom>
        </p:spPr>
      </p:pic>
    </p:spTree>
    <p:extLst>
      <p:ext uri="{BB962C8B-B14F-4D97-AF65-F5344CB8AC3E}">
        <p14:creationId xmlns:p14="http://schemas.microsoft.com/office/powerpoint/2010/main" val="37322292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D122-B4AA-5CC5-D999-7174F918A3AC}"/>
              </a:ext>
            </a:extLst>
          </p:cNvPr>
          <p:cNvSpPr>
            <a:spLocks noGrp="1"/>
          </p:cNvSpPr>
          <p:nvPr>
            <p:ph type="title"/>
          </p:nvPr>
        </p:nvSpPr>
        <p:spPr>
          <a:xfrm>
            <a:off x="152400" y="609600"/>
            <a:ext cx="9343567" cy="430887"/>
          </a:xfrm>
        </p:spPr>
        <p:txBody>
          <a:bodyPr/>
          <a:lstStyle/>
          <a:p>
            <a:r>
              <a:rPr lang="en-IN" dirty="0"/>
              <a:t>Aerodynamics: Critical Analysis of Teardrop </a:t>
            </a:r>
            <a:r>
              <a:rPr lang="en-IN" sz="2400" b="0" dirty="0"/>
              <a:t>(Contd.)</a:t>
            </a:r>
            <a:endParaRPr lang="en-US" dirty="0"/>
          </a:p>
        </p:txBody>
      </p:sp>
      <p:pic>
        <p:nvPicPr>
          <p:cNvPr id="6" name="Online Media 5" title="Understanding Interference Drag | Simply Explained">
            <a:hlinkClick r:id="" action="ppaction://media"/>
            <a:extLst>
              <a:ext uri="{FF2B5EF4-FFF2-40B4-BE49-F238E27FC236}">
                <a16:creationId xmlns:a16="http://schemas.microsoft.com/office/drawing/2014/main" id="{E61432BE-E27D-BB7C-3EF9-25FD00EE26CF}"/>
              </a:ext>
            </a:extLst>
          </p:cNvPr>
          <p:cNvPicPr>
            <a:picLocks noRot="1" noChangeAspect="1"/>
          </p:cNvPicPr>
          <p:nvPr>
            <a:videoFile r:link="rId1"/>
          </p:nvPr>
        </p:nvPicPr>
        <p:blipFill>
          <a:blip r:embed="rId3"/>
          <a:stretch>
            <a:fillRect/>
          </a:stretch>
        </p:blipFill>
        <p:spPr>
          <a:xfrm>
            <a:off x="1649412" y="1447800"/>
            <a:ext cx="8893175" cy="5020716"/>
          </a:xfrm>
          <a:prstGeom prst="rect">
            <a:avLst/>
          </a:prstGeom>
        </p:spPr>
      </p:pic>
    </p:spTree>
    <p:extLst>
      <p:ext uri="{BB962C8B-B14F-4D97-AF65-F5344CB8AC3E}">
        <p14:creationId xmlns:p14="http://schemas.microsoft.com/office/powerpoint/2010/main" val="231673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635A6-856F-49D9-BB46-B3FD0E1D2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73835-0FD3-4EED-C187-6ADF1D0AC6E5}"/>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BB67A01B-92F0-A30B-5F03-45B197CD38FA}"/>
              </a:ext>
            </a:extLst>
          </p:cNvPr>
          <p:cNvSpPr txBox="1"/>
          <p:nvPr/>
        </p:nvSpPr>
        <p:spPr>
          <a:xfrm>
            <a:off x="304800" y="1524000"/>
            <a:ext cx="11582400" cy="1477328"/>
          </a:xfrm>
          <a:prstGeom prst="rect">
            <a:avLst/>
          </a:prstGeom>
          <a:noFill/>
        </p:spPr>
        <p:txBody>
          <a:bodyPr wrap="square" rtlCol="0">
            <a:spAutoFit/>
          </a:bodyPr>
          <a:lstStyle/>
          <a:p>
            <a:pPr marL="400050" indent="-400050" algn="l">
              <a:buFont typeface="+mj-lt"/>
              <a:buAutoNum type="romanUcPeriod"/>
            </a:pPr>
            <a:r>
              <a:rPr lang="en-US" b="1" u="sng" dirty="0"/>
              <a:t>Drag in Teardrop Shape</a:t>
            </a:r>
            <a:r>
              <a:rPr lang="en-US" b="1" dirty="0"/>
              <a:t>: </a:t>
            </a:r>
            <a:r>
              <a:rPr lang="en-US" b="1" u="sng" dirty="0"/>
              <a:t>Parasite Drag </a:t>
            </a:r>
          </a:p>
          <a:p>
            <a:pPr algn="l"/>
            <a:endParaRPr lang="en-US" b="1" u="sng" dirty="0"/>
          </a:p>
          <a:p>
            <a:pPr algn="l"/>
            <a:r>
              <a:rPr lang="en-US" b="1" dirty="0"/>
              <a:t>3.   </a:t>
            </a:r>
            <a:r>
              <a:rPr lang="en-US" b="1" u="sng" dirty="0"/>
              <a:t>Interference Drag: </a:t>
            </a:r>
            <a:r>
              <a:rPr lang="en-US" dirty="0"/>
              <a:t>This is a comparison between an </a:t>
            </a:r>
            <a:r>
              <a:rPr lang="en-US" b="1" dirty="0"/>
              <a:t>Airliner</a:t>
            </a:r>
            <a:r>
              <a:rPr lang="en-US" dirty="0"/>
              <a:t> (Airbus A310) and a </a:t>
            </a:r>
            <a:r>
              <a:rPr lang="en-US" b="1" dirty="0"/>
              <a:t>Stealth Bomber</a:t>
            </a:r>
            <a:r>
              <a:rPr lang="en-US" dirty="0"/>
              <a:t> (B2-Spirt) and the </a:t>
            </a:r>
            <a:r>
              <a:rPr lang="en-US" b="1" dirty="0"/>
              <a:t>Bomber</a:t>
            </a:r>
            <a:r>
              <a:rPr lang="en-US" dirty="0"/>
              <a:t> is much more </a:t>
            </a:r>
            <a:r>
              <a:rPr lang="en-US" b="1" dirty="0"/>
              <a:t>streamlined</a:t>
            </a:r>
            <a:r>
              <a:rPr lang="en-US" dirty="0"/>
              <a:t> as compared to the Airliner. The Airliner has </a:t>
            </a:r>
            <a:r>
              <a:rPr lang="en-US" b="1" dirty="0"/>
              <a:t>more interference drag. </a:t>
            </a:r>
          </a:p>
        </p:txBody>
      </p:sp>
      <p:pic>
        <p:nvPicPr>
          <p:cNvPr id="7" name="Picture 6">
            <a:extLst>
              <a:ext uri="{FF2B5EF4-FFF2-40B4-BE49-F238E27FC236}">
                <a16:creationId xmlns:a16="http://schemas.microsoft.com/office/drawing/2014/main" id="{E850A175-CC63-F711-0DCE-8415B887DE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2763" y="3200400"/>
            <a:ext cx="5342499" cy="2937892"/>
          </a:xfrm>
          <a:prstGeom prst="rect">
            <a:avLst/>
          </a:prstGeom>
        </p:spPr>
      </p:pic>
      <p:pic>
        <p:nvPicPr>
          <p:cNvPr id="11" name="Picture 10">
            <a:extLst>
              <a:ext uri="{FF2B5EF4-FFF2-40B4-BE49-F238E27FC236}">
                <a16:creationId xmlns:a16="http://schemas.microsoft.com/office/drawing/2014/main" id="{A422991E-3BCF-F380-6DD9-F1E80BE3D4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760" y="3001328"/>
            <a:ext cx="5029200" cy="3377273"/>
          </a:xfrm>
          <a:prstGeom prst="rect">
            <a:avLst/>
          </a:prstGeom>
        </p:spPr>
      </p:pic>
      <p:sp>
        <p:nvSpPr>
          <p:cNvPr id="12" name="TextBox 11">
            <a:extLst>
              <a:ext uri="{FF2B5EF4-FFF2-40B4-BE49-F238E27FC236}">
                <a16:creationId xmlns:a16="http://schemas.microsoft.com/office/drawing/2014/main" id="{9A042090-7FD2-F7DB-4FB2-A0848E3A27AF}"/>
              </a:ext>
            </a:extLst>
          </p:cNvPr>
          <p:cNvSpPr txBox="1"/>
          <p:nvPr/>
        </p:nvSpPr>
        <p:spPr>
          <a:xfrm>
            <a:off x="5987699" y="4207681"/>
            <a:ext cx="588623" cy="923330"/>
          </a:xfrm>
          <a:prstGeom prst="rect">
            <a:avLst/>
          </a:prstGeom>
          <a:noFill/>
        </p:spPr>
        <p:txBody>
          <a:bodyPr wrap="none" rtlCol="0">
            <a:spAutoFit/>
          </a:bodyPr>
          <a:lstStyle/>
          <a:p>
            <a:r>
              <a:rPr lang="en-US" sz="5400" b="1" dirty="0"/>
              <a:t>&gt;</a:t>
            </a:r>
          </a:p>
        </p:txBody>
      </p:sp>
    </p:spTree>
    <p:extLst>
      <p:ext uri="{BB962C8B-B14F-4D97-AF65-F5344CB8AC3E}">
        <p14:creationId xmlns:p14="http://schemas.microsoft.com/office/powerpoint/2010/main" val="37580468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EF175-D34D-7146-A213-57E960971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D5979-5BD5-1D4B-06E1-D96F58F6E574}"/>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A752883-89EC-6A2D-C750-90BA00FAF3CC}"/>
                  </a:ext>
                </a:extLst>
              </p:cNvPr>
              <p:cNvSpPr txBox="1"/>
              <p:nvPr/>
            </p:nvSpPr>
            <p:spPr>
              <a:xfrm>
                <a:off x="304800" y="1524000"/>
                <a:ext cx="11582400" cy="1502206"/>
              </a:xfrm>
              <a:prstGeom prst="rect">
                <a:avLst/>
              </a:prstGeom>
              <a:noFill/>
            </p:spPr>
            <p:txBody>
              <a:bodyPr wrap="square" rtlCol="0">
                <a:spAutoFit/>
              </a:bodyPr>
              <a:lstStyle/>
              <a:p>
                <a:pPr marL="400050" indent="-400050" algn="l">
                  <a:buAutoNum type="romanUcPeriod" startAt="2"/>
                </a:pPr>
                <a:r>
                  <a:rPr lang="en-US" b="1" u="sng" dirty="0"/>
                  <a:t>Drag in Teardrop Shape:</a:t>
                </a:r>
                <a:r>
                  <a:rPr lang="en-US" dirty="0"/>
                  <a:t> </a:t>
                </a:r>
                <a:r>
                  <a:rPr lang="en-US" b="1" u="sng" dirty="0"/>
                  <a:t>Induced Drag:</a:t>
                </a:r>
                <a:r>
                  <a:rPr lang="en-US" b="1" dirty="0"/>
                  <a:t> (Due to Lift)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sSub>
                          <m:sSubPr>
                            <m:ctrlPr>
                              <a:rPr lang="en-US" b="1" i="1" smtClean="0">
                                <a:latin typeface="Cambria Math" panose="02040503050406030204" pitchFamily="18" charset="0"/>
                              </a:rPr>
                            </m:ctrlPr>
                          </m:sSubPr>
                          <m:e>
                            <m:r>
                              <a:rPr lang="en-US" b="1" i="1" smtClean="0">
                                <a:latin typeface="Cambria Math" panose="02040503050406030204" pitchFamily="18" charset="0"/>
                              </a:rPr>
                              <m:t>𝑫</m:t>
                            </m:r>
                          </m:e>
                          <m:sub>
                            <m:r>
                              <a:rPr lang="en-US" b="1" i="1" smtClean="0">
                                <a:latin typeface="Cambria Math" panose="02040503050406030204" pitchFamily="18" charset="0"/>
                              </a:rPr>
                              <m:t>𝒊</m:t>
                            </m:r>
                          </m:sub>
                        </m:sSub>
                      </m:sub>
                    </m:sSub>
                  </m:oMath>
                </a14:m>
                <a:r>
                  <a:rPr lang="en-US" b="1" dirty="0"/>
                  <a:t>) </a:t>
                </a:r>
                <a:r>
                  <a:rPr lang="en-US" dirty="0"/>
                  <a:t>When a wing generates lift, air pressure is higher beneath the wing and lower above it. Across most of the wing, these regions stay separated, but at the wingtips the high-pressure air curls around into the low-pressure region, creating wingtip vortices. These vortices deflect the airflow downward (downwash), which tilts the lift vector slightly backward. The rearward component of this tilted lift is called </a:t>
                </a:r>
                <a:r>
                  <a:rPr lang="en-US" b="1" dirty="0"/>
                  <a:t>induced drag</a:t>
                </a:r>
                <a:r>
                  <a:rPr lang="en-US" dirty="0"/>
                  <a:t>, and it is strongest at high angles of attack or low speeds.</a:t>
                </a:r>
                <a:endParaRPr lang="en-US" b="1" u="sng" dirty="0"/>
              </a:p>
            </p:txBody>
          </p:sp>
        </mc:Choice>
        <mc:Fallback xmlns="">
          <p:sp>
            <p:nvSpPr>
              <p:cNvPr id="3" name="TextBox 2">
                <a:extLst>
                  <a:ext uri="{FF2B5EF4-FFF2-40B4-BE49-F238E27FC236}">
                    <a16:creationId xmlns:a16="http://schemas.microsoft.com/office/drawing/2014/main" id="{7A752883-89EC-6A2D-C750-90BA00FAF3CC}"/>
                  </a:ext>
                </a:extLst>
              </p:cNvPr>
              <p:cNvSpPr txBox="1">
                <a:spLocks noRot="1" noChangeAspect="1" noMove="1" noResize="1" noEditPoints="1" noAdjustHandles="1" noChangeArrowheads="1" noChangeShapeType="1" noTextEdit="1"/>
              </p:cNvSpPr>
              <p:nvPr/>
            </p:nvSpPr>
            <p:spPr>
              <a:xfrm>
                <a:off x="304800" y="1524000"/>
                <a:ext cx="11582400" cy="1502206"/>
              </a:xfrm>
              <a:prstGeom prst="rect">
                <a:avLst/>
              </a:prstGeom>
              <a:blipFill>
                <a:blip r:embed="rId2"/>
                <a:stretch>
                  <a:fillRect l="-316" t="-2033" r="-105" b="-609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6D52733F-861A-9E04-E81B-1AC38CFF2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3429000"/>
            <a:ext cx="5181600" cy="2966884"/>
          </a:xfrm>
          <a:prstGeom prst="rect">
            <a:avLst/>
          </a:prstGeom>
        </p:spPr>
      </p:pic>
    </p:spTree>
    <p:extLst>
      <p:ext uri="{BB962C8B-B14F-4D97-AF65-F5344CB8AC3E}">
        <p14:creationId xmlns:p14="http://schemas.microsoft.com/office/powerpoint/2010/main" val="33583937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39A92-A5BD-7215-AA6B-CD49A377F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FAC72-7E72-071E-DC40-EEF6028C2729}"/>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71E36F4-7A35-F75F-9D3D-ADEEED7B4D7C}"/>
                  </a:ext>
                </a:extLst>
              </p:cNvPr>
              <p:cNvSpPr txBox="1"/>
              <p:nvPr/>
            </p:nvSpPr>
            <p:spPr>
              <a:xfrm>
                <a:off x="304800" y="1524000"/>
                <a:ext cx="11582400" cy="2083391"/>
              </a:xfrm>
              <a:prstGeom prst="rect">
                <a:avLst/>
              </a:prstGeom>
              <a:noFill/>
            </p:spPr>
            <p:txBody>
              <a:bodyPr wrap="square" rtlCol="0">
                <a:spAutoFit/>
              </a:bodyPr>
              <a:lstStyle/>
              <a:p>
                <a:pPr marL="400050" indent="-400050" algn="l">
                  <a:buAutoNum type="romanUcPeriod" startAt="2"/>
                </a:pPr>
                <a:r>
                  <a:rPr lang="en-US" b="1" u="sng" dirty="0"/>
                  <a:t>Drag in Teardrop Shape:</a:t>
                </a:r>
                <a:r>
                  <a:rPr lang="en-US" dirty="0"/>
                  <a:t> </a:t>
                </a:r>
                <a:r>
                  <a:rPr lang="en-US" b="1" u="sng" dirty="0"/>
                  <a:t>Induced Drag:</a:t>
                </a:r>
                <a:r>
                  <a:rPr lang="en-US" b="1" dirty="0"/>
                  <a:t> (Due to Lift)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sSub>
                          <m:sSubPr>
                            <m:ctrlPr>
                              <a:rPr lang="en-US" b="1" i="1" smtClean="0">
                                <a:latin typeface="Cambria Math" panose="02040503050406030204" pitchFamily="18" charset="0"/>
                              </a:rPr>
                            </m:ctrlPr>
                          </m:sSubPr>
                          <m:e>
                            <m:r>
                              <a:rPr lang="en-US" b="1" i="1" smtClean="0">
                                <a:latin typeface="Cambria Math" panose="02040503050406030204" pitchFamily="18" charset="0"/>
                              </a:rPr>
                              <m:t>𝑫</m:t>
                            </m:r>
                          </m:e>
                          <m:sub>
                            <m:r>
                              <a:rPr lang="en-US" b="1" i="1" smtClean="0">
                                <a:latin typeface="Cambria Math" panose="02040503050406030204" pitchFamily="18" charset="0"/>
                              </a:rPr>
                              <m:t>𝒊</m:t>
                            </m:r>
                          </m:sub>
                        </m:sSub>
                      </m:sub>
                    </m:sSub>
                  </m:oMath>
                </a14:m>
                <a:r>
                  <a:rPr lang="en-US" b="1" dirty="0"/>
                  <a:t>) </a:t>
                </a:r>
                <a:r>
                  <a:rPr lang="en-US" dirty="0"/>
                  <a:t>This has a great effect, as seen by the mathematical formula,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sub>
                    </m:sSub>
                  </m:oMath>
                </a14:m>
                <a:r>
                  <a:rPr lang="en-US" dirty="0"/>
                  <a:t> has a huge role in drag. </a:t>
                </a:r>
                <a:r>
                  <a:rPr lang="en-US" b="1" dirty="0"/>
                  <a:t>Solution?</a:t>
                </a:r>
                <a:br>
                  <a:rPr lang="en-US" dirty="0"/>
                </a:br>
                <a:br>
                  <a:rPr lang="en-US" dirty="0"/>
                </a:br>
                <a:r>
                  <a:rPr lang="en-US" b="1" dirty="0"/>
                  <a:t>Winglets! </a:t>
                </a:r>
                <a:r>
                  <a:rPr lang="en-US" dirty="0"/>
                  <a:t>The peaks/sheet that we see at the end of the plane’s wing is to reduce the drag produced by the vortices at the wingtips. However, these are not a good idea for applications like Military drones as these winglets can reflect back the signals from enemy radars and give away the position of the aircraft, hence losing all the stealth capabilities. </a:t>
                </a:r>
                <a:endParaRPr lang="en-US" b="1" u="sng" dirty="0"/>
              </a:p>
            </p:txBody>
          </p:sp>
        </mc:Choice>
        <mc:Fallback xmlns="">
          <p:sp>
            <p:nvSpPr>
              <p:cNvPr id="3" name="TextBox 2">
                <a:extLst>
                  <a:ext uri="{FF2B5EF4-FFF2-40B4-BE49-F238E27FC236}">
                    <a16:creationId xmlns:a16="http://schemas.microsoft.com/office/drawing/2014/main" id="{571E36F4-7A35-F75F-9D3D-ADEEED7B4D7C}"/>
                  </a:ext>
                </a:extLst>
              </p:cNvPr>
              <p:cNvSpPr txBox="1">
                <a:spLocks noRot="1" noChangeAspect="1" noMove="1" noResize="1" noEditPoints="1" noAdjustHandles="1" noChangeArrowheads="1" noChangeShapeType="1" noTextEdit="1"/>
              </p:cNvSpPr>
              <p:nvPr/>
            </p:nvSpPr>
            <p:spPr>
              <a:xfrm>
                <a:off x="304800" y="1524000"/>
                <a:ext cx="11582400" cy="2083391"/>
              </a:xfrm>
              <a:prstGeom prst="rect">
                <a:avLst/>
              </a:prstGeom>
              <a:blipFill>
                <a:blip r:embed="rId2"/>
                <a:stretch>
                  <a:fillRect l="-316" t="-1462" r="-105" b="-380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EB946C7-1476-FEDD-55B2-B54D94AB3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1900" y="3657600"/>
            <a:ext cx="4648200" cy="2760276"/>
          </a:xfrm>
          <a:prstGeom prst="rect">
            <a:avLst/>
          </a:prstGeom>
        </p:spPr>
      </p:pic>
    </p:spTree>
    <p:extLst>
      <p:ext uri="{BB962C8B-B14F-4D97-AF65-F5344CB8AC3E}">
        <p14:creationId xmlns:p14="http://schemas.microsoft.com/office/powerpoint/2010/main" val="40626501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D122-B4AA-5CC5-D999-7174F918A3AC}"/>
              </a:ext>
            </a:extLst>
          </p:cNvPr>
          <p:cNvSpPr>
            <a:spLocks noGrp="1"/>
          </p:cNvSpPr>
          <p:nvPr>
            <p:ph type="title"/>
          </p:nvPr>
        </p:nvSpPr>
        <p:spPr>
          <a:xfrm>
            <a:off x="457200" y="609600"/>
            <a:ext cx="9343567" cy="430887"/>
          </a:xfrm>
        </p:spPr>
        <p:txBody>
          <a:bodyPr/>
          <a:lstStyle/>
          <a:p>
            <a:r>
              <a:rPr lang="en-IN" dirty="0"/>
              <a:t>Aerodynamics: Critical Analysis of Teardrop </a:t>
            </a:r>
            <a:r>
              <a:rPr lang="en-IN" sz="2400" b="0" dirty="0"/>
              <a:t>(Contd.)</a:t>
            </a:r>
            <a:endParaRPr lang="en-US" dirty="0"/>
          </a:p>
        </p:txBody>
      </p:sp>
      <p:pic>
        <p:nvPicPr>
          <p:cNvPr id="3" name="Online Media 2" title="Wingtip Vortices">
            <a:hlinkClick r:id="" action="ppaction://media"/>
            <a:extLst>
              <a:ext uri="{FF2B5EF4-FFF2-40B4-BE49-F238E27FC236}">
                <a16:creationId xmlns:a16="http://schemas.microsoft.com/office/drawing/2014/main" id="{97728B05-8353-75A5-293A-1B19B7DA66E4}"/>
              </a:ext>
            </a:extLst>
          </p:cNvPr>
          <p:cNvPicPr>
            <a:picLocks noRot="1" noChangeAspect="1"/>
          </p:cNvPicPr>
          <p:nvPr>
            <a:videoFile r:link="rId1"/>
          </p:nvPr>
        </p:nvPicPr>
        <p:blipFill>
          <a:blip r:embed="rId3"/>
          <a:stretch>
            <a:fillRect/>
          </a:stretch>
        </p:blipFill>
        <p:spPr>
          <a:xfrm>
            <a:off x="1755378" y="1600200"/>
            <a:ext cx="8681244" cy="4901068"/>
          </a:xfrm>
          <a:prstGeom prst="rect">
            <a:avLst/>
          </a:prstGeom>
        </p:spPr>
      </p:pic>
    </p:spTree>
    <p:extLst>
      <p:ext uri="{BB962C8B-B14F-4D97-AF65-F5344CB8AC3E}">
        <p14:creationId xmlns:p14="http://schemas.microsoft.com/office/powerpoint/2010/main" val="144966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E74BA-6387-156F-CE88-BC3ACACF8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99110-F94D-C317-41F4-DFB6F0DFD874}"/>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81685B83-FF80-EA38-ED70-FFC3FEC9F5E9}"/>
              </a:ext>
            </a:extLst>
          </p:cNvPr>
          <p:cNvSpPr txBox="1"/>
          <p:nvPr/>
        </p:nvSpPr>
        <p:spPr>
          <a:xfrm>
            <a:off x="304800" y="1524000"/>
            <a:ext cx="11582400" cy="1754326"/>
          </a:xfrm>
          <a:prstGeom prst="rect">
            <a:avLst/>
          </a:prstGeom>
          <a:noFill/>
        </p:spPr>
        <p:txBody>
          <a:bodyPr wrap="square" rtlCol="0">
            <a:spAutoFit/>
          </a:bodyPr>
          <a:lstStyle/>
          <a:p>
            <a:r>
              <a:rPr lang="en-US" b="1" dirty="0"/>
              <a:t>III.  </a:t>
            </a:r>
            <a:r>
              <a:rPr lang="en-US" b="1" u="sng" dirty="0"/>
              <a:t>Drag in Teardrop Shape:</a:t>
            </a:r>
            <a:r>
              <a:rPr lang="en-US" dirty="0"/>
              <a:t> </a:t>
            </a:r>
            <a:r>
              <a:rPr lang="en-US" b="1" u="sng" dirty="0"/>
              <a:t>Wave Drag:</a:t>
            </a:r>
            <a:r>
              <a:rPr lang="en-US" b="1" dirty="0"/>
              <a:t> (Due to High Speeds) </a:t>
            </a:r>
            <a:r>
              <a:rPr lang="en-US" dirty="0"/>
              <a:t>When an aircraft approaches the speed of sound, the airflow over different parts of the wing and body does not all move at the same speed. Some parts accelerate faster and can reach </a:t>
            </a:r>
            <a:r>
              <a:rPr lang="en-US" b="1" dirty="0"/>
              <a:t>supersonic speeds even before the aircraft itself is supersonic</a:t>
            </a:r>
            <a:r>
              <a:rPr lang="en-US" dirty="0"/>
              <a:t>. This creates </a:t>
            </a:r>
            <a:r>
              <a:rPr lang="en-US" b="1" dirty="0"/>
              <a:t>shock waves-</a:t>
            </a:r>
            <a:r>
              <a:rPr lang="en-US" dirty="0"/>
              <a:t> thin regions where pressure and density of the air change suddenly.</a:t>
            </a:r>
          </a:p>
          <a:p>
            <a:pPr algn="ctr"/>
            <a:endParaRPr lang="en-US" b="1" u="sng" dirty="0"/>
          </a:p>
          <a:p>
            <a:pPr algn="l"/>
            <a:r>
              <a:rPr lang="en-US" b="1" dirty="0"/>
              <a:t>Gradual increase in Cross-Section Area (all sides of the plane) = Lesser Shockwaves at Higher Speeds</a:t>
            </a:r>
          </a:p>
        </p:txBody>
      </p:sp>
      <p:pic>
        <p:nvPicPr>
          <p:cNvPr id="6" name="Picture 5">
            <a:extLst>
              <a:ext uri="{FF2B5EF4-FFF2-40B4-BE49-F238E27FC236}">
                <a16:creationId xmlns:a16="http://schemas.microsoft.com/office/drawing/2014/main" id="{B47AA07A-EC6E-5D4F-7242-472DB9AF5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3400" y="3432773"/>
            <a:ext cx="3733800" cy="3013575"/>
          </a:xfrm>
          <a:prstGeom prst="rect">
            <a:avLst/>
          </a:prstGeom>
        </p:spPr>
      </p:pic>
      <p:sp>
        <p:nvSpPr>
          <p:cNvPr id="7" name="TextBox 6">
            <a:extLst>
              <a:ext uri="{FF2B5EF4-FFF2-40B4-BE49-F238E27FC236}">
                <a16:creationId xmlns:a16="http://schemas.microsoft.com/office/drawing/2014/main" id="{E6A1BB5F-D61C-4D81-AA73-8B0B61133E49}"/>
              </a:ext>
            </a:extLst>
          </p:cNvPr>
          <p:cNvSpPr txBox="1"/>
          <p:nvPr/>
        </p:nvSpPr>
        <p:spPr>
          <a:xfrm>
            <a:off x="304800" y="3042744"/>
            <a:ext cx="7086600" cy="3139321"/>
          </a:xfrm>
          <a:prstGeom prst="rect">
            <a:avLst/>
          </a:prstGeom>
          <a:noFill/>
        </p:spPr>
        <p:txBody>
          <a:bodyPr wrap="square" rtlCol="0">
            <a:spAutoFit/>
          </a:bodyPr>
          <a:lstStyle/>
          <a:p>
            <a:endParaRPr lang="en-US" dirty="0"/>
          </a:p>
          <a:p>
            <a:endParaRPr lang="en-US" dirty="0"/>
          </a:p>
          <a:p>
            <a:r>
              <a:rPr lang="en-US" dirty="0"/>
              <a:t>These shock waves disrupt the smooth airflow, causing energy losses and increasing resistance. This extra resistance is called </a:t>
            </a:r>
            <a:r>
              <a:rPr lang="en-US" b="1" dirty="0"/>
              <a:t>wave drag</a:t>
            </a:r>
            <a:r>
              <a:rPr lang="en-US" dirty="0"/>
              <a:t>. It becomes noticeable in the </a:t>
            </a:r>
            <a:r>
              <a:rPr lang="en-US" b="1" dirty="0"/>
              <a:t>transonic speed range (around Mach 0.8 - 1.2)</a:t>
            </a:r>
            <a:r>
              <a:rPr lang="en-US" dirty="0"/>
              <a:t> and rises sharply as the aircraft goes faster. At supersonic speeds, wave drag is one of the biggest challenges in design, which is why aircraft like Concorde or fighter jets use </a:t>
            </a:r>
            <a:r>
              <a:rPr lang="en-US" b="1" dirty="0"/>
              <a:t>swept wings, delta wings, and slender fuselages</a:t>
            </a:r>
            <a:r>
              <a:rPr lang="en-US" dirty="0"/>
              <a:t> to reduce it.</a:t>
            </a:r>
            <a:endParaRPr lang="en-US" b="1" u="sng" dirty="0"/>
          </a:p>
          <a:p>
            <a:endParaRPr lang="en-US" dirty="0"/>
          </a:p>
        </p:txBody>
      </p:sp>
    </p:spTree>
    <p:extLst>
      <p:ext uri="{BB962C8B-B14F-4D97-AF65-F5344CB8AC3E}">
        <p14:creationId xmlns:p14="http://schemas.microsoft.com/office/powerpoint/2010/main" val="27491970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2B397-58B1-7E9B-C353-20BFDF28B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01EB0-0D15-7EC8-4719-4283E51BFBA1}"/>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78ED9771-9792-A69B-B8BA-3E948E71A314}"/>
              </a:ext>
            </a:extLst>
          </p:cNvPr>
          <p:cNvSpPr txBox="1"/>
          <p:nvPr/>
        </p:nvSpPr>
        <p:spPr>
          <a:xfrm>
            <a:off x="304800" y="1524000"/>
            <a:ext cx="11582400" cy="2031325"/>
          </a:xfrm>
          <a:prstGeom prst="rect">
            <a:avLst/>
          </a:prstGeom>
          <a:noFill/>
        </p:spPr>
        <p:txBody>
          <a:bodyPr wrap="square" rtlCol="0">
            <a:spAutoFit/>
          </a:bodyPr>
          <a:lstStyle/>
          <a:p>
            <a:r>
              <a:rPr lang="en-US" b="1" dirty="0"/>
              <a:t>III.  </a:t>
            </a:r>
            <a:r>
              <a:rPr lang="en-US" b="1" u="sng" dirty="0"/>
              <a:t>Drag in Teardrop Shape:</a:t>
            </a:r>
            <a:r>
              <a:rPr lang="en-US" dirty="0"/>
              <a:t> </a:t>
            </a:r>
            <a:r>
              <a:rPr lang="en-US" b="1" u="sng" dirty="0"/>
              <a:t>Wave Drag:</a:t>
            </a:r>
            <a:r>
              <a:rPr lang="en-US" b="1" dirty="0"/>
              <a:t> (Due to High Speeds) </a:t>
            </a:r>
            <a:r>
              <a:rPr lang="en-US" dirty="0"/>
              <a:t>As the jet approaches Mach 1, the air cannot move out of the way smoothly- instead, it </a:t>
            </a:r>
            <a:r>
              <a:rPr lang="en-US" b="1" dirty="0"/>
              <a:t>compresses and piles up</a:t>
            </a:r>
            <a:r>
              <a:rPr lang="en-US" dirty="0"/>
              <a:t> around the widest parts of the aircraft (higher cross-section). This compressed air is then forced to expand suddenly as it flows past narrower sections, creating strong shock waves. These shock waves cause energy loss, producing </a:t>
            </a:r>
            <a:r>
              <a:rPr lang="en-US" b="1" dirty="0"/>
              <a:t>wave drag</a:t>
            </a:r>
            <a:r>
              <a:rPr lang="en-US" dirty="0"/>
              <a:t>.</a:t>
            </a:r>
          </a:p>
          <a:p>
            <a:endParaRPr lang="en-US" dirty="0"/>
          </a:p>
          <a:p>
            <a:r>
              <a:rPr lang="en-US" dirty="0"/>
              <a:t>This is also why we see the </a:t>
            </a:r>
            <a:r>
              <a:rPr lang="en-US" b="1" dirty="0"/>
              <a:t>cone-like shape (Mach cone)</a:t>
            </a:r>
            <a:r>
              <a:rPr lang="en-US" dirty="0"/>
              <a:t> around jets flying at or near Mach speeds- it’s the visible effect of shock waves and compressed air spreading outward.</a:t>
            </a:r>
          </a:p>
        </p:txBody>
      </p:sp>
      <p:pic>
        <p:nvPicPr>
          <p:cNvPr id="6" name="Picture 5">
            <a:extLst>
              <a:ext uri="{FF2B5EF4-FFF2-40B4-BE49-F238E27FC236}">
                <a16:creationId xmlns:a16="http://schemas.microsoft.com/office/drawing/2014/main" id="{17718F8E-F546-12ED-22BA-6FE8CE68C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800" y="3581400"/>
            <a:ext cx="3703815" cy="2871156"/>
          </a:xfrm>
          <a:prstGeom prst="rect">
            <a:avLst/>
          </a:prstGeom>
        </p:spPr>
      </p:pic>
      <p:pic>
        <p:nvPicPr>
          <p:cNvPr id="5" name="Picture 4">
            <a:extLst>
              <a:ext uri="{FF2B5EF4-FFF2-40B4-BE49-F238E27FC236}">
                <a16:creationId xmlns:a16="http://schemas.microsoft.com/office/drawing/2014/main" id="{358A0733-1524-2EBE-8D5C-021D8202EC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046" y="3581400"/>
            <a:ext cx="4015154" cy="2937634"/>
          </a:xfrm>
          <a:prstGeom prst="rect">
            <a:avLst/>
          </a:prstGeom>
        </p:spPr>
      </p:pic>
    </p:spTree>
    <p:extLst>
      <p:ext uri="{BB962C8B-B14F-4D97-AF65-F5344CB8AC3E}">
        <p14:creationId xmlns:p14="http://schemas.microsoft.com/office/powerpoint/2010/main" val="35692154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90E69-4BB2-18E7-1F17-DD7D4EC84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E0089-D0B5-1432-3376-26D0DB2F6F68}"/>
              </a:ext>
            </a:extLst>
          </p:cNvPr>
          <p:cNvSpPr>
            <a:spLocks noGrp="1"/>
          </p:cNvSpPr>
          <p:nvPr>
            <p:ph type="title"/>
          </p:nvPr>
        </p:nvSpPr>
        <p:spPr>
          <a:xfrm>
            <a:off x="457200" y="609600"/>
            <a:ext cx="9067800" cy="430887"/>
          </a:xfrm>
        </p:spPr>
        <p:txBody>
          <a:bodyPr/>
          <a:lstStyle/>
          <a:p>
            <a:r>
              <a:rPr lang="en-IN" dirty="0"/>
              <a:t>Aerodynamics: Critical Analysis of Teardrop </a:t>
            </a:r>
            <a:r>
              <a:rPr lang="en-IN" sz="2400" b="0" dirty="0"/>
              <a:t>(Contd.)</a:t>
            </a:r>
            <a:endParaRPr lang="en-IN" sz="2400" dirty="0"/>
          </a:p>
        </p:txBody>
      </p:sp>
      <p:sp>
        <p:nvSpPr>
          <p:cNvPr id="3" name="TextBox 2">
            <a:extLst>
              <a:ext uri="{FF2B5EF4-FFF2-40B4-BE49-F238E27FC236}">
                <a16:creationId xmlns:a16="http://schemas.microsoft.com/office/drawing/2014/main" id="{E1EC3782-8219-535B-2AEE-EDF3064F385E}"/>
              </a:ext>
            </a:extLst>
          </p:cNvPr>
          <p:cNvSpPr txBox="1"/>
          <p:nvPr/>
        </p:nvSpPr>
        <p:spPr>
          <a:xfrm>
            <a:off x="304800" y="1524000"/>
            <a:ext cx="11658600" cy="1754326"/>
          </a:xfrm>
          <a:prstGeom prst="rect">
            <a:avLst/>
          </a:prstGeom>
          <a:noFill/>
        </p:spPr>
        <p:txBody>
          <a:bodyPr wrap="square" rtlCol="0">
            <a:spAutoFit/>
          </a:bodyPr>
          <a:lstStyle/>
          <a:p>
            <a:r>
              <a:rPr lang="en-US" b="1" dirty="0"/>
              <a:t>III.  </a:t>
            </a:r>
            <a:r>
              <a:rPr lang="en-US" b="1" u="sng" dirty="0"/>
              <a:t>Drag in Teardrop Shape:</a:t>
            </a:r>
            <a:r>
              <a:rPr lang="en-US" dirty="0"/>
              <a:t> </a:t>
            </a:r>
            <a:r>
              <a:rPr lang="en-US" b="1" u="sng" dirty="0"/>
              <a:t>Wave Drag:</a:t>
            </a:r>
            <a:r>
              <a:rPr lang="en-US" b="1" dirty="0"/>
              <a:t> (Due to High Speeds) </a:t>
            </a:r>
            <a:r>
              <a:rPr lang="en-US" dirty="0"/>
              <a:t>Due to this, Engineers have streamlined the design of Supersonic and Transonic jets. Ex- Concorde (Discontinued Supersonic passenger Jet), F-22 Raptor, Eurofighter Typhoon, etc. </a:t>
            </a:r>
            <a:br>
              <a:rPr lang="en-US" dirty="0"/>
            </a:br>
            <a:endParaRPr lang="en-US" dirty="0"/>
          </a:p>
          <a:p>
            <a:r>
              <a:rPr lang="en-US" dirty="0"/>
              <a:t>These aircrafts have Delta Shaped Wings and their shape streamlined to the teardrop shape to an extent where the aircrafts are sleek and have a very gradual difference in cross-sectional area in all sides. Front, Top and Side.</a:t>
            </a:r>
          </a:p>
        </p:txBody>
      </p:sp>
      <p:pic>
        <p:nvPicPr>
          <p:cNvPr id="5" name="Picture 4">
            <a:extLst>
              <a:ext uri="{FF2B5EF4-FFF2-40B4-BE49-F238E27FC236}">
                <a16:creationId xmlns:a16="http://schemas.microsoft.com/office/drawing/2014/main" id="{C5A76D6C-7413-D740-E0F7-E3920D351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77319"/>
            <a:ext cx="4038600" cy="2880868"/>
          </a:xfrm>
          <a:prstGeom prst="rect">
            <a:avLst/>
          </a:prstGeom>
        </p:spPr>
      </p:pic>
      <p:pic>
        <p:nvPicPr>
          <p:cNvPr id="9" name="Picture 8">
            <a:extLst>
              <a:ext uri="{FF2B5EF4-FFF2-40B4-BE49-F238E27FC236}">
                <a16:creationId xmlns:a16="http://schemas.microsoft.com/office/drawing/2014/main" id="{66883DDC-FFC9-3C9B-F8B9-9A60158CDB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3899" y="3850518"/>
            <a:ext cx="3124201" cy="2086966"/>
          </a:xfrm>
          <a:prstGeom prst="rect">
            <a:avLst/>
          </a:prstGeom>
        </p:spPr>
      </p:pic>
      <p:pic>
        <p:nvPicPr>
          <p:cNvPr id="11" name="Picture 10">
            <a:extLst>
              <a:ext uri="{FF2B5EF4-FFF2-40B4-BE49-F238E27FC236}">
                <a16:creationId xmlns:a16="http://schemas.microsoft.com/office/drawing/2014/main" id="{DF9954D1-9A56-8DB7-5F1D-3DEA696E75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1000" y="3657600"/>
            <a:ext cx="3760123" cy="2502191"/>
          </a:xfrm>
          <a:prstGeom prst="rect">
            <a:avLst/>
          </a:prstGeom>
        </p:spPr>
      </p:pic>
    </p:spTree>
    <p:extLst>
      <p:ext uri="{BB962C8B-B14F-4D97-AF65-F5344CB8AC3E}">
        <p14:creationId xmlns:p14="http://schemas.microsoft.com/office/powerpoint/2010/main" val="41185152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A4CE-C90F-0B29-F24D-02DDC43F9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FF599-A425-F8FB-ECF6-34EB8C239F6B}"/>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p:sp>
        <p:nvSpPr>
          <p:cNvPr id="3" name="TextBox 2">
            <a:extLst>
              <a:ext uri="{FF2B5EF4-FFF2-40B4-BE49-F238E27FC236}">
                <a16:creationId xmlns:a16="http://schemas.microsoft.com/office/drawing/2014/main" id="{551DCEB5-CE99-78E1-6067-8586EC5EA887}"/>
              </a:ext>
            </a:extLst>
          </p:cNvPr>
          <p:cNvSpPr txBox="1"/>
          <p:nvPr/>
        </p:nvSpPr>
        <p:spPr>
          <a:xfrm>
            <a:off x="304800" y="1524000"/>
            <a:ext cx="11582400" cy="1477328"/>
          </a:xfrm>
          <a:prstGeom prst="rect">
            <a:avLst/>
          </a:prstGeom>
          <a:noFill/>
        </p:spPr>
        <p:txBody>
          <a:bodyPr wrap="square" rtlCol="0">
            <a:spAutoFit/>
          </a:bodyPr>
          <a:lstStyle/>
          <a:p>
            <a:pPr algn="l"/>
            <a:r>
              <a:rPr lang="en-US" b="1" u="sng" dirty="0"/>
              <a:t>Stall</a:t>
            </a:r>
            <a:r>
              <a:rPr lang="en-US" b="1" dirty="0"/>
              <a:t>: </a:t>
            </a:r>
            <a:r>
              <a:rPr lang="en-US" dirty="0"/>
              <a:t>Stalling is an </a:t>
            </a:r>
            <a:r>
              <a:rPr lang="en-US" b="1" dirty="0"/>
              <a:t>aerodynamic phenomenon</a:t>
            </a:r>
            <a:r>
              <a:rPr lang="en-US" dirty="0"/>
              <a:t> that makes the aircraft </a:t>
            </a:r>
            <a:r>
              <a:rPr lang="en-US" b="1" dirty="0"/>
              <a:t>unstable</a:t>
            </a:r>
            <a:r>
              <a:rPr lang="en-US" dirty="0"/>
              <a:t>, </a:t>
            </a:r>
            <a:r>
              <a:rPr lang="en-US" b="1" dirty="0"/>
              <a:t>out of control</a:t>
            </a:r>
            <a:r>
              <a:rPr lang="en-US" dirty="0"/>
              <a:t> and can drastically </a:t>
            </a:r>
            <a:r>
              <a:rPr lang="en-US" b="1" dirty="0"/>
              <a:t>lose lift </a:t>
            </a:r>
            <a:r>
              <a:rPr lang="en-US" dirty="0"/>
              <a:t>(can go into a nose-dive). In terms of aerodynamics, it is when the wind “separates“ too early from the wing’s upper surface </a:t>
            </a:r>
            <a:r>
              <a:rPr lang="en-US" b="1" dirty="0"/>
              <a:t>due to high Angle of Attack</a:t>
            </a:r>
            <a:r>
              <a:rPr lang="en-US" dirty="0"/>
              <a:t>. </a:t>
            </a:r>
          </a:p>
          <a:p>
            <a:pPr algn="l"/>
            <a:br>
              <a:rPr lang="en-US" dirty="0"/>
            </a:br>
            <a:endParaRPr lang="en-US" b="1" dirty="0"/>
          </a:p>
        </p:txBody>
      </p:sp>
      <p:pic>
        <p:nvPicPr>
          <p:cNvPr id="5" name="Picture 4">
            <a:extLst>
              <a:ext uri="{FF2B5EF4-FFF2-40B4-BE49-F238E27FC236}">
                <a16:creationId xmlns:a16="http://schemas.microsoft.com/office/drawing/2014/main" id="{D8CF2289-20CB-F530-EFFD-187EB2598B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0" y="3293335"/>
            <a:ext cx="4298015" cy="3107465"/>
          </a:xfrm>
          <a:prstGeom prst="rect">
            <a:avLst/>
          </a:prstGeom>
        </p:spPr>
      </p:pic>
      <p:pic>
        <p:nvPicPr>
          <p:cNvPr id="8" name="Picture 7">
            <a:extLst>
              <a:ext uri="{FF2B5EF4-FFF2-40B4-BE49-F238E27FC236}">
                <a16:creationId xmlns:a16="http://schemas.microsoft.com/office/drawing/2014/main" id="{F3E97323-0E18-7D13-5BE0-E72BB813738C}"/>
              </a:ext>
            </a:extLst>
          </p:cNvPr>
          <p:cNvPicPr>
            <a:picLocks noChangeAspect="1"/>
          </p:cNvPicPr>
          <p:nvPr/>
        </p:nvPicPr>
        <p:blipFill>
          <a:blip r:embed="rId3"/>
          <a:stretch>
            <a:fillRect/>
          </a:stretch>
        </p:blipFill>
        <p:spPr>
          <a:xfrm>
            <a:off x="228600" y="3124200"/>
            <a:ext cx="6511479" cy="2602518"/>
          </a:xfrm>
          <a:prstGeom prst="rect">
            <a:avLst/>
          </a:prstGeom>
        </p:spPr>
      </p:pic>
    </p:spTree>
    <p:extLst>
      <p:ext uri="{BB962C8B-B14F-4D97-AF65-F5344CB8AC3E}">
        <p14:creationId xmlns:p14="http://schemas.microsoft.com/office/powerpoint/2010/main" val="6068591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8BD3C-0342-8944-47CD-6342CE787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6DB08-0C36-BA12-4A86-BFA4A4813B9C}"/>
              </a:ext>
            </a:extLst>
          </p:cNvPr>
          <p:cNvSpPr>
            <a:spLocks noGrp="1"/>
          </p:cNvSpPr>
          <p:nvPr>
            <p:ph type="title"/>
          </p:nvPr>
        </p:nvSpPr>
        <p:spPr>
          <a:xfrm>
            <a:off x="533400" y="457200"/>
            <a:ext cx="9067800" cy="430887"/>
          </a:xfrm>
        </p:spPr>
        <p:txBody>
          <a:bodyPr/>
          <a:lstStyle/>
          <a:p>
            <a:r>
              <a:rPr lang="en-IN" dirty="0"/>
              <a:t>Aerodynamics: </a:t>
            </a:r>
            <a:r>
              <a:rPr lang="en-US" dirty="0"/>
              <a:t>Stall (Myth-breaker)</a:t>
            </a:r>
            <a:endParaRPr lang="en-IN" dirty="0"/>
          </a:p>
        </p:txBody>
      </p:sp>
      <p:sp>
        <p:nvSpPr>
          <p:cNvPr id="3" name="TextBox 2">
            <a:extLst>
              <a:ext uri="{FF2B5EF4-FFF2-40B4-BE49-F238E27FC236}">
                <a16:creationId xmlns:a16="http://schemas.microsoft.com/office/drawing/2014/main" id="{5281D26E-CACC-6676-BE4C-E09445CB07E4}"/>
              </a:ext>
            </a:extLst>
          </p:cNvPr>
          <p:cNvSpPr txBox="1"/>
          <p:nvPr/>
        </p:nvSpPr>
        <p:spPr>
          <a:xfrm>
            <a:off x="304800" y="1524000"/>
            <a:ext cx="11582400" cy="1200329"/>
          </a:xfrm>
          <a:prstGeom prst="rect">
            <a:avLst/>
          </a:prstGeom>
          <a:noFill/>
        </p:spPr>
        <p:txBody>
          <a:bodyPr wrap="square" rtlCol="0">
            <a:spAutoFit/>
          </a:bodyPr>
          <a:lstStyle/>
          <a:p>
            <a:pPr algn="l"/>
            <a:r>
              <a:rPr lang="en-US" b="1" u="sng" dirty="0"/>
              <a:t>Stall</a:t>
            </a:r>
            <a:r>
              <a:rPr lang="en-US" b="1" dirty="0"/>
              <a:t>: </a:t>
            </a:r>
            <a:r>
              <a:rPr lang="en-US" dirty="0"/>
              <a:t>During stall, the aircraft </a:t>
            </a:r>
            <a:r>
              <a:rPr lang="en-US" b="1" dirty="0"/>
              <a:t>still moves forward</a:t>
            </a:r>
            <a:r>
              <a:rPr lang="en-US" dirty="0"/>
              <a:t>. At the </a:t>
            </a:r>
            <a:r>
              <a:rPr lang="en-US" b="1" dirty="0"/>
              <a:t>critical </a:t>
            </a:r>
            <a:r>
              <a:rPr lang="en-US" b="1" dirty="0" err="1"/>
              <a:t>AoA</a:t>
            </a:r>
            <a:r>
              <a:rPr lang="en-US" dirty="0"/>
              <a:t>, </a:t>
            </a:r>
            <a:r>
              <a:rPr lang="en-US" b="1" dirty="0"/>
              <a:t>lift reaches</a:t>
            </a:r>
            <a:r>
              <a:rPr lang="en-US" dirty="0"/>
              <a:t> its </a:t>
            </a:r>
            <a:r>
              <a:rPr lang="en-US" b="1" dirty="0"/>
              <a:t>maximum</a:t>
            </a:r>
            <a:r>
              <a:rPr lang="en-US" dirty="0"/>
              <a:t> value, and </a:t>
            </a:r>
            <a:r>
              <a:rPr lang="en-US" b="1" dirty="0"/>
              <a:t>any further increase</a:t>
            </a:r>
            <a:r>
              <a:rPr lang="en-US" dirty="0"/>
              <a:t> in </a:t>
            </a:r>
            <a:r>
              <a:rPr lang="en-US" dirty="0" err="1"/>
              <a:t>AoA</a:t>
            </a:r>
            <a:r>
              <a:rPr lang="en-US" dirty="0"/>
              <a:t> </a:t>
            </a:r>
            <a:r>
              <a:rPr lang="en-US" b="1" dirty="0"/>
              <a:t>causes lift to decrease</a:t>
            </a:r>
            <a:r>
              <a:rPr lang="en-US" dirty="0"/>
              <a:t>, leading to </a:t>
            </a:r>
            <a:r>
              <a:rPr lang="en-US" b="1" dirty="0"/>
              <a:t>loss of altitude</a:t>
            </a:r>
            <a:r>
              <a:rPr lang="en-US" dirty="0"/>
              <a:t>. </a:t>
            </a:r>
            <a:br>
              <a:rPr lang="en-US" dirty="0"/>
            </a:br>
            <a:br>
              <a:rPr lang="en-US" dirty="0"/>
            </a:br>
            <a:r>
              <a:rPr lang="en-US" dirty="0"/>
              <a:t>Both </a:t>
            </a:r>
            <a:r>
              <a:rPr lang="en-US" b="1" dirty="0"/>
              <a:t>type of stall</a:t>
            </a:r>
            <a:r>
              <a:rPr lang="en-US" dirty="0"/>
              <a:t> exists in </a:t>
            </a:r>
            <a:r>
              <a:rPr lang="en-US" b="1" dirty="0"/>
              <a:t>fixed-wing aircraft</a:t>
            </a:r>
            <a:r>
              <a:rPr lang="en-US" dirty="0"/>
              <a:t>- </a:t>
            </a:r>
            <a:r>
              <a:rPr lang="en-US" b="1" dirty="0"/>
              <a:t>Low-speed</a:t>
            </a:r>
            <a:r>
              <a:rPr lang="en-US" dirty="0"/>
              <a:t> stall and </a:t>
            </a:r>
            <a:r>
              <a:rPr lang="en-US" b="1" dirty="0"/>
              <a:t>High-speed</a:t>
            </a:r>
            <a:r>
              <a:rPr lang="en-US" dirty="0"/>
              <a:t> (accelerated) stall</a:t>
            </a:r>
          </a:p>
        </p:txBody>
      </p:sp>
      <p:cxnSp>
        <p:nvCxnSpPr>
          <p:cNvPr id="6" name="Straight Connector 5">
            <a:extLst>
              <a:ext uri="{FF2B5EF4-FFF2-40B4-BE49-F238E27FC236}">
                <a16:creationId xmlns:a16="http://schemas.microsoft.com/office/drawing/2014/main" id="{A8D3C700-B368-D281-DE2B-5A4DF32C5ABD}"/>
              </a:ext>
            </a:extLst>
          </p:cNvPr>
          <p:cNvCxnSpPr>
            <a:cxnSpLocks/>
          </p:cNvCxnSpPr>
          <p:nvPr/>
        </p:nvCxnSpPr>
        <p:spPr>
          <a:xfrm>
            <a:off x="6098931" y="2724329"/>
            <a:ext cx="0" cy="3676471"/>
          </a:xfrm>
          <a:prstGeom prst="line">
            <a:avLst/>
          </a:prstGeom>
          <a:ln w="38100"/>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B468611F-5B55-0B15-8255-D1CF7231A95C}"/>
              </a:ext>
            </a:extLst>
          </p:cNvPr>
          <p:cNvSpPr txBox="1"/>
          <p:nvPr/>
        </p:nvSpPr>
        <p:spPr>
          <a:xfrm>
            <a:off x="304799" y="2895600"/>
            <a:ext cx="5638795" cy="3416320"/>
          </a:xfrm>
          <a:prstGeom prst="rect">
            <a:avLst/>
          </a:prstGeom>
          <a:noFill/>
        </p:spPr>
        <p:txBody>
          <a:bodyPr wrap="square" rtlCol="0">
            <a:spAutoFit/>
          </a:bodyPr>
          <a:lstStyle/>
          <a:p>
            <a:pPr algn="ctr"/>
            <a:r>
              <a:rPr lang="en-US" b="1" u="sng" dirty="0"/>
              <a:t>Low-speed</a:t>
            </a:r>
          </a:p>
          <a:p>
            <a:pPr algn="l"/>
            <a:endParaRPr lang="en-US" b="1" u="sng" dirty="0"/>
          </a:p>
          <a:p>
            <a:pPr marL="285750" indent="-285750" algn="l">
              <a:buFont typeface="Arial" panose="020B0604020202020204" pitchFamily="34" charset="0"/>
              <a:buChar char="•"/>
            </a:pPr>
            <a:r>
              <a:rPr lang="en-US" b="1" u="sng" dirty="0"/>
              <a:t>Speed:</a:t>
            </a:r>
            <a:r>
              <a:rPr lang="en-US" dirty="0"/>
              <a:t>                    Low airspeed</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a:t>Flight Condition:</a:t>
            </a:r>
            <a:r>
              <a:rPr lang="en-US" dirty="0"/>
              <a:t>   Take-off, Landing, slow climb</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a:t>Load Factor:</a:t>
            </a:r>
            <a:r>
              <a:rPr lang="en-US" dirty="0"/>
              <a:t>          1G (G Force)</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err="1"/>
              <a:t>AoA</a:t>
            </a:r>
            <a:r>
              <a:rPr lang="en-US" b="1" u="sng" dirty="0"/>
              <a:t>:</a:t>
            </a:r>
            <a:r>
              <a:rPr lang="en-US" dirty="0"/>
              <a:t>                       </a:t>
            </a:r>
            <a:r>
              <a:rPr lang="en-US" b="1" dirty="0"/>
              <a:t>&gt; Critical </a:t>
            </a:r>
            <a:r>
              <a:rPr lang="en-US" b="1" dirty="0" err="1"/>
              <a:t>AoA</a:t>
            </a:r>
            <a:r>
              <a:rPr lang="en-US" b="1" dirty="0"/>
              <a:t> </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a:t>Reason:</a:t>
            </a:r>
            <a:r>
              <a:rPr lang="en-US" dirty="0"/>
              <a:t>                 High </a:t>
            </a:r>
            <a:r>
              <a:rPr lang="en-US" dirty="0" err="1"/>
              <a:t>AoA</a:t>
            </a:r>
            <a:r>
              <a:rPr lang="en-US" dirty="0"/>
              <a:t> to compensate for low speed to maintain the lift</a:t>
            </a:r>
            <a:endParaRPr lang="en-US" b="1" u="sng" dirty="0"/>
          </a:p>
        </p:txBody>
      </p:sp>
      <p:sp>
        <p:nvSpPr>
          <p:cNvPr id="10" name="TextBox 9">
            <a:extLst>
              <a:ext uri="{FF2B5EF4-FFF2-40B4-BE49-F238E27FC236}">
                <a16:creationId xmlns:a16="http://schemas.microsoft.com/office/drawing/2014/main" id="{F33CE78C-870E-EBF9-5985-6754EA2538F0}"/>
              </a:ext>
            </a:extLst>
          </p:cNvPr>
          <p:cNvSpPr txBox="1"/>
          <p:nvPr/>
        </p:nvSpPr>
        <p:spPr>
          <a:xfrm>
            <a:off x="6227893" y="2895601"/>
            <a:ext cx="5659295" cy="3693319"/>
          </a:xfrm>
          <a:prstGeom prst="rect">
            <a:avLst/>
          </a:prstGeom>
          <a:noFill/>
        </p:spPr>
        <p:txBody>
          <a:bodyPr wrap="square" rtlCol="0">
            <a:spAutoFit/>
          </a:bodyPr>
          <a:lstStyle/>
          <a:p>
            <a:pPr algn="ctr"/>
            <a:r>
              <a:rPr lang="en-US" b="1" u="sng" dirty="0"/>
              <a:t>High-speed</a:t>
            </a:r>
            <a:r>
              <a:rPr lang="en-US" u="sng" dirty="0"/>
              <a:t> </a:t>
            </a:r>
            <a:r>
              <a:rPr lang="en-US" b="1" u="sng" dirty="0"/>
              <a:t>(Accelerated)</a:t>
            </a:r>
          </a:p>
          <a:p>
            <a:pPr algn="ctr"/>
            <a:endParaRPr lang="en-US" b="1" u="sng" dirty="0"/>
          </a:p>
          <a:p>
            <a:pPr marL="285750" indent="-285750" algn="l">
              <a:buFont typeface="Arial" panose="020B0604020202020204" pitchFamily="34" charset="0"/>
              <a:buChar char="•"/>
            </a:pPr>
            <a:r>
              <a:rPr lang="en-US" b="1" u="sng" dirty="0"/>
              <a:t>Speed:</a:t>
            </a:r>
            <a:r>
              <a:rPr lang="en-US" dirty="0"/>
              <a:t>                    High airspeed</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a:t>Flight Condition:</a:t>
            </a:r>
            <a:r>
              <a:rPr lang="en-US" dirty="0"/>
              <a:t>   Pull-ups, Turnings, Maneuvers</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a:t>Load Factor:</a:t>
            </a:r>
            <a:r>
              <a:rPr lang="en-US" dirty="0"/>
              <a:t>          &gt; 1G (G Force)</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err="1"/>
              <a:t>AoA</a:t>
            </a:r>
            <a:r>
              <a:rPr lang="en-US" b="1" u="sng" dirty="0"/>
              <a:t>:</a:t>
            </a:r>
            <a:r>
              <a:rPr lang="en-US" dirty="0"/>
              <a:t>                       </a:t>
            </a:r>
            <a:r>
              <a:rPr lang="en-US" b="1" dirty="0"/>
              <a:t>&gt; Critical </a:t>
            </a:r>
            <a:r>
              <a:rPr lang="en-US" b="1" dirty="0" err="1"/>
              <a:t>AoA</a:t>
            </a:r>
            <a:r>
              <a:rPr lang="en-US" b="1" dirty="0"/>
              <a:t> </a:t>
            </a:r>
          </a:p>
          <a:p>
            <a:pPr marL="285750" indent="-285750" algn="l">
              <a:buFont typeface="Arial" panose="020B0604020202020204" pitchFamily="34" charset="0"/>
              <a:buChar char="•"/>
            </a:pPr>
            <a:endParaRPr lang="en-US" b="1" u="sng" dirty="0"/>
          </a:p>
          <a:p>
            <a:pPr marL="285750" indent="-285750" algn="l">
              <a:buFont typeface="Arial" panose="020B0604020202020204" pitchFamily="34" charset="0"/>
              <a:buChar char="•"/>
            </a:pPr>
            <a:r>
              <a:rPr lang="en-US" b="1" u="sng" dirty="0"/>
              <a:t>Reason:</a:t>
            </a:r>
            <a:r>
              <a:rPr lang="en-US" dirty="0"/>
              <a:t>                 High </a:t>
            </a:r>
            <a:r>
              <a:rPr lang="en-US" dirty="0" err="1"/>
              <a:t>AoA</a:t>
            </a:r>
            <a:r>
              <a:rPr lang="en-US" dirty="0"/>
              <a:t> to generate lift required by the higher load factor</a:t>
            </a:r>
            <a:endParaRPr lang="en-US" b="1" u="sng" dirty="0"/>
          </a:p>
          <a:p>
            <a:pPr algn="ctr"/>
            <a:endParaRPr lang="en-US" b="1" u="sng" dirty="0"/>
          </a:p>
        </p:txBody>
      </p:sp>
    </p:spTree>
    <p:extLst>
      <p:ext uri="{BB962C8B-B14F-4D97-AF65-F5344CB8AC3E}">
        <p14:creationId xmlns:p14="http://schemas.microsoft.com/office/powerpoint/2010/main" val="8327381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2D122-B4AA-5CC5-D999-7174F918A3AC}"/>
              </a:ext>
            </a:extLst>
          </p:cNvPr>
          <p:cNvSpPr>
            <a:spLocks noGrp="1"/>
          </p:cNvSpPr>
          <p:nvPr>
            <p:ph type="title"/>
          </p:nvPr>
        </p:nvSpPr>
        <p:spPr>
          <a:xfrm>
            <a:off x="152400" y="609600"/>
            <a:ext cx="9343567" cy="430887"/>
          </a:xfrm>
        </p:spPr>
        <p:txBody>
          <a:bodyPr/>
          <a:lstStyle/>
          <a:p>
            <a:r>
              <a:rPr lang="en-IN" dirty="0"/>
              <a:t>Aerodynamics: </a:t>
            </a:r>
            <a:r>
              <a:rPr lang="en-US" dirty="0"/>
              <a:t>Stall (Fixed-wing)</a:t>
            </a:r>
          </a:p>
        </p:txBody>
      </p:sp>
      <p:pic>
        <p:nvPicPr>
          <p:cNvPr id="4" name="Online Media 3" title="What is a stall?">
            <a:hlinkClick r:id="" action="ppaction://media"/>
            <a:extLst>
              <a:ext uri="{FF2B5EF4-FFF2-40B4-BE49-F238E27FC236}">
                <a16:creationId xmlns:a16="http://schemas.microsoft.com/office/drawing/2014/main" id="{1594C172-38A1-1F55-2E28-FDD5A4991BFF}"/>
              </a:ext>
            </a:extLst>
          </p:cNvPr>
          <p:cNvPicPr>
            <a:picLocks noRot="1" noChangeAspect="1"/>
          </p:cNvPicPr>
          <p:nvPr>
            <a:videoFile r:link="rId1"/>
          </p:nvPr>
        </p:nvPicPr>
        <p:blipFill>
          <a:blip r:embed="rId3"/>
          <a:stretch>
            <a:fillRect/>
          </a:stretch>
        </p:blipFill>
        <p:spPr>
          <a:xfrm>
            <a:off x="2411412" y="1828800"/>
            <a:ext cx="7369175" cy="4160329"/>
          </a:xfrm>
          <a:prstGeom prst="rect">
            <a:avLst/>
          </a:prstGeom>
        </p:spPr>
      </p:pic>
    </p:spTree>
    <p:extLst>
      <p:ext uri="{BB962C8B-B14F-4D97-AF65-F5344CB8AC3E}">
        <p14:creationId xmlns:p14="http://schemas.microsoft.com/office/powerpoint/2010/main" val="141350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8E3D6-5341-2494-2469-B005D4D62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484A8-356F-900C-3FD3-2A8FFFA9A10D}"/>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3A2DA42-0758-5593-FB0C-818046324F33}"/>
                  </a:ext>
                </a:extLst>
              </p:cNvPr>
              <p:cNvSpPr txBox="1"/>
              <p:nvPr/>
            </p:nvSpPr>
            <p:spPr>
              <a:xfrm>
                <a:off x="304800" y="1524000"/>
                <a:ext cx="11734800" cy="1754326"/>
              </a:xfrm>
              <a:prstGeom prst="rect">
                <a:avLst/>
              </a:prstGeom>
              <a:noFill/>
            </p:spPr>
            <p:txBody>
              <a:bodyPr wrap="square" rtlCol="0">
                <a:spAutoFit/>
              </a:bodyPr>
              <a:lstStyle/>
              <a:p>
                <a:pPr algn="l"/>
                <a:r>
                  <a:rPr lang="en-US" b="1" u="sng" dirty="0"/>
                  <a:t>Critical </a:t>
                </a:r>
                <a:r>
                  <a:rPr lang="en-US" b="1" u="sng" dirty="0" err="1"/>
                  <a:t>AoA</a:t>
                </a:r>
                <a:r>
                  <a:rPr lang="en-US" b="1" dirty="0"/>
                  <a:t>: </a:t>
                </a:r>
                <a:r>
                  <a:rPr lang="en-US" dirty="0"/>
                  <a:t>Stalling occurs when the </a:t>
                </a:r>
                <a:r>
                  <a:rPr lang="en-US" b="1" dirty="0" err="1"/>
                  <a:t>AoA</a:t>
                </a:r>
                <a:r>
                  <a:rPr lang="en-US" dirty="0"/>
                  <a:t> of the aircraft is </a:t>
                </a:r>
                <a:r>
                  <a:rPr lang="en-US" b="1" dirty="0"/>
                  <a:t>more than the critical </a:t>
                </a:r>
                <a:r>
                  <a:rPr lang="en-US" b="1" dirty="0" err="1"/>
                  <a:t>AoA</a:t>
                </a:r>
                <a:r>
                  <a:rPr lang="en-US" dirty="0"/>
                  <a:t>. The critical </a:t>
                </a:r>
                <a:r>
                  <a:rPr lang="en-US" dirty="0" err="1"/>
                  <a:t>AoA</a:t>
                </a:r>
                <a:r>
                  <a:rPr lang="en-US" dirty="0"/>
                  <a:t> is different for different airfoils and is </a:t>
                </a:r>
                <a:r>
                  <a:rPr lang="en-US" b="1" dirty="0"/>
                  <a:t>determined experimentally</a:t>
                </a:r>
                <a:r>
                  <a:rPr lang="en-US" dirty="0"/>
                  <a:t> or using </a:t>
                </a:r>
                <a:r>
                  <a:rPr lang="en-US" b="1" dirty="0"/>
                  <a:t>CFD</a:t>
                </a:r>
                <a:r>
                  <a:rPr lang="en-US" dirty="0"/>
                  <a:t> (Computational Fluid Dynamics)</a:t>
                </a:r>
                <a:br>
                  <a:rPr lang="en-US" dirty="0"/>
                </a:br>
                <a:br>
                  <a:rPr lang="en-US" dirty="0"/>
                </a:br>
                <a:r>
                  <a:rPr lang="en-US" dirty="0"/>
                  <a:t>The typical critical </a:t>
                </a:r>
                <a:r>
                  <a:rPr lang="en-US" dirty="0" err="1"/>
                  <a:t>AoA</a:t>
                </a:r>
                <a:r>
                  <a:rPr lang="en-US" dirty="0"/>
                  <a:t> is around </a:t>
                </a:r>
                <a:r>
                  <a:rPr lang="en-US" b="1" dirty="0"/>
                  <a:t>12</a:t>
                </a:r>
                <a:r>
                  <a:rPr lang="en-US" sz="1800" b="1" dirty="0"/>
                  <a:t>°-16°</a:t>
                </a:r>
                <a:r>
                  <a:rPr lang="en-US" dirty="0"/>
                  <a:t> after which the </a:t>
                </a:r>
                <a:r>
                  <a:rPr lang="en-US" b="1" dirty="0"/>
                  <a:t>coefficient of lift,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r>
                          <a:rPr lang="en-US" b="1" i="1" smtClean="0">
                            <a:latin typeface="Cambria Math" panose="02040503050406030204" pitchFamily="18" charset="0"/>
                          </a:rPr>
                          <m:t>𝑳</m:t>
                        </m:r>
                      </m:sub>
                    </m:sSub>
                  </m:oMath>
                </a14:m>
                <a:r>
                  <a:rPr lang="en-US" b="1" dirty="0"/>
                  <a:t>,</a:t>
                </a:r>
                <a:r>
                  <a:rPr lang="en-US" dirty="0"/>
                  <a:t> is </a:t>
                </a:r>
                <a:r>
                  <a:rPr lang="en-US" b="1" dirty="0"/>
                  <a:t>maximum</a:t>
                </a:r>
                <a:r>
                  <a:rPr lang="en-US" dirty="0"/>
                  <a:t> (maximum lift at critical </a:t>
                </a:r>
                <a:r>
                  <a:rPr lang="en-US" dirty="0" err="1"/>
                  <a:t>AoA</a:t>
                </a:r>
                <a:r>
                  <a:rPr lang="en-US" dirty="0"/>
                  <a:t>, but lose lift after critical </a:t>
                </a:r>
                <a:r>
                  <a:rPr lang="en-US" dirty="0" err="1"/>
                  <a:t>AoA</a:t>
                </a:r>
                <a:r>
                  <a:rPr lang="en-US" dirty="0"/>
                  <a:t>) and aircraft will </a:t>
                </a:r>
                <a:r>
                  <a:rPr lang="en-US" b="1" dirty="0"/>
                  <a:t>start to descend</a:t>
                </a:r>
                <a:r>
                  <a:rPr lang="en-US" dirty="0"/>
                  <a:t>. If no corrective action is taken, the aircraft </a:t>
                </a:r>
                <a:r>
                  <a:rPr lang="en-US" b="1" dirty="0"/>
                  <a:t>will lose control</a:t>
                </a:r>
              </a:p>
            </p:txBody>
          </p:sp>
        </mc:Choice>
        <mc:Fallback xmlns="">
          <p:sp>
            <p:nvSpPr>
              <p:cNvPr id="3" name="TextBox 2">
                <a:extLst>
                  <a:ext uri="{FF2B5EF4-FFF2-40B4-BE49-F238E27FC236}">
                    <a16:creationId xmlns:a16="http://schemas.microsoft.com/office/drawing/2014/main" id="{E3A2DA42-0758-5593-FB0C-818046324F33}"/>
                  </a:ext>
                </a:extLst>
              </p:cNvPr>
              <p:cNvSpPr txBox="1">
                <a:spLocks noRot="1" noChangeAspect="1" noMove="1" noResize="1" noEditPoints="1" noAdjustHandles="1" noChangeArrowheads="1" noChangeShapeType="1" noTextEdit="1"/>
              </p:cNvSpPr>
              <p:nvPr/>
            </p:nvSpPr>
            <p:spPr>
              <a:xfrm>
                <a:off x="304800" y="1524000"/>
                <a:ext cx="11734800" cy="1754326"/>
              </a:xfrm>
              <a:prstGeom prst="rect">
                <a:avLst/>
              </a:prstGeom>
              <a:blipFill>
                <a:blip r:embed="rId2"/>
                <a:stretch>
                  <a:fillRect l="-416" t="-1736" b="-451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B9084444-B808-0D92-4DA3-B98FF60858C6}"/>
              </a:ext>
            </a:extLst>
          </p:cNvPr>
          <p:cNvSpPr txBox="1"/>
          <p:nvPr/>
        </p:nvSpPr>
        <p:spPr>
          <a:xfrm>
            <a:off x="2545189" y="3637241"/>
            <a:ext cx="7101624" cy="1477328"/>
          </a:xfrm>
          <a:prstGeom prst="rect">
            <a:avLst/>
          </a:prstGeom>
          <a:noFill/>
        </p:spPr>
        <p:txBody>
          <a:bodyPr wrap="none" rtlCol="0">
            <a:spAutoFit/>
          </a:bodyPr>
          <a:lstStyle/>
          <a:p>
            <a:pPr algn="ctr"/>
            <a:r>
              <a:rPr lang="en-US" b="1" dirty="0"/>
              <a:t>Airliners</a:t>
            </a:r>
            <a:r>
              <a:rPr lang="en-US" dirty="0"/>
              <a:t> (and subsonic aircrafts) </a:t>
            </a:r>
            <a:r>
              <a:rPr lang="en-US" dirty="0">
                <a:sym typeface="Wingdings" panose="05000000000000000000" pitchFamily="2" charset="2"/>
              </a:rPr>
              <a:t> </a:t>
            </a:r>
            <a:r>
              <a:rPr lang="en-US" dirty="0"/>
              <a:t>12</a:t>
            </a:r>
            <a:r>
              <a:rPr lang="en-US" sz="1800" dirty="0"/>
              <a:t>°-16°</a:t>
            </a:r>
            <a:r>
              <a:rPr lang="en-US" dirty="0"/>
              <a:t> </a:t>
            </a:r>
          </a:p>
          <a:p>
            <a:pPr algn="ctr"/>
            <a:endParaRPr lang="en-US" dirty="0"/>
          </a:p>
          <a:p>
            <a:pPr algn="ctr"/>
            <a:r>
              <a:rPr lang="en-US" b="1" dirty="0"/>
              <a:t>Highly cambered / high-lift airfoils</a:t>
            </a:r>
            <a:r>
              <a:rPr lang="en-US" dirty="0"/>
              <a:t> </a:t>
            </a:r>
            <a:r>
              <a:rPr lang="en-US" dirty="0">
                <a:sym typeface="Wingdings" panose="05000000000000000000" pitchFamily="2" charset="2"/>
              </a:rPr>
              <a:t> 16</a:t>
            </a:r>
            <a:r>
              <a:rPr lang="en-US" sz="1800" dirty="0"/>
              <a:t>°-18°</a:t>
            </a:r>
          </a:p>
          <a:p>
            <a:pPr algn="ctr"/>
            <a:endParaRPr lang="en-US" sz="1800" dirty="0"/>
          </a:p>
          <a:p>
            <a:pPr algn="ctr"/>
            <a:r>
              <a:rPr lang="en-US" b="1" dirty="0"/>
              <a:t>Delta Wing</a:t>
            </a:r>
            <a:r>
              <a:rPr lang="en-US" dirty="0"/>
              <a:t> Aircrafts (</a:t>
            </a:r>
            <a:r>
              <a:rPr lang="en-US" b="1" dirty="0"/>
              <a:t>Swept-wing</a:t>
            </a:r>
            <a:r>
              <a:rPr lang="en-US" dirty="0"/>
              <a:t> / </a:t>
            </a:r>
            <a:r>
              <a:rPr lang="en-US" b="1" dirty="0"/>
              <a:t>leading-edge</a:t>
            </a:r>
            <a:r>
              <a:rPr lang="en-US" dirty="0"/>
              <a:t> vortices) </a:t>
            </a:r>
            <a:r>
              <a:rPr lang="en-US" dirty="0">
                <a:sym typeface="Wingdings" panose="05000000000000000000" pitchFamily="2" charset="2"/>
              </a:rPr>
              <a:t> &gt;20</a:t>
            </a:r>
            <a:r>
              <a:rPr lang="en-US" sz="1800" dirty="0"/>
              <a:t>°</a:t>
            </a:r>
            <a:endParaRPr lang="en-US" dirty="0"/>
          </a:p>
        </p:txBody>
      </p:sp>
      <p:sp>
        <p:nvSpPr>
          <p:cNvPr id="6" name="TextBox 5">
            <a:extLst>
              <a:ext uri="{FF2B5EF4-FFF2-40B4-BE49-F238E27FC236}">
                <a16:creationId xmlns:a16="http://schemas.microsoft.com/office/drawing/2014/main" id="{AC631227-C8BC-BF70-07DB-096E58D93DFE}"/>
              </a:ext>
            </a:extLst>
          </p:cNvPr>
          <p:cNvSpPr txBox="1"/>
          <p:nvPr/>
        </p:nvSpPr>
        <p:spPr>
          <a:xfrm>
            <a:off x="304800" y="5565816"/>
            <a:ext cx="11734800" cy="646331"/>
          </a:xfrm>
          <a:prstGeom prst="rect">
            <a:avLst/>
          </a:prstGeom>
          <a:noFill/>
        </p:spPr>
        <p:txBody>
          <a:bodyPr wrap="square" rtlCol="0">
            <a:spAutoFit/>
          </a:bodyPr>
          <a:lstStyle/>
          <a:p>
            <a:r>
              <a:rPr lang="en-US" dirty="0"/>
              <a:t>This is why </a:t>
            </a:r>
            <a:r>
              <a:rPr lang="en-US" b="1" dirty="0"/>
              <a:t>military and high-maneuver aircrafts</a:t>
            </a:r>
            <a:r>
              <a:rPr lang="en-US" dirty="0"/>
              <a:t> are designed with a </a:t>
            </a:r>
            <a:r>
              <a:rPr lang="en-US" b="1" dirty="0"/>
              <a:t>delta / swept wing shape</a:t>
            </a:r>
            <a:r>
              <a:rPr lang="en-US" dirty="0"/>
              <a:t>. The critical </a:t>
            </a:r>
            <a:r>
              <a:rPr lang="en-US" dirty="0" err="1"/>
              <a:t>AoA</a:t>
            </a:r>
            <a:r>
              <a:rPr lang="en-US" dirty="0"/>
              <a:t> is higher, giving them the ability to maneuver at higher angles. </a:t>
            </a:r>
          </a:p>
        </p:txBody>
      </p:sp>
    </p:spTree>
    <p:extLst>
      <p:ext uri="{BB962C8B-B14F-4D97-AF65-F5344CB8AC3E}">
        <p14:creationId xmlns:p14="http://schemas.microsoft.com/office/powerpoint/2010/main" val="42880272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AA666-F860-85F6-A232-E1CFC6E58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DE63B-6E53-50EF-B41B-62C0F4E11747}"/>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E22A754-5991-41A1-A1FC-E7825DB7DEC7}"/>
                  </a:ext>
                </a:extLst>
              </p:cNvPr>
              <p:cNvSpPr txBox="1"/>
              <p:nvPr/>
            </p:nvSpPr>
            <p:spPr>
              <a:xfrm>
                <a:off x="304800" y="1524000"/>
                <a:ext cx="11734800" cy="923330"/>
              </a:xfrm>
              <a:prstGeom prst="rect">
                <a:avLst/>
              </a:prstGeom>
              <a:noFill/>
            </p:spPr>
            <p:txBody>
              <a:bodyPr wrap="square" rtlCol="0">
                <a:spAutoFit/>
              </a:bodyPr>
              <a:lstStyle/>
              <a:p>
                <a:pPr algn="l"/>
                <a:r>
                  <a:rPr lang="en-US" b="1" u="sng" dirty="0"/>
                  <a:t>Critical </a:t>
                </a:r>
                <a:r>
                  <a:rPr lang="en-US" b="1" u="sng" dirty="0" err="1"/>
                  <a:t>AoA</a:t>
                </a:r>
                <a:r>
                  <a:rPr lang="en-US" b="1" dirty="0"/>
                  <a:t>: </a:t>
                </a:r>
                <a:r>
                  <a:rPr lang="en-US" dirty="0"/>
                  <a:t>To calculate Critical </a:t>
                </a:r>
                <a:r>
                  <a:rPr lang="en-US" dirty="0" err="1"/>
                  <a:t>AoA</a:t>
                </a:r>
                <a:r>
                  <a:rPr lang="en-US" dirty="0"/>
                  <a:t>, the airfoil/wing is kept in a </a:t>
                </a:r>
                <a:r>
                  <a:rPr lang="en-US" b="1" dirty="0"/>
                  <a:t>wind tunnel</a:t>
                </a:r>
                <a:r>
                  <a:rPr lang="en-US" dirty="0"/>
                  <a:t> (CFD test if no access) and </a:t>
                </a:r>
                <a:r>
                  <a:rPr lang="en-US" b="1" dirty="0"/>
                  <a:t>calculate the Coefficient of Lift</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𝐿</m:t>
                        </m:r>
                      </m:sub>
                    </m:sSub>
                  </m:oMath>
                </a14:m>
                <a:r>
                  <a:rPr lang="en-US" dirty="0"/>
                  <a:t>, and </a:t>
                </a:r>
                <a:r>
                  <a:rPr lang="en-US" b="1" dirty="0"/>
                  <a:t>plot it against the </a:t>
                </a:r>
                <a:r>
                  <a:rPr lang="en-US" b="1" dirty="0" err="1"/>
                  <a:t>AoA</a:t>
                </a:r>
                <a:r>
                  <a:rPr lang="en-US" b="1" dirty="0"/>
                  <a:t> </a:t>
                </a:r>
                <a:r>
                  <a:rPr lang="en-US" dirty="0"/>
                  <a:t>of the airfoil. This gives a plot which looks as follows</a:t>
                </a:r>
                <a:endParaRPr lang="en-US" b="1" dirty="0"/>
              </a:p>
            </p:txBody>
          </p:sp>
        </mc:Choice>
        <mc:Fallback xmlns="">
          <p:sp>
            <p:nvSpPr>
              <p:cNvPr id="3" name="TextBox 2">
                <a:extLst>
                  <a:ext uri="{FF2B5EF4-FFF2-40B4-BE49-F238E27FC236}">
                    <a16:creationId xmlns:a16="http://schemas.microsoft.com/office/drawing/2014/main" id="{BE22A754-5991-41A1-A1FC-E7825DB7DEC7}"/>
                  </a:ext>
                </a:extLst>
              </p:cNvPr>
              <p:cNvSpPr txBox="1">
                <a:spLocks noRot="1" noChangeAspect="1" noMove="1" noResize="1" noEditPoints="1" noAdjustHandles="1" noChangeArrowheads="1" noChangeShapeType="1" noTextEdit="1"/>
              </p:cNvSpPr>
              <p:nvPr/>
            </p:nvSpPr>
            <p:spPr>
              <a:xfrm>
                <a:off x="304800" y="1524000"/>
                <a:ext cx="11734800" cy="923330"/>
              </a:xfrm>
              <a:prstGeom prst="rect">
                <a:avLst/>
              </a:prstGeom>
              <a:blipFill>
                <a:blip r:embed="rId2"/>
                <a:stretch>
                  <a:fillRect l="-416" t="-3311" b="-993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66263F4-8D56-FEAE-E4EF-6CDE24A37081}"/>
              </a:ext>
            </a:extLst>
          </p:cNvPr>
          <p:cNvSpPr txBox="1"/>
          <p:nvPr/>
        </p:nvSpPr>
        <p:spPr>
          <a:xfrm>
            <a:off x="312490" y="5662111"/>
            <a:ext cx="11734800" cy="646331"/>
          </a:xfrm>
          <a:prstGeom prst="rect">
            <a:avLst/>
          </a:prstGeom>
          <a:noFill/>
        </p:spPr>
        <p:txBody>
          <a:bodyPr wrap="square" rtlCol="0">
            <a:spAutoFit/>
          </a:bodyPr>
          <a:lstStyle/>
          <a:p>
            <a:r>
              <a:rPr lang="en-US" dirty="0"/>
              <a:t>In the graphs, the </a:t>
            </a:r>
            <a:r>
              <a:rPr lang="en-US" dirty="0" err="1"/>
              <a:t>AoA</a:t>
            </a:r>
            <a:r>
              <a:rPr lang="en-US" dirty="0"/>
              <a:t> at which </a:t>
            </a:r>
            <a:r>
              <a:rPr lang="en-US" b="1" dirty="0"/>
              <a:t>Coefficient of Lift</a:t>
            </a:r>
            <a:r>
              <a:rPr lang="en-US" dirty="0"/>
              <a:t> is </a:t>
            </a:r>
            <a:r>
              <a:rPr lang="en-US" b="1" dirty="0"/>
              <a:t>Maximum</a:t>
            </a:r>
            <a:r>
              <a:rPr lang="en-US" dirty="0"/>
              <a:t> is called as the </a:t>
            </a:r>
            <a:r>
              <a:rPr lang="en-US" b="1" dirty="0"/>
              <a:t>Critical </a:t>
            </a:r>
            <a:r>
              <a:rPr lang="en-US" b="1" dirty="0" err="1"/>
              <a:t>AoA</a:t>
            </a:r>
            <a:r>
              <a:rPr lang="en-US" dirty="0"/>
              <a:t>. If the aircraft is forced </a:t>
            </a:r>
            <a:r>
              <a:rPr lang="en-US" b="1" dirty="0"/>
              <a:t>more than that angle</a:t>
            </a:r>
            <a:r>
              <a:rPr lang="en-US" dirty="0"/>
              <a:t>, it </a:t>
            </a:r>
            <a:r>
              <a:rPr lang="en-US" b="1" dirty="0"/>
              <a:t>stalls</a:t>
            </a:r>
            <a:r>
              <a:rPr lang="en-US" dirty="0"/>
              <a:t> and </a:t>
            </a:r>
            <a:r>
              <a:rPr lang="en-US" b="1" dirty="0"/>
              <a:t>loses the Coefficient of Lift</a:t>
            </a:r>
            <a:r>
              <a:rPr lang="en-US" dirty="0"/>
              <a:t> and hence </a:t>
            </a:r>
            <a:r>
              <a:rPr lang="en-US" b="1" dirty="0"/>
              <a:t>loses altitude </a:t>
            </a:r>
            <a:r>
              <a:rPr lang="en-US" dirty="0"/>
              <a:t>after the stall. </a:t>
            </a:r>
          </a:p>
        </p:txBody>
      </p:sp>
      <p:pic>
        <p:nvPicPr>
          <p:cNvPr id="9" name="Picture 8">
            <a:extLst>
              <a:ext uri="{FF2B5EF4-FFF2-40B4-BE49-F238E27FC236}">
                <a16:creationId xmlns:a16="http://schemas.microsoft.com/office/drawing/2014/main" id="{97A4C749-CC57-BE94-014F-B72BEFF285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2374626"/>
            <a:ext cx="5138442" cy="3155894"/>
          </a:xfrm>
          <a:prstGeom prst="rect">
            <a:avLst/>
          </a:prstGeom>
        </p:spPr>
      </p:pic>
      <p:pic>
        <p:nvPicPr>
          <p:cNvPr id="10" name="Picture 9">
            <a:extLst>
              <a:ext uri="{FF2B5EF4-FFF2-40B4-BE49-F238E27FC236}">
                <a16:creationId xmlns:a16="http://schemas.microsoft.com/office/drawing/2014/main" id="{2E5F7EA1-B6F4-4869-9A60-F252665092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300" y="2390473"/>
            <a:ext cx="4191000" cy="3124200"/>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1809577-85F2-F376-C152-89270E4B37AD}"/>
                  </a:ext>
                </a:extLst>
              </p:cNvPr>
              <p:cNvSpPr txBox="1"/>
              <p:nvPr/>
            </p:nvSpPr>
            <p:spPr>
              <a:xfrm>
                <a:off x="2794498" y="3810000"/>
                <a:ext cx="2272802" cy="69672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𝑊𝑖𝑛𝑔</m:t>
                                  </m:r>
                                  <m:r>
                                    <a:rPr lang="en-US" b="0" i="1" smtClean="0">
                                      <a:latin typeface="Cambria Math" panose="02040503050406030204" pitchFamily="18" charset="0"/>
                                    </a:rPr>
                                    <m:t> </m:t>
                                  </m:r>
                                  <m:r>
                                    <a:rPr lang="en-US" b="0" i="1" smtClean="0">
                                      <a:latin typeface="Cambria Math" panose="02040503050406030204" pitchFamily="18" charset="0"/>
                                    </a:rPr>
                                    <m:t>𝑠𝑝𝑎𝑛</m:t>
                                  </m:r>
                                </m:e>
                              </m:d>
                            </m:e>
                            <m:sup>
                              <m:r>
                                <a:rPr lang="en-US" b="0" i="1" smtClean="0">
                                  <a:latin typeface="Cambria Math" panose="02040503050406030204" pitchFamily="18" charset="0"/>
                                </a:rPr>
                                <m:t>2</m:t>
                              </m:r>
                            </m:sup>
                          </m:sSup>
                        </m:num>
                        <m:den>
                          <m:r>
                            <a:rPr lang="en-US" b="0" i="1" smtClean="0">
                              <a:latin typeface="Cambria Math" panose="02040503050406030204" pitchFamily="18" charset="0"/>
                            </a:rPr>
                            <m:t>𝑊𝑖𝑛𝑔</m:t>
                          </m:r>
                          <m:r>
                            <a:rPr lang="en-US" b="0" i="1" smtClean="0">
                              <a:latin typeface="Cambria Math" panose="02040503050406030204" pitchFamily="18" charset="0"/>
                            </a:rPr>
                            <m:t> </m:t>
                          </m:r>
                          <m:r>
                            <a:rPr lang="en-US" b="0" i="1" smtClean="0">
                              <a:latin typeface="Cambria Math" panose="02040503050406030204" pitchFamily="18" charset="0"/>
                            </a:rPr>
                            <m:t>𝑎𝑟𝑒𝑎</m:t>
                          </m:r>
                        </m:den>
                      </m:f>
                    </m:oMath>
                  </m:oMathPara>
                </a14:m>
                <a:endParaRPr lang="en-US" dirty="0"/>
              </a:p>
            </p:txBody>
          </p:sp>
        </mc:Choice>
        <mc:Fallback>
          <p:sp>
            <p:nvSpPr>
              <p:cNvPr id="4" name="TextBox 3">
                <a:extLst>
                  <a:ext uri="{FF2B5EF4-FFF2-40B4-BE49-F238E27FC236}">
                    <a16:creationId xmlns:a16="http://schemas.microsoft.com/office/drawing/2014/main" id="{D1809577-85F2-F376-C152-89270E4B37AD}"/>
                  </a:ext>
                </a:extLst>
              </p:cNvPr>
              <p:cNvSpPr txBox="1">
                <a:spLocks noRot="1" noChangeAspect="1" noMove="1" noResize="1" noEditPoints="1" noAdjustHandles="1" noChangeArrowheads="1" noChangeShapeType="1" noTextEdit="1"/>
              </p:cNvSpPr>
              <p:nvPr/>
            </p:nvSpPr>
            <p:spPr>
              <a:xfrm>
                <a:off x="2794498" y="3810000"/>
                <a:ext cx="2272802" cy="69672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726479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3CED8-FA87-A551-F77B-8970FD1B0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93382-8DA4-71AE-8744-4AEC7C4883F5}"/>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p:sp>
        <p:nvSpPr>
          <p:cNvPr id="3" name="TextBox 2">
            <a:extLst>
              <a:ext uri="{FF2B5EF4-FFF2-40B4-BE49-F238E27FC236}">
                <a16:creationId xmlns:a16="http://schemas.microsoft.com/office/drawing/2014/main" id="{6F746F5C-79D3-7A4A-3E46-198470089E60}"/>
              </a:ext>
            </a:extLst>
          </p:cNvPr>
          <p:cNvSpPr txBox="1"/>
          <p:nvPr/>
        </p:nvSpPr>
        <p:spPr>
          <a:xfrm>
            <a:off x="304800" y="1524000"/>
            <a:ext cx="11734800" cy="923330"/>
          </a:xfrm>
          <a:prstGeom prst="rect">
            <a:avLst/>
          </a:prstGeom>
          <a:noFill/>
        </p:spPr>
        <p:txBody>
          <a:bodyPr wrap="square" rtlCol="0">
            <a:spAutoFit/>
          </a:bodyPr>
          <a:lstStyle/>
          <a:p>
            <a:pPr algn="l"/>
            <a:r>
              <a:rPr lang="en-US" b="1" u="sng" dirty="0"/>
              <a:t>Critical </a:t>
            </a:r>
            <a:r>
              <a:rPr lang="en-US" b="1" u="sng" dirty="0" err="1"/>
              <a:t>AoA</a:t>
            </a:r>
            <a:r>
              <a:rPr lang="en-US" b="1" dirty="0"/>
              <a:t>: </a:t>
            </a:r>
            <a:r>
              <a:rPr lang="en-US" dirty="0"/>
              <a:t>In other words, as the </a:t>
            </a:r>
            <a:r>
              <a:rPr lang="en-US" b="1" dirty="0" err="1"/>
              <a:t>AoA</a:t>
            </a:r>
            <a:r>
              <a:rPr lang="en-US" b="1" dirty="0"/>
              <a:t> increases</a:t>
            </a:r>
            <a:r>
              <a:rPr lang="en-US" dirty="0"/>
              <a:t>, the </a:t>
            </a:r>
            <a:r>
              <a:rPr lang="en-US" b="1" dirty="0"/>
              <a:t>Coefficient of Lift increases</a:t>
            </a:r>
            <a:r>
              <a:rPr lang="en-US" dirty="0"/>
              <a:t> until a point after which the </a:t>
            </a:r>
            <a:r>
              <a:rPr lang="en-US" b="1" dirty="0"/>
              <a:t>Separation</a:t>
            </a:r>
            <a:r>
              <a:rPr lang="en-US" dirty="0"/>
              <a:t> (of the wind from the wing’s surface) is maximum, then </a:t>
            </a:r>
            <a:r>
              <a:rPr lang="en-US" b="1" dirty="0"/>
              <a:t>lift</a:t>
            </a:r>
            <a:r>
              <a:rPr lang="en-US" dirty="0"/>
              <a:t> starts </a:t>
            </a:r>
            <a:r>
              <a:rPr lang="en-US" b="1" dirty="0"/>
              <a:t>decreasing</a:t>
            </a:r>
            <a:r>
              <a:rPr lang="en-US" dirty="0"/>
              <a:t> after that </a:t>
            </a:r>
            <a:r>
              <a:rPr lang="en-US" dirty="0" err="1"/>
              <a:t>AoA</a:t>
            </a:r>
            <a:r>
              <a:rPr lang="en-US" dirty="0"/>
              <a:t>. This is called </a:t>
            </a:r>
            <a:r>
              <a:rPr lang="en-US" b="1" dirty="0"/>
              <a:t>Stalling.</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6ABF29A-6211-C3E5-5219-2D1429B02388}"/>
                  </a:ext>
                </a:extLst>
              </p:cNvPr>
              <p:cNvSpPr txBox="1"/>
              <p:nvPr/>
            </p:nvSpPr>
            <p:spPr>
              <a:xfrm>
                <a:off x="228600" y="5917095"/>
                <a:ext cx="11887200" cy="427746"/>
              </a:xfrm>
              <a:prstGeom prst="rect">
                <a:avLst/>
              </a:prstGeom>
              <a:noFill/>
            </p:spPr>
            <p:txBody>
              <a:bodyPr wrap="square" rtlCol="0">
                <a:spAutoFit/>
              </a:bodyPr>
              <a:lstStyle/>
              <a:p>
                <a:r>
                  <a:rPr lang="en-US" dirty="0"/>
                  <a:t>This equation is used to find the </a:t>
                </a:r>
                <a:r>
                  <a:rPr lang="en-US" b="1" dirty="0"/>
                  <a:t>Stall Velocity</a:t>
                </a:r>
                <a:r>
                  <a:rPr lang="en-US" dirty="0"/>
                  <a:t>, the velocity at which </a:t>
                </a:r>
                <a:r>
                  <a:rPr lang="en-US" b="1" dirty="0"/>
                  <a:t>the stall happens</a:t>
                </a:r>
                <a:r>
                  <a:rPr lang="en-US" dirty="0"/>
                  <a:t> and is </a:t>
                </a:r>
                <a:r>
                  <a:rPr lang="en-US" b="1" dirty="0"/>
                  <a:t>dependent</a:t>
                </a:r>
                <a:r>
                  <a:rPr lang="en-US" dirty="0"/>
                  <a:t> on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𝑪</m:t>
                        </m:r>
                      </m:e>
                      <m:sub>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𝑳</m:t>
                            </m:r>
                          </m:e>
                          <m:sub>
                            <m:r>
                              <a:rPr lang="en-US" sz="2000" b="1" i="1" smtClean="0">
                                <a:latin typeface="Cambria Math" panose="02040503050406030204" pitchFamily="18" charset="0"/>
                              </a:rPr>
                              <m:t>𝒎𝒂𝒙</m:t>
                            </m:r>
                          </m:sub>
                        </m:sSub>
                      </m:sub>
                    </m:sSub>
                  </m:oMath>
                </a14:m>
                <a:endParaRPr lang="en-US" sz="2000" b="1" dirty="0"/>
              </a:p>
            </p:txBody>
          </p:sp>
        </mc:Choice>
        <mc:Fallback xmlns="">
          <p:sp>
            <p:nvSpPr>
              <p:cNvPr id="6" name="TextBox 5">
                <a:extLst>
                  <a:ext uri="{FF2B5EF4-FFF2-40B4-BE49-F238E27FC236}">
                    <a16:creationId xmlns:a16="http://schemas.microsoft.com/office/drawing/2014/main" id="{96ABF29A-6211-C3E5-5219-2D1429B02388}"/>
                  </a:ext>
                </a:extLst>
              </p:cNvPr>
              <p:cNvSpPr txBox="1">
                <a:spLocks noRot="1" noChangeAspect="1" noMove="1" noResize="1" noEditPoints="1" noAdjustHandles="1" noChangeArrowheads="1" noChangeShapeType="1" noTextEdit="1"/>
              </p:cNvSpPr>
              <p:nvPr/>
            </p:nvSpPr>
            <p:spPr>
              <a:xfrm>
                <a:off x="228600" y="5917095"/>
                <a:ext cx="11887200" cy="427746"/>
              </a:xfrm>
              <a:prstGeom prst="rect">
                <a:avLst/>
              </a:prstGeom>
              <a:blipFill>
                <a:blip r:embed="rId2"/>
                <a:stretch>
                  <a:fillRect l="-462" t="-2857" b="-1428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14B57A1-B1CA-6858-85B7-70133A6146A0}"/>
              </a:ext>
            </a:extLst>
          </p:cNvPr>
          <p:cNvSpPr txBox="1"/>
          <p:nvPr/>
        </p:nvSpPr>
        <p:spPr>
          <a:xfrm>
            <a:off x="304800" y="2708317"/>
            <a:ext cx="11734800" cy="369332"/>
          </a:xfrm>
          <a:prstGeom prst="rect">
            <a:avLst/>
          </a:prstGeom>
          <a:noFill/>
        </p:spPr>
        <p:txBody>
          <a:bodyPr wrap="square" rtlCol="0">
            <a:spAutoFit/>
          </a:bodyPr>
          <a:lstStyle/>
          <a:p>
            <a:r>
              <a:rPr lang="en-US" dirty="0"/>
              <a:t>Mathematically,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F90A4F3-C719-3866-1AED-C09CE6BA4526}"/>
                  </a:ext>
                </a:extLst>
              </p:cNvPr>
              <p:cNvSpPr txBox="1"/>
              <p:nvPr/>
            </p:nvSpPr>
            <p:spPr>
              <a:xfrm>
                <a:off x="4332302" y="2892983"/>
                <a:ext cx="3527396" cy="2833340"/>
              </a:xfrm>
              <a:prstGeom prst="rect">
                <a:avLst/>
              </a:prstGeom>
              <a:noFill/>
            </p:spPr>
            <p:txBody>
              <a:bodyPr wrap="square" rtlCol="0">
                <a:spAutoFit/>
              </a:bodyPr>
              <a:lstStyle/>
              <a:p>
                <a:r>
                  <a:rPr lang="en-US" dirty="0"/>
                  <a:t>        At Stall:    </a:t>
                </a:r>
                <a14:m>
                  <m:oMath xmlns:m="http://schemas.openxmlformats.org/officeDocument/2006/math">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𝒅</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𝑪</m:t>
                            </m:r>
                          </m:e>
                          <m:sub>
                            <m:r>
                              <a:rPr lang="en-US" sz="2400" b="1" i="1" smtClean="0">
                                <a:latin typeface="Cambria Math" panose="02040503050406030204" pitchFamily="18" charset="0"/>
                              </a:rPr>
                              <m:t>𝑳</m:t>
                            </m:r>
                          </m:sub>
                        </m:sSub>
                      </m:num>
                      <m:den>
                        <m:r>
                          <a:rPr lang="en-US" sz="2400" b="1" i="1" smtClean="0">
                            <a:latin typeface="Cambria Math" panose="02040503050406030204" pitchFamily="18" charset="0"/>
                          </a:rPr>
                          <m:t>𝒅</m:t>
                        </m:r>
                        <m:r>
                          <a:rPr lang="en-US" sz="2400" b="1" i="1" smtClean="0">
                            <a:latin typeface="Cambria Math" panose="02040503050406030204" pitchFamily="18" charset="0"/>
                          </a:rPr>
                          <m:t>𝜶</m:t>
                        </m:r>
                      </m:den>
                    </m:f>
                    <m:r>
                      <a:rPr lang="en-US" sz="2400" b="1" i="1" smtClean="0">
                        <a:latin typeface="Cambria Math" panose="02040503050406030204" pitchFamily="18" charset="0"/>
                      </a:rPr>
                      <m:t>=</m:t>
                    </m:r>
                    <m:r>
                      <a:rPr lang="en-US" sz="2400" b="1" i="1" smtClean="0">
                        <a:latin typeface="Cambria Math" panose="02040503050406030204" pitchFamily="18" charset="0"/>
                      </a:rPr>
                      <m:t>𝟎</m:t>
                    </m:r>
                  </m:oMath>
                </a14:m>
                <a:endParaRPr lang="en-US" sz="2400" b="1" dirty="0"/>
              </a:p>
              <a:p>
                <a:endParaRPr lang="en-US" sz="2400" b="1" dirty="0"/>
              </a:p>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𝑳</m:t>
                          </m:r>
                        </m:e>
                        <m:sub>
                          <m:r>
                            <a:rPr lang="en-US" sz="2400" b="1" i="1" smtClean="0">
                              <a:latin typeface="Cambria Math" panose="02040503050406030204" pitchFamily="18" charset="0"/>
                            </a:rPr>
                            <m:t>𝒔𝒕𝒂𝒍𝒍</m:t>
                          </m:r>
                        </m:sub>
                      </m:sSub>
                      <m:r>
                        <a:rPr lang="en-US" sz="2400" b="1" i="1" smtClean="0">
                          <a:latin typeface="Cambria Math" panose="02040503050406030204" pitchFamily="18" charset="0"/>
                        </a:rPr>
                        <m:t>=</m:t>
                      </m:r>
                      <m:r>
                        <a:rPr lang="en-US" sz="2400" b="1" i="1" smtClean="0">
                          <a:latin typeface="Cambria Math" panose="02040503050406030204" pitchFamily="18" charset="0"/>
                        </a:rPr>
                        <m:t>𝑾</m:t>
                      </m:r>
                    </m:oMath>
                  </m:oMathPara>
                </a14:m>
                <a:endParaRPr lang="en-US" sz="2400"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𝑪</m:t>
                          </m:r>
                        </m:e>
                        <m:sub>
                          <m:r>
                            <a:rPr lang="en-US" sz="2400" b="1" i="1" smtClean="0">
                              <a:latin typeface="Cambria Math" panose="02040503050406030204" pitchFamily="18" charset="0"/>
                            </a:rPr>
                            <m:t>𝑳</m:t>
                          </m:r>
                        </m:sub>
                      </m:sSub>
                      <m:r>
                        <a:rPr lang="en-US" sz="2400" b="1" i="1" smtClean="0">
                          <a:latin typeface="Cambria Math" panose="02040503050406030204" pitchFamily="18" charset="0"/>
                        </a:rPr>
                        <m:t>=</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𝑪</m:t>
                          </m:r>
                        </m:e>
                        <m:sub>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𝑳</m:t>
                              </m:r>
                            </m:e>
                            <m:sub>
                              <m:r>
                                <a:rPr lang="en-US" sz="2400" b="1" i="1" smtClean="0">
                                  <a:latin typeface="Cambria Math" panose="02040503050406030204" pitchFamily="18" charset="0"/>
                                </a:rPr>
                                <m:t>𝒎𝒂𝒙</m:t>
                              </m:r>
                            </m:sub>
                          </m:sSub>
                        </m:sub>
                      </m:sSub>
                    </m:oMath>
                  </m:oMathPara>
                </a14:m>
                <a:endParaRPr lang="en-US" sz="2400" b="1" dirty="0"/>
              </a:p>
              <a:p>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𝑠𝑡𝑎𝑙𝑙</m:t>
                          </m:r>
                        </m:sub>
                      </m:sSub>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𝜌</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𝑉</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𝑪</m:t>
                          </m:r>
                        </m:e>
                        <m:sub>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𝑳</m:t>
                              </m:r>
                            </m:e>
                            <m:sub>
                              <m:r>
                                <a:rPr lang="en-US" sz="2400" b="1" i="1" smtClean="0">
                                  <a:latin typeface="Cambria Math" panose="02040503050406030204" pitchFamily="18" charset="0"/>
                                </a:rPr>
                                <m:t>𝒎𝒂𝒙</m:t>
                              </m:r>
                            </m:sub>
                          </m:sSub>
                        </m:sub>
                      </m:sSub>
                    </m:oMath>
                  </m:oMathPara>
                </a14:m>
                <a:endParaRPr lang="en-US" sz="2400" b="1" dirty="0"/>
              </a:p>
            </p:txBody>
          </p:sp>
        </mc:Choice>
        <mc:Fallback xmlns="">
          <p:sp>
            <p:nvSpPr>
              <p:cNvPr id="5" name="TextBox 4">
                <a:extLst>
                  <a:ext uri="{FF2B5EF4-FFF2-40B4-BE49-F238E27FC236}">
                    <a16:creationId xmlns:a16="http://schemas.microsoft.com/office/drawing/2014/main" id="{AF90A4F3-C719-3866-1AED-C09CE6BA4526}"/>
                  </a:ext>
                </a:extLst>
              </p:cNvPr>
              <p:cNvSpPr txBox="1">
                <a:spLocks noRot="1" noChangeAspect="1" noMove="1" noResize="1" noEditPoints="1" noAdjustHandles="1" noChangeArrowheads="1" noChangeShapeType="1" noTextEdit="1"/>
              </p:cNvSpPr>
              <p:nvPr/>
            </p:nvSpPr>
            <p:spPr>
              <a:xfrm>
                <a:off x="4332302" y="2892983"/>
                <a:ext cx="3527396" cy="2833340"/>
              </a:xfrm>
              <a:prstGeom prst="rect">
                <a:avLst/>
              </a:prstGeom>
              <a:blipFill>
                <a:blip r:embed="rId3"/>
                <a:stretch>
                  <a:fillRect/>
                </a:stretch>
              </a:blipFill>
            </p:spPr>
            <p:txBody>
              <a:bodyPr/>
              <a:lstStyle/>
              <a:p>
                <a:r>
                  <a:rPr lang="en-US">
                    <a:noFill/>
                  </a:rPr>
                  <a:t> </a:t>
                </a:r>
              </a:p>
            </p:txBody>
          </p:sp>
        </mc:Fallback>
      </mc:AlternateContent>
      <p:sp>
        <p:nvSpPr>
          <p:cNvPr id="7" name="Frame 6">
            <a:extLst>
              <a:ext uri="{FF2B5EF4-FFF2-40B4-BE49-F238E27FC236}">
                <a16:creationId xmlns:a16="http://schemas.microsoft.com/office/drawing/2014/main" id="{CEF29830-A716-0378-ED52-594B6BB2B09F}"/>
              </a:ext>
            </a:extLst>
          </p:cNvPr>
          <p:cNvSpPr/>
          <p:nvPr/>
        </p:nvSpPr>
        <p:spPr>
          <a:xfrm>
            <a:off x="4648200" y="2892983"/>
            <a:ext cx="2667000" cy="709006"/>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319449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B9466-C39A-2538-86DB-FFE71BEB7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C5D5B-C150-1CC9-DCEC-E683FA6E7F08}"/>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6E62A10-A119-A467-777B-E1821ED52D8D}"/>
                  </a:ext>
                </a:extLst>
              </p:cNvPr>
              <p:cNvSpPr txBox="1"/>
              <p:nvPr/>
            </p:nvSpPr>
            <p:spPr>
              <a:xfrm>
                <a:off x="304800" y="1524000"/>
                <a:ext cx="11734800" cy="1289840"/>
              </a:xfrm>
              <a:prstGeom prst="rect">
                <a:avLst/>
              </a:prstGeom>
              <a:noFill/>
            </p:spPr>
            <p:txBody>
              <a:bodyPr wrap="square" rtlCol="0">
                <a:spAutoFit/>
              </a:bodyPr>
              <a:lstStyle/>
              <a:p>
                <a:pPr algn="l"/>
                <a:r>
                  <a:rPr lang="en-US" b="1" u="sng" dirty="0"/>
                  <a:t>Stall Velocity</a:t>
                </a:r>
                <a:r>
                  <a:rPr lang="en-US" b="1" dirty="0"/>
                  <a:t>: </a:t>
                </a:r>
                <a:r>
                  <a:rPr lang="en-US" dirty="0"/>
                  <a:t>Stall speed is the </a:t>
                </a:r>
                <a:r>
                  <a:rPr lang="en-US" b="1" dirty="0"/>
                  <a:t>minimum speed</a:t>
                </a:r>
                <a:r>
                  <a:rPr lang="en-US" dirty="0"/>
                  <a:t> at which </a:t>
                </a:r>
                <a:r>
                  <a:rPr lang="en-US" b="1" dirty="0"/>
                  <a:t>the aircraft can still generate enough lift</a:t>
                </a:r>
                <a:r>
                  <a:rPr lang="en-US" dirty="0"/>
                  <a:t> to balance its weight </a:t>
                </a:r>
                <a:r>
                  <a:rPr lang="en-US" b="1" dirty="0"/>
                  <a:t>without exceeding </a:t>
                </a:r>
                <a:r>
                  <a:rPr lang="en-US" dirty="0"/>
                  <a:t>the </a:t>
                </a:r>
                <a:r>
                  <a:rPr lang="en-US" b="1" dirty="0"/>
                  <a:t>critical </a:t>
                </a:r>
                <a:r>
                  <a:rPr lang="en-US" b="1" dirty="0" err="1"/>
                  <a:t>AoA</a:t>
                </a:r>
                <a:r>
                  <a:rPr lang="en-US" dirty="0"/>
                  <a:t>. Not the speed at which the aircraft stalls, </a:t>
                </a:r>
                <a:r>
                  <a:rPr lang="en-US" b="1" dirty="0"/>
                  <a:t>the speed isn’t the reason for the stall</a:t>
                </a:r>
                <a:r>
                  <a:rPr lang="en-US" dirty="0"/>
                  <a:t>. The stall speed is </a:t>
                </a:r>
                <a:r>
                  <a:rPr lang="en-US" b="1" dirty="0"/>
                  <a:t>dependent</a:t>
                </a:r>
                <a:r>
                  <a:rPr lang="en-US" dirty="0"/>
                  <a:t> on the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𝑪</m:t>
                        </m:r>
                      </m:e>
                      <m:sub>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𝑳</m:t>
                            </m:r>
                          </m:e>
                          <m:sub>
                            <m:r>
                              <a:rPr lang="en-US" sz="2000" b="1" i="1" smtClean="0">
                                <a:latin typeface="Cambria Math" panose="02040503050406030204" pitchFamily="18" charset="0"/>
                              </a:rPr>
                              <m:t>𝒎𝒂𝒙</m:t>
                            </m:r>
                          </m:sub>
                        </m:sSub>
                      </m:sub>
                    </m:sSub>
                  </m:oMath>
                </a14:m>
                <a:r>
                  <a:rPr lang="en-US" dirty="0"/>
                  <a:t>, its </a:t>
                </a:r>
                <a:r>
                  <a:rPr lang="en-US" b="1" dirty="0"/>
                  <a:t>weight</a:t>
                </a:r>
                <a:r>
                  <a:rPr lang="en-US" dirty="0"/>
                  <a:t>, </a:t>
                </a:r>
                <a:r>
                  <a:rPr lang="en-US" b="1" dirty="0"/>
                  <a:t>surface area</a:t>
                </a:r>
                <a:r>
                  <a:rPr lang="en-US" dirty="0"/>
                  <a:t> (affected by flaps) and the </a:t>
                </a:r>
                <a:r>
                  <a:rPr lang="en-US" b="1" dirty="0"/>
                  <a:t>air density</a:t>
                </a:r>
                <a:r>
                  <a:rPr lang="en-US" dirty="0"/>
                  <a:t> (</a:t>
                </a:r>
                <a:r>
                  <a:rPr lang="en-US" sz="2000" b="1" dirty="0"/>
                  <a:t>𝜌</a:t>
                </a:r>
                <a:r>
                  <a:rPr lang="en-US" dirty="0"/>
                  <a:t>, dependent on </a:t>
                </a:r>
                <a:r>
                  <a:rPr lang="en-US" b="1" dirty="0"/>
                  <a:t>height</a:t>
                </a:r>
                <a:r>
                  <a:rPr lang="en-US" dirty="0"/>
                  <a:t>)</a:t>
                </a:r>
              </a:p>
            </p:txBody>
          </p:sp>
        </mc:Choice>
        <mc:Fallback xmlns="">
          <p:sp>
            <p:nvSpPr>
              <p:cNvPr id="3" name="TextBox 2">
                <a:extLst>
                  <a:ext uri="{FF2B5EF4-FFF2-40B4-BE49-F238E27FC236}">
                    <a16:creationId xmlns:a16="http://schemas.microsoft.com/office/drawing/2014/main" id="{36E62A10-A119-A467-777B-E1821ED52D8D}"/>
                  </a:ext>
                </a:extLst>
              </p:cNvPr>
              <p:cNvSpPr txBox="1">
                <a:spLocks noRot="1" noChangeAspect="1" noMove="1" noResize="1" noEditPoints="1" noAdjustHandles="1" noChangeArrowheads="1" noChangeShapeType="1" noTextEdit="1"/>
              </p:cNvSpPr>
              <p:nvPr/>
            </p:nvSpPr>
            <p:spPr>
              <a:xfrm>
                <a:off x="304800" y="1524000"/>
                <a:ext cx="11734800" cy="1289840"/>
              </a:xfrm>
              <a:prstGeom prst="rect">
                <a:avLst/>
              </a:prstGeom>
              <a:blipFill>
                <a:blip r:embed="rId2"/>
                <a:stretch>
                  <a:fillRect l="-416" t="-2358" r="-779" b="-707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60F8213-81D1-CA7D-65DB-127A843A77E5}"/>
              </a:ext>
            </a:extLst>
          </p:cNvPr>
          <p:cNvSpPr txBox="1"/>
          <p:nvPr/>
        </p:nvSpPr>
        <p:spPr>
          <a:xfrm>
            <a:off x="228600" y="5917095"/>
            <a:ext cx="11887200" cy="400110"/>
          </a:xfrm>
          <a:prstGeom prst="rect">
            <a:avLst/>
          </a:prstGeom>
          <a:noFill/>
        </p:spPr>
        <p:txBody>
          <a:bodyPr wrap="square" rtlCol="0">
            <a:spAutoFit/>
          </a:bodyPr>
          <a:lstStyle/>
          <a:p>
            <a:r>
              <a:rPr lang="en-US" dirty="0"/>
              <a:t>This equation is the </a:t>
            </a:r>
            <a:r>
              <a:rPr lang="en-US" b="1" dirty="0"/>
              <a:t>Stall Velocity</a:t>
            </a:r>
            <a:r>
              <a:rPr lang="en-US" dirty="0"/>
              <a:t>, the velocity at which </a:t>
            </a:r>
            <a:r>
              <a:rPr lang="en-US" b="1" dirty="0"/>
              <a:t>the stall happens </a:t>
            </a:r>
            <a:r>
              <a:rPr lang="en-US" dirty="0"/>
              <a:t>and is </a:t>
            </a:r>
            <a:r>
              <a:rPr lang="en-US" b="1" dirty="0"/>
              <a:t>not constant</a:t>
            </a:r>
            <a:endParaRPr lang="en-US" sz="2000" b="1" dirty="0"/>
          </a:p>
        </p:txBody>
      </p:sp>
      <p:sp>
        <p:nvSpPr>
          <p:cNvPr id="4" name="TextBox 3">
            <a:extLst>
              <a:ext uri="{FF2B5EF4-FFF2-40B4-BE49-F238E27FC236}">
                <a16:creationId xmlns:a16="http://schemas.microsoft.com/office/drawing/2014/main" id="{B08C1B8A-1C41-9E55-81C5-34761F67DC0D}"/>
              </a:ext>
            </a:extLst>
          </p:cNvPr>
          <p:cNvSpPr txBox="1"/>
          <p:nvPr/>
        </p:nvSpPr>
        <p:spPr>
          <a:xfrm>
            <a:off x="304800" y="2911270"/>
            <a:ext cx="11734800" cy="369332"/>
          </a:xfrm>
          <a:prstGeom prst="rect">
            <a:avLst/>
          </a:prstGeom>
          <a:noFill/>
        </p:spPr>
        <p:txBody>
          <a:bodyPr wrap="square" rtlCol="0">
            <a:spAutoFit/>
          </a:bodyPr>
          <a:lstStyle/>
          <a:p>
            <a:r>
              <a:rPr lang="en-US" dirty="0"/>
              <a:t>Mathematically, at Stall: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A33DA6F-0237-DF35-4359-64A890035361}"/>
                  </a:ext>
                </a:extLst>
              </p:cNvPr>
              <p:cNvSpPr txBox="1"/>
              <p:nvPr/>
            </p:nvSpPr>
            <p:spPr>
              <a:xfrm>
                <a:off x="3804451" y="3058636"/>
                <a:ext cx="4583098" cy="26136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𝑠𝑡𝑎𝑙𝑙</m:t>
                          </m:r>
                        </m:sub>
                      </m:sSub>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𝜌</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𝑉</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𝑆</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𝑚𝑎𝑥</m:t>
                              </m:r>
                            </m:sub>
                          </m:sSub>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𝑠𝑡𝑎𝑙𝑙</m:t>
                          </m:r>
                        </m:sub>
                      </m:sSub>
                      <m:r>
                        <a:rPr lang="en-US" sz="2400" b="0" i="1" smtClean="0">
                          <a:latin typeface="Cambria Math" panose="02040503050406030204" pitchFamily="18" charset="0"/>
                        </a:rPr>
                        <m:t>=</m:t>
                      </m:r>
                      <m:r>
                        <a:rPr lang="en-US" sz="2400" b="0" i="1" smtClean="0">
                          <a:latin typeface="Cambria Math" panose="02040503050406030204" pitchFamily="18" charset="0"/>
                        </a:rPr>
                        <m:t>𝑊</m:t>
                      </m:r>
                    </m:oMath>
                  </m:oMathPara>
                </a14:m>
                <a:endParaRPr lang="en-US" sz="2400" dirty="0"/>
              </a:p>
              <a:p>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𝑉</m:t>
                      </m:r>
                      <m:r>
                        <a:rPr lang="en-US" sz="2400" b="0" i="1" smtClean="0">
                          <a:latin typeface="Cambria Math" panose="02040503050406030204" pitchFamily="18" charset="0"/>
                        </a:rPr>
                        <m:t>= </m:t>
                      </m:r>
                      <m:rad>
                        <m:radPr>
                          <m:degHide m:val="on"/>
                          <m:ctrlPr>
                            <a:rPr lang="en-US"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r>
                                <a:rPr lang="en-US" sz="2400" b="0" i="1" smtClean="0">
                                  <a:latin typeface="Cambria Math" panose="02040503050406030204" pitchFamily="18" charset="0"/>
                                </a:rPr>
                                <m:t>𝑊</m:t>
                              </m:r>
                            </m:num>
                            <m:den>
                              <m:r>
                                <a:rPr lang="en-US" sz="2400" b="0" i="1" smtClean="0">
                                  <a:latin typeface="Cambria Math" panose="02040503050406030204" pitchFamily="18" charset="0"/>
                                </a:rPr>
                                <m:t>𝜌</m:t>
                              </m:r>
                              <m:r>
                                <a:rPr lang="en-US" sz="2400" b="0" i="1" smtClean="0">
                                  <a:latin typeface="Cambria Math" panose="02040503050406030204" pitchFamily="18" charset="0"/>
                                </a:rPr>
                                <m:t>𝑆</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𝑚𝑎𝑥</m:t>
                                      </m:r>
                                    </m:sub>
                                  </m:sSub>
                                </m:sub>
                              </m:sSub>
                            </m:den>
                          </m:f>
                        </m:e>
                      </m:rad>
                    </m:oMath>
                  </m:oMathPara>
                </a14:m>
                <a:endParaRPr lang="en-US" sz="2400" dirty="0"/>
              </a:p>
            </p:txBody>
          </p:sp>
        </mc:Choice>
        <mc:Fallback xmlns="">
          <p:sp>
            <p:nvSpPr>
              <p:cNvPr id="5" name="TextBox 4">
                <a:extLst>
                  <a:ext uri="{FF2B5EF4-FFF2-40B4-BE49-F238E27FC236}">
                    <a16:creationId xmlns:a16="http://schemas.microsoft.com/office/drawing/2014/main" id="{FA33DA6F-0237-DF35-4359-64A890035361}"/>
                  </a:ext>
                </a:extLst>
              </p:cNvPr>
              <p:cNvSpPr txBox="1">
                <a:spLocks noRot="1" noChangeAspect="1" noMove="1" noResize="1" noEditPoints="1" noAdjustHandles="1" noChangeArrowheads="1" noChangeShapeType="1" noTextEdit="1"/>
              </p:cNvSpPr>
              <p:nvPr/>
            </p:nvSpPr>
            <p:spPr>
              <a:xfrm>
                <a:off x="3804451" y="3058636"/>
                <a:ext cx="4583098" cy="2613664"/>
              </a:xfrm>
              <a:prstGeom prst="rect">
                <a:avLst/>
              </a:prstGeom>
              <a:blipFill>
                <a:blip r:embed="rId3"/>
                <a:stretch>
                  <a:fillRect/>
                </a:stretch>
              </a:blipFill>
            </p:spPr>
            <p:txBody>
              <a:bodyPr/>
              <a:lstStyle/>
              <a:p>
                <a:r>
                  <a:rPr lang="en-US">
                    <a:noFill/>
                  </a:rPr>
                  <a:t> </a:t>
                </a:r>
              </a:p>
            </p:txBody>
          </p:sp>
        </mc:Fallback>
      </mc:AlternateContent>
      <p:sp>
        <p:nvSpPr>
          <p:cNvPr id="7" name="Frame 6">
            <a:extLst>
              <a:ext uri="{FF2B5EF4-FFF2-40B4-BE49-F238E27FC236}">
                <a16:creationId xmlns:a16="http://schemas.microsoft.com/office/drawing/2014/main" id="{CD3EFA93-E9BD-3E9A-45C2-5DD2C7D93244}"/>
              </a:ext>
            </a:extLst>
          </p:cNvPr>
          <p:cNvSpPr/>
          <p:nvPr/>
        </p:nvSpPr>
        <p:spPr>
          <a:xfrm>
            <a:off x="4572000" y="4492897"/>
            <a:ext cx="3048000" cy="1196208"/>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endParaRPr>
          </a:p>
        </p:txBody>
      </p:sp>
      <p:sp>
        <p:nvSpPr>
          <p:cNvPr id="8" name="Frame 7">
            <a:extLst>
              <a:ext uri="{FF2B5EF4-FFF2-40B4-BE49-F238E27FC236}">
                <a16:creationId xmlns:a16="http://schemas.microsoft.com/office/drawing/2014/main" id="{AFA72CB7-FB3E-95DA-2202-E39781250445}"/>
              </a:ext>
            </a:extLst>
          </p:cNvPr>
          <p:cNvSpPr/>
          <p:nvPr/>
        </p:nvSpPr>
        <p:spPr>
          <a:xfrm>
            <a:off x="4648200" y="3086847"/>
            <a:ext cx="2895600" cy="1144449"/>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803135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24A23-C513-16B0-24DB-137A7C3FC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72216-31E2-E4F3-631B-24DCFD159EFA}"/>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p:sp>
        <p:nvSpPr>
          <p:cNvPr id="3" name="TextBox 2">
            <a:extLst>
              <a:ext uri="{FF2B5EF4-FFF2-40B4-BE49-F238E27FC236}">
                <a16:creationId xmlns:a16="http://schemas.microsoft.com/office/drawing/2014/main" id="{DF92BEBD-2727-A0CA-64E0-FC8BADA7E7B7}"/>
              </a:ext>
            </a:extLst>
          </p:cNvPr>
          <p:cNvSpPr txBox="1"/>
          <p:nvPr/>
        </p:nvSpPr>
        <p:spPr>
          <a:xfrm>
            <a:off x="304800" y="1524000"/>
            <a:ext cx="11734800" cy="1477328"/>
          </a:xfrm>
          <a:prstGeom prst="rect">
            <a:avLst/>
          </a:prstGeom>
          <a:noFill/>
        </p:spPr>
        <p:txBody>
          <a:bodyPr wrap="square" rtlCol="0">
            <a:spAutoFit/>
          </a:bodyPr>
          <a:lstStyle/>
          <a:p>
            <a:pPr algn="l"/>
            <a:r>
              <a:rPr lang="en-US" b="1" u="sng" dirty="0"/>
              <a:t>High-speed stalls</a:t>
            </a:r>
            <a:r>
              <a:rPr lang="en-US" b="1" dirty="0"/>
              <a:t>: </a:t>
            </a:r>
            <a:r>
              <a:rPr lang="en-US" dirty="0"/>
              <a:t>A high-speed stall occurs when an aircraft exceeds the critical angle of attack at high speed due to increased load factor during aggressive maneuvers, despite having high forward velocity.</a:t>
            </a:r>
          </a:p>
          <a:p>
            <a:pPr algn="l"/>
            <a:endParaRPr lang="en-US" dirty="0"/>
          </a:p>
          <a:p>
            <a:pPr algn="l"/>
            <a:r>
              <a:rPr lang="en-US" dirty="0"/>
              <a:t>This strongly depends on load factor, as increased load factor raises the required lift and forces the aircraft to exceed the critical angle of attack, even at high speeds.</a:t>
            </a:r>
          </a:p>
        </p:txBody>
      </p:sp>
      <p:sp>
        <p:nvSpPr>
          <p:cNvPr id="6" name="TextBox 5">
            <a:extLst>
              <a:ext uri="{FF2B5EF4-FFF2-40B4-BE49-F238E27FC236}">
                <a16:creationId xmlns:a16="http://schemas.microsoft.com/office/drawing/2014/main" id="{B654EB62-42CF-CF7F-378C-218F1C53FEFC}"/>
              </a:ext>
            </a:extLst>
          </p:cNvPr>
          <p:cNvSpPr txBox="1"/>
          <p:nvPr/>
        </p:nvSpPr>
        <p:spPr>
          <a:xfrm>
            <a:off x="228600" y="5833526"/>
            <a:ext cx="11887200" cy="677108"/>
          </a:xfrm>
          <a:prstGeom prst="rect">
            <a:avLst/>
          </a:prstGeom>
          <a:noFill/>
        </p:spPr>
        <p:txBody>
          <a:bodyPr wrap="square" rtlCol="0">
            <a:spAutoFit/>
          </a:bodyPr>
          <a:lstStyle/>
          <a:p>
            <a:r>
              <a:rPr lang="en-US" dirty="0"/>
              <a:t>In high-speed stalls, increased load factor is the primary reason the aircraft reaches the critical angle of attack at higher speeds.</a:t>
            </a:r>
            <a:endParaRPr lang="en-US" sz="2000" b="1" dirty="0"/>
          </a:p>
        </p:txBody>
      </p:sp>
      <p:sp>
        <p:nvSpPr>
          <p:cNvPr id="4" name="TextBox 3">
            <a:extLst>
              <a:ext uri="{FF2B5EF4-FFF2-40B4-BE49-F238E27FC236}">
                <a16:creationId xmlns:a16="http://schemas.microsoft.com/office/drawing/2014/main" id="{23E2CA38-6310-7616-7839-A1280E0C5900}"/>
              </a:ext>
            </a:extLst>
          </p:cNvPr>
          <p:cNvSpPr txBox="1"/>
          <p:nvPr/>
        </p:nvSpPr>
        <p:spPr>
          <a:xfrm>
            <a:off x="304800" y="3244334"/>
            <a:ext cx="11734800" cy="369332"/>
          </a:xfrm>
          <a:prstGeom prst="rect">
            <a:avLst/>
          </a:prstGeom>
          <a:noFill/>
        </p:spPr>
        <p:txBody>
          <a:bodyPr wrap="square" rtlCol="0">
            <a:spAutoFit/>
          </a:bodyPr>
          <a:lstStyle/>
          <a:p>
            <a:r>
              <a:rPr lang="en-US" dirty="0"/>
              <a:t>Mathematically: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5304727-305A-C971-D532-59BCDCBF640F}"/>
                  </a:ext>
                </a:extLst>
              </p:cNvPr>
              <p:cNvSpPr txBox="1"/>
              <p:nvPr/>
            </p:nvSpPr>
            <p:spPr>
              <a:xfrm>
                <a:off x="2930925" y="3100113"/>
                <a:ext cx="6330149" cy="27059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𝐿𝑜𝑎𝑑</m:t>
                      </m:r>
                      <m:r>
                        <a:rPr lang="en-US" sz="2400" b="0" i="1" smtClean="0">
                          <a:latin typeface="Cambria Math" panose="02040503050406030204" pitchFamily="18" charset="0"/>
                        </a:rPr>
                        <m:t> </m:t>
                      </m:r>
                      <m:r>
                        <a:rPr lang="en-US" sz="2400" b="0" i="1" smtClean="0">
                          <a:latin typeface="Cambria Math" panose="02040503050406030204" pitchFamily="18" charset="0"/>
                        </a:rPr>
                        <m:t>𝐹𝑎𝑐𝑡𝑜𝑟</m:t>
                      </m:r>
                      <m:r>
                        <a:rPr lang="en-US" sz="2400" b="0" i="1" smtClean="0">
                          <a:latin typeface="Cambria Math" panose="02040503050406030204" pitchFamily="18" charset="0"/>
                        </a:rPr>
                        <m:t> </m:t>
                      </m:r>
                      <m:r>
                        <a:rPr lang="en-US" sz="2400" b="0" i="1" smtClean="0">
                          <a:latin typeface="Cambria Math" panose="02040503050406030204" pitchFamily="18" charset="0"/>
                        </a:rPr>
                        <m:t>𝑛</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𝐿𝑖𝑓𝑡</m:t>
                          </m:r>
                        </m:num>
                        <m:den>
                          <m:r>
                            <a:rPr lang="en-US" sz="2400" b="0" i="1" smtClean="0">
                              <a:latin typeface="Cambria Math" panose="02040503050406030204" pitchFamily="18" charset="0"/>
                            </a:rPr>
                            <m:t>𝑊𝑒𝑖𝑔</m:t>
                          </m:r>
                          <m:r>
                            <a:rPr lang="en-US" sz="2400" b="0" i="1" smtClean="0">
                              <a:latin typeface="Cambria Math" panose="02040503050406030204" pitchFamily="18" charset="0"/>
                            </a:rPr>
                            <m:t>h</m:t>
                          </m:r>
                          <m:r>
                            <a:rPr lang="en-US" sz="2400" b="0" i="1" smtClean="0">
                              <a:latin typeface="Cambria Math" panose="02040503050406030204" pitchFamily="18" charset="0"/>
                            </a:rPr>
                            <m:t>𝑡</m:t>
                          </m:r>
                        </m:den>
                      </m:f>
                    </m:oMath>
                  </m:oMathPara>
                </a14:m>
                <a:endParaRPr lang="en-US" sz="2400" i="1" dirty="0">
                  <a:latin typeface="Cambria Math" panose="02040503050406030204" pitchFamily="18" charset="0"/>
                </a:endParaRPr>
              </a:p>
              <a:p>
                <a:endParaRPr lang="en-US" sz="2400" b="0" dirty="0">
                  <a:latin typeface="Cambria Math" panose="02040503050406030204" pitchFamily="18" charset="0"/>
                </a:endParaRPr>
              </a:p>
              <a:p>
                <a:pPr algn="ctr"/>
                <a:r>
                  <a:rPr lang="en-US" sz="2400" b="0" dirty="0">
                    <a:latin typeface="Cambria Math" panose="02040503050406030204" pitchFamily="18" charset="0"/>
                  </a:rPr>
                  <a:t>n = 1G</a:t>
                </a:r>
                <a:r>
                  <a:rPr lang="en-US" sz="2400" b="0" dirty="0">
                    <a:latin typeface="Cambria Math" panose="02040503050406030204" pitchFamily="18" charset="0"/>
                    <a:sym typeface="Wingdings" panose="05000000000000000000" pitchFamily="2" charset="2"/>
                  </a:rPr>
                  <a:t> sitting still/cruising</a:t>
                </a:r>
              </a:p>
              <a:p>
                <a:pPr algn="ctr"/>
                <a:r>
                  <a:rPr lang="en-US" sz="2400" b="0" dirty="0">
                    <a:latin typeface="Cambria Math" panose="02040503050406030204" pitchFamily="18" charset="0"/>
                    <a:sym typeface="Wingdings" panose="05000000000000000000" pitchFamily="2" charset="2"/>
                  </a:rPr>
                  <a:t>n &gt; 1G  Higher lift/elevator going up/turns</a:t>
                </a:r>
              </a:p>
              <a:p>
                <a:pPr algn="ctr"/>
                <a:r>
                  <a:rPr lang="en-US" sz="2400" b="0" dirty="0">
                    <a:latin typeface="Cambria Math" panose="02040503050406030204" pitchFamily="18" charset="0"/>
                    <a:sym typeface="Wingdings" panose="05000000000000000000" pitchFamily="2" charset="2"/>
                  </a:rPr>
                  <a:t>n &gt;&gt; 1G  </a:t>
                </a:r>
                <a:r>
                  <a:rPr lang="en-US" sz="2400" dirty="0">
                    <a:latin typeface="Cambria Math" panose="02040503050406030204" pitchFamily="18" charset="0"/>
                    <a:sym typeface="Wingdings" panose="05000000000000000000" pitchFamily="2" charset="2"/>
                  </a:rPr>
                  <a:t>Fighter jet </a:t>
                </a:r>
                <a:r>
                  <a:rPr lang="en-US" sz="2400" dirty="0" err="1">
                    <a:latin typeface="Cambria Math" panose="02040503050406030204" pitchFamily="18" charset="0"/>
                    <a:sym typeface="Wingdings" panose="05000000000000000000" pitchFamily="2" charset="2"/>
                  </a:rPr>
                  <a:t>manuever</a:t>
                </a:r>
                <a:r>
                  <a:rPr lang="en-US" sz="2400" dirty="0">
                    <a:latin typeface="Cambria Math" panose="02040503050406030204" pitchFamily="18" charset="0"/>
                    <a:sym typeface="Wingdings" panose="05000000000000000000" pitchFamily="2" charset="2"/>
                  </a:rPr>
                  <a:t> (~6G-9G)</a:t>
                </a:r>
              </a:p>
              <a:p>
                <a:pPr algn="ctr"/>
                <a:r>
                  <a:rPr lang="en-US" sz="2400" dirty="0">
                    <a:latin typeface="Cambria Math" panose="02040503050406030204" pitchFamily="18" charset="0"/>
                    <a:sym typeface="Wingdings" panose="05000000000000000000" pitchFamily="2" charset="2"/>
                  </a:rPr>
                  <a:t>n &lt; 1G  Low lift/descent</a:t>
                </a:r>
                <a:endParaRPr lang="en-US" sz="2400" b="0" dirty="0">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15304727-305A-C971-D532-59BCDCBF640F}"/>
                  </a:ext>
                </a:extLst>
              </p:cNvPr>
              <p:cNvSpPr txBox="1">
                <a:spLocks noRot="1" noChangeAspect="1" noMove="1" noResize="1" noEditPoints="1" noAdjustHandles="1" noChangeArrowheads="1" noChangeShapeType="1" noTextEdit="1"/>
              </p:cNvSpPr>
              <p:nvPr/>
            </p:nvSpPr>
            <p:spPr>
              <a:xfrm>
                <a:off x="2930925" y="3100113"/>
                <a:ext cx="6330149" cy="2705934"/>
              </a:xfrm>
              <a:prstGeom prst="rect">
                <a:avLst/>
              </a:prstGeom>
              <a:blipFill>
                <a:blip r:embed="rId2"/>
                <a:stretch>
                  <a:fillRect b="-4515"/>
                </a:stretch>
              </a:blipFill>
            </p:spPr>
            <p:txBody>
              <a:bodyPr/>
              <a:lstStyle/>
              <a:p>
                <a:r>
                  <a:rPr lang="en-US">
                    <a:noFill/>
                  </a:rPr>
                  <a:t> </a:t>
                </a:r>
              </a:p>
            </p:txBody>
          </p:sp>
        </mc:Fallback>
      </mc:AlternateContent>
    </p:spTree>
    <p:extLst>
      <p:ext uri="{BB962C8B-B14F-4D97-AF65-F5344CB8AC3E}">
        <p14:creationId xmlns:p14="http://schemas.microsoft.com/office/powerpoint/2010/main" val="36160772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E601B-7B0B-4032-29E5-AA8A6864E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E48A52-832A-03F5-D895-51DC447AB97C}"/>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p:sp>
        <p:nvSpPr>
          <p:cNvPr id="3" name="TextBox 2">
            <a:extLst>
              <a:ext uri="{FF2B5EF4-FFF2-40B4-BE49-F238E27FC236}">
                <a16:creationId xmlns:a16="http://schemas.microsoft.com/office/drawing/2014/main" id="{8029FFDA-A592-0847-5B94-818B44F85FF1}"/>
              </a:ext>
            </a:extLst>
          </p:cNvPr>
          <p:cNvSpPr txBox="1"/>
          <p:nvPr/>
        </p:nvSpPr>
        <p:spPr>
          <a:xfrm>
            <a:off x="304800" y="1524000"/>
            <a:ext cx="11734800" cy="2031325"/>
          </a:xfrm>
          <a:prstGeom prst="rect">
            <a:avLst/>
          </a:prstGeom>
          <a:noFill/>
        </p:spPr>
        <p:txBody>
          <a:bodyPr wrap="square" rtlCol="0">
            <a:spAutoFit/>
          </a:bodyPr>
          <a:lstStyle/>
          <a:p>
            <a:pPr algn="l"/>
            <a:r>
              <a:rPr lang="en-US" b="1" u="sng" dirty="0"/>
              <a:t>Load Factor</a:t>
            </a:r>
            <a:r>
              <a:rPr lang="en-US" b="1" dirty="0"/>
              <a:t>: </a:t>
            </a:r>
            <a:r>
              <a:rPr lang="en-US" dirty="0"/>
              <a:t>As load factor increases during high-g maneuvers such as </a:t>
            </a:r>
            <a:r>
              <a:rPr lang="en-US" b="1" dirty="0"/>
              <a:t>tight turns</a:t>
            </a:r>
            <a:r>
              <a:rPr lang="en-US" dirty="0"/>
              <a:t> or </a:t>
            </a:r>
            <a:r>
              <a:rPr lang="en-US" b="1" dirty="0"/>
              <a:t>rapid pull-ups</a:t>
            </a:r>
            <a:r>
              <a:rPr lang="en-US" dirty="0"/>
              <a:t>, the pilot experiences an apparent </a:t>
            </a:r>
            <a:r>
              <a:rPr lang="en-US" b="1" dirty="0"/>
              <a:t>increase in body weight </a:t>
            </a:r>
            <a:r>
              <a:rPr lang="en-US" dirty="0"/>
              <a:t>due to </a:t>
            </a:r>
            <a:r>
              <a:rPr lang="en-US" b="1" dirty="0"/>
              <a:t>increased acceleration forces</a:t>
            </a:r>
            <a:r>
              <a:rPr lang="en-US" dirty="0"/>
              <a:t> acting along the vertical axis. High positive g-loads </a:t>
            </a:r>
            <a:r>
              <a:rPr lang="en-US" b="1" dirty="0"/>
              <a:t>force blood toward the lower extremities</a:t>
            </a:r>
            <a:r>
              <a:rPr lang="en-US" dirty="0"/>
              <a:t>, </a:t>
            </a:r>
            <a:r>
              <a:rPr lang="en-US" b="1" dirty="0"/>
              <a:t>reducing blood flow</a:t>
            </a:r>
            <a:r>
              <a:rPr lang="en-US" dirty="0"/>
              <a:t> to the </a:t>
            </a:r>
            <a:r>
              <a:rPr lang="en-US" b="1" dirty="0"/>
              <a:t>brain</a:t>
            </a:r>
            <a:r>
              <a:rPr lang="en-US" dirty="0"/>
              <a:t> and potentially </a:t>
            </a:r>
            <a:r>
              <a:rPr lang="en-US" b="1" dirty="0"/>
              <a:t>causing visual impairment </a:t>
            </a:r>
            <a:r>
              <a:rPr lang="en-US" dirty="0"/>
              <a:t>(grey-out or black-out) and, in extreme cases, </a:t>
            </a:r>
            <a:r>
              <a:rPr lang="en-US" b="1" dirty="0"/>
              <a:t>g-induced loss of consciousness</a:t>
            </a:r>
            <a:r>
              <a:rPr lang="en-US" dirty="0"/>
              <a:t> (G-LOC). To counter these effects, pilots use </a:t>
            </a:r>
            <a:r>
              <a:rPr lang="en-US" b="1" dirty="0"/>
              <a:t>anti-g straining maneuvers</a:t>
            </a:r>
            <a:r>
              <a:rPr lang="en-US" dirty="0"/>
              <a:t> and wear </a:t>
            </a:r>
            <a:r>
              <a:rPr lang="en-US" b="1" dirty="0"/>
              <a:t>anti-G suits</a:t>
            </a:r>
            <a:r>
              <a:rPr lang="en-US" dirty="0"/>
              <a:t>, which apply </a:t>
            </a:r>
            <a:r>
              <a:rPr lang="en-US" b="1" dirty="0"/>
              <a:t>pressure to the abdomen and legs</a:t>
            </a:r>
            <a:r>
              <a:rPr lang="en-US" dirty="0"/>
              <a:t> to </a:t>
            </a:r>
            <a:r>
              <a:rPr lang="en-US" b="1" dirty="0"/>
              <a:t>maintain cerebral blood flow</a:t>
            </a:r>
            <a:r>
              <a:rPr lang="en-US" dirty="0"/>
              <a:t> and </a:t>
            </a:r>
            <a:r>
              <a:rPr lang="en-US" b="1" dirty="0"/>
              <a:t>improve tolerance</a:t>
            </a:r>
            <a:r>
              <a:rPr lang="en-US" dirty="0"/>
              <a:t> to high load factors.</a:t>
            </a:r>
            <a:endParaRPr lang="en-US" b="1" dirty="0"/>
          </a:p>
        </p:txBody>
      </p:sp>
      <p:pic>
        <p:nvPicPr>
          <p:cNvPr id="9" name="Picture 8">
            <a:extLst>
              <a:ext uri="{FF2B5EF4-FFF2-40B4-BE49-F238E27FC236}">
                <a16:creationId xmlns:a16="http://schemas.microsoft.com/office/drawing/2014/main" id="{2CC8128A-FA17-8279-E5F7-43AF37D3B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6700" y="3358970"/>
            <a:ext cx="4038600" cy="3025052"/>
          </a:xfrm>
          <a:prstGeom prst="rect">
            <a:avLst/>
          </a:prstGeom>
        </p:spPr>
      </p:pic>
    </p:spTree>
    <p:extLst>
      <p:ext uri="{BB962C8B-B14F-4D97-AF65-F5344CB8AC3E}">
        <p14:creationId xmlns:p14="http://schemas.microsoft.com/office/powerpoint/2010/main" val="4874238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305BA-EF23-A12F-0DC6-DAB66906E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3DE98-162C-A6CC-A8BB-805DCB5AA5E4}"/>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452B56B-E022-F1B4-682E-61866BEE8BC4}"/>
                  </a:ext>
                </a:extLst>
              </p:cNvPr>
              <p:cNvSpPr txBox="1"/>
              <p:nvPr/>
            </p:nvSpPr>
            <p:spPr>
              <a:xfrm>
                <a:off x="304800" y="1524000"/>
                <a:ext cx="11734800" cy="1779526"/>
              </a:xfrm>
              <a:prstGeom prst="rect">
                <a:avLst/>
              </a:prstGeom>
              <a:noFill/>
            </p:spPr>
            <p:txBody>
              <a:bodyPr wrap="square" rtlCol="0">
                <a:spAutoFit/>
              </a:bodyPr>
              <a:lstStyle/>
              <a:p>
                <a:pPr algn="l"/>
                <a:r>
                  <a:rPr lang="en-US" b="1" u="sng" dirty="0"/>
                  <a:t>Load Factor</a:t>
                </a:r>
                <a:r>
                  <a:rPr lang="en-US" b="1" dirty="0"/>
                  <a:t>: </a:t>
                </a:r>
                <a:r>
                  <a:rPr lang="en-US" dirty="0"/>
                  <a:t>If the lift generated by an aircraft approaches zero, the load factor also approaches </a:t>
                </a:r>
                <a:r>
                  <a:rPr lang="en-US" b="1" dirty="0"/>
                  <a:t>0G</a:t>
                </a:r>
                <a:r>
                  <a:rPr lang="en-US" dirty="0"/>
                  <a:t>, a condition commonly known as </a:t>
                </a:r>
                <a:r>
                  <a:rPr lang="en-US" b="1" dirty="0"/>
                  <a:t>free fall</a:t>
                </a:r>
                <a:r>
                  <a:rPr lang="en-US" dirty="0"/>
                  <a:t>. To generate zero lift, the aircraft must be flown at a </a:t>
                </a:r>
                <a:r>
                  <a:rPr lang="en-US" b="1" dirty="0"/>
                  <a:t>negative </a:t>
                </a:r>
                <a:r>
                  <a:rPr lang="en-US" b="1" dirty="0" err="1"/>
                  <a:t>AoA</a:t>
                </a:r>
                <a:r>
                  <a:rPr lang="en-US" dirty="0"/>
                  <a:t>, which cancels the zero-lift offset </a:t>
                </a:r>
                <a14:m>
                  <m:oMath xmlns:m="http://schemas.openxmlformats.org/officeDocument/2006/math">
                    <m:sSub>
                      <m:sSubPr>
                        <m:ctrlPr>
                          <a:rPr lang="ar-AE"/>
                        </m:ctrlPr>
                      </m:sSubPr>
                      <m:e>
                        <m:r>
                          <a:rPr lang="ar-AE" i="1"/>
                          <m:t>𝐶</m:t>
                        </m:r>
                      </m:e>
                      <m:sub>
                        <m:sSub>
                          <m:sSubPr>
                            <m:ctrlPr>
                              <a:rPr lang="ar-AE" i="1"/>
                            </m:ctrlPr>
                          </m:sSubPr>
                          <m:e>
                            <m:r>
                              <a:rPr lang="ar-AE" i="1"/>
                              <m:t>𝐿</m:t>
                            </m:r>
                          </m:e>
                          <m:sub>
                            <m:r>
                              <a:rPr lang="ar-AE"/>
                              <m:t>0</m:t>
                            </m:r>
                          </m:sub>
                        </m:sSub>
                      </m:sub>
                    </m:sSub>
                  </m:oMath>
                </a14:m>
                <a:r>
                  <a:rPr lang="en-US" dirty="0"/>
                  <a:t>in the lift-coefficient relation </a:t>
                </a:r>
                <a14:m>
                  <m:oMath xmlns:m="http://schemas.openxmlformats.org/officeDocument/2006/math">
                    <m:sSub>
                      <m:sSubPr>
                        <m:ctrlPr>
                          <a:rPr lang="ar-AE" b="1"/>
                        </m:ctrlPr>
                      </m:sSubPr>
                      <m:e>
                        <m:r>
                          <a:rPr lang="ar-AE" b="1" i="1"/>
                          <m:t>𝑪</m:t>
                        </m:r>
                      </m:e>
                      <m:sub>
                        <m:r>
                          <a:rPr lang="ar-AE" b="1" i="1"/>
                          <m:t>𝑳</m:t>
                        </m:r>
                      </m:sub>
                    </m:sSub>
                    <m:r>
                      <a:rPr lang="ar-AE" b="1"/>
                      <m:t>=</m:t>
                    </m:r>
                    <m:sSub>
                      <m:sSubPr>
                        <m:ctrlPr>
                          <a:rPr lang="ar-AE" b="1" i="1"/>
                        </m:ctrlPr>
                      </m:sSubPr>
                      <m:e>
                        <m:r>
                          <a:rPr lang="ar-AE" b="1" i="1"/>
                          <m:t>𝑪</m:t>
                        </m:r>
                      </m:e>
                      <m:sub>
                        <m:sSub>
                          <m:sSubPr>
                            <m:ctrlPr>
                              <a:rPr lang="ar-AE" b="1" i="1"/>
                            </m:ctrlPr>
                          </m:sSubPr>
                          <m:e>
                            <m:r>
                              <a:rPr lang="ar-AE" b="1" i="1"/>
                              <m:t>𝑳</m:t>
                            </m:r>
                          </m:e>
                          <m:sub>
                            <m:r>
                              <a:rPr lang="ar-AE" b="1" i="1"/>
                              <m:t>𝟎</m:t>
                            </m:r>
                          </m:sub>
                        </m:sSub>
                      </m:sub>
                    </m:sSub>
                    <m:r>
                      <a:rPr lang="ar-AE" b="1"/>
                      <m:t>+</m:t>
                    </m:r>
                    <m:r>
                      <a:rPr lang="ar-AE" b="1" i="1"/>
                      <m:t>𝒂</m:t>
                    </m:r>
                    <m:r>
                      <a:rPr lang="ar-AE" b="1" i="1"/>
                      <m:t>𝜶</m:t>
                    </m:r>
                    <m:r>
                      <a:rPr lang="en-US" b="0" i="0" smtClean="0">
                        <a:latin typeface="Cambria Math" panose="02040503050406030204" pitchFamily="18" charset="0"/>
                      </a:rPr>
                      <m:t>.</m:t>
                    </m:r>
                  </m:oMath>
                </a14:m>
                <a:r>
                  <a:rPr lang="ar-AE" dirty="0"/>
                  <a:t> </a:t>
                </a:r>
                <a:r>
                  <a:rPr lang="en-US" dirty="0"/>
                  <a:t>In this condition, the aircraft follows a </a:t>
                </a:r>
                <a:r>
                  <a:rPr lang="en-US" b="1" dirty="0"/>
                  <a:t>ballistic trajectory</a:t>
                </a:r>
                <a:r>
                  <a:rPr lang="en-US" dirty="0"/>
                  <a:t> (under gravity alone), resulting in a </a:t>
                </a:r>
                <a:r>
                  <a:rPr lang="en-US" b="1" dirty="0"/>
                  <a:t>near-zero load factor</a:t>
                </a:r>
                <a:r>
                  <a:rPr lang="en-US" dirty="0"/>
                  <a:t>. As both the aircraft and its passengers accelerate downward together, the passengers experience </a:t>
                </a:r>
                <a:r>
                  <a:rPr lang="en-US" b="1" dirty="0"/>
                  <a:t>apparent weightlessness</a:t>
                </a:r>
                <a:r>
                  <a:rPr lang="en-US" dirty="0"/>
                  <a:t>, often referred to as </a:t>
                </a:r>
                <a:r>
                  <a:rPr lang="en-US" b="1" dirty="0"/>
                  <a:t>microgravity</a:t>
                </a:r>
                <a:r>
                  <a:rPr lang="en-US" dirty="0"/>
                  <a:t>, giving the sensation of floating/in space. Very known example is the </a:t>
                </a:r>
                <a:r>
                  <a:rPr lang="en-US" b="1" dirty="0"/>
                  <a:t>0G Flights</a:t>
                </a:r>
              </a:p>
            </p:txBody>
          </p:sp>
        </mc:Choice>
        <mc:Fallback>
          <p:sp>
            <p:nvSpPr>
              <p:cNvPr id="3" name="TextBox 2">
                <a:extLst>
                  <a:ext uri="{FF2B5EF4-FFF2-40B4-BE49-F238E27FC236}">
                    <a16:creationId xmlns:a16="http://schemas.microsoft.com/office/drawing/2014/main" id="{B452B56B-E022-F1B4-682E-61866BEE8BC4}"/>
                  </a:ext>
                </a:extLst>
              </p:cNvPr>
              <p:cNvSpPr txBox="1">
                <a:spLocks noRot="1" noChangeAspect="1" noMove="1" noResize="1" noEditPoints="1" noAdjustHandles="1" noChangeArrowheads="1" noChangeShapeType="1" noTextEdit="1"/>
              </p:cNvSpPr>
              <p:nvPr/>
            </p:nvSpPr>
            <p:spPr>
              <a:xfrm>
                <a:off x="304800" y="1524000"/>
                <a:ext cx="11734800" cy="1779526"/>
              </a:xfrm>
              <a:prstGeom prst="rect">
                <a:avLst/>
              </a:prstGeom>
              <a:blipFill>
                <a:blip r:embed="rId2"/>
                <a:stretch>
                  <a:fillRect l="-416" t="-1712" b="-4452"/>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32528F16-5BEB-E2C3-562C-FFB8BC6DFC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3429000"/>
            <a:ext cx="5562600" cy="3130080"/>
          </a:xfrm>
          <a:prstGeom prst="rect">
            <a:avLst/>
          </a:prstGeom>
        </p:spPr>
      </p:pic>
      <p:pic>
        <p:nvPicPr>
          <p:cNvPr id="10" name="Picture 9">
            <a:extLst>
              <a:ext uri="{FF2B5EF4-FFF2-40B4-BE49-F238E27FC236}">
                <a16:creationId xmlns:a16="http://schemas.microsoft.com/office/drawing/2014/main" id="{00CC2A07-A329-EB23-4150-1DFD0056A9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 y="3527211"/>
            <a:ext cx="4541328" cy="2846325"/>
          </a:xfrm>
          <a:prstGeom prst="rect">
            <a:avLst/>
          </a:prstGeom>
        </p:spPr>
      </p:pic>
    </p:spTree>
    <p:extLst>
      <p:ext uri="{BB962C8B-B14F-4D97-AF65-F5344CB8AC3E}">
        <p14:creationId xmlns:p14="http://schemas.microsoft.com/office/powerpoint/2010/main" val="23237545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2B88E-2EAD-8184-27D2-86E330380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C2434-1EA1-F793-CA8B-C7DB44C143A3}"/>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p:sp>
        <p:nvSpPr>
          <p:cNvPr id="3" name="TextBox 2">
            <a:extLst>
              <a:ext uri="{FF2B5EF4-FFF2-40B4-BE49-F238E27FC236}">
                <a16:creationId xmlns:a16="http://schemas.microsoft.com/office/drawing/2014/main" id="{912D072A-CE32-2A25-59C8-6BAE357E139A}"/>
              </a:ext>
            </a:extLst>
          </p:cNvPr>
          <p:cNvSpPr txBox="1"/>
          <p:nvPr/>
        </p:nvSpPr>
        <p:spPr>
          <a:xfrm>
            <a:off x="190500" y="1524000"/>
            <a:ext cx="11925300" cy="1477328"/>
          </a:xfrm>
          <a:prstGeom prst="rect">
            <a:avLst/>
          </a:prstGeom>
          <a:noFill/>
        </p:spPr>
        <p:txBody>
          <a:bodyPr wrap="square" rtlCol="0">
            <a:spAutoFit/>
          </a:bodyPr>
          <a:lstStyle/>
          <a:p>
            <a:pPr algn="l"/>
            <a:r>
              <a:rPr lang="en-US" b="1" u="sng" dirty="0"/>
              <a:t>High-speed stalls</a:t>
            </a:r>
            <a:r>
              <a:rPr lang="en-US" b="1" dirty="0"/>
              <a:t>: </a:t>
            </a:r>
            <a:r>
              <a:rPr lang="en-US" dirty="0"/>
              <a:t>This is most commonly seen </a:t>
            </a:r>
            <a:r>
              <a:rPr lang="en-US" b="1" dirty="0"/>
              <a:t>during turnings</a:t>
            </a:r>
            <a:r>
              <a:rPr lang="en-US" dirty="0"/>
              <a:t>, the turning maneuvers </a:t>
            </a:r>
            <a:r>
              <a:rPr lang="en-US" b="1" dirty="0"/>
              <a:t>require more lift</a:t>
            </a:r>
            <a:r>
              <a:rPr lang="en-US" dirty="0"/>
              <a:t> to </a:t>
            </a:r>
            <a:r>
              <a:rPr lang="en-US" b="1" dirty="0"/>
              <a:t>maintain the same altitude</a:t>
            </a:r>
            <a:r>
              <a:rPr lang="en-US" dirty="0"/>
              <a:t>, for which the </a:t>
            </a:r>
            <a:r>
              <a:rPr lang="en-US" dirty="0" err="1"/>
              <a:t>AoA</a:t>
            </a:r>
            <a:r>
              <a:rPr lang="en-US" dirty="0"/>
              <a:t> might exceed </a:t>
            </a:r>
            <a:r>
              <a:rPr lang="en-US" dirty="0" err="1"/>
              <a:t>th</a:t>
            </a:r>
            <a:r>
              <a:rPr lang="en-US" dirty="0"/>
              <a:t> critical </a:t>
            </a:r>
            <a:r>
              <a:rPr lang="en-US" dirty="0" err="1"/>
              <a:t>AoA</a:t>
            </a:r>
            <a:r>
              <a:rPr lang="en-US" dirty="0"/>
              <a:t>, hence causing the accelerated stall. </a:t>
            </a:r>
            <a:br>
              <a:rPr lang="en-US" dirty="0"/>
            </a:br>
            <a:br>
              <a:rPr lang="en-US" dirty="0"/>
            </a:br>
            <a:r>
              <a:rPr lang="en-US" dirty="0"/>
              <a:t>This turn angle is known as </a:t>
            </a:r>
            <a:r>
              <a:rPr lang="en-US" b="1" dirty="0"/>
              <a:t>Bank Angle</a:t>
            </a:r>
            <a:r>
              <a:rPr lang="en-US" dirty="0"/>
              <a:t>. This makes the </a:t>
            </a:r>
            <a:r>
              <a:rPr lang="en-US" b="1" dirty="0"/>
              <a:t>Lift vector shift</a:t>
            </a:r>
            <a:r>
              <a:rPr lang="en-US" dirty="0"/>
              <a:t>. The Load Factor </a:t>
            </a:r>
            <a:r>
              <a:rPr lang="en-US" b="1" dirty="0"/>
              <a:t>depends</a:t>
            </a:r>
            <a:r>
              <a:rPr lang="en-US" dirty="0"/>
              <a:t> on the Bank Angle</a:t>
            </a:r>
          </a:p>
        </p:txBody>
      </p:sp>
      <p:pic>
        <p:nvPicPr>
          <p:cNvPr id="8" name="Picture 7">
            <a:extLst>
              <a:ext uri="{FF2B5EF4-FFF2-40B4-BE49-F238E27FC236}">
                <a16:creationId xmlns:a16="http://schemas.microsoft.com/office/drawing/2014/main" id="{C83475F4-D72C-0949-EE01-09328C240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3124200"/>
            <a:ext cx="5119688" cy="3276600"/>
          </a:xfrm>
          <a:prstGeom prst="rect">
            <a:avLst/>
          </a:prstGeom>
        </p:spPr>
      </p:pic>
      <p:pic>
        <p:nvPicPr>
          <p:cNvPr id="12" name="Picture 11">
            <a:extLst>
              <a:ext uri="{FF2B5EF4-FFF2-40B4-BE49-F238E27FC236}">
                <a16:creationId xmlns:a16="http://schemas.microsoft.com/office/drawing/2014/main" id="{19255093-380C-8B3B-2E49-745D899289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9800" y="3276600"/>
            <a:ext cx="6096000" cy="2672862"/>
          </a:xfrm>
          <a:prstGeom prst="rect">
            <a:avLst/>
          </a:prstGeom>
        </p:spPr>
      </p:pic>
      <p:sp>
        <p:nvSpPr>
          <p:cNvPr id="13" name="Rectangle 12">
            <a:extLst>
              <a:ext uri="{FF2B5EF4-FFF2-40B4-BE49-F238E27FC236}">
                <a16:creationId xmlns:a16="http://schemas.microsoft.com/office/drawing/2014/main" id="{10763699-A4CB-3C66-B8DB-E746396C1D36}"/>
              </a:ext>
            </a:extLst>
          </p:cNvPr>
          <p:cNvSpPr/>
          <p:nvPr/>
        </p:nvSpPr>
        <p:spPr>
          <a:xfrm>
            <a:off x="10134600" y="4114800"/>
            <a:ext cx="160020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74930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A93BC-0294-C9CD-8890-656470AFC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0606A-30EF-108C-43D6-3A4BFF446661}"/>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p:sp>
        <p:nvSpPr>
          <p:cNvPr id="3" name="TextBox 2">
            <a:extLst>
              <a:ext uri="{FF2B5EF4-FFF2-40B4-BE49-F238E27FC236}">
                <a16:creationId xmlns:a16="http://schemas.microsoft.com/office/drawing/2014/main" id="{633E9520-1E48-9DF7-BF3F-B28E647FD94E}"/>
              </a:ext>
            </a:extLst>
          </p:cNvPr>
          <p:cNvSpPr txBox="1"/>
          <p:nvPr/>
        </p:nvSpPr>
        <p:spPr>
          <a:xfrm>
            <a:off x="190500" y="1524000"/>
            <a:ext cx="11925300" cy="1508105"/>
          </a:xfrm>
          <a:prstGeom prst="rect">
            <a:avLst/>
          </a:prstGeom>
          <a:noFill/>
        </p:spPr>
        <p:txBody>
          <a:bodyPr wrap="square" rtlCol="0">
            <a:spAutoFit/>
          </a:bodyPr>
          <a:lstStyle/>
          <a:p>
            <a:pPr algn="l"/>
            <a:r>
              <a:rPr lang="en-US" b="1" u="sng" dirty="0"/>
              <a:t>High-speed stalls</a:t>
            </a:r>
            <a:r>
              <a:rPr lang="en-US" b="1" dirty="0"/>
              <a:t>: </a:t>
            </a:r>
            <a:r>
              <a:rPr lang="en-US" dirty="0"/>
              <a:t>This is most commonly seen </a:t>
            </a:r>
            <a:r>
              <a:rPr lang="en-US" b="1" dirty="0"/>
              <a:t>during turnings</a:t>
            </a:r>
            <a:r>
              <a:rPr lang="en-US" dirty="0"/>
              <a:t>, the turning maneuvers </a:t>
            </a:r>
            <a:r>
              <a:rPr lang="en-US" b="1" dirty="0"/>
              <a:t>require more lift</a:t>
            </a:r>
            <a:r>
              <a:rPr lang="en-US" dirty="0"/>
              <a:t> to </a:t>
            </a:r>
            <a:r>
              <a:rPr lang="en-US" b="1" dirty="0"/>
              <a:t>maintain the same altitude</a:t>
            </a:r>
            <a:r>
              <a:rPr lang="en-US" dirty="0"/>
              <a:t>, for which the </a:t>
            </a:r>
            <a:r>
              <a:rPr lang="en-US" dirty="0" err="1"/>
              <a:t>AoA</a:t>
            </a:r>
            <a:r>
              <a:rPr lang="en-US" dirty="0"/>
              <a:t> might exceed </a:t>
            </a:r>
            <a:r>
              <a:rPr lang="en-US" dirty="0" err="1"/>
              <a:t>th</a:t>
            </a:r>
            <a:r>
              <a:rPr lang="en-US" dirty="0"/>
              <a:t> critical </a:t>
            </a:r>
            <a:r>
              <a:rPr lang="en-US" dirty="0" err="1"/>
              <a:t>AoA</a:t>
            </a:r>
            <a:r>
              <a:rPr lang="en-US" dirty="0"/>
              <a:t>, hence causing the accelerated stall. </a:t>
            </a:r>
            <a:br>
              <a:rPr lang="en-US" dirty="0"/>
            </a:br>
            <a:br>
              <a:rPr lang="en-US" dirty="0"/>
            </a:br>
            <a:r>
              <a:rPr lang="en-US" dirty="0"/>
              <a:t>This turn angle is known as </a:t>
            </a:r>
            <a:r>
              <a:rPr lang="en-US" b="1" dirty="0"/>
              <a:t>Bank Angle</a:t>
            </a:r>
            <a:r>
              <a:rPr lang="en-US" dirty="0"/>
              <a:t>. This makes the </a:t>
            </a:r>
            <a:r>
              <a:rPr lang="en-US" b="1" dirty="0"/>
              <a:t>Lift vector shift</a:t>
            </a:r>
            <a:r>
              <a:rPr lang="en-US" dirty="0"/>
              <a:t>. The Load Factor </a:t>
            </a:r>
            <a:r>
              <a:rPr lang="en-US" b="1" dirty="0"/>
              <a:t>depends</a:t>
            </a:r>
            <a:r>
              <a:rPr lang="en-US" dirty="0"/>
              <a:t> on the Bank Angle. </a:t>
            </a:r>
            <a:r>
              <a:rPr lang="en-US" b="1" dirty="0"/>
              <a:t>Bank angle</a:t>
            </a:r>
            <a:r>
              <a:rPr lang="en-US" dirty="0"/>
              <a:t> is denoted by </a:t>
            </a:r>
            <a:r>
              <a:rPr lang="en-US" sz="2000" b="1" dirty="0">
                <a:latin typeface="Cambria Math" panose="02040503050406030204" pitchFamily="18" charset="0"/>
                <a:ea typeface="Cambria Math" panose="02040503050406030204" pitchFamily="18" charset="0"/>
              </a:rPr>
              <a:t>𝜙</a:t>
            </a:r>
            <a:endParaRPr lang="en-US" sz="2000" b="1" dirty="0"/>
          </a:p>
        </p:txBody>
      </p:sp>
      <p:sp>
        <p:nvSpPr>
          <p:cNvPr id="13" name="Rectangle 12">
            <a:extLst>
              <a:ext uri="{FF2B5EF4-FFF2-40B4-BE49-F238E27FC236}">
                <a16:creationId xmlns:a16="http://schemas.microsoft.com/office/drawing/2014/main" id="{F547DE71-75C0-4536-F97D-05F9748A8CC0}"/>
              </a:ext>
            </a:extLst>
          </p:cNvPr>
          <p:cNvSpPr/>
          <p:nvPr/>
        </p:nvSpPr>
        <p:spPr>
          <a:xfrm>
            <a:off x="10134600" y="4114800"/>
            <a:ext cx="160020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57EFA7A-C69E-B04E-72AF-1C8B358BB991}"/>
              </a:ext>
            </a:extLst>
          </p:cNvPr>
          <p:cNvSpPr txBox="1"/>
          <p:nvPr/>
        </p:nvSpPr>
        <p:spPr>
          <a:xfrm>
            <a:off x="190500" y="3267908"/>
            <a:ext cx="11925300" cy="369332"/>
          </a:xfrm>
          <a:prstGeom prst="rect">
            <a:avLst/>
          </a:prstGeom>
          <a:noFill/>
        </p:spPr>
        <p:txBody>
          <a:bodyPr wrap="square" rtlCol="0">
            <a:spAutoFit/>
          </a:bodyPr>
          <a:lstStyle/>
          <a:p>
            <a:r>
              <a:rPr lang="en-US" dirty="0"/>
              <a:t>Mathematically: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1DC328-B2B3-9EE1-3788-8E4F2FD78DDC}"/>
                  </a:ext>
                </a:extLst>
              </p:cNvPr>
              <p:cNvSpPr txBox="1"/>
              <p:nvPr/>
            </p:nvSpPr>
            <p:spPr>
              <a:xfrm>
                <a:off x="3759847" y="3668018"/>
                <a:ext cx="4672305" cy="199612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𝐿𝑖𝑓𝑡</m:t>
                          </m:r>
                        </m:num>
                        <m:den>
                          <m:r>
                            <a:rPr lang="en-US" sz="2400" b="0" i="1" smtClean="0">
                              <a:latin typeface="Cambria Math" panose="02040503050406030204" pitchFamily="18" charset="0"/>
                            </a:rPr>
                            <m:t>𝑊𝑒𝑖𝑔h𝑡</m:t>
                          </m:r>
                        </m:den>
                      </m:f>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𝜙</m:t>
                              </m:r>
                            </m:e>
                          </m:func>
                        </m:den>
                      </m:f>
                    </m:oMath>
                  </m:oMathPara>
                </a14:m>
                <a:endParaRPr lang="en-US" sz="2400" dirty="0"/>
              </a:p>
              <a:p>
                <a:pPr algn="ctr"/>
                <a:endParaRPr lang="en-US" sz="2400" dirty="0"/>
              </a:p>
              <a:p>
                <a:pPr algn="ctr"/>
                <a:endParaRPr lang="en-US" sz="2400" dirty="0"/>
              </a:p>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𝑠𝑡𝑎𝑙𝑙</m:t>
                          </m:r>
                          <m:r>
                            <a:rPr lang="en-US" sz="2400" b="0" i="1" smtClean="0">
                              <a:latin typeface="Cambria Math" panose="02040503050406030204" pitchFamily="18" charset="0"/>
                            </a:rPr>
                            <m:t>,  </m:t>
                          </m:r>
                          <m:r>
                            <a:rPr lang="en-US" sz="2400" b="0" i="1" smtClean="0">
                              <a:latin typeface="Cambria Math" panose="02040503050406030204" pitchFamily="18" charset="0"/>
                            </a:rPr>
                            <m:t>𝑎𝑐𝑐𝑒𝑙𝑒𝑟𝑎𝑡𝑒𝑑</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𝑠𝑡𝑎𝑙𝑙</m:t>
                          </m:r>
                          <m:r>
                            <a:rPr lang="en-US" sz="2400" b="0" i="1" smtClean="0">
                              <a:latin typeface="Cambria Math" panose="02040503050406030204" pitchFamily="18" charset="0"/>
                            </a:rPr>
                            <m:t> @1</m:t>
                          </m:r>
                          <m:r>
                            <a:rPr lang="en-US" sz="2400" b="0" i="1" smtClean="0">
                              <a:latin typeface="Cambria Math" panose="02040503050406030204" pitchFamily="18" charset="0"/>
                            </a:rPr>
                            <m:t>𝐺</m:t>
                          </m:r>
                        </m:sub>
                      </m:sSub>
                      <m:r>
                        <a:rPr lang="en-US" sz="2400" b="0" i="1" smtClean="0">
                          <a:latin typeface="Cambria Math" panose="02040503050406030204" pitchFamily="18" charset="0"/>
                          <a:ea typeface="Cambria Math" panose="02040503050406030204" pitchFamily="18" charset="0"/>
                        </a:rPr>
                        <m:t>×</m:t>
                      </m:r>
                      <m:rad>
                        <m:radPr>
                          <m:degHide m:val="on"/>
                          <m:ctrlPr>
                            <a:rPr lang="en-US" sz="2400" b="0" i="1" smtClean="0">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𝑛</m:t>
                          </m:r>
                        </m:e>
                      </m:rad>
                    </m:oMath>
                  </m:oMathPara>
                </a14:m>
                <a:endParaRPr lang="en-US" sz="2400" dirty="0"/>
              </a:p>
            </p:txBody>
          </p:sp>
        </mc:Choice>
        <mc:Fallback xmlns="">
          <p:sp>
            <p:nvSpPr>
              <p:cNvPr id="5" name="TextBox 4">
                <a:extLst>
                  <a:ext uri="{FF2B5EF4-FFF2-40B4-BE49-F238E27FC236}">
                    <a16:creationId xmlns:a16="http://schemas.microsoft.com/office/drawing/2014/main" id="{5E1DC328-B2B3-9EE1-3788-8E4F2FD78DDC}"/>
                  </a:ext>
                </a:extLst>
              </p:cNvPr>
              <p:cNvSpPr txBox="1">
                <a:spLocks noRot="1" noChangeAspect="1" noMove="1" noResize="1" noEditPoints="1" noAdjustHandles="1" noChangeArrowheads="1" noChangeShapeType="1" noTextEdit="1"/>
              </p:cNvSpPr>
              <p:nvPr/>
            </p:nvSpPr>
            <p:spPr>
              <a:xfrm>
                <a:off x="3759847" y="3668018"/>
                <a:ext cx="4672305" cy="1996124"/>
              </a:xfrm>
              <a:prstGeom prst="rect">
                <a:avLst/>
              </a:prstGeom>
              <a:blipFill>
                <a:blip r:embed="rId2"/>
                <a:stretch>
                  <a:fillRect b="-612"/>
                </a:stretch>
              </a:blipFill>
            </p:spPr>
            <p:txBody>
              <a:bodyPr/>
              <a:lstStyle/>
              <a:p>
                <a:r>
                  <a:rPr lang="en-US">
                    <a:noFill/>
                  </a:rPr>
                  <a:t> </a:t>
                </a:r>
              </a:p>
            </p:txBody>
          </p:sp>
        </mc:Fallback>
      </mc:AlternateContent>
      <p:sp>
        <p:nvSpPr>
          <p:cNvPr id="6" name="Frame 5">
            <a:extLst>
              <a:ext uri="{FF2B5EF4-FFF2-40B4-BE49-F238E27FC236}">
                <a16:creationId xmlns:a16="http://schemas.microsoft.com/office/drawing/2014/main" id="{E3ED14B0-6345-D5A1-1B0E-C5575289DF73}"/>
              </a:ext>
            </a:extLst>
          </p:cNvPr>
          <p:cNvSpPr/>
          <p:nvPr/>
        </p:nvSpPr>
        <p:spPr>
          <a:xfrm>
            <a:off x="4524375" y="3676407"/>
            <a:ext cx="3143250" cy="886154"/>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7" name="Frame 6">
            <a:extLst>
              <a:ext uri="{FF2B5EF4-FFF2-40B4-BE49-F238E27FC236}">
                <a16:creationId xmlns:a16="http://schemas.microsoft.com/office/drawing/2014/main" id="{621D3E9E-8F9B-2A0C-F07D-31D28812F7D2}"/>
              </a:ext>
            </a:extLst>
          </p:cNvPr>
          <p:cNvSpPr/>
          <p:nvPr/>
        </p:nvSpPr>
        <p:spPr>
          <a:xfrm>
            <a:off x="3759847" y="5105399"/>
            <a:ext cx="4622153" cy="671677"/>
          </a:xfrm>
          <a:prstGeom prst="frame">
            <a:avLst>
              <a:gd name="adj1" fmla="val 248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192247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27A75-AFD5-9DB3-F3A5-611A15E76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B0205-C3C1-DAB3-C704-2979969AF6DA}"/>
              </a:ext>
            </a:extLst>
          </p:cNvPr>
          <p:cNvSpPr>
            <a:spLocks noGrp="1"/>
          </p:cNvSpPr>
          <p:nvPr>
            <p:ph type="title"/>
          </p:nvPr>
        </p:nvSpPr>
        <p:spPr>
          <a:xfrm>
            <a:off x="533400" y="457200"/>
            <a:ext cx="9067800" cy="430887"/>
          </a:xfrm>
        </p:spPr>
        <p:txBody>
          <a:bodyPr/>
          <a:lstStyle/>
          <a:p>
            <a:r>
              <a:rPr lang="en-IN" dirty="0"/>
              <a:t>Aerodynamics: </a:t>
            </a:r>
            <a:r>
              <a:rPr lang="en-US" dirty="0"/>
              <a:t>Stall (Fixed-wing)</a:t>
            </a:r>
            <a:endParaRPr lang="en-IN" dirty="0"/>
          </a:p>
        </p:txBody>
      </p:sp>
      <p:sp>
        <p:nvSpPr>
          <p:cNvPr id="3" name="TextBox 2">
            <a:extLst>
              <a:ext uri="{FF2B5EF4-FFF2-40B4-BE49-F238E27FC236}">
                <a16:creationId xmlns:a16="http://schemas.microsoft.com/office/drawing/2014/main" id="{F4AC796C-9475-283E-D709-108DC7E9FAD8}"/>
              </a:ext>
            </a:extLst>
          </p:cNvPr>
          <p:cNvSpPr txBox="1"/>
          <p:nvPr/>
        </p:nvSpPr>
        <p:spPr>
          <a:xfrm>
            <a:off x="190500" y="1524000"/>
            <a:ext cx="11925300" cy="954107"/>
          </a:xfrm>
          <a:prstGeom prst="rect">
            <a:avLst/>
          </a:prstGeom>
          <a:noFill/>
        </p:spPr>
        <p:txBody>
          <a:bodyPr wrap="square" rtlCol="0">
            <a:spAutoFit/>
          </a:bodyPr>
          <a:lstStyle/>
          <a:p>
            <a:pPr algn="l"/>
            <a:r>
              <a:rPr lang="en-US" b="1" u="sng" dirty="0"/>
              <a:t>High-speed stalls</a:t>
            </a:r>
            <a:r>
              <a:rPr lang="en-US" b="1" dirty="0"/>
              <a:t>: </a:t>
            </a:r>
            <a:r>
              <a:rPr lang="en-US" dirty="0"/>
              <a:t>This is most commonly seen </a:t>
            </a:r>
            <a:r>
              <a:rPr lang="en-US" b="1" dirty="0"/>
              <a:t>during turnings</a:t>
            </a:r>
            <a:r>
              <a:rPr lang="en-US" dirty="0"/>
              <a:t>, the turning maneuvers </a:t>
            </a:r>
            <a:r>
              <a:rPr lang="en-US" b="1" dirty="0"/>
              <a:t>require more lift</a:t>
            </a:r>
            <a:r>
              <a:rPr lang="en-US" dirty="0"/>
              <a:t> to </a:t>
            </a:r>
            <a:r>
              <a:rPr lang="en-US" b="1" dirty="0"/>
              <a:t>maintain the same altitude</a:t>
            </a:r>
            <a:r>
              <a:rPr lang="en-US" dirty="0"/>
              <a:t>, for which the </a:t>
            </a:r>
            <a:r>
              <a:rPr lang="en-US" dirty="0" err="1"/>
              <a:t>AoA</a:t>
            </a:r>
            <a:r>
              <a:rPr lang="en-US" dirty="0"/>
              <a:t> might exceed </a:t>
            </a:r>
            <a:r>
              <a:rPr lang="en-US" dirty="0" err="1"/>
              <a:t>th</a:t>
            </a:r>
            <a:r>
              <a:rPr lang="en-US" dirty="0"/>
              <a:t> critical </a:t>
            </a:r>
            <a:r>
              <a:rPr lang="en-US" dirty="0" err="1"/>
              <a:t>AoA</a:t>
            </a:r>
            <a:r>
              <a:rPr lang="en-US" dirty="0"/>
              <a:t>, hence causing the accelerated stall. </a:t>
            </a:r>
            <a:br>
              <a:rPr lang="en-US" dirty="0"/>
            </a:br>
            <a:endParaRPr lang="en-US" sz="2000" b="1" dirty="0"/>
          </a:p>
        </p:txBody>
      </p:sp>
      <p:sp>
        <p:nvSpPr>
          <p:cNvPr id="13" name="Rectangle 12">
            <a:extLst>
              <a:ext uri="{FF2B5EF4-FFF2-40B4-BE49-F238E27FC236}">
                <a16:creationId xmlns:a16="http://schemas.microsoft.com/office/drawing/2014/main" id="{7ACB956C-9F33-FED2-FE25-04F8082E76C9}"/>
              </a:ext>
            </a:extLst>
          </p:cNvPr>
          <p:cNvSpPr/>
          <p:nvPr/>
        </p:nvSpPr>
        <p:spPr>
          <a:xfrm>
            <a:off x="10134600" y="4114800"/>
            <a:ext cx="160020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77AECB9-D86E-FF6A-7D46-7C16BC867775}"/>
              </a:ext>
            </a:extLst>
          </p:cNvPr>
          <p:cNvSpPr txBox="1"/>
          <p:nvPr/>
        </p:nvSpPr>
        <p:spPr>
          <a:xfrm>
            <a:off x="241533" y="5318110"/>
            <a:ext cx="11925300" cy="923330"/>
          </a:xfrm>
          <a:prstGeom prst="rect">
            <a:avLst/>
          </a:prstGeom>
          <a:noFill/>
        </p:spPr>
        <p:txBody>
          <a:bodyPr wrap="square" rtlCol="0">
            <a:spAutoFit/>
          </a:bodyPr>
          <a:lstStyle/>
          <a:p>
            <a:r>
              <a:rPr lang="en-US" dirty="0"/>
              <a:t>In other words, when the aircraft is banking at 60</a:t>
            </a:r>
            <a:r>
              <a:rPr lang="en-US" sz="1800" dirty="0">
                <a:latin typeface="Cambria Math" panose="02040503050406030204" pitchFamily="18" charset="0"/>
                <a:ea typeface="Cambria Math" panose="02040503050406030204" pitchFamily="18" charset="0"/>
              </a:rPr>
              <a:t>˚, the G force that it experiences is 2Gs (L = 2W) and to meet the Lift needed to stay in that altitude, Speed and </a:t>
            </a:r>
            <a:r>
              <a:rPr lang="en-US" sz="1800" dirty="0" err="1">
                <a:latin typeface="Cambria Math" panose="02040503050406030204" pitchFamily="18" charset="0"/>
                <a:ea typeface="Cambria Math" panose="02040503050406030204" pitchFamily="18" charset="0"/>
              </a:rPr>
              <a:t>AoA</a:t>
            </a:r>
            <a:r>
              <a:rPr lang="en-US" sz="1800" dirty="0">
                <a:latin typeface="Cambria Math" panose="02040503050406030204" pitchFamily="18" charset="0"/>
                <a:ea typeface="Cambria Math" panose="02040503050406030204" pitchFamily="18" charset="0"/>
              </a:rPr>
              <a:t> is increased. When </a:t>
            </a:r>
            <a:r>
              <a:rPr lang="en-US" sz="1800" dirty="0" err="1">
                <a:latin typeface="Cambria Math" panose="02040503050406030204" pitchFamily="18" charset="0"/>
                <a:ea typeface="Cambria Math" panose="02040503050406030204" pitchFamily="18" charset="0"/>
              </a:rPr>
              <a:t>AoA</a:t>
            </a:r>
            <a:r>
              <a:rPr lang="en-US" sz="1800" dirty="0">
                <a:latin typeface="Cambria Math" panose="02040503050406030204" pitchFamily="18" charset="0"/>
                <a:ea typeface="Cambria Math" panose="02040503050406030204" pitchFamily="18" charset="0"/>
              </a:rPr>
              <a:t> crosses Critical </a:t>
            </a:r>
            <a:r>
              <a:rPr lang="en-US" sz="1800" dirty="0" err="1">
                <a:latin typeface="Cambria Math" panose="02040503050406030204" pitchFamily="18" charset="0"/>
                <a:ea typeface="Cambria Math" panose="02040503050406030204" pitchFamily="18" charset="0"/>
              </a:rPr>
              <a:t>AoA</a:t>
            </a:r>
            <a:r>
              <a:rPr lang="en-US" sz="1800" dirty="0">
                <a:latin typeface="Cambria Math" panose="02040503050406030204" pitchFamily="18" charset="0"/>
                <a:ea typeface="Cambria Math" panose="02040503050406030204" pitchFamily="18" charset="0"/>
              </a:rPr>
              <a:t>, stall occurs and this stall is known as High-speed stall. </a:t>
            </a:r>
            <a:endParaRPr lang="en-US" dirty="0"/>
          </a:p>
        </p:txBody>
      </p:sp>
      <p:sp>
        <p:nvSpPr>
          <p:cNvPr id="5" name="TextBox 4">
            <a:extLst>
              <a:ext uri="{FF2B5EF4-FFF2-40B4-BE49-F238E27FC236}">
                <a16:creationId xmlns:a16="http://schemas.microsoft.com/office/drawing/2014/main" id="{225B866C-CA66-A43F-8E50-D8766F5C10DE}"/>
              </a:ext>
            </a:extLst>
          </p:cNvPr>
          <p:cNvSpPr txBox="1"/>
          <p:nvPr/>
        </p:nvSpPr>
        <p:spPr>
          <a:xfrm>
            <a:off x="241534" y="2478107"/>
            <a:ext cx="11759966" cy="2308324"/>
          </a:xfrm>
          <a:prstGeom prst="rect">
            <a:avLst/>
          </a:prstGeom>
          <a:noFill/>
        </p:spPr>
        <p:txBody>
          <a:bodyPr wrap="square" rtlCol="0">
            <a:spAutoFit/>
          </a:bodyPr>
          <a:lstStyle/>
          <a:p>
            <a:r>
              <a:rPr lang="en-US" sz="2400" dirty="0"/>
              <a:t>                                    </a:t>
            </a:r>
            <a:r>
              <a:rPr lang="en-US" sz="2400" u="sng" dirty="0"/>
              <a:t>Bank Angle</a:t>
            </a:r>
            <a:r>
              <a:rPr lang="en-US" sz="2400" dirty="0"/>
              <a:t>                              </a:t>
            </a:r>
            <a:r>
              <a:rPr lang="en-US" sz="2400" u="sng" dirty="0"/>
              <a:t>Load Factor</a:t>
            </a:r>
          </a:p>
          <a:p>
            <a:endParaRPr lang="en-US" sz="2400" dirty="0"/>
          </a:p>
          <a:p>
            <a:r>
              <a:rPr lang="en-US" sz="2400" dirty="0"/>
              <a:t>                                           30</a:t>
            </a:r>
            <a:r>
              <a:rPr lang="en-US" sz="2400" dirty="0">
                <a:latin typeface="Cambria Math" panose="02040503050406030204" pitchFamily="18" charset="0"/>
                <a:ea typeface="Cambria Math" panose="02040503050406030204" pitchFamily="18" charset="0"/>
              </a:rPr>
              <a:t>˚                                                   1.15G</a:t>
            </a:r>
          </a:p>
          <a:p>
            <a:r>
              <a:rPr lang="en-US" sz="2400" dirty="0">
                <a:latin typeface="Cambria Math" panose="02040503050406030204" pitchFamily="18" charset="0"/>
                <a:ea typeface="Cambria Math" panose="02040503050406030204" pitchFamily="18" charset="0"/>
              </a:rPr>
              <a:t>                                                      45˚                                                   1.41G</a:t>
            </a:r>
          </a:p>
          <a:p>
            <a:r>
              <a:rPr lang="en-US" sz="2400" dirty="0">
                <a:latin typeface="Cambria Math" panose="02040503050406030204" pitchFamily="18" charset="0"/>
                <a:ea typeface="Cambria Math" panose="02040503050406030204" pitchFamily="18" charset="0"/>
              </a:rPr>
              <a:t>                                                      60˚                                                   2.00G </a:t>
            </a:r>
            <a:r>
              <a:rPr lang="en-US" dirty="0">
                <a:latin typeface="Cambria Math" panose="02040503050406030204" pitchFamily="18" charset="0"/>
                <a:ea typeface="Cambria Math" panose="02040503050406030204" pitchFamily="18" charset="0"/>
              </a:rPr>
              <a:t>(Double the Lift needed)</a:t>
            </a:r>
          </a:p>
          <a:p>
            <a:r>
              <a:rPr lang="en-US" sz="2400" dirty="0">
                <a:latin typeface="Cambria Math" panose="02040503050406030204" pitchFamily="18" charset="0"/>
                <a:ea typeface="Cambria Math" panose="02040503050406030204" pitchFamily="18" charset="0"/>
              </a:rPr>
              <a:t>                                                      75˚                                                   3.86G</a:t>
            </a:r>
            <a:endParaRPr lang="en-US" sz="2400" dirty="0"/>
          </a:p>
        </p:txBody>
      </p:sp>
    </p:spTree>
    <p:extLst>
      <p:ext uri="{BB962C8B-B14F-4D97-AF65-F5344CB8AC3E}">
        <p14:creationId xmlns:p14="http://schemas.microsoft.com/office/powerpoint/2010/main" val="7805202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1D327-4D08-2F50-7D0E-FA9F00685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A44F2-CA36-4ECE-ADBD-009E830728D5}"/>
              </a:ext>
            </a:extLst>
          </p:cNvPr>
          <p:cNvSpPr>
            <a:spLocks noGrp="1"/>
          </p:cNvSpPr>
          <p:nvPr>
            <p:ph type="title"/>
          </p:nvPr>
        </p:nvSpPr>
        <p:spPr>
          <a:xfrm>
            <a:off x="533400" y="457200"/>
            <a:ext cx="9067800" cy="430887"/>
          </a:xfrm>
        </p:spPr>
        <p:txBody>
          <a:bodyPr/>
          <a:lstStyle/>
          <a:p>
            <a:r>
              <a:rPr lang="en-IN" dirty="0"/>
              <a:t>Aerodynamics: </a:t>
            </a:r>
            <a:r>
              <a:rPr lang="en-US" dirty="0"/>
              <a:t>Stall (Rotorcrafts)</a:t>
            </a:r>
            <a:endParaRPr lang="en-IN" dirty="0"/>
          </a:p>
        </p:txBody>
      </p:sp>
      <p:sp>
        <p:nvSpPr>
          <p:cNvPr id="3" name="TextBox 2">
            <a:extLst>
              <a:ext uri="{FF2B5EF4-FFF2-40B4-BE49-F238E27FC236}">
                <a16:creationId xmlns:a16="http://schemas.microsoft.com/office/drawing/2014/main" id="{6545D6E8-9255-CB72-186A-815A5DC5823F}"/>
              </a:ext>
            </a:extLst>
          </p:cNvPr>
          <p:cNvSpPr txBox="1"/>
          <p:nvPr/>
        </p:nvSpPr>
        <p:spPr>
          <a:xfrm>
            <a:off x="304800" y="1524000"/>
            <a:ext cx="11582400" cy="1200329"/>
          </a:xfrm>
          <a:prstGeom prst="rect">
            <a:avLst/>
          </a:prstGeom>
          <a:noFill/>
        </p:spPr>
        <p:txBody>
          <a:bodyPr wrap="square" rtlCol="0">
            <a:spAutoFit/>
          </a:bodyPr>
          <a:lstStyle/>
          <a:p>
            <a:pPr algn="l"/>
            <a:r>
              <a:rPr lang="en-US" b="1" u="sng" dirty="0"/>
              <a:t>Stall</a:t>
            </a:r>
            <a:r>
              <a:rPr lang="en-US" b="1" dirty="0"/>
              <a:t>: </a:t>
            </a:r>
            <a:r>
              <a:rPr lang="en-US" dirty="0"/>
              <a:t>Fixed-wing aircraft stall when the wing exceeds its </a:t>
            </a:r>
            <a:r>
              <a:rPr lang="en-US" b="1" dirty="0"/>
              <a:t>critical angle of attack</a:t>
            </a:r>
            <a:r>
              <a:rPr lang="en-US" dirty="0"/>
              <a:t>, causing flow separation and loss of lift. </a:t>
            </a:r>
            <a:r>
              <a:rPr lang="en-US" b="1" dirty="0"/>
              <a:t>Rotorcraft</a:t>
            </a:r>
            <a:r>
              <a:rPr lang="en-US" dirty="0"/>
              <a:t> do not experience a single global wing stall. Instead, they experience </a:t>
            </a:r>
            <a:r>
              <a:rPr lang="en-US" b="1" dirty="0"/>
              <a:t>localized blade stalls</a:t>
            </a:r>
            <a:r>
              <a:rPr lang="en-US" dirty="0"/>
              <a:t>, </a:t>
            </a:r>
            <a:r>
              <a:rPr lang="en-US" b="1" dirty="0"/>
              <a:t>retreating blade stall</a:t>
            </a:r>
            <a:r>
              <a:rPr lang="en-US" dirty="0"/>
              <a:t>, and </a:t>
            </a:r>
            <a:r>
              <a:rPr lang="en-US" b="1" dirty="0"/>
              <a:t>vortex ring state</a:t>
            </a:r>
            <a:r>
              <a:rPr lang="en-US" dirty="0"/>
              <a:t>, each governed by </a:t>
            </a:r>
            <a:r>
              <a:rPr lang="en-US" b="1" dirty="0"/>
              <a:t>rotor aerodynamics</a:t>
            </a:r>
            <a:r>
              <a:rPr lang="en-US" dirty="0"/>
              <a:t>.</a:t>
            </a:r>
            <a:br>
              <a:rPr lang="en-US" dirty="0"/>
            </a:br>
            <a:endParaRPr lang="en-US" b="1" dirty="0"/>
          </a:p>
        </p:txBody>
      </p:sp>
      <p:pic>
        <p:nvPicPr>
          <p:cNvPr id="6" name="Picture 5">
            <a:extLst>
              <a:ext uri="{FF2B5EF4-FFF2-40B4-BE49-F238E27FC236}">
                <a16:creationId xmlns:a16="http://schemas.microsoft.com/office/drawing/2014/main" id="{CFB5FB9B-2DD3-4BA0-0859-C6FAD4283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2724329"/>
            <a:ext cx="4857750" cy="3364442"/>
          </a:xfrm>
          <a:prstGeom prst="rect">
            <a:avLst/>
          </a:prstGeom>
        </p:spPr>
      </p:pic>
      <p:pic>
        <p:nvPicPr>
          <p:cNvPr id="9" name="Picture 8">
            <a:extLst>
              <a:ext uri="{FF2B5EF4-FFF2-40B4-BE49-F238E27FC236}">
                <a16:creationId xmlns:a16="http://schemas.microsoft.com/office/drawing/2014/main" id="{ADC2242D-D963-B66B-AE00-7A702AF28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2592694"/>
            <a:ext cx="3505200" cy="3627712"/>
          </a:xfrm>
          <a:prstGeom prst="rect">
            <a:avLst/>
          </a:prstGeom>
        </p:spPr>
      </p:pic>
      <p:grpSp>
        <p:nvGrpSpPr>
          <p:cNvPr id="10" name="Group 9">
            <a:extLst>
              <a:ext uri="{FF2B5EF4-FFF2-40B4-BE49-F238E27FC236}">
                <a16:creationId xmlns:a16="http://schemas.microsoft.com/office/drawing/2014/main" id="{8145186A-BFFB-E89A-46B4-B6A5BDCA0C7D}"/>
              </a:ext>
            </a:extLst>
          </p:cNvPr>
          <p:cNvGrpSpPr/>
          <p:nvPr/>
        </p:nvGrpSpPr>
        <p:grpSpPr>
          <a:xfrm>
            <a:off x="6702302" y="4966616"/>
            <a:ext cx="367200" cy="720360"/>
            <a:chOff x="6702302" y="4966616"/>
            <a:chExt cx="367200" cy="72036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6948292-F820-804C-9BCD-4E29F6267B70}"/>
                    </a:ext>
                  </a:extLst>
                </p14:cNvPr>
                <p14:cNvContentPartPr/>
                <p14:nvPr/>
              </p14:nvContentPartPr>
              <p14:xfrm>
                <a:off x="6785822" y="5252096"/>
                <a:ext cx="248040" cy="434880"/>
              </p14:xfrm>
            </p:contentPart>
          </mc:Choice>
          <mc:Fallback xmlns="">
            <p:pic>
              <p:nvPicPr>
                <p:cNvPr id="4" name="Ink 3">
                  <a:extLst>
                    <a:ext uri="{FF2B5EF4-FFF2-40B4-BE49-F238E27FC236}">
                      <a16:creationId xmlns:a16="http://schemas.microsoft.com/office/drawing/2014/main" id="{46948292-F820-804C-9BCD-4E29F6267B70}"/>
                    </a:ext>
                  </a:extLst>
                </p:cNvPr>
                <p:cNvPicPr/>
                <p:nvPr/>
              </p:nvPicPr>
              <p:blipFill>
                <a:blip r:embed="rId5"/>
                <a:stretch>
                  <a:fillRect/>
                </a:stretch>
              </p:blipFill>
              <p:spPr>
                <a:xfrm>
                  <a:off x="6722822" y="5189096"/>
                  <a:ext cx="373680"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77624FEA-CA88-B044-6083-1D23576E6B3C}"/>
                    </a:ext>
                  </a:extLst>
                </p14:cNvPr>
                <p14:cNvContentPartPr/>
                <p14:nvPr/>
              </p14:nvContentPartPr>
              <p14:xfrm>
                <a:off x="6960782" y="4966616"/>
                <a:ext cx="80280" cy="376920"/>
              </p14:xfrm>
            </p:contentPart>
          </mc:Choice>
          <mc:Fallback xmlns="">
            <p:pic>
              <p:nvPicPr>
                <p:cNvPr id="5" name="Ink 4">
                  <a:extLst>
                    <a:ext uri="{FF2B5EF4-FFF2-40B4-BE49-F238E27FC236}">
                      <a16:creationId xmlns:a16="http://schemas.microsoft.com/office/drawing/2014/main" id="{77624FEA-CA88-B044-6083-1D23576E6B3C}"/>
                    </a:ext>
                  </a:extLst>
                </p:cNvPr>
                <p:cNvPicPr/>
                <p:nvPr/>
              </p:nvPicPr>
              <p:blipFill>
                <a:blip r:embed="rId7"/>
                <a:stretch>
                  <a:fillRect/>
                </a:stretch>
              </p:blipFill>
              <p:spPr>
                <a:xfrm>
                  <a:off x="6898142" y="4903976"/>
                  <a:ext cx="205920"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2EE30006-8644-29BE-87E2-2262DB23160D}"/>
                    </a:ext>
                  </a:extLst>
                </p14:cNvPr>
                <p14:cNvContentPartPr/>
                <p14:nvPr/>
              </p14:nvContentPartPr>
              <p14:xfrm>
                <a:off x="6702302" y="5097656"/>
                <a:ext cx="367200" cy="466560"/>
              </p14:xfrm>
            </p:contentPart>
          </mc:Choice>
          <mc:Fallback xmlns="">
            <p:pic>
              <p:nvPicPr>
                <p:cNvPr id="8" name="Ink 7">
                  <a:extLst>
                    <a:ext uri="{FF2B5EF4-FFF2-40B4-BE49-F238E27FC236}">
                      <a16:creationId xmlns:a16="http://schemas.microsoft.com/office/drawing/2014/main" id="{2EE30006-8644-29BE-87E2-2262DB23160D}"/>
                    </a:ext>
                  </a:extLst>
                </p:cNvPr>
                <p:cNvPicPr/>
                <p:nvPr/>
              </p:nvPicPr>
              <p:blipFill>
                <a:blip r:embed="rId9"/>
                <a:stretch>
                  <a:fillRect/>
                </a:stretch>
              </p:blipFill>
              <p:spPr>
                <a:xfrm>
                  <a:off x="6639302" y="5035016"/>
                  <a:ext cx="492840" cy="59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EB40B5AC-3D8E-93F1-6B8E-068C292C8B2A}"/>
                  </a:ext>
                </a:extLst>
              </p14:cNvPr>
              <p14:cNvContentPartPr/>
              <p14:nvPr/>
            </p14:nvContentPartPr>
            <p14:xfrm>
              <a:off x="8598422" y="5217896"/>
              <a:ext cx="360" cy="360"/>
            </p14:xfrm>
          </p:contentPart>
        </mc:Choice>
        <mc:Fallback xmlns="">
          <p:pic>
            <p:nvPicPr>
              <p:cNvPr id="11" name="Ink 10">
                <a:extLst>
                  <a:ext uri="{FF2B5EF4-FFF2-40B4-BE49-F238E27FC236}">
                    <a16:creationId xmlns:a16="http://schemas.microsoft.com/office/drawing/2014/main" id="{EB40B5AC-3D8E-93F1-6B8E-068C292C8B2A}"/>
                  </a:ext>
                </a:extLst>
              </p:cNvPr>
              <p:cNvPicPr/>
              <p:nvPr/>
            </p:nvPicPr>
            <p:blipFill>
              <a:blip r:embed="rId11"/>
              <a:stretch>
                <a:fillRect/>
              </a:stretch>
            </p:blipFill>
            <p:spPr>
              <a:xfrm>
                <a:off x="8535422" y="5154896"/>
                <a:ext cx="126000" cy="126000"/>
              </a:xfrm>
              <a:prstGeom prst="rect">
                <a:avLst/>
              </a:prstGeom>
            </p:spPr>
          </p:pic>
        </mc:Fallback>
      </mc:AlternateContent>
    </p:spTree>
    <p:extLst>
      <p:ext uri="{BB962C8B-B14F-4D97-AF65-F5344CB8AC3E}">
        <p14:creationId xmlns:p14="http://schemas.microsoft.com/office/powerpoint/2010/main" val="15702854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8" name="Picture 6" descr="Quadcopter Vortex Ring State | Settling with Power. Unmanned… | Flickr">
            <a:extLst>
              <a:ext uri="{FF2B5EF4-FFF2-40B4-BE49-F238E27FC236}">
                <a16:creationId xmlns:a16="http://schemas.microsoft.com/office/drawing/2014/main" id="{775C8B88-ABB9-6F0D-3351-4FF221A92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690336"/>
            <a:ext cx="4724400" cy="3543300"/>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descr="Vortex ring state - Wikipedia">
            <a:extLst>
              <a:ext uri="{FF2B5EF4-FFF2-40B4-BE49-F238E27FC236}">
                <a16:creationId xmlns:a16="http://schemas.microsoft.com/office/drawing/2014/main" id="{E9D3FCB8-BCA0-1D7D-83B6-F1FEC50F28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694741"/>
            <a:ext cx="4724400" cy="35654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68E7566-069C-10F1-95A2-508D8EA2E166}"/>
              </a:ext>
            </a:extLst>
          </p:cNvPr>
          <p:cNvSpPr txBox="1"/>
          <p:nvPr/>
        </p:nvSpPr>
        <p:spPr>
          <a:xfrm>
            <a:off x="304800" y="1524000"/>
            <a:ext cx="11201400" cy="923330"/>
          </a:xfrm>
          <a:prstGeom prst="rect">
            <a:avLst/>
          </a:prstGeom>
          <a:noFill/>
        </p:spPr>
        <p:txBody>
          <a:bodyPr wrap="square">
            <a:spAutoFit/>
          </a:bodyPr>
          <a:lstStyle/>
          <a:p>
            <a:pPr>
              <a:buFont typeface="Arial" panose="020B0604020202020204" pitchFamily="34" charset="0"/>
              <a:buChar char="•"/>
            </a:pPr>
            <a:r>
              <a:rPr lang="en-US" b="1" dirty="0"/>
              <a:t>Vortex Ring State:</a:t>
            </a:r>
            <a:r>
              <a:rPr lang="en-US" dirty="0"/>
              <a:t> A hazardous flight condition, primarily in rotorcraft, where a drone (or helicopter) descends into its own rotor downwash. This re-circulation of turbulent air can cause a sudden loss of lift and control.</a:t>
            </a:r>
          </a:p>
        </p:txBody>
      </p:sp>
      <p:sp>
        <p:nvSpPr>
          <p:cNvPr id="5" name="TextBox 4">
            <a:extLst>
              <a:ext uri="{FF2B5EF4-FFF2-40B4-BE49-F238E27FC236}">
                <a16:creationId xmlns:a16="http://schemas.microsoft.com/office/drawing/2014/main" id="{0D28EE67-185A-4909-6C20-2BFF558C10DC}"/>
              </a:ext>
            </a:extLst>
          </p:cNvPr>
          <p:cNvSpPr txBox="1"/>
          <p:nvPr/>
        </p:nvSpPr>
        <p:spPr>
          <a:xfrm>
            <a:off x="304800" y="457200"/>
            <a:ext cx="7620000" cy="584775"/>
          </a:xfrm>
          <a:prstGeom prst="rect">
            <a:avLst/>
          </a:prstGeom>
          <a:noFill/>
        </p:spPr>
        <p:txBody>
          <a:bodyPr wrap="square" rtlCol="0">
            <a:spAutoFit/>
          </a:bodyPr>
          <a:lstStyle/>
          <a:p>
            <a:r>
              <a:rPr lang="en-US" sz="3200" b="1" dirty="0"/>
              <a:t>Vortex Ring State</a:t>
            </a:r>
            <a:endParaRPr lang="en-IN" sz="3200" dirty="0"/>
          </a:p>
        </p:txBody>
      </p:sp>
    </p:spTree>
    <p:extLst>
      <p:ext uri="{BB962C8B-B14F-4D97-AF65-F5344CB8AC3E}">
        <p14:creationId xmlns:p14="http://schemas.microsoft.com/office/powerpoint/2010/main" val="38728287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AF9AC-AA73-45DF-D163-26FEFEB60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8D739-4462-8A3A-CC2C-0C8FC4A5C329}"/>
              </a:ext>
            </a:extLst>
          </p:cNvPr>
          <p:cNvSpPr>
            <a:spLocks noGrp="1"/>
          </p:cNvSpPr>
          <p:nvPr>
            <p:ph type="title"/>
          </p:nvPr>
        </p:nvSpPr>
        <p:spPr>
          <a:xfrm>
            <a:off x="533400" y="457200"/>
            <a:ext cx="9067800" cy="430887"/>
          </a:xfrm>
        </p:spPr>
        <p:txBody>
          <a:bodyPr/>
          <a:lstStyle/>
          <a:p>
            <a:r>
              <a:rPr lang="en-IN" dirty="0"/>
              <a:t>Aerodynamics: Wing Planform</a:t>
            </a:r>
          </a:p>
        </p:txBody>
      </p:sp>
      <p:sp>
        <p:nvSpPr>
          <p:cNvPr id="3" name="TextBox 2">
            <a:extLst>
              <a:ext uri="{FF2B5EF4-FFF2-40B4-BE49-F238E27FC236}">
                <a16:creationId xmlns:a16="http://schemas.microsoft.com/office/drawing/2014/main" id="{725DCDD3-6CF8-A889-8556-67265E79F44B}"/>
              </a:ext>
            </a:extLst>
          </p:cNvPr>
          <p:cNvSpPr txBox="1"/>
          <p:nvPr/>
        </p:nvSpPr>
        <p:spPr>
          <a:xfrm>
            <a:off x="304800" y="1524000"/>
            <a:ext cx="11582400" cy="4524315"/>
          </a:xfrm>
          <a:prstGeom prst="rect">
            <a:avLst/>
          </a:prstGeom>
          <a:noFill/>
        </p:spPr>
        <p:txBody>
          <a:bodyPr wrap="square" rtlCol="0">
            <a:spAutoFit/>
          </a:bodyPr>
          <a:lstStyle/>
          <a:p>
            <a:pPr algn="l"/>
            <a:r>
              <a:rPr lang="en-US" b="1" u="sng" dirty="0"/>
              <a:t>Planform</a:t>
            </a:r>
            <a:r>
              <a:rPr lang="en-US" b="1" dirty="0"/>
              <a:t>: </a:t>
            </a:r>
            <a:r>
              <a:rPr lang="en-US" dirty="0"/>
              <a:t>The </a:t>
            </a:r>
            <a:r>
              <a:rPr lang="en-US" b="1" dirty="0"/>
              <a:t>Top-down view </a:t>
            </a:r>
            <a:r>
              <a:rPr lang="en-US" dirty="0"/>
              <a:t>of the Aircraft is called as </a:t>
            </a:r>
            <a:r>
              <a:rPr lang="en-US" b="1" dirty="0"/>
              <a:t>Planform</a:t>
            </a:r>
            <a:r>
              <a:rPr lang="en-US" dirty="0"/>
              <a:t>. The planform design of the wing is very essential as the cross-section design of the wing. This gives many advantages for different missions. </a:t>
            </a:r>
            <a:r>
              <a:rPr lang="en-US" b="1" dirty="0"/>
              <a:t>Wing Planform</a:t>
            </a:r>
            <a:r>
              <a:rPr lang="en-US" dirty="0"/>
              <a:t> are simply divided into </a:t>
            </a:r>
            <a:r>
              <a:rPr lang="en-US" b="1" dirty="0"/>
              <a:t>Five main types-</a:t>
            </a:r>
          </a:p>
          <a:p>
            <a:pPr algn="l"/>
            <a:endParaRPr lang="en-US" b="1" dirty="0"/>
          </a:p>
          <a:p>
            <a:pPr algn="l"/>
            <a:endParaRPr lang="en-US" b="1" dirty="0"/>
          </a:p>
          <a:p>
            <a:pPr marL="400050" indent="-400050" algn="l">
              <a:buAutoNum type="romanLcPeriod"/>
            </a:pPr>
            <a:r>
              <a:rPr lang="en-US" sz="2000" dirty="0"/>
              <a:t>Rectangular wings</a:t>
            </a:r>
          </a:p>
          <a:p>
            <a:pPr marL="400050" indent="-400050" algn="l">
              <a:buAutoNum type="romanLcPeriod"/>
            </a:pPr>
            <a:endParaRPr lang="en-US" sz="2000" dirty="0"/>
          </a:p>
          <a:p>
            <a:pPr marL="400050" indent="-400050" algn="l">
              <a:buAutoNum type="romanLcPeriod"/>
            </a:pPr>
            <a:r>
              <a:rPr lang="en-US" sz="2000" dirty="0"/>
              <a:t>Elliptical wings</a:t>
            </a:r>
          </a:p>
          <a:p>
            <a:pPr marL="400050" indent="-400050" algn="l">
              <a:buAutoNum type="romanLcPeriod"/>
            </a:pPr>
            <a:endParaRPr lang="en-US" sz="2000" dirty="0"/>
          </a:p>
          <a:p>
            <a:pPr marL="400050" indent="-400050" algn="l">
              <a:buAutoNum type="romanLcPeriod"/>
            </a:pPr>
            <a:r>
              <a:rPr lang="en-US" sz="2000" dirty="0"/>
              <a:t>Tapered wings</a:t>
            </a:r>
          </a:p>
          <a:p>
            <a:pPr marL="400050" indent="-400050" algn="l">
              <a:buAutoNum type="romanLcPeriod"/>
            </a:pPr>
            <a:endParaRPr lang="en-US" sz="2000" dirty="0"/>
          </a:p>
          <a:p>
            <a:pPr marL="400050" indent="-400050" algn="l">
              <a:buAutoNum type="romanLcPeriod"/>
            </a:pPr>
            <a:r>
              <a:rPr lang="en-US" sz="2000" dirty="0"/>
              <a:t>Swept wings</a:t>
            </a:r>
          </a:p>
          <a:p>
            <a:pPr marL="400050" indent="-400050" algn="l">
              <a:buAutoNum type="romanLcPeriod"/>
            </a:pPr>
            <a:endParaRPr lang="en-US" sz="2000" dirty="0"/>
          </a:p>
          <a:p>
            <a:pPr marL="400050" indent="-400050" algn="l">
              <a:buAutoNum type="romanLcPeriod"/>
            </a:pPr>
            <a:r>
              <a:rPr lang="en-US" sz="2000" dirty="0"/>
              <a:t>Delta Wings</a:t>
            </a:r>
            <a:br>
              <a:rPr lang="en-US" dirty="0"/>
            </a:br>
            <a:endParaRPr lang="en-US" b="1" dirty="0"/>
          </a:p>
        </p:txBody>
      </p:sp>
      <p:grpSp>
        <p:nvGrpSpPr>
          <p:cNvPr id="10" name="Group 9">
            <a:extLst>
              <a:ext uri="{FF2B5EF4-FFF2-40B4-BE49-F238E27FC236}">
                <a16:creationId xmlns:a16="http://schemas.microsoft.com/office/drawing/2014/main" id="{178D9B48-94B9-B317-9CEF-10B17DCE232E}"/>
              </a:ext>
            </a:extLst>
          </p:cNvPr>
          <p:cNvGrpSpPr/>
          <p:nvPr/>
        </p:nvGrpSpPr>
        <p:grpSpPr>
          <a:xfrm>
            <a:off x="6702302" y="4966616"/>
            <a:ext cx="367200" cy="720360"/>
            <a:chOff x="6702302" y="4966616"/>
            <a:chExt cx="367200" cy="7203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485D0AA-935C-F74E-6BFF-C530263025A5}"/>
                    </a:ext>
                  </a:extLst>
                </p14:cNvPr>
                <p14:cNvContentPartPr/>
                <p14:nvPr/>
              </p14:nvContentPartPr>
              <p14:xfrm>
                <a:off x="6785822" y="5252096"/>
                <a:ext cx="248040" cy="434880"/>
              </p14:xfrm>
            </p:contentPart>
          </mc:Choice>
          <mc:Fallback xmlns="">
            <p:pic>
              <p:nvPicPr>
                <p:cNvPr id="4" name="Ink 3">
                  <a:extLst>
                    <a:ext uri="{FF2B5EF4-FFF2-40B4-BE49-F238E27FC236}">
                      <a16:creationId xmlns:a16="http://schemas.microsoft.com/office/drawing/2014/main" id="{E485D0AA-935C-F74E-6BFF-C530263025A5}"/>
                    </a:ext>
                  </a:extLst>
                </p:cNvPr>
                <p:cNvPicPr/>
                <p:nvPr/>
              </p:nvPicPr>
              <p:blipFill>
                <a:blip r:embed="rId3"/>
                <a:stretch>
                  <a:fillRect/>
                </a:stretch>
              </p:blipFill>
              <p:spPr>
                <a:xfrm>
                  <a:off x="6722913" y="5189096"/>
                  <a:ext cx="373498"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669A8D6-CD19-9D7A-E243-E29ABD573004}"/>
                    </a:ext>
                  </a:extLst>
                </p14:cNvPr>
                <p14:cNvContentPartPr/>
                <p14:nvPr/>
              </p14:nvContentPartPr>
              <p14:xfrm>
                <a:off x="6960782" y="4966616"/>
                <a:ext cx="80280" cy="376920"/>
              </p14:xfrm>
            </p:contentPart>
          </mc:Choice>
          <mc:Fallback xmlns="">
            <p:pic>
              <p:nvPicPr>
                <p:cNvPr id="5" name="Ink 4">
                  <a:extLst>
                    <a:ext uri="{FF2B5EF4-FFF2-40B4-BE49-F238E27FC236}">
                      <a16:creationId xmlns:a16="http://schemas.microsoft.com/office/drawing/2014/main" id="{0669A8D6-CD19-9D7A-E243-E29ABD573004}"/>
                    </a:ext>
                  </a:extLst>
                </p:cNvPr>
                <p:cNvPicPr/>
                <p:nvPr/>
              </p:nvPicPr>
              <p:blipFill>
                <a:blip r:embed="rId5"/>
                <a:stretch>
                  <a:fillRect/>
                </a:stretch>
              </p:blipFill>
              <p:spPr>
                <a:xfrm>
                  <a:off x="6897498" y="4903616"/>
                  <a:ext cx="206486"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FB442B6C-B96E-0176-798E-A4ACEC0051B3}"/>
                    </a:ext>
                  </a:extLst>
                </p14:cNvPr>
                <p14:cNvContentPartPr/>
                <p14:nvPr/>
              </p14:nvContentPartPr>
              <p14:xfrm>
                <a:off x="6702302" y="5097656"/>
                <a:ext cx="367200" cy="466560"/>
              </p14:xfrm>
            </p:contentPart>
          </mc:Choice>
          <mc:Fallback xmlns="">
            <p:pic>
              <p:nvPicPr>
                <p:cNvPr id="8" name="Ink 7">
                  <a:extLst>
                    <a:ext uri="{FF2B5EF4-FFF2-40B4-BE49-F238E27FC236}">
                      <a16:creationId xmlns:a16="http://schemas.microsoft.com/office/drawing/2014/main" id="{FB442B6C-B96E-0176-798E-A4ACEC0051B3}"/>
                    </a:ext>
                  </a:extLst>
                </p:cNvPr>
                <p:cNvPicPr/>
                <p:nvPr/>
              </p:nvPicPr>
              <p:blipFill>
                <a:blip r:embed="rId7"/>
                <a:stretch>
                  <a:fillRect/>
                </a:stretch>
              </p:blipFill>
              <p:spPr>
                <a:xfrm>
                  <a:off x="6639364" y="5034607"/>
                  <a:ext cx="492717" cy="59229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EC2748BB-9650-BCEC-DE70-671D84E32B22}"/>
                  </a:ext>
                </a:extLst>
              </p14:cNvPr>
              <p14:cNvContentPartPr/>
              <p14:nvPr/>
            </p14:nvContentPartPr>
            <p14:xfrm>
              <a:off x="8598422" y="5217896"/>
              <a:ext cx="360" cy="360"/>
            </p14:xfrm>
          </p:contentPart>
        </mc:Choice>
        <mc:Fallback xmlns="">
          <p:pic>
            <p:nvPicPr>
              <p:cNvPr id="11" name="Ink 10">
                <a:extLst>
                  <a:ext uri="{FF2B5EF4-FFF2-40B4-BE49-F238E27FC236}">
                    <a16:creationId xmlns:a16="http://schemas.microsoft.com/office/drawing/2014/main" id="{EC2748BB-9650-BCEC-DE70-671D84E32B22}"/>
                  </a:ext>
                </a:extLst>
              </p:cNvPr>
              <p:cNvPicPr/>
              <p:nvPr/>
            </p:nvPicPr>
            <p:blipFill>
              <a:blip r:embed="rId9"/>
              <a:stretch>
                <a:fillRect/>
              </a:stretch>
            </p:blipFill>
            <p:spPr>
              <a:xfrm>
                <a:off x="8535422" y="5154896"/>
                <a:ext cx="126000" cy="126000"/>
              </a:xfrm>
              <a:prstGeom prst="rect">
                <a:avLst/>
              </a:prstGeom>
            </p:spPr>
          </p:pic>
        </mc:Fallback>
      </mc:AlternateContent>
      <p:pic>
        <p:nvPicPr>
          <p:cNvPr id="30" name="Picture 29">
            <a:extLst>
              <a:ext uri="{FF2B5EF4-FFF2-40B4-BE49-F238E27FC236}">
                <a16:creationId xmlns:a16="http://schemas.microsoft.com/office/drawing/2014/main" id="{F5761C56-DA08-7D6F-3822-2BD682C11BB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91000" y="2782347"/>
            <a:ext cx="7200900" cy="3618453"/>
          </a:xfrm>
          <a:prstGeom prst="rect">
            <a:avLst/>
          </a:prstGeom>
        </p:spPr>
      </p:pic>
    </p:spTree>
    <p:extLst>
      <p:ext uri="{BB962C8B-B14F-4D97-AF65-F5344CB8AC3E}">
        <p14:creationId xmlns:p14="http://schemas.microsoft.com/office/powerpoint/2010/main" val="33072594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D9A22-31AE-7060-95B7-01EACE4FF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B3C99-97DE-8A44-115E-679C76E42404}"/>
              </a:ext>
            </a:extLst>
          </p:cNvPr>
          <p:cNvSpPr>
            <a:spLocks noGrp="1"/>
          </p:cNvSpPr>
          <p:nvPr>
            <p:ph type="title"/>
          </p:nvPr>
        </p:nvSpPr>
        <p:spPr>
          <a:xfrm>
            <a:off x="533400" y="457200"/>
            <a:ext cx="9067800" cy="430887"/>
          </a:xfrm>
        </p:spPr>
        <p:txBody>
          <a:bodyPr/>
          <a:lstStyle/>
          <a:p>
            <a:r>
              <a:rPr lang="en-IN" dirty="0"/>
              <a:t>Aerodynamics: Wing Planform</a:t>
            </a:r>
          </a:p>
        </p:txBody>
      </p:sp>
      <p:sp>
        <p:nvSpPr>
          <p:cNvPr id="3" name="TextBox 2">
            <a:extLst>
              <a:ext uri="{FF2B5EF4-FFF2-40B4-BE49-F238E27FC236}">
                <a16:creationId xmlns:a16="http://schemas.microsoft.com/office/drawing/2014/main" id="{67BCC23F-C3AD-8741-76D2-4311ED5B171B}"/>
              </a:ext>
            </a:extLst>
          </p:cNvPr>
          <p:cNvSpPr txBox="1"/>
          <p:nvPr/>
        </p:nvSpPr>
        <p:spPr>
          <a:xfrm>
            <a:off x="304800" y="1524000"/>
            <a:ext cx="11582400" cy="2031325"/>
          </a:xfrm>
          <a:prstGeom prst="rect">
            <a:avLst/>
          </a:prstGeom>
          <a:noFill/>
        </p:spPr>
        <p:txBody>
          <a:bodyPr wrap="square" rtlCol="0">
            <a:spAutoFit/>
          </a:bodyPr>
          <a:lstStyle/>
          <a:p>
            <a:pPr algn="l"/>
            <a:r>
              <a:rPr lang="en-US" b="1" u="sng" dirty="0"/>
              <a:t>Rectangular wings</a:t>
            </a:r>
            <a:r>
              <a:rPr lang="en-US" b="1" dirty="0"/>
              <a:t>: </a:t>
            </a:r>
            <a:r>
              <a:rPr lang="en-US" dirty="0"/>
              <a:t>A rectangular wing has nearly uniform lift distribution and highly predictable aerodynamic behavior. It exhibits gentle stall characteristics, which provide good controllability and safety at low speeds.</a:t>
            </a:r>
          </a:p>
          <a:p>
            <a:pPr algn="l"/>
            <a:endParaRPr lang="en-US" dirty="0"/>
          </a:p>
          <a:p>
            <a:pPr algn="l"/>
            <a:r>
              <a:rPr lang="en-US" dirty="0"/>
              <a:t>However, it produces relatively </a:t>
            </a:r>
            <a:r>
              <a:rPr lang="en-US" b="1" dirty="0"/>
              <a:t>high induced drag </a:t>
            </a:r>
            <a:r>
              <a:rPr lang="en-US" dirty="0"/>
              <a:t>and is </a:t>
            </a:r>
            <a:r>
              <a:rPr lang="en-US" b="1" dirty="0"/>
              <a:t>structurally less efficient for high-speed flight</a:t>
            </a:r>
            <a:r>
              <a:rPr lang="en-US" dirty="0"/>
              <a:t>.</a:t>
            </a:r>
          </a:p>
          <a:p>
            <a:pPr algn="l"/>
            <a:endParaRPr lang="en-US" dirty="0"/>
          </a:p>
          <a:p>
            <a:pPr algn="l"/>
            <a:r>
              <a:rPr lang="en-US" dirty="0"/>
              <a:t>Rectangular wings are therefore commonly used in </a:t>
            </a:r>
            <a:r>
              <a:rPr lang="en-US" b="1" dirty="0"/>
              <a:t>training aircraft</a:t>
            </a:r>
            <a:r>
              <a:rPr lang="en-US" dirty="0"/>
              <a:t>, </a:t>
            </a:r>
            <a:r>
              <a:rPr lang="en-US" b="1" dirty="0"/>
              <a:t>reconnaissance UAVs</a:t>
            </a:r>
            <a:r>
              <a:rPr lang="en-US" dirty="0"/>
              <a:t>, and </a:t>
            </a:r>
            <a:r>
              <a:rPr lang="en-US" b="1" dirty="0"/>
              <a:t>low-speed applications </a:t>
            </a:r>
            <a:r>
              <a:rPr lang="en-US" dirty="0"/>
              <a:t>where </a:t>
            </a:r>
            <a:r>
              <a:rPr lang="en-US" b="1" dirty="0"/>
              <a:t>stability and simplicity are prioritized </a:t>
            </a:r>
            <a:r>
              <a:rPr lang="en-US" dirty="0"/>
              <a:t>over aerodynamic efficiency.</a:t>
            </a:r>
            <a:endParaRPr lang="en-US" b="1" dirty="0"/>
          </a:p>
        </p:txBody>
      </p:sp>
      <p:grpSp>
        <p:nvGrpSpPr>
          <p:cNvPr id="10" name="Group 9">
            <a:extLst>
              <a:ext uri="{FF2B5EF4-FFF2-40B4-BE49-F238E27FC236}">
                <a16:creationId xmlns:a16="http://schemas.microsoft.com/office/drawing/2014/main" id="{7A679B9E-9C87-6386-2E17-60D5237CA35D}"/>
              </a:ext>
            </a:extLst>
          </p:cNvPr>
          <p:cNvGrpSpPr/>
          <p:nvPr/>
        </p:nvGrpSpPr>
        <p:grpSpPr>
          <a:xfrm>
            <a:off x="6702302" y="4966616"/>
            <a:ext cx="367200" cy="720360"/>
            <a:chOff x="6702302" y="4966616"/>
            <a:chExt cx="367200" cy="7203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121A656-F897-A570-870E-0A629E175F2E}"/>
                    </a:ext>
                  </a:extLst>
                </p14:cNvPr>
                <p14:cNvContentPartPr/>
                <p14:nvPr/>
              </p14:nvContentPartPr>
              <p14:xfrm>
                <a:off x="6785822" y="5252096"/>
                <a:ext cx="248040" cy="434880"/>
              </p14:xfrm>
            </p:contentPart>
          </mc:Choice>
          <mc:Fallback xmlns="">
            <p:pic>
              <p:nvPicPr>
                <p:cNvPr id="4" name="Ink 3">
                  <a:extLst>
                    <a:ext uri="{FF2B5EF4-FFF2-40B4-BE49-F238E27FC236}">
                      <a16:creationId xmlns:a16="http://schemas.microsoft.com/office/drawing/2014/main" id="{5121A656-F897-A570-870E-0A629E175F2E}"/>
                    </a:ext>
                  </a:extLst>
                </p:cNvPr>
                <p:cNvPicPr/>
                <p:nvPr/>
              </p:nvPicPr>
              <p:blipFill>
                <a:blip r:embed="rId3"/>
                <a:stretch>
                  <a:fillRect/>
                </a:stretch>
              </p:blipFill>
              <p:spPr>
                <a:xfrm>
                  <a:off x="6722913" y="5189096"/>
                  <a:ext cx="373498"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A1D31C2-8AF5-EB69-0D3B-ED97A79CC7EF}"/>
                    </a:ext>
                  </a:extLst>
                </p14:cNvPr>
                <p14:cNvContentPartPr/>
                <p14:nvPr/>
              </p14:nvContentPartPr>
              <p14:xfrm>
                <a:off x="6960782" y="4966616"/>
                <a:ext cx="80280" cy="376920"/>
              </p14:xfrm>
            </p:contentPart>
          </mc:Choice>
          <mc:Fallback xmlns="">
            <p:pic>
              <p:nvPicPr>
                <p:cNvPr id="5" name="Ink 4">
                  <a:extLst>
                    <a:ext uri="{FF2B5EF4-FFF2-40B4-BE49-F238E27FC236}">
                      <a16:creationId xmlns:a16="http://schemas.microsoft.com/office/drawing/2014/main" id="{DA1D31C2-8AF5-EB69-0D3B-ED97A79CC7EF}"/>
                    </a:ext>
                  </a:extLst>
                </p:cNvPr>
                <p:cNvPicPr/>
                <p:nvPr/>
              </p:nvPicPr>
              <p:blipFill>
                <a:blip r:embed="rId5"/>
                <a:stretch>
                  <a:fillRect/>
                </a:stretch>
              </p:blipFill>
              <p:spPr>
                <a:xfrm>
                  <a:off x="6897498" y="4903616"/>
                  <a:ext cx="206486"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B31AD924-46C0-A3DD-7D92-B01CD645D4BD}"/>
                    </a:ext>
                  </a:extLst>
                </p14:cNvPr>
                <p14:cNvContentPartPr/>
                <p14:nvPr/>
              </p14:nvContentPartPr>
              <p14:xfrm>
                <a:off x="6702302" y="5097656"/>
                <a:ext cx="367200" cy="466560"/>
              </p14:xfrm>
            </p:contentPart>
          </mc:Choice>
          <mc:Fallback xmlns="">
            <p:pic>
              <p:nvPicPr>
                <p:cNvPr id="8" name="Ink 7">
                  <a:extLst>
                    <a:ext uri="{FF2B5EF4-FFF2-40B4-BE49-F238E27FC236}">
                      <a16:creationId xmlns:a16="http://schemas.microsoft.com/office/drawing/2014/main" id="{B31AD924-46C0-A3DD-7D92-B01CD645D4BD}"/>
                    </a:ext>
                  </a:extLst>
                </p:cNvPr>
                <p:cNvPicPr/>
                <p:nvPr/>
              </p:nvPicPr>
              <p:blipFill>
                <a:blip r:embed="rId7"/>
                <a:stretch>
                  <a:fillRect/>
                </a:stretch>
              </p:blipFill>
              <p:spPr>
                <a:xfrm>
                  <a:off x="6639364" y="5034607"/>
                  <a:ext cx="492717" cy="59229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A08A7CC9-8420-F914-1461-4723C2B1754A}"/>
                  </a:ext>
                </a:extLst>
              </p14:cNvPr>
              <p14:cNvContentPartPr/>
              <p14:nvPr/>
            </p14:nvContentPartPr>
            <p14:xfrm>
              <a:off x="8598422" y="5217896"/>
              <a:ext cx="360" cy="360"/>
            </p14:xfrm>
          </p:contentPart>
        </mc:Choice>
        <mc:Fallback xmlns="">
          <p:pic>
            <p:nvPicPr>
              <p:cNvPr id="11" name="Ink 10">
                <a:extLst>
                  <a:ext uri="{FF2B5EF4-FFF2-40B4-BE49-F238E27FC236}">
                    <a16:creationId xmlns:a16="http://schemas.microsoft.com/office/drawing/2014/main" id="{A08A7CC9-8420-F914-1461-4723C2B1754A}"/>
                  </a:ext>
                </a:extLst>
              </p:cNvPr>
              <p:cNvPicPr/>
              <p:nvPr/>
            </p:nvPicPr>
            <p:blipFill>
              <a:blip r:embed="rId9"/>
              <a:stretch>
                <a:fillRect/>
              </a:stretch>
            </p:blipFill>
            <p:spPr>
              <a:xfrm>
                <a:off x="8535422" y="5154896"/>
                <a:ext cx="126000" cy="126000"/>
              </a:xfrm>
              <a:prstGeom prst="rect">
                <a:avLst/>
              </a:prstGeom>
            </p:spPr>
          </p:pic>
        </mc:Fallback>
      </mc:AlternateContent>
      <p:pic>
        <p:nvPicPr>
          <p:cNvPr id="7" name="Picture 6">
            <a:extLst>
              <a:ext uri="{FF2B5EF4-FFF2-40B4-BE49-F238E27FC236}">
                <a16:creationId xmlns:a16="http://schemas.microsoft.com/office/drawing/2014/main" id="{6A61F1AC-1E9C-B687-CB64-D589201E20D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69547" y="3555325"/>
            <a:ext cx="2967877" cy="2967877"/>
          </a:xfrm>
          <a:prstGeom prst="rect">
            <a:avLst/>
          </a:prstGeom>
        </p:spPr>
      </p:pic>
      <p:pic>
        <p:nvPicPr>
          <p:cNvPr id="12" name="Picture 11">
            <a:extLst>
              <a:ext uri="{FF2B5EF4-FFF2-40B4-BE49-F238E27FC236}">
                <a16:creationId xmlns:a16="http://schemas.microsoft.com/office/drawing/2014/main" id="{F4E55D35-D279-D373-28BC-0DE20D8A473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000922" y="3567861"/>
            <a:ext cx="3416218" cy="2821492"/>
          </a:xfrm>
          <a:prstGeom prst="rect">
            <a:avLst/>
          </a:prstGeom>
        </p:spPr>
      </p:pic>
    </p:spTree>
    <p:extLst>
      <p:ext uri="{BB962C8B-B14F-4D97-AF65-F5344CB8AC3E}">
        <p14:creationId xmlns:p14="http://schemas.microsoft.com/office/powerpoint/2010/main" val="27278217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7710F-9940-1F1A-9A01-A8E2639C7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6480D-D12B-7700-21BA-6E08F62A40AC}"/>
              </a:ext>
            </a:extLst>
          </p:cNvPr>
          <p:cNvSpPr>
            <a:spLocks noGrp="1"/>
          </p:cNvSpPr>
          <p:nvPr>
            <p:ph type="title"/>
          </p:nvPr>
        </p:nvSpPr>
        <p:spPr>
          <a:xfrm>
            <a:off x="533400" y="457200"/>
            <a:ext cx="9067800" cy="430887"/>
          </a:xfrm>
        </p:spPr>
        <p:txBody>
          <a:bodyPr/>
          <a:lstStyle/>
          <a:p>
            <a:r>
              <a:rPr lang="en-IN" dirty="0"/>
              <a:t>Aerodynamics: Wing Planform</a:t>
            </a:r>
          </a:p>
        </p:txBody>
      </p:sp>
      <p:sp>
        <p:nvSpPr>
          <p:cNvPr id="3" name="TextBox 2">
            <a:extLst>
              <a:ext uri="{FF2B5EF4-FFF2-40B4-BE49-F238E27FC236}">
                <a16:creationId xmlns:a16="http://schemas.microsoft.com/office/drawing/2014/main" id="{8DD6E782-9092-0387-6CB7-33A75A87F20C}"/>
              </a:ext>
            </a:extLst>
          </p:cNvPr>
          <p:cNvSpPr txBox="1"/>
          <p:nvPr/>
        </p:nvSpPr>
        <p:spPr>
          <a:xfrm>
            <a:off x="304800" y="1524000"/>
            <a:ext cx="11582400" cy="1754326"/>
          </a:xfrm>
          <a:prstGeom prst="rect">
            <a:avLst/>
          </a:prstGeom>
          <a:noFill/>
        </p:spPr>
        <p:txBody>
          <a:bodyPr wrap="square" rtlCol="0">
            <a:spAutoFit/>
          </a:bodyPr>
          <a:lstStyle/>
          <a:p>
            <a:pPr algn="l"/>
            <a:r>
              <a:rPr lang="en-US" b="1" u="sng" dirty="0"/>
              <a:t>Elliptical wings</a:t>
            </a:r>
            <a:r>
              <a:rPr lang="en-US" b="1" dirty="0"/>
              <a:t>: </a:t>
            </a:r>
            <a:r>
              <a:rPr lang="en-US" dirty="0"/>
              <a:t>An elliptical wing planform ideally produces </a:t>
            </a:r>
            <a:r>
              <a:rPr lang="en-US" b="1" dirty="0"/>
              <a:t>an elliptical lift distribution</a:t>
            </a:r>
            <a:r>
              <a:rPr lang="en-US" dirty="0"/>
              <a:t>, which </a:t>
            </a:r>
            <a:r>
              <a:rPr lang="en-US" b="1" dirty="0"/>
              <a:t>minimizes induced drag</a:t>
            </a:r>
            <a:r>
              <a:rPr lang="en-US" dirty="0"/>
              <a:t> for a given span and lift. This makes it aerodynamically </a:t>
            </a:r>
            <a:r>
              <a:rPr lang="en-US" b="1" dirty="0"/>
              <a:t>the most efficient planform </a:t>
            </a:r>
            <a:r>
              <a:rPr lang="en-US" dirty="0"/>
              <a:t>in theory. </a:t>
            </a:r>
          </a:p>
          <a:p>
            <a:pPr algn="l"/>
            <a:endParaRPr lang="en-US" dirty="0"/>
          </a:p>
          <a:p>
            <a:pPr algn="l"/>
            <a:r>
              <a:rPr lang="en-US" dirty="0"/>
              <a:t>However, elliptical wings are </a:t>
            </a:r>
            <a:r>
              <a:rPr lang="en-US" b="1" dirty="0"/>
              <a:t>structurally complex</a:t>
            </a:r>
            <a:r>
              <a:rPr lang="en-US" dirty="0"/>
              <a:t> and </a:t>
            </a:r>
            <a:r>
              <a:rPr lang="en-US" b="1" dirty="0"/>
              <a:t>expensive to manufacture</a:t>
            </a:r>
            <a:r>
              <a:rPr lang="en-US" dirty="0"/>
              <a:t>, and they </a:t>
            </a:r>
            <a:r>
              <a:rPr lang="en-US" b="1" dirty="0"/>
              <a:t>tend to stall </a:t>
            </a:r>
            <a:r>
              <a:rPr lang="en-US" dirty="0"/>
              <a:t>abruptly at the wingtips, leading to </a:t>
            </a:r>
            <a:r>
              <a:rPr lang="en-US" b="1" dirty="0"/>
              <a:t>poor low-speed handling</a:t>
            </a:r>
            <a:r>
              <a:rPr lang="en-US" dirty="0"/>
              <a:t>. Due to these drawbacks, they are </a:t>
            </a:r>
            <a:r>
              <a:rPr lang="en-US" b="1" dirty="0"/>
              <a:t>rarely used </a:t>
            </a:r>
            <a:r>
              <a:rPr lang="en-US" dirty="0"/>
              <a:t>in modern aircraft despite their aerodynamic advantages.</a:t>
            </a:r>
            <a:endParaRPr lang="en-US" b="1" dirty="0"/>
          </a:p>
        </p:txBody>
      </p:sp>
      <p:grpSp>
        <p:nvGrpSpPr>
          <p:cNvPr id="10" name="Group 9">
            <a:extLst>
              <a:ext uri="{FF2B5EF4-FFF2-40B4-BE49-F238E27FC236}">
                <a16:creationId xmlns:a16="http://schemas.microsoft.com/office/drawing/2014/main" id="{C8F21FA6-D3EA-7402-731E-ADF818FF8F90}"/>
              </a:ext>
            </a:extLst>
          </p:cNvPr>
          <p:cNvGrpSpPr/>
          <p:nvPr/>
        </p:nvGrpSpPr>
        <p:grpSpPr>
          <a:xfrm>
            <a:off x="6702302" y="4966616"/>
            <a:ext cx="367200" cy="720360"/>
            <a:chOff x="6702302" y="4966616"/>
            <a:chExt cx="367200" cy="7203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90CBDB2-8C74-1778-1736-D57A9D93A0AB}"/>
                    </a:ext>
                  </a:extLst>
                </p14:cNvPr>
                <p14:cNvContentPartPr/>
                <p14:nvPr/>
              </p14:nvContentPartPr>
              <p14:xfrm>
                <a:off x="6785822" y="5252096"/>
                <a:ext cx="248040" cy="434880"/>
              </p14:xfrm>
            </p:contentPart>
          </mc:Choice>
          <mc:Fallback xmlns="">
            <p:pic>
              <p:nvPicPr>
                <p:cNvPr id="4" name="Ink 3">
                  <a:extLst>
                    <a:ext uri="{FF2B5EF4-FFF2-40B4-BE49-F238E27FC236}">
                      <a16:creationId xmlns:a16="http://schemas.microsoft.com/office/drawing/2014/main" id="{B90CBDB2-8C74-1778-1736-D57A9D93A0AB}"/>
                    </a:ext>
                  </a:extLst>
                </p:cNvPr>
                <p:cNvPicPr/>
                <p:nvPr/>
              </p:nvPicPr>
              <p:blipFill>
                <a:blip r:embed="rId3"/>
                <a:stretch>
                  <a:fillRect/>
                </a:stretch>
              </p:blipFill>
              <p:spPr>
                <a:xfrm>
                  <a:off x="6722913" y="5189096"/>
                  <a:ext cx="373498"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561652E-E155-20D6-FE45-73C9A61B881F}"/>
                    </a:ext>
                  </a:extLst>
                </p14:cNvPr>
                <p14:cNvContentPartPr/>
                <p14:nvPr/>
              </p14:nvContentPartPr>
              <p14:xfrm>
                <a:off x="6960782" y="4966616"/>
                <a:ext cx="80280" cy="376920"/>
              </p14:xfrm>
            </p:contentPart>
          </mc:Choice>
          <mc:Fallback xmlns="">
            <p:pic>
              <p:nvPicPr>
                <p:cNvPr id="5" name="Ink 4">
                  <a:extLst>
                    <a:ext uri="{FF2B5EF4-FFF2-40B4-BE49-F238E27FC236}">
                      <a16:creationId xmlns:a16="http://schemas.microsoft.com/office/drawing/2014/main" id="{1561652E-E155-20D6-FE45-73C9A61B881F}"/>
                    </a:ext>
                  </a:extLst>
                </p:cNvPr>
                <p:cNvPicPr/>
                <p:nvPr/>
              </p:nvPicPr>
              <p:blipFill>
                <a:blip r:embed="rId5"/>
                <a:stretch>
                  <a:fillRect/>
                </a:stretch>
              </p:blipFill>
              <p:spPr>
                <a:xfrm>
                  <a:off x="6897498" y="4903616"/>
                  <a:ext cx="206486"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C4E69822-ECEF-35AD-1E2D-D030E92E0C6A}"/>
                    </a:ext>
                  </a:extLst>
                </p14:cNvPr>
                <p14:cNvContentPartPr/>
                <p14:nvPr/>
              </p14:nvContentPartPr>
              <p14:xfrm>
                <a:off x="6702302" y="5097656"/>
                <a:ext cx="367200" cy="466560"/>
              </p14:xfrm>
            </p:contentPart>
          </mc:Choice>
          <mc:Fallback xmlns="">
            <p:pic>
              <p:nvPicPr>
                <p:cNvPr id="8" name="Ink 7">
                  <a:extLst>
                    <a:ext uri="{FF2B5EF4-FFF2-40B4-BE49-F238E27FC236}">
                      <a16:creationId xmlns:a16="http://schemas.microsoft.com/office/drawing/2014/main" id="{C4E69822-ECEF-35AD-1E2D-D030E92E0C6A}"/>
                    </a:ext>
                  </a:extLst>
                </p:cNvPr>
                <p:cNvPicPr/>
                <p:nvPr/>
              </p:nvPicPr>
              <p:blipFill>
                <a:blip r:embed="rId7"/>
                <a:stretch>
                  <a:fillRect/>
                </a:stretch>
              </p:blipFill>
              <p:spPr>
                <a:xfrm>
                  <a:off x="6639364" y="5034607"/>
                  <a:ext cx="492717" cy="59229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9C3CFA56-8CB7-CD55-7A3A-B1DF1BFB63F8}"/>
                  </a:ext>
                </a:extLst>
              </p14:cNvPr>
              <p14:cNvContentPartPr/>
              <p14:nvPr/>
            </p14:nvContentPartPr>
            <p14:xfrm>
              <a:off x="8598422" y="5217896"/>
              <a:ext cx="360" cy="360"/>
            </p14:xfrm>
          </p:contentPart>
        </mc:Choice>
        <mc:Fallback xmlns="">
          <p:pic>
            <p:nvPicPr>
              <p:cNvPr id="11" name="Ink 10">
                <a:extLst>
                  <a:ext uri="{FF2B5EF4-FFF2-40B4-BE49-F238E27FC236}">
                    <a16:creationId xmlns:a16="http://schemas.microsoft.com/office/drawing/2014/main" id="{9C3CFA56-8CB7-CD55-7A3A-B1DF1BFB63F8}"/>
                  </a:ext>
                </a:extLst>
              </p:cNvPr>
              <p:cNvPicPr/>
              <p:nvPr/>
            </p:nvPicPr>
            <p:blipFill>
              <a:blip r:embed="rId9"/>
              <a:stretch>
                <a:fillRect/>
              </a:stretch>
            </p:blipFill>
            <p:spPr>
              <a:xfrm>
                <a:off x="8535422" y="5154896"/>
                <a:ext cx="126000" cy="126000"/>
              </a:xfrm>
              <a:prstGeom prst="rect">
                <a:avLst/>
              </a:prstGeom>
            </p:spPr>
          </p:pic>
        </mc:Fallback>
      </mc:AlternateContent>
      <p:pic>
        <p:nvPicPr>
          <p:cNvPr id="9" name="Picture 8">
            <a:extLst>
              <a:ext uri="{FF2B5EF4-FFF2-40B4-BE49-F238E27FC236}">
                <a16:creationId xmlns:a16="http://schemas.microsoft.com/office/drawing/2014/main" id="{2C3B2F25-D243-DFC0-201E-1F0994727DC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93199" y="3545359"/>
            <a:ext cx="4175462" cy="2593182"/>
          </a:xfrm>
          <a:prstGeom prst="rect">
            <a:avLst/>
          </a:prstGeom>
        </p:spPr>
      </p:pic>
      <p:pic>
        <p:nvPicPr>
          <p:cNvPr id="14" name="Picture 13">
            <a:extLst>
              <a:ext uri="{FF2B5EF4-FFF2-40B4-BE49-F238E27FC236}">
                <a16:creationId xmlns:a16="http://schemas.microsoft.com/office/drawing/2014/main" id="{7F5FEBF7-A974-0AF7-B37B-E733BE60812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43800" y="3066817"/>
            <a:ext cx="2959560" cy="3308565"/>
          </a:xfrm>
          <a:prstGeom prst="rect">
            <a:avLst/>
          </a:prstGeom>
        </p:spPr>
      </p:pic>
    </p:spTree>
    <p:extLst>
      <p:ext uri="{BB962C8B-B14F-4D97-AF65-F5344CB8AC3E}">
        <p14:creationId xmlns:p14="http://schemas.microsoft.com/office/powerpoint/2010/main" val="28546673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93680-A982-0130-0D7F-D00DD4532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5A8D7-9E4F-AC27-D5AD-DDD25CB59EBE}"/>
              </a:ext>
            </a:extLst>
          </p:cNvPr>
          <p:cNvSpPr>
            <a:spLocks noGrp="1"/>
          </p:cNvSpPr>
          <p:nvPr>
            <p:ph type="title"/>
          </p:nvPr>
        </p:nvSpPr>
        <p:spPr>
          <a:xfrm>
            <a:off x="533400" y="457200"/>
            <a:ext cx="9067800" cy="430887"/>
          </a:xfrm>
        </p:spPr>
        <p:txBody>
          <a:bodyPr/>
          <a:lstStyle/>
          <a:p>
            <a:r>
              <a:rPr lang="en-IN" dirty="0"/>
              <a:t>Aerodynamics: Wing Planform</a:t>
            </a:r>
          </a:p>
        </p:txBody>
      </p:sp>
      <p:sp>
        <p:nvSpPr>
          <p:cNvPr id="3" name="TextBox 2">
            <a:extLst>
              <a:ext uri="{FF2B5EF4-FFF2-40B4-BE49-F238E27FC236}">
                <a16:creationId xmlns:a16="http://schemas.microsoft.com/office/drawing/2014/main" id="{713338F2-9391-934E-3505-CCD030BB3D17}"/>
              </a:ext>
            </a:extLst>
          </p:cNvPr>
          <p:cNvSpPr txBox="1"/>
          <p:nvPr/>
        </p:nvSpPr>
        <p:spPr>
          <a:xfrm>
            <a:off x="304800" y="1524000"/>
            <a:ext cx="11582400" cy="2031325"/>
          </a:xfrm>
          <a:prstGeom prst="rect">
            <a:avLst/>
          </a:prstGeom>
          <a:noFill/>
        </p:spPr>
        <p:txBody>
          <a:bodyPr wrap="square" rtlCol="0">
            <a:spAutoFit/>
          </a:bodyPr>
          <a:lstStyle/>
          <a:p>
            <a:pPr algn="l"/>
            <a:r>
              <a:rPr lang="en-US" b="1" u="sng" dirty="0"/>
              <a:t>Tapered wings</a:t>
            </a:r>
            <a:r>
              <a:rPr lang="en-US" b="1" dirty="0"/>
              <a:t>: </a:t>
            </a:r>
            <a:r>
              <a:rPr lang="en-US" dirty="0"/>
              <a:t>A tapered wing has a </a:t>
            </a:r>
            <a:r>
              <a:rPr lang="en-US" b="1" dirty="0"/>
              <a:t>chord length that decreases</a:t>
            </a:r>
            <a:r>
              <a:rPr lang="en-US" dirty="0"/>
              <a:t> from </a:t>
            </a:r>
            <a:r>
              <a:rPr lang="en-US" b="1" dirty="0"/>
              <a:t>root to tip</a:t>
            </a:r>
            <a:r>
              <a:rPr lang="en-US" dirty="0"/>
              <a:t>, providing a </a:t>
            </a:r>
            <a:r>
              <a:rPr lang="en-US" b="1" dirty="0"/>
              <a:t>lift distribution close to an elliptical wing</a:t>
            </a:r>
            <a:r>
              <a:rPr lang="en-US" dirty="0"/>
              <a:t> while being </a:t>
            </a:r>
            <a:r>
              <a:rPr lang="en-US" b="1" dirty="0"/>
              <a:t>easier to manufacture</a:t>
            </a:r>
            <a:r>
              <a:rPr lang="en-US" dirty="0"/>
              <a:t>. It offers </a:t>
            </a:r>
            <a:r>
              <a:rPr lang="en-US" b="1" dirty="0"/>
              <a:t>lower induced drag</a:t>
            </a:r>
            <a:r>
              <a:rPr lang="en-US" dirty="0"/>
              <a:t> and </a:t>
            </a:r>
            <a:r>
              <a:rPr lang="en-US" b="1" dirty="0"/>
              <a:t>reduced structural weight</a:t>
            </a:r>
            <a:r>
              <a:rPr lang="en-US" dirty="0"/>
              <a:t> compared to rectangular wings. </a:t>
            </a:r>
          </a:p>
          <a:p>
            <a:pPr algn="l"/>
            <a:endParaRPr lang="en-US" dirty="0"/>
          </a:p>
          <a:p>
            <a:pPr algn="l"/>
            <a:r>
              <a:rPr lang="en-US" dirty="0"/>
              <a:t>With proper design features tapered wings can maintain </a:t>
            </a:r>
            <a:r>
              <a:rPr lang="en-US" b="1" dirty="0"/>
              <a:t>acceptable stall behavior</a:t>
            </a:r>
            <a:r>
              <a:rPr lang="en-US" dirty="0"/>
              <a:t>. As a result, this planform is </a:t>
            </a:r>
            <a:r>
              <a:rPr lang="en-US" b="1" dirty="0"/>
              <a:t>widely used in modern subsonic aircraft </a:t>
            </a:r>
            <a:r>
              <a:rPr lang="en-US" dirty="0"/>
              <a:t>due to its </a:t>
            </a:r>
            <a:r>
              <a:rPr lang="en-US" b="1" dirty="0"/>
              <a:t>balance of aerodynamic efficiency, structural performance, and handling qualities.</a:t>
            </a:r>
          </a:p>
        </p:txBody>
      </p:sp>
      <p:grpSp>
        <p:nvGrpSpPr>
          <p:cNvPr id="10" name="Group 9">
            <a:extLst>
              <a:ext uri="{FF2B5EF4-FFF2-40B4-BE49-F238E27FC236}">
                <a16:creationId xmlns:a16="http://schemas.microsoft.com/office/drawing/2014/main" id="{890E41D3-3CC1-44B7-D3EB-67ED1D41E07F}"/>
              </a:ext>
            </a:extLst>
          </p:cNvPr>
          <p:cNvGrpSpPr/>
          <p:nvPr/>
        </p:nvGrpSpPr>
        <p:grpSpPr>
          <a:xfrm>
            <a:off x="6702302" y="4966616"/>
            <a:ext cx="367200" cy="720360"/>
            <a:chOff x="6702302" y="4966616"/>
            <a:chExt cx="367200" cy="7203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902A1CA-4861-FC3B-4F69-EBF5FCE8E082}"/>
                    </a:ext>
                  </a:extLst>
                </p14:cNvPr>
                <p14:cNvContentPartPr/>
                <p14:nvPr/>
              </p14:nvContentPartPr>
              <p14:xfrm>
                <a:off x="6785822" y="5252096"/>
                <a:ext cx="248040" cy="434880"/>
              </p14:xfrm>
            </p:contentPart>
          </mc:Choice>
          <mc:Fallback xmlns="">
            <p:pic>
              <p:nvPicPr>
                <p:cNvPr id="4" name="Ink 3">
                  <a:extLst>
                    <a:ext uri="{FF2B5EF4-FFF2-40B4-BE49-F238E27FC236}">
                      <a16:creationId xmlns:a16="http://schemas.microsoft.com/office/drawing/2014/main" id="{E902A1CA-4861-FC3B-4F69-EBF5FCE8E082}"/>
                    </a:ext>
                  </a:extLst>
                </p:cNvPr>
                <p:cNvPicPr/>
                <p:nvPr/>
              </p:nvPicPr>
              <p:blipFill>
                <a:blip r:embed="rId3"/>
                <a:stretch>
                  <a:fillRect/>
                </a:stretch>
              </p:blipFill>
              <p:spPr>
                <a:xfrm>
                  <a:off x="6722913" y="5189096"/>
                  <a:ext cx="373498"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3A4A456-BC7F-E54D-5104-05C23E87DB74}"/>
                    </a:ext>
                  </a:extLst>
                </p14:cNvPr>
                <p14:cNvContentPartPr/>
                <p14:nvPr/>
              </p14:nvContentPartPr>
              <p14:xfrm>
                <a:off x="6960782" y="4966616"/>
                <a:ext cx="80280" cy="376920"/>
              </p14:xfrm>
            </p:contentPart>
          </mc:Choice>
          <mc:Fallback xmlns="">
            <p:pic>
              <p:nvPicPr>
                <p:cNvPr id="5" name="Ink 4">
                  <a:extLst>
                    <a:ext uri="{FF2B5EF4-FFF2-40B4-BE49-F238E27FC236}">
                      <a16:creationId xmlns:a16="http://schemas.microsoft.com/office/drawing/2014/main" id="{53A4A456-BC7F-E54D-5104-05C23E87DB74}"/>
                    </a:ext>
                  </a:extLst>
                </p:cNvPr>
                <p:cNvPicPr/>
                <p:nvPr/>
              </p:nvPicPr>
              <p:blipFill>
                <a:blip r:embed="rId5"/>
                <a:stretch>
                  <a:fillRect/>
                </a:stretch>
              </p:blipFill>
              <p:spPr>
                <a:xfrm>
                  <a:off x="6897498" y="4903616"/>
                  <a:ext cx="206486"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B05BCF12-7ECE-C160-0F08-883C933968EE}"/>
                    </a:ext>
                  </a:extLst>
                </p14:cNvPr>
                <p14:cNvContentPartPr/>
                <p14:nvPr/>
              </p14:nvContentPartPr>
              <p14:xfrm>
                <a:off x="6702302" y="5097656"/>
                <a:ext cx="367200" cy="466560"/>
              </p14:xfrm>
            </p:contentPart>
          </mc:Choice>
          <mc:Fallback xmlns="">
            <p:pic>
              <p:nvPicPr>
                <p:cNvPr id="8" name="Ink 7">
                  <a:extLst>
                    <a:ext uri="{FF2B5EF4-FFF2-40B4-BE49-F238E27FC236}">
                      <a16:creationId xmlns:a16="http://schemas.microsoft.com/office/drawing/2014/main" id="{B05BCF12-7ECE-C160-0F08-883C933968EE}"/>
                    </a:ext>
                  </a:extLst>
                </p:cNvPr>
                <p:cNvPicPr/>
                <p:nvPr/>
              </p:nvPicPr>
              <p:blipFill>
                <a:blip r:embed="rId7"/>
                <a:stretch>
                  <a:fillRect/>
                </a:stretch>
              </p:blipFill>
              <p:spPr>
                <a:xfrm>
                  <a:off x="6639364" y="5034607"/>
                  <a:ext cx="492717" cy="59229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77CF8AFF-AF99-FDF5-2712-DD0BD7116D22}"/>
                  </a:ext>
                </a:extLst>
              </p14:cNvPr>
              <p14:cNvContentPartPr/>
              <p14:nvPr/>
            </p14:nvContentPartPr>
            <p14:xfrm>
              <a:off x="8598422" y="5217896"/>
              <a:ext cx="360" cy="360"/>
            </p14:xfrm>
          </p:contentPart>
        </mc:Choice>
        <mc:Fallback xmlns="">
          <p:pic>
            <p:nvPicPr>
              <p:cNvPr id="11" name="Ink 10">
                <a:extLst>
                  <a:ext uri="{FF2B5EF4-FFF2-40B4-BE49-F238E27FC236}">
                    <a16:creationId xmlns:a16="http://schemas.microsoft.com/office/drawing/2014/main" id="{77CF8AFF-AF99-FDF5-2712-DD0BD7116D22}"/>
                  </a:ext>
                </a:extLst>
              </p:cNvPr>
              <p:cNvPicPr/>
              <p:nvPr/>
            </p:nvPicPr>
            <p:blipFill>
              <a:blip r:embed="rId9"/>
              <a:stretch>
                <a:fillRect/>
              </a:stretch>
            </p:blipFill>
            <p:spPr>
              <a:xfrm>
                <a:off x="8535422" y="5154896"/>
                <a:ext cx="126000" cy="126000"/>
              </a:xfrm>
              <a:prstGeom prst="rect">
                <a:avLst/>
              </a:prstGeom>
            </p:spPr>
          </p:pic>
        </mc:Fallback>
      </mc:AlternateContent>
      <p:pic>
        <p:nvPicPr>
          <p:cNvPr id="7" name="Picture 6">
            <a:extLst>
              <a:ext uri="{FF2B5EF4-FFF2-40B4-BE49-F238E27FC236}">
                <a16:creationId xmlns:a16="http://schemas.microsoft.com/office/drawing/2014/main" id="{A636E19C-2C24-E627-90C1-5C3051AAEB6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39061" y="3555325"/>
            <a:ext cx="3861654" cy="2877311"/>
          </a:xfrm>
          <a:prstGeom prst="rect">
            <a:avLst/>
          </a:prstGeom>
        </p:spPr>
      </p:pic>
      <p:pic>
        <p:nvPicPr>
          <p:cNvPr id="13" name="Picture 12">
            <a:extLst>
              <a:ext uri="{FF2B5EF4-FFF2-40B4-BE49-F238E27FC236}">
                <a16:creationId xmlns:a16="http://schemas.microsoft.com/office/drawing/2014/main" id="{C008BCFB-885F-8F2D-E720-16BA8E9EECF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89056" y="3394745"/>
            <a:ext cx="3572301" cy="2978406"/>
          </a:xfrm>
          <a:prstGeom prst="rect">
            <a:avLst/>
          </a:prstGeom>
        </p:spPr>
      </p:pic>
    </p:spTree>
    <p:extLst>
      <p:ext uri="{BB962C8B-B14F-4D97-AF65-F5344CB8AC3E}">
        <p14:creationId xmlns:p14="http://schemas.microsoft.com/office/powerpoint/2010/main" val="25070081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564FD-B145-63EC-6331-5F3953AF7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F3049-3062-5728-7B2B-9EF2A8C235EA}"/>
              </a:ext>
            </a:extLst>
          </p:cNvPr>
          <p:cNvSpPr>
            <a:spLocks noGrp="1"/>
          </p:cNvSpPr>
          <p:nvPr>
            <p:ph type="title"/>
          </p:nvPr>
        </p:nvSpPr>
        <p:spPr>
          <a:xfrm>
            <a:off x="533400" y="457200"/>
            <a:ext cx="9067800" cy="430887"/>
          </a:xfrm>
        </p:spPr>
        <p:txBody>
          <a:bodyPr/>
          <a:lstStyle/>
          <a:p>
            <a:r>
              <a:rPr lang="en-IN" dirty="0"/>
              <a:t>Aerodynamics: Wing Planform</a:t>
            </a:r>
          </a:p>
        </p:txBody>
      </p:sp>
      <p:sp>
        <p:nvSpPr>
          <p:cNvPr id="3" name="TextBox 2">
            <a:extLst>
              <a:ext uri="{FF2B5EF4-FFF2-40B4-BE49-F238E27FC236}">
                <a16:creationId xmlns:a16="http://schemas.microsoft.com/office/drawing/2014/main" id="{54392DA6-17D0-62C7-8D37-0DD22D17FD3D}"/>
              </a:ext>
            </a:extLst>
          </p:cNvPr>
          <p:cNvSpPr txBox="1"/>
          <p:nvPr/>
        </p:nvSpPr>
        <p:spPr>
          <a:xfrm>
            <a:off x="304800" y="1524000"/>
            <a:ext cx="11582400" cy="2031325"/>
          </a:xfrm>
          <a:prstGeom prst="rect">
            <a:avLst/>
          </a:prstGeom>
          <a:noFill/>
        </p:spPr>
        <p:txBody>
          <a:bodyPr wrap="square" rtlCol="0">
            <a:spAutoFit/>
          </a:bodyPr>
          <a:lstStyle/>
          <a:p>
            <a:pPr algn="l"/>
            <a:r>
              <a:rPr lang="en-US" b="1" u="sng" dirty="0"/>
              <a:t>Swept wings</a:t>
            </a:r>
            <a:r>
              <a:rPr lang="en-US" b="1" dirty="0"/>
              <a:t>: </a:t>
            </a:r>
            <a:r>
              <a:rPr lang="en-US" dirty="0"/>
              <a:t>Swept wings </a:t>
            </a:r>
            <a:r>
              <a:rPr lang="en-US" b="1" dirty="0"/>
              <a:t>delay compressibility effects </a:t>
            </a:r>
            <a:r>
              <a:rPr lang="en-US" dirty="0"/>
              <a:t>and </a:t>
            </a:r>
            <a:r>
              <a:rPr lang="en-US" b="1" dirty="0"/>
              <a:t>allow efficient transonic flight</a:t>
            </a:r>
            <a:r>
              <a:rPr lang="en-US" dirty="0"/>
              <a:t>, but they </a:t>
            </a:r>
            <a:r>
              <a:rPr lang="en-US" b="1" dirty="0"/>
              <a:t>reduce low-speed performance </a:t>
            </a:r>
            <a:r>
              <a:rPr lang="en-US" dirty="0"/>
              <a:t>and </a:t>
            </a:r>
            <a:r>
              <a:rPr lang="en-US" b="1" dirty="0"/>
              <a:t>require high-lift devices</a:t>
            </a:r>
            <a:r>
              <a:rPr lang="en-US" dirty="0"/>
              <a:t>. They are commonly used in jet and commercial aircraft </a:t>
            </a:r>
            <a:r>
              <a:rPr lang="en-US" b="1" dirty="0"/>
              <a:t>optimized for high-speed cruise.</a:t>
            </a:r>
          </a:p>
          <a:p>
            <a:pPr algn="l"/>
            <a:endParaRPr lang="en-US" b="1" dirty="0"/>
          </a:p>
          <a:p>
            <a:pPr algn="l"/>
            <a:r>
              <a:rPr lang="en-US" b="1" dirty="0"/>
              <a:t>Front swept wings- </a:t>
            </a:r>
            <a:r>
              <a:rPr lang="en-US" dirty="0"/>
              <a:t>In a forward-swept wing, airflow moves </a:t>
            </a:r>
            <a:r>
              <a:rPr lang="en-US" b="1" dirty="0"/>
              <a:t>from wingtip toward the root</a:t>
            </a:r>
            <a:r>
              <a:rPr lang="en-US" dirty="0"/>
              <a:t>. This causes the </a:t>
            </a:r>
            <a:r>
              <a:rPr lang="en-US" b="1" dirty="0"/>
              <a:t>wing root to stall first</a:t>
            </a:r>
            <a:r>
              <a:rPr lang="en-US" dirty="0"/>
              <a:t>, while the wingtips and ailerons remain effective. This give control even when the root is stalled. </a:t>
            </a:r>
            <a:endParaRPr lang="en-US" b="1" dirty="0"/>
          </a:p>
        </p:txBody>
      </p:sp>
      <p:grpSp>
        <p:nvGrpSpPr>
          <p:cNvPr id="10" name="Group 9">
            <a:extLst>
              <a:ext uri="{FF2B5EF4-FFF2-40B4-BE49-F238E27FC236}">
                <a16:creationId xmlns:a16="http://schemas.microsoft.com/office/drawing/2014/main" id="{4BB40EED-BD47-549E-03A1-18EB65428E6E}"/>
              </a:ext>
            </a:extLst>
          </p:cNvPr>
          <p:cNvGrpSpPr/>
          <p:nvPr/>
        </p:nvGrpSpPr>
        <p:grpSpPr>
          <a:xfrm>
            <a:off x="6702302" y="4966616"/>
            <a:ext cx="367200" cy="720360"/>
            <a:chOff x="6702302" y="4966616"/>
            <a:chExt cx="367200" cy="7203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C97F968-9CA0-F0EE-DE20-D6678841DECE}"/>
                    </a:ext>
                  </a:extLst>
                </p14:cNvPr>
                <p14:cNvContentPartPr/>
                <p14:nvPr/>
              </p14:nvContentPartPr>
              <p14:xfrm>
                <a:off x="6785822" y="5252096"/>
                <a:ext cx="248040" cy="434880"/>
              </p14:xfrm>
            </p:contentPart>
          </mc:Choice>
          <mc:Fallback xmlns="">
            <p:pic>
              <p:nvPicPr>
                <p:cNvPr id="4" name="Ink 3">
                  <a:extLst>
                    <a:ext uri="{FF2B5EF4-FFF2-40B4-BE49-F238E27FC236}">
                      <a16:creationId xmlns:a16="http://schemas.microsoft.com/office/drawing/2014/main" id="{EC97F968-9CA0-F0EE-DE20-D6678841DECE}"/>
                    </a:ext>
                  </a:extLst>
                </p:cNvPr>
                <p:cNvPicPr/>
                <p:nvPr/>
              </p:nvPicPr>
              <p:blipFill>
                <a:blip r:embed="rId3"/>
                <a:stretch>
                  <a:fillRect/>
                </a:stretch>
              </p:blipFill>
              <p:spPr>
                <a:xfrm>
                  <a:off x="6722913" y="5189096"/>
                  <a:ext cx="373498"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469AA1D-376B-8DE5-D23B-FA7338A5FFCA}"/>
                    </a:ext>
                  </a:extLst>
                </p14:cNvPr>
                <p14:cNvContentPartPr/>
                <p14:nvPr/>
              </p14:nvContentPartPr>
              <p14:xfrm>
                <a:off x="6960782" y="4966616"/>
                <a:ext cx="80280" cy="376920"/>
              </p14:xfrm>
            </p:contentPart>
          </mc:Choice>
          <mc:Fallback xmlns="">
            <p:pic>
              <p:nvPicPr>
                <p:cNvPr id="5" name="Ink 4">
                  <a:extLst>
                    <a:ext uri="{FF2B5EF4-FFF2-40B4-BE49-F238E27FC236}">
                      <a16:creationId xmlns:a16="http://schemas.microsoft.com/office/drawing/2014/main" id="{B469AA1D-376B-8DE5-D23B-FA7338A5FFCA}"/>
                    </a:ext>
                  </a:extLst>
                </p:cNvPr>
                <p:cNvPicPr/>
                <p:nvPr/>
              </p:nvPicPr>
              <p:blipFill>
                <a:blip r:embed="rId5"/>
                <a:stretch>
                  <a:fillRect/>
                </a:stretch>
              </p:blipFill>
              <p:spPr>
                <a:xfrm>
                  <a:off x="6897498" y="4903616"/>
                  <a:ext cx="206486"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0E0589D6-90A2-0750-8EC1-8CA10C8F6086}"/>
                    </a:ext>
                  </a:extLst>
                </p14:cNvPr>
                <p14:cNvContentPartPr/>
                <p14:nvPr/>
              </p14:nvContentPartPr>
              <p14:xfrm>
                <a:off x="6702302" y="5097656"/>
                <a:ext cx="367200" cy="466560"/>
              </p14:xfrm>
            </p:contentPart>
          </mc:Choice>
          <mc:Fallback xmlns="">
            <p:pic>
              <p:nvPicPr>
                <p:cNvPr id="8" name="Ink 7">
                  <a:extLst>
                    <a:ext uri="{FF2B5EF4-FFF2-40B4-BE49-F238E27FC236}">
                      <a16:creationId xmlns:a16="http://schemas.microsoft.com/office/drawing/2014/main" id="{0E0589D6-90A2-0750-8EC1-8CA10C8F6086}"/>
                    </a:ext>
                  </a:extLst>
                </p:cNvPr>
                <p:cNvPicPr/>
                <p:nvPr/>
              </p:nvPicPr>
              <p:blipFill>
                <a:blip r:embed="rId7"/>
                <a:stretch>
                  <a:fillRect/>
                </a:stretch>
              </p:blipFill>
              <p:spPr>
                <a:xfrm>
                  <a:off x="6639364" y="5034607"/>
                  <a:ext cx="492717" cy="59229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248F218E-38FE-3C23-533A-05A4C0094379}"/>
                  </a:ext>
                </a:extLst>
              </p14:cNvPr>
              <p14:cNvContentPartPr/>
              <p14:nvPr/>
            </p14:nvContentPartPr>
            <p14:xfrm>
              <a:off x="8598422" y="5217896"/>
              <a:ext cx="360" cy="360"/>
            </p14:xfrm>
          </p:contentPart>
        </mc:Choice>
        <mc:Fallback xmlns="">
          <p:pic>
            <p:nvPicPr>
              <p:cNvPr id="11" name="Ink 10">
                <a:extLst>
                  <a:ext uri="{FF2B5EF4-FFF2-40B4-BE49-F238E27FC236}">
                    <a16:creationId xmlns:a16="http://schemas.microsoft.com/office/drawing/2014/main" id="{248F218E-38FE-3C23-533A-05A4C0094379}"/>
                  </a:ext>
                </a:extLst>
              </p:cNvPr>
              <p:cNvPicPr/>
              <p:nvPr/>
            </p:nvPicPr>
            <p:blipFill>
              <a:blip r:embed="rId9"/>
              <a:stretch>
                <a:fillRect/>
              </a:stretch>
            </p:blipFill>
            <p:spPr>
              <a:xfrm>
                <a:off x="8535422" y="5154896"/>
                <a:ext cx="126000" cy="126000"/>
              </a:xfrm>
              <a:prstGeom prst="rect">
                <a:avLst/>
              </a:prstGeom>
            </p:spPr>
          </p:pic>
        </mc:Fallback>
      </mc:AlternateContent>
      <p:pic>
        <p:nvPicPr>
          <p:cNvPr id="9" name="Picture 8">
            <a:extLst>
              <a:ext uri="{FF2B5EF4-FFF2-40B4-BE49-F238E27FC236}">
                <a16:creationId xmlns:a16="http://schemas.microsoft.com/office/drawing/2014/main" id="{F87EFA8E-A914-F945-361E-C99B439F98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6200000">
            <a:off x="1821356" y="3453801"/>
            <a:ext cx="3025630" cy="3025630"/>
          </a:xfrm>
          <a:prstGeom prst="rect">
            <a:avLst/>
          </a:prstGeom>
        </p:spPr>
      </p:pic>
      <p:pic>
        <p:nvPicPr>
          <p:cNvPr id="14" name="Picture 13">
            <a:extLst>
              <a:ext uri="{FF2B5EF4-FFF2-40B4-BE49-F238E27FC236}">
                <a16:creationId xmlns:a16="http://schemas.microsoft.com/office/drawing/2014/main" id="{85BC380B-D58F-724B-C4B2-77CE1D3D045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041062" y="3479009"/>
            <a:ext cx="3715317" cy="2975214"/>
          </a:xfrm>
          <a:prstGeom prst="rect">
            <a:avLst/>
          </a:prstGeom>
        </p:spPr>
      </p:pic>
    </p:spTree>
    <p:extLst>
      <p:ext uri="{BB962C8B-B14F-4D97-AF65-F5344CB8AC3E}">
        <p14:creationId xmlns:p14="http://schemas.microsoft.com/office/powerpoint/2010/main" val="39198756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D5B9E-507B-F0DC-2D7E-3E1E87DDE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83587-56A1-A883-3A2C-40511AF912D7}"/>
              </a:ext>
            </a:extLst>
          </p:cNvPr>
          <p:cNvSpPr>
            <a:spLocks noGrp="1"/>
          </p:cNvSpPr>
          <p:nvPr>
            <p:ph type="title"/>
          </p:nvPr>
        </p:nvSpPr>
        <p:spPr>
          <a:xfrm>
            <a:off x="533400" y="457200"/>
            <a:ext cx="9067800" cy="430887"/>
          </a:xfrm>
        </p:spPr>
        <p:txBody>
          <a:bodyPr/>
          <a:lstStyle/>
          <a:p>
            <a:r>
              <a:rPr lang="en-IN" dirty="0"/>
              <a:t>Aerodynamics: Wing Planform</a:t>
            </a:r>
          </a:p>
        </p:txBody>
      </p:sp>
      <p:sp>
        <p:nvSpPr>
          <p:cNvPr id="3" name="TextBox 2">
            <a:extLst>
              <a:ext uri="{FF2B5EF4-FFF2-40B4-BE49-F238E27FC236}">
                <a16:creationId xmlns:a16="http://schemas.microsoft.com/office/drawing/2014/main" id="{E1053C66-166C-016F-74EC-79B923F4ECD7}"/>
              </a:ext>
            </a:extLst>
          </p:cNvPr>
          <p:cNvSpPr txBox="1"/>
          <p:nvPr/>
        </p:nvSpPr>
        <p:spPr>
          <a:xfrm>
            <a:off x="304800" y="1524000"/>
            <a:ext cx="11582400" cy="1477328"/>
          </a:xfrm>
          <a:prstGeom prst="rect">
            <a:avLst/>
          </a:prstGeom>
          <a:noFill/>
        </p:spPr>
        <p:txBody>
          <a:bodyPr wrap="square" rtlCol="0">
            <a:spAutoFit/>
          </a:bodyPr>
          <a:lstStyle/>
          <a:p>
            <a:pPr algn="l"/>
            <a:r>
              <a:rPr lang="en-US" b="1" u="sng" dirty="0"/>
              <a:t>Delta wings</a:t>
            </a:r>
            <a:r>
              <a:rPr lang="en-US" b="1" dirty="0"/>
              <a:t>: </a:t>
            </a:r>
            <a:r>
              <a:rPr lang="en-US" dirty="0"/>
              <a:t>A delta wing has a </a:t>
            </a:r>
            <a:r>
              <a:rPr lang="en-US" b="1" dirty="0"/>
              <a:t>triangular planform</a:t>
            </a:r>
            <a:r>
              <a:rPr lang="en-US" dirty="0"/>
              <a:t> with </a:t>
            </a:r>
            <a:r>
              <a:rPr lang="en-US" b="1" dirty="0"/>
              <a:t>a large sweep angle, </a:t>
            </a:r>
            <a:r>
              <a:rPr lang="en-US" dirty="0"/>
              <a:t>is structurally strong and simple in construction. </a:t>
            </a:r>
            <a:r>
              <a:rPr lang="en-US" b="1" dirty="0"/>
              <a:t>At high </a:t>
            </a:r>
            <a:r>
              <a:rPr lang="en-US" b="1" dirty="0" err="1"/>
              <a:t>AoA</a:t>
            </a:r>
            <a:r>
              <a:rPr lang="en-US" dirty="0"/>
              <a:t>, it generates lift through </a:t>
            </a:r>
            <a:r>
              <a:rPr lang="en-US" b="1" dirty="0"/>
              <a:t>leading-edge vortices</a:t>
            </a:r>
            <a:r>
              <a:rPr lang="en-US" dirty="0"/>
              <a:t>, allowing it to sustain </a:t>
            </a:r>
            <a:r>
              <a:rPr lang="en-US" b="1" dirty="0"/>
              <a:t>controlled flight beyond the stall angles</a:t>
            </a:r>
            <a:r>
              <a:rPr lang="en-US" dirty="0"/>
              <a:t>. Delta wings perform </a:t>
            </a:r>
            <a:r>
              <a:rPr lang="en-US" b="1" dirty="0"/>
              <a:t>exceptionally well at supersonic speeds</a:t>
            </a:r>
            <a:r>
              <a:rPr lang="en-US" dirty="0"/>
              <a:t> but suffer from </a:t>
            </a:r>
            <a:r>
              <a:rPr lang="en-US" b="1" dirty="0"/>
              <a:t>high induced drag</a:t>
            </a:r>
            <a:r>
              <a:rPr lang="en-US" dirty="0"/>
              <a:t> and </a:t>
            </a:r>
            <a:r>
              <a:rPr lang="en-US" b="1" dirty="0"/>
              <a:t>high landing speeds</a:t>
            </a:r>
            <a:r>
              <a:rPr lang="en-US" dirty="0"/>
              <a:t>. Consequently, they are primarily </a:t>
            </a:r>
            <a:r>
              <a:rPr lang="en-US" b="1" dirty="0"/>
              <a:t>used in supersonic aircraft and high-performance military fighters.</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5A762372-55FD-A2E6-B377-0CAF8780A057}"/>
                  </a:ext>
                </a:extLst>
              </p14:cNvPr>
              <p14:cNvContentPartPr/>
              <p14:nvPr/>
            </p14:nvContentPartPr>
            <p14:xfrm>
              <a:off x="8598422" y="5217896"/>
              <a:ext cx="360" cy="360"/>
            </p14:xfrm>
          </p:contentPart>
        </mc:Choice>
        <mc:Fallback xmlns="">
          <p:pic>
            <p:nvPicPr>
              <p:cNvPr id="11" name="Ink 10">
                <a:extLst>
                  <a:ext uri="{FF2B5EF4-FFF2-40B4-BE49-F238E27FC236}">
                    <a16:creationId xmlns:a16="http://schemas.microsoft.com/office/drawing/2014/main" id="{5A762372-55FD-A2E6-B377-0CAF8780A057}"/>
                  </a:ext>
                </a:extLst>
              </p:cNvPr>
              <p:cNvPicPr/>
              <p:nvPr/>
            </p:nvPicPr>
            <p:blipFill>
              <a:blip r:embed="rId3"/>
              <a:stretch>
                <a:fillRect/>
              </a:stretch>
            </p:blipFill>
            <p:spPr>
              <a:xfrm>
                <a:off x="8535422" y="5154896"/>
                <a:ext cx="126000" cy="126000"/>
              </a:xfrm>
              <a:prstGeom prst="rect">
                <a:avLst/>
              </a:prstGeom>
            </p:spPr>
          </p:pic>
        </mc:Fallback>
      </mc:AlternateContent>
      <p:pic>
        <p:nvPicPr>
          <p:cNvPr id="7" name="Picture 6">
            <a:extLst>
              <a:ext uri="{FF2B5EF4-FFF2-40B4-BE49-F238E27FC236}">
                <a16:creationId xmlns:a16="http://schemas.microsoft.com/office/drawing/2014/main" id="{2C137917-7269-4030-4626-9E6B03677D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567" y="3014611"/>
            <a:ext cx="2812813" cy="1615467"/>
          </a:xfrm>
          <a:prstGeom prst="rect">
            <a:avLst/>
          </a:prstGeom>
        </p:spPr>
      </p:pic>
      <p:pic>
        <p:nvPicPr>
          <p:cNvPr id="13" name="Picture 12">
            <a:extLst>
              <a:ext uri="{FF2B5EF4-FFF2-40B4-BE49-F238E27FC236}">
                <a16:creationId xmlns:a16="http://schemas.microsoft.com/office/drawing/2014/main" id="{E0AC9028-B870-9907-BB45-A1BADBF9EB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25707" y="3077572"/>
            <a:ext cx="4763246" cy="3397782"/>
          </a:xfrm>
          <a:prstGeom prst="rect">
            <a:avLst/>
          </a:prstGeom>
        </p:spPr>
      </p:pic>
      <p:pic>
        <p:nvPicPr>
          <p:cNvPr id="18" name="Picture 17">
            <a:extLst>
              <a:ext uri="{FF2B5EF4-FFF2-40B4-BE49-F238E27FC236}">
                <a16:creationId xmlns:a16="http://schemas.microsoft.com/office/drawing/2014/main" id="{311851F0-4B69-85BD-3DCB-C74B6181E6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8567" y="4620818"/>
            <a:ext cx="2817322" cy="1873225"/>
          </a:xfrm>
          <a:prstGeom prst="rect">
            <a:avLst/>
          </a:prstGeom>
        </p:spPr>
      </p:pic>
    </p:spTree>
    <p:extLst>
      <p:ext uri="{BB962C8B-B14F-4D97-AF65-F5344CB8AC3E}">
        <p14:creationId xmlns:p14="http://schemas.microsoft.com/office/powerpoint/2010/main" val="642372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EBA03CFCA60E4C8C9E595285D92076" ma:contentTypeVersion="11" ma:contentTypeDescription="Create a new document." ma:contentTypeScope="" ma:versionID="56d17bc2f4479e7bc1d986f8921854f5">
  <xsd:schema xmlns:xsd="http://www.w3.org/2001/XMLSchema" xmlns:xs="http://www.w3.org/2001/XMLSchema" xmlns:p="http://schemas.microsoft.com/office/2006/metadata/properties" xmlns:ns3="1665286d-7d6c-42a6-808a-cdde5b844789" targetNamespace="http://schemas.microsoft.com/office/2006/metadata/properties" ma:root="true" ma:fieldsID="ba7b09c72afb431bff26738b381db975" ns3:_="">
    <xsd:import namespace="1665286d-7d6c-42a6-808a-cdde5b84478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65286d-7d6c-42a6-808a-cdde5b8447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665286d-7d6c-42a6-808a-cdde5b844789" xsi:nil="true"/>
  </documentManagement>
</p:properties>
</file>

<file path=customXml/itemProps1.xml><?xml version="1.0" encoding="utf-8"?>
<ds:datastoreItem xmlns:ds="http://schemas.openxmlformats.org/officeDocument/2006/customXml" ds:itemID="{7AB67AF8-AC53-4929-BC43-3C25067026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65286d-7d6c-42a6-808a-cdde5b8447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AE8E61-98E7-49FE-8FEC-66C83EA2E687}">
  <ds:schemaRefs>
    <ds:schemaRef ds:uri="http://schemas.microsoft.com/sharepoint/v3/contenttype/forms"/>
  </ds:schemaRefs>
</ds:datastoreItem>
</file>

<file path=customXml/itemProps3.xml><?xml version="1.0" encoding="utf-8"?>
<ds:datastoreItem xmlns:ds="http://schemas.openxmlformats.org/officeDocument/2006/customXml" ds:itemID="{47AEF2D8-4033-4271-AEB7-BA242EE64B51}">
  <ds:schemaRefs>
    <ds:schemaRef ds:uri="http://www.w3.org/XML/1998/namespace"/>
    <ds:schemaRef ds:uri="http://purl.org/dc/terms/"/>
    <ds:schemaRef ds:uri="http://schemas.microsoft.com/office/2006/documentManagement/types"/>
    <ds:schemaRef ds:uri="http://purl.org/dc/dcmitype/"/>
    <ds:schemaRef ds:uri="http://schemas.microsoft.com/office/infopath/2007/PartnerControls"/>
    <ds:schemaRef ds:uri="http://schemas.microsoft.com/office/2006/metadata/properties"/>
    <ds:schemaRef ds:uri="http://schemas.openxmlformats.org/package/2006/metadata/core-properties"/>
    <ds:schemaRef ds:uri="1665286d-7d6c-42a6-808a-cdde5b844789"/>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12004</TotalTime>
  <Words>8391</Words>
  <Application>Microsoft Office PowerPoint</Application>
  <PresentationFormat>Widescreen</PresentationFormat>
  <Paragraphs>786</Paragraphs>
  <Slides>105</Slides>
  <Notes>11</Notes>
  <HiddenSlides>0</HiddenSlides>
  <MMClips>9</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105</vt:i4>
      </vt:variant>
    </vt:vector>
  </HeadingPairs>
  <TitlesOfParts>
    <vt:vector size="112" baseType="lpstr">
      <vt:lpstr>Aptos</vt:lpstr>
      <vt:lpstr>Arial</vt:lpstr>
      <vt:lpstr>Arial MT</vt:lpstr>
      <vt:lpstr>Calibri</vt:lpstr>
      <vt:lpstr>Cambria Math</vt:lpstr>
      <vt:lpstr>Wingdings</vt:lpstr>
      <vt:lpstr>Office Theme</vt:lpstr>
      <vt:lpstr>PowerPoint Presentation</vt:lpstr>
      <vt:lpstr>Operation Spider Web – A Modern Drone Tactic </vt:lpstr>
      <vt:lpstr>Operation Spider Web – A Modern Drone Tactic</vt:lpstr>
      <vt:lpstr>Operation Spider Web – A Modern Drone Tactic</vt:lpstr>
      <vt:lpstr>Operation Spider Web – A Modern Drone Tactic</vt:lpstr>
      <vt:lpstr>Operation Spider Web – A Modern Drone Tactic</vt:lpstr>
      <vt:lpstr>Operation Spider Web – A Modern Drone Tactic</vt:lpstr>
      <vt:lpstr>History of Drones</vt:lpstr>
      <vt:lpstr>Types of Drone Users</vt:lpstr>
      <vt:lpstr>Types of Drone Users</vt:lpstr>
      <vt:lpstr>Types of Drone Users</vt:lpstr>
      <vt:lpstr>Introduction to Drones</vt:lpstr>
      <vt:lpstr>Key Components:</vt:lpstr>
      <vt:lpstr>Key Components:</vt:lpstr>
      <vt:lpstr>Key Components:</vt:lpstr>
      <vt:lpstr>Key Components:</vt:lpstr>
      <vt:lpstr>Key Components:</vt:lpstr>
      <vt:lpstr>PowerPoint Presentation</vt:lpstr>
      <vt:lpstr>Drone History &amp; Evolution (Civil vs. Military Applications)</vt:lpstr>
      <vt:lpstr>PowerPoint Presentation</vt:lpstr>
      <vt:lpstr>PowerPoint Presentation</vt:lpstr>
      <vt:lpstr>            Types of Drones</vt:lpstr>
      <vt:lpstr>PowerPoint Presentation</vt:lpstr>
      <vt:lpstr>Types of Drones</vt:lpstr>
      <vt:lpstr>Types of Drones</vt:lpstr>
      <vt:lpstr>Types of Drones</vt:lpstr>
      <vt:lpstr>Types of Drones</vt:lpstr>
      <vt:lpstr>Types of Drones</vt:lpstr>
      <vt:lpstr>Types of Drones</vt:lpstr>
      <vt:lpstr>Types of Drones</vt:lpstr>
      <vt:lpstr>Types of Drones</vt:lpstr>
      <vt:lpstr>Ethical Concerns and Legal Considerations</vt:lpstr>
      <vt:lpstr>Flight Control Dynamics</vt:lpstr>
      <vt:lpstr>Flight Control Dynamics</vt:lpstr>
      <vt:lpstr>PowerPoint Presentation</vt:lpstr>
      <vt:lpstr>Vortex Rings</vt:lpstr>
      <vt:lpstr>Aerodynamics: Mind Map</vt:lpstr>
      <vt:lpstr>Aerodynamics: Basics</vt:lpstr>
      <vt:lpstr>Aerodynamics: Basics</vt:lpstr>
      <vt:lpstr>Aerodynamics: Basics</vt:lpstr>
      <vt:lpstr>Aerodynamics: Basics</vt:lpstr>
      <vt:lpstr>Aerodynamics: Basics</vt:lpstr>
      <vt:lpstr>Aerodynamics: Basics</vt:lpstr>
      <vt:lpstr>Aerodynamics: Basics</vt:lpstr>
      <vt:lpstr>Aerodynamics: Basics</vt:lpstr>
      <vt:lpstr>Aerodynamics: Basics</vt:lpstr>
      <vt:lpstr>Aerodynamics: Basics</vt:lpstr>
      <vt:lpstr>Aerodynamics: Basics</vt:lpstr>
      <vt:lpstr>Aerodynamics: Basics</vt:lpstr>
      <vt:lpstr>How does Wing Work?</vt:lpstr>
      <vt:lpstr>Aerodynamics: Critical Analysis of Teardrop </vt:lpstr>
      <vt:lpstr>Aerodynamics: Critical Analysis of Teardrop</vt:lpstr>
      <vt:lpstr>Aerodynamics: Critical Analysis of Teardrop</vt:lpstr>
      <vt:lpstr>Aerodynamics: Critical Analysis of Teardrop</vt:lpstr>
      <vt:lpstr>Aerodynamics: Critical Analysis of Teardrop</vt:lpstr>
      <vt:lpstr>Aerodynamics: Critical Analysis of Teardrop</vt:lpstr>
      <vt:lpstr>Angle of Attack</vt:lpstr>
      <vt:lpstr>Aerodynamics: AoA (Fixed-Wing Aircrafts)</vt:lpstr>
      <vt:lpstr>Aerodynamics: AoA (Rotorcrafts)</vt:lpstr>
      <vt:lpstr>Aerodynamics: AoA</vt:lpstr>
      <vt:lpstr>Aerodynamics: AoA</vt:lpstr>
      <vt:lpstr>Aerodynamics: AoA</vt:lpstr>
      <vt:lpstr>Aerodynamics: AoA</vt:lpstr>
      <vt:lpstr>Aerodynamics: Formulae (Sum up)</vt:lpstr>
      <vt:lpstr>Aerodynamics: AoA</vt:lpstr>
      <vt:lpstr>Aerodynamics: AoA</vt:lpstr>
      <vt:lpstr>Aerodynamics: AoA</vt:lpstr>
      <vt:lpstr>Aerodynamics: AoA</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Critical Analysis of Teardrop (Contd.)</vt:lpstr>
      <vt:lpstr>Aerodynamics: Stall (Fixed-wing)</vt:lpstr>
      <vt:lpstr>Aerodynamics: Stall (Myth-breaker)</vt:lpstr>
      <vt:lpstr>Aerodynamics: Stall (Fixed-wing)</vt:lpstr>
      <vt:lpstr>Aerodynamics: Stall (Fixed-wing)</vt:lpstr>
      <vt:lpstr>Aerodynamics: Stall (Fixed-wing)</vt:lpstr>
      <vt:lpstr>Aerodynamics: Stall (Fixed-wing)</vt:lpstr>
      <vt:lpstr>Aerodynamics: Stall (Fixed-wing)</vt:lpstr>
      <vt:lpstr>Aerodynamics: Stall (Fixed-wing)</vt:lpstr>
      <vt:lpstr>Aerodynamics: Stall (Fixed-wing)</vt:lpstr>
      <vt:lpstr>Aerodynamics: Stall (Fixed-wing)</vt:lpstr>
      <vt:lpstr>Aerodynamics: Stall (Fixed-wing)</vt:lpstr>
      <vt:lpstr>Aerodynamics: Stall (Fixed-wing)</vt:lpstr>
      <vt:lpstr>Aerodynamics: Stall (Fixed-wing)</vt:lpstr>
      <vt:lpstr>Aerodynamics: Stall (Rotorcrafts)</vt:lpstr>
      <vt:lpstr>PowerPoint Presentation</vt:lpstr>
      <vt:lpstr>Aerodynamics: Wing Planform</vt:lpstr>
      <vt:lpstr>Aerodynamics: Wing Planform</vt:lpstr>
      <vt:lpstr>Aerodynamics: Wing Planform</vt:lpstr>
      <vt:lpstr>Aerodynamics: Wing Planform</vt:lpstr>
      <vt:lpstr>Aerodynamics: Wing Planform</vt:lpstr>
      <vt:lpstr>Aerodynamics: Wing Planform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chamola</dc:creator>
  <cp:lastModifiedBy>Hemanth YT kumar</cp:lastModifiedBy>
  <cp:revision>51</cp:revision>
  <dcterms:created xsi:type="dcterms:W3CDTF">2025-03-12T21:33:22Z</dcterms:created>
  <dcterms:modified xsi:type="dcterms:W3CDTF">2026-01-11T16:29:18Z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2023-01-20T00:00:00Z</vt:filetime>
  </property>
  <property fmtid="{D5CDD505-2E9C-101B-9397-08002B2CF9AE}" pid="3" name="Creator">
    <vt:lpwstr>Microsoft® PowerPoint® 2016</vt:lpwstr>
  </property>
  <property fmtid="{D5CDD505-2E9C-101B-9397-08002B2CF9AE}" pid="4" name="LastSaved">
    <vt:filetime>2025-03-12T00:00:00Z</vt:filetime>
  </property>
  <property fmtid="{D5CDD505-2E9C-101B-9397-08002B2CF9AE}" pid="5" name="Producer">
    <vt:lpwstr>Microsoft® PowerPoint® 2016</vt:lpwstr>
  </property>
  <property fmtid="{D5CDD505-2E9C-101B-9397-08002B2CF9AE}" pid="6" name="ContentTypeId">
    <vt:lpwstr>0x01010099EBA03CFCA60E4C8C9E595285D92076</vt:lpwstr>
  </property>
</Properties>
</file>